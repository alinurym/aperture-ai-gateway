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9394ff8a1244696" /><Relationship Type="http://schemas.openxmlformats.org/officeDocument/2006/relationships/extended-properties" Target="/docProps/app.xml" Id="R26005c076ec64bbf" /><Relationship Type="http://schemas.openxmlformats.org/officeDocument/2006/relationships/officeDocument" Target="/ppt/presentation.xml" Id="R492939552ecf46de" /></Relationships>
</file>

<file path=ppt/presentation.xml><?xml version="1.0" encoding="utf-8"?>
<p:presentation xmlns:p="http://schemas.openxmlformats.org/presentationml/2006/main">
  <p:sldMasterIdLst>
    <p:sldMasterId xmlns:r="http://schemas.openxmlformats.org/officeDocument/2006/relationships" id="2147483648" r:id="R65c2e164fd934abf"/>
  </p:sldMasterIdLst>
  <p:notesMasterIdLst>
    <p:notesMasterId xmlns:r="http://schemas.openxmlformats.org/officeDocument/2006/relationships" r:id="R6f1571bdea634697"/>
  </p:notesMasterIdLst>
  <p:sldIdLst>
    <p:sldId xmlns:r="http://schemas.openxmlformats.org/officeDocument/2006/relationships" id="256" r:id="R08b3f137c08a4579"/>
    <p:sldId xmlns:r="http://schemas.openxmlformats.org/officeDocument/2006/relationships" id="257" r:id="R42178bdcac9646a1"/>
    <p:sldId xmlns:r="http://schemas.openxmlformats.org/officeDocument/2006/relationships" id="258" r:id="Ra2091c4cccdb44a9"/>
    <p:sldId xmlns:r="http://schemas.openxmlformats.org/officeDocument/2006/relationships" id="259" r:id="R9bd4246119014b0e"/>
    <p:sldId xmlns:r="http://schemas.openxmlformats.org/officeDocument/2006/relationships" id="260" r:id="R3d89c0695983416a"/>
    <p:sldId xmlns:r="http://schemas.openxmlformats.org/officeDocument/2006/relationships" id="261" r:id="Ra1e84ba509224827"/>
    <p:sldId xmlns:r="http://schemas.openxmlformats.org/officeDocument/2006/relationships" id="262" r:id="Re6321e4af2e948e7"/>
    <p:sldId xmlns:r="http://schemas.openxmlformats.org/officeDocument/2006/relationships" id="263" r:id="Rbda85fe336714d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3a2c86d5ea432d" /><Relationship Type="http://schemas.openxmlformats.org/officeDocument/2006/relationships/slideMaster" Target="/ppt/slideMasters/slideMaster1.xml" Id="R65c2e164fd934abf" /><Relationship Type="http://schemas.openxmlformats.org/officeDocument/2006/relationships/notesMaster" Target="/ppt/notesMasters/notesMaster1.xml" Id="R6f1571bdea634697" /><Relationship Type="http://schemas.openxmlformats.org/officeDocument/2006/relationships/presProps" Target="/ppt/presProps.xml" Id="R1e2e71f0dda84e6c" /><Relationship Type="http://schemas.openxmlformats.org/officeDocument/2006/relationships/tableStyles" Target="/ppt/tableStyles.xml" Id="Ra0cdcc7906fd4ee5" /><Relationship Type="http://schemas.openxmlformats.org/officeDocument/2006/relationships/slide" Target="/ppt/slides/slide1.xml" Id="R08b3f137c08a4579" /><Relationship Type="http://schemas.openxmlformats.org/officeDocument/2006/relationships/slide" Target="/ppt/slides/slide2.xml" Id="R42178bdcac9646a1" /><Relationship Type="http://schemas.openxmlformats.org/officeDocument/2006/relationships/slide" Target="/ppt/slides/slide3.xml" Id="Ra2091c4cccdb44a9" /><Relationship Type="http://schemas.openxmlformats.org/officeDocument/2006/relationships/slide" Target="/ppt/slides/slide4.xml" Id="R9bd4246119014b0e" /><Relationship Type="http://schemas.openxmlformats.org/officeDocument/2006/relationships/slide" Target="/ppt/slides/slide5.xml" Id="R3d89c0695983416a" /><Relationship Type="http://schemas.openxmlformats.org/officeDocument/2006/relationships/slide" Target="/ppt/slides/slide6.xml" Id="Ra1e84ba509224827" /><Relationship Type="http://schemas.openxmlformats.org/officeDocument/2006/relationships/slide" Target="/ppt/slides/slide7.xml" Id="Re6321e4af2e948e7" /><Relationship Type="http://schemas.openxmlformats.org/officeDocument/2006/relationships/slide" Target="/ppt/slides/slide8.xml" Id="Rbda85fe336714d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e8135d92384f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Roboto"/>
        <a:ea typeface=""/>
        <a:cs typeface=""/>
      </a:majorFont>
      <a:minorFont>
        <a:latin typeface="Robot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a8fa8a94d04418" /><Relationship Type="http://schemas.openxmlformats.org/officeDocument/2006/relationships/notesMaster" Target="/ppt/notesMasters/notesMaster1.xml" Id="Rceccd6b72a5140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51c7e36e4447b6" /><Relationship Type="http://schemas.openxmlformats.org/officeDocument/2006/relationships/notesMaster" Target="/ppt/notesMasters/notesMaster1.xml" Id="Rfd499e72fca741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00d24631394615" /><Relationship Type="http://schemas.openxmlformats.org/officeDocument/2006/relationships/notesMaster" Target="/ppt/notesMasters/notesMaster1.xml" Id="R7b7550f20d1344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44ea405f414289" /><Relationship Type="http://schemas.openxmlformats.org/officeDocument/2006/relationships/notesMaster" Target="/ppt/notesMasters/notesMaster1.xml" Id="Rb5c839896ed947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226063da2544c8" /><Relationship Type="http://schemas.openxmlformats.org/officeDocument/2006/relationships/notesMaster" Target="/ppt/notesMasters/notesMaster1.xml" Id="R2be4c4f39e5745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64329e3a484d15" /><Relationship Type="http://schemas.openxmlformats.org/officeDocument/2006/relationships/notesMaster" Target="/ppt/notesMasters/notesMaster1.xml" Id="R392a46d7f75443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cf2a35ed5f4599" /><Relationship Type="http://schemas.openxmlformats.org/officeDocument/2006/relationships/notesMaster" Target="/ppt/notesMasters/notesMaster1.xml" Id="Rd1ddb0f0358e40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93294109504b39" /><Relationship Type="http://schemas.openxmlformats.org/officeDocument/2006/relationships/notesMaster" Target="/ppt/notesMasters/notesMaster1.xml" Id="R4a3bfb35cd2d4b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0:00–0:12</a:t>
            </a:r>
          </a:p>
          <a:p xmlns:a="http://schemas.openxmlformats.org/drawingml/2006/main">
            <a:r>
              <a:t/>
            </a:r>
          </a:p>
          <a:p xmlns:a="http://schemas.openxmlformats.org/drawingml/2006/main">
            <a:r>
              <a:t>Aperture connects AI inference with compute. A model response can become a real job, with owner-approved limits and result files you can inspect.</a:t>
            </a:r>
          </a:p>
          <a:p xmlns:a="http://schemas.openxmlformats.org/drawingml/2006/main">
            <a:r>
              <a:t/>
            </a:r>
          </a:p>
          <a:p xmlns:a="http://schemas.openxmlformats.org/drawingml/2006/main">
            <a:r>
              <a:t>Sources</a:t>
            </a:r>
          </a:p>
          <a:p xmlns:a="http://schemas.openxmlformats.org/drawingml/2006/main">
            <a:r>
              <a:t>Project README.md, current local source at commit 2ec06a9, 24 October 2026.</a:t>
            </a:r>
          </a:p>
          <a:p xmlns:a="http://schemas.openxmlformats.org/drawingml/2006/main">
            <a:r>
              <a:t>Original brand asset: docs/aperture-mark-v3.png.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0:12–0:30</a:t>
            </a:r>
          </a:p>
          <a:p xmlns:a="http://schemas.openxmlformats.org/drawingml/2006/main">
            <a:r>
              <a:t/>
            </a:r>
          </a:p>
          <a:p xmlns:a="http://schemas.openxmlformats.org/drawingml/2006/main">
            <a:r>
              <a:t>The original Aperture gateway and AI Sentinel now connect to Python compute and agent workflows. An owner reviews the task, approves its limits, and inspects the resulting files. The benefit is one coherent journey across those handoffs.</a:t>
            </a:r>
          </a:p>
          <a:p xmlns:a="http://schemas.openxmlformats.org/drawingml/2006/main">
            <a:r>
              <a:t/>
            </a:r>
          </a:p>
          <a:p xmlns:a="http://schemas.openxmlformats.org/drawingml/2006/main">
            <a:r>
              <a:t>Sources</a:t>
            </a:r>
          </a:p>
          <a:p xmlns:a="http://schemas.openxmlformats.org/drawingml/2006/main">
            <a:r>
              <a:t>README.md, current source at 2ec06a9, 24 Oct 2026.</a:t>
            </a:r>
          </a:p>
          <a:p xmlns:a="http://schemas.openxmlformats.org/drawingml/2006/main">
            <a:r>
              <a:t>docs/historical-integration.md: original AI Sentinel at d659fc8, 7 Apr 2026; unified workflow in 2ec06a9, 24 Oct 2026.</a:t>
            </a:r>
          </a:p>
          <a:p xmlns:a="http://schemas.openxmlformats.org/drawingml/2006/main">
            <a:r>
              <a:t>backend/sentinel_review.py; docs/inference.md.</a:t>
            </a:r>
          </a:p>
          <a:p xmlns:a="http://schemas.openxmlformats.org/drawingml/2006/main">
            <a:r>
              <a:t/>
            </a:r>
          </a:p>
          <a:p xmlns:a="http://schemas.openxmlformats.org/drawingml/2006/main">
            <a:r>
              <a:t>Supporting detail</a:t>
            </a:r>
          </a:p>
          <a:p xmlns:a="http://schemas.openxmlformats.org/drawingml/2006/main">
            <a:r>
              <a:t>Sentinel review is optional and does not authorize execution. Model review and compute admission require their respective task approvals. The gateway is operator configured. No permissionless discovery or upstream model payment integration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0:30–0:45</a:t>
            </a:r>
          </a:p>
          <a:p xmlns:a="http://schemas.openxmlformats.org/drawingml/2006/main">
            <a:r>
              <a:t/>
            </a:r>
          </a:p>
          <a:p xmlns:a="http://schemas.openxmlformats.org/drawingml/2006/main">
            <a:r>
              <a:t>The controls bind the source, budget and runtime before execution. In a recorded local run, all five tasks recovered after an interruption. All three output files matched direct Python, byte for byte.</a:t>
            </a:r>
          </a:p>
          <a:p xmlns:a="http://schemas.openxmlformats.org/drawingml/2006/main">
            <a:r>
              <a:t/>
            </a:r>
          </a:p>
          <a:p xmlns:a="http://schemas.openxmlformats.org/drawingml/2006/main">
            <a:r>
              <a:t>Sources</a:t>
            </a:r>
          </a:p>
          <a:p xmlns:a="http://schemas.openxmlformats.org/drawingml/2006/main">
            <a:r>
              <a:t>README.md, Evidence from the MVP.</a:t>
            </a:r>
          </a:p>
          <a:p xmlns:a="http://schemas.openxmlformats.org/drawingml/2006/main">
            <a:r>
              <a:t>docs/presentation-evidence.json: assigned_workflow, result.sha256, verified 5 Oct 2026.</a:t>
            </a:r>
          </a:p>
          <a:p xmlns:a="http://schemas.openxmlformats.org/drawingml/2006/main">
            <a:r>
              <a:t>docs/mvp-evidence.md.</a:t>
            </a:r>
          </a:p>
          <a:p xmlns:a="http://schemas.openxmlformats.org/drawingml/2006/main">
            <a:r>
              <a:t/>
            </a:r>
          </a:p>
          <a:p xmlns:a="http://schemas.openxmlformats.org/drawingml/2006/main">
            <a:r>
              <a:t>Supporting detail</a:t>
            </a:r>
          </a:p>
          <a:p xmlns:a="http://schemas.openxmlformats.org/drawingml/2006/main">
            <a:r>
              <a:t>The recorded run processed 17,000 synthetic CSV rows on the local CPU in OFF_CHAIN mode. These checks establish recovery and output consistency for that run, not commercial traction, speed superiority, GPU capability, remote correctness or a Solana payment. Signed receipts attribute results to a key; they are not cryptographic computation proofs.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0:45–1:01</a:t>
            </a:r>
          </a:p>
          <a:p xmlns:a="http://schemas.openxmlformats.org/drawingml/2006/main">
            <a:r>
              <a:t/>
            </a:r>
          </a:p>
          <a:p xmlns:a="http://schemas.openxmlformats.org/drawingml/2006/main">
            <a:r>
              <a:t>OpenRouter routes model requests. Nosana provides decentralized GPU jobs. x402 enables HTTP payments. Aperture focuses on the complete approved workflow: model access and compute, with recovery and attributable result evidence. That combined experience is our product advantage.</a:t>
            </a:r>
          </a:p>
          <a:p xmlns:a="http://schemas.openxmlformats.org/drawingml/2006/main">
            <a:r>
              <a:t/>
            </a:r>
          </a:p>
          <a:p xmlns:a="http://schemas.openxmlformats.org/drawingml/2006/main">
            <a:r>
              <a:t>Sources</a:t>
            </a:r>
          </a:p>
          <a:p xmlns:a="http://schemas.openxmlformats.org/drawingml/2006/main">
            <a:r>
              <a:t>OpenRouter, Provider Routing: https://openrouter.ai/docs/guides/routing/provider-selection (accessed 24 Oct 2026).</a:t>
            </a:r>
          </a:p>
          <a:p xmlns:a="http://schemas.openxmlformats.org/drawingml/2006/main">
            <a:r>
              <a:t>Nosana, Jobs: https://learn.nosana.com/deployments/jobs/ (accessed 24 Oct 2026).</a:t>
            </a:r>
          </a:p>
          <a:p xmlns:a="http://schemas.openxmlformats.org/drawingml/2006/main">
            <a:r>
              <a:t>x402, Introduction: https://docs.x402.org/introduction (accessed 24 Oct 2026).</a:t>
            </a:r>
          </a:p>
          <a:p xmlns:a="http://schemas.openxmlformats.org/drawingml/2006/main">
            <a:r>
              <a:t>Aperture current README.md; docs/competition-positioning.md.</a:t>
            </a:r>
          </a:p>
          <a:p xmlns:a="http://schemas.openxmlformats.org/drawingml/2006/main">
            <a:r>
              <a:t/>
            </a:r>
          </a:p>
          <a:p xmlns:a="http://schemas.openxmlformats.org/drawingml/2006/main">
            <a:r>
              <a:t>Supporting detail</a:t>
            </a:r>
          </a:p>
          <a:p xmlns:a="http://schemas.openxmlformats.org/drawingml/2006/main">
            <a:r>
              <a:t>This table compares documented primary product focus, not exhaustive feature coverage, price, performance, maturity or security. It makes no claim that competitors lack limits, receipts, recovery or other capabilities. These are alternatives at different layers and potential complements, not existing Aperture integrations. Aperture is an early MVP. The workflow advantage is a positioning thesis, not a measured competitive win.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1:01–1:16</a:t>
            </a:r>
          </a:p>
          <a:p xmlns:a="http://schemas.openxmlformats.org/drawingml/2006/main">
            <a:r>
              <a:t/>
            </a:r>
          </a:p>
          <a:p xmlns:a="http://schemas.openxmlformats.org/drawingml/2006/main">
            <a:r>
              <a:t>The business model is a hosted subscription for teams that want managed controls, persistent task history and support. Compute charges belong to the worker. Free self-hosting attracts developers; the paid workspace is the recurring revenue product.</a:t>
            </a:r>
          </a:p>
          <a:p xmlns:a="http://schemas.openxmlformats.org/drawingml/2006/main">
            <a:r>
              <a:t/>
            </a:r>
          </a:p>
          <a:p xmlns:a="http://schemas.openxmlformats.org/drawingml/2006/main">
            <a:r>
              <a:t>Sources</a:t>
            </a:r>
          </a:p>
          <a:p xmlns:a="http://schemas.openxmlformats.org/drawingml/2006/main">
            <a:r>
              <a:t>docs/competition-positioning.md, Adoption and revenue hypotheses.</a:t>
            </a:r>
          </a:p>
          <a:p xmlns:a="http://schemas.openxmlformats.org/drawingml/2006/main">
            <a:r>
              <a:t>README.md: updated contract source routes 100% of a confirmed task charge to its assigned worker.</a:t>
            </a:r>
          </a:p>
          <a:p xmlns:a="http://schemas.openxmlformats.org/drawingml/2006/main">
            <a:r>
              <a:t>programs/aperture sources and docs/protocol-v2.md, current source as of 24 Oct 2026.</a:t>
            </a:r>
          </a:p>
          <a:p xmlns:a="http://schemas.openxmlformats.org/drawingml/2006/main">
            <a:r>
              <a:t/>
            </a:r>
          </a:p>
          <a:p xmlns:a="http://schemas.openxmlformats.org/drawingml/2006/main">
            <a:r>
              <a:t>Supporting detail</a:t>
            </a:r>
          </a:p>
          <a:p xmlns:a="http://schemas.openxmlformats.org/drawingml/2006/main">
            <a:r>
              <a:t>Hosted subscription is a commercial proposal, not an existing paid plan or revenue claim. Full-worker payment is the updated protocol source design, not a verified live payout. Upstream external model bills are currently paid outside Aperture. The subscription is separate from the task charge; no marketplace take rate is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1:16–1:41</a:t>
            </a:r>
          </a:p>
          <a:p xmlns:a="http://schemas.openxmlformats.org/drawingml/2006/main">
            <a:r>
              <a:t/>
            </a:r>
          </a:p>
          <a:p xmlns:a="http://schemas.openxmlformats.org/drawingml/2006/main">
            <a:r>
              <a:t>For illustration, take a forty-nine-dollar monthly subscription, fifteen dollars of variable costs per team, and five thousand dollars in fixed costs. Each team contributes thirty-four dollars. Break-even is one hundred forty-eight paying teams. At one thousand teams, the scenario produces twenty-nine thousand dollars per month before tax.</a:t>
            </a:r>
          </a:p>
          <a:p xmlns:a="http://schemas.openxmlformats.org/drawingml/2006/main">
            <a:r>
              <a:t/>
            </a:r>
          </a:p>
          <a:p xmlns:a="http://schemas.openxmlformats.org/drawingml/2006/main">
            <a:r>
              <a:t>Sources</a:t>
            </a:r>
          </a:p>
          <a:p xmlns:a="http://schemas.openxmlformats.org/drawingml/2006/main">
            <a:r>
              <a:t>Commercial scenario prepared for this pitch, 24 Oct 2026. All price, cost and customer-count inputs are assumptions, not measured data.</a:t>
            </a:r>
          </a:p>
          <a:p xmlns:a="http://schemas.openxmlformats.org/drawingml/2006/main">
            <a:r>
              <a:t>Calculation: operating result = teams × ($49 − $15) − $5,000.</a:t>
            </a:r>
          </a:p>
          <a:p xmlns:a="http://schemas.openxmlformats.org/drawingml/2006/main">
            <a:r>
              <a:t/>
            </a:r>
          </a:p>
          <a:p xmlns:a="http://schemas.openxmlformats.org/drawingml/2006/main">
            <a:r>
              <a:t>Supporting detail</a:t>
            </a:r>
          </a:p>
          <a:p xmlns:a="http://schemas.openxmlformats.org/drawingml/2006/main">
            <a:r>
              <a:t>This is a planning scenario, not actual revenue, customer traction, a forecast or a promise of profitability. Prices and cost assumptions must be tested in pilots. Variable cost assumption includes hosting, storage, payment fees and support allocation per team; fixed cost is an all-in planning allowance for monthly operating overhead. Model and compute charges are separate, borne by task users and excluded from Aperture subscription revenue and costs. Results: 100 teams: revenue $4,900; variable cost $1,500; contribution $3,400; operating result −$1,600. 500: revenue $24,500; variable cost $7,500; contribution $17,000; operating result $12,000. 1,000: revenue $49,000; variable cost $15,000; contribution $34,000; operating result $29,000. Break-even ceiling($5,000/$34)=148 teams; at 147 the result is −$2 and at 148 it is $32. Before income tax; no current revenue or ROI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1:41–1:53</a:t>
            </a:r>
          </a:p>
          <a:p xmlns:a="http://schemas.openxmlformats.org/drawingml/2006/main">
            <a:r>
              <a:t/>
            </a:r>
          </a:p>
          <a:p xmlns:a="http://schemas.openxmlformats.org/drawingml/2006/main">
            <a:r>
              <a:t>April established the gateway and Sentinel. October joined inference with compute and recovery. Next, we target three pilot teams, validate repeat use and pricing, then launch the hosted service.</a:t>
            </a:r>
          </a:p>
          <a:p xmlns:a="http://schemas.openxmlformats.org/drawingml/2006/main">
            <a:r>
              <a:t/>
            </a:r>
          </a:p>
          <a:p xmlns:a="http://schemas.openxmlformats.org/drawingml/2006/main">
            <a:r>
              <a:t>Sources</a:t>
            </a:r>
          </a:p>
          <a:p xmlns:a="http://schemas.openxmlformats.org/drawingml/2006/main">
            <a:r>
              <a:t>docs/historical-integration.md: d659fc8 dated 7 Apr 2026; 2ec06a9 dated 24 Oct 2026.</a:t>
            </a:r>
          </a:p>
          <a:p xmlns:a="http://schemas.openxmlformats.org/drawingml/2006/main">
            <a:r>
              <a:t>docs/competition-positioning.md, adoption research and pilot plans.</a:t>
            </a:r>
          </a:p>
          <a:p xmlns:a="http://schemas.openxmlformats.org/drawingml/2006/main">
            <a:r>
              <a:t/>
            </a:r>
          </a:p>
          <a:p xmlns:a="http://schemas.openxmlformats.org/drawingml/2006/main">
            <a:r>
              <a:t>Supporting detail</a:t>
            </a:r>
          </a:p>
          <a:p xmlns:a="http://schemas.openxmlformats.org/drawingml/2006/main">
            <a:r>
              <a:t>The original April roadmap mentioned Q2 beta/security audits, Q3 mainnet/SDK and Q4 ZK fee proofs/marketplace. Those were historical goals, not completed milestones, and are not portrayed as delivered here. The NEXT column is a proposed target, not signed pilot customers or a committed launch 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1:53–2:00</a:t>
            </a:r>
          </a:p>
          <a:p xmlns:a="http://schemas.openxmlformats.org/drawingml/2006/main">
            <a:r>
              <a:t/>
            </a:r>
          </a:p>
          <a:p xmlns:a="http://schemas.openxmlformats.org/drawingml/2006/main">
            <a:r>
              <a:t>We are looking for pilot teams and compute providers. Bring a recurring agent workload. Build it with Aperture.</a:t>
            </a:r>
          </a:p>
          <a:p xmlns:a="http://schemas.openxmlformats.org/drawingml/2006/main">
            <a:r>
              <a:t/>
            </a:r>
          </a:p>
          <a:p xmlns:a="http://schemas.openxmlformats.org/drawingml/2006/main">
            <a:r>
              <a:t>Sources</a:t>
            </a:r>
          </a:p>
          <a:p xmlns:a="http://schemas.openxmlformats.org/drawingml/2006/main">
            <a:r>
              <a:t>Project link supplied by founder: https://aperture-ai-gateway.vercel.app/</a:t>
            </a:r>
          </a:p>
          <a:p xmlns:a="http://schemas.openxmlformats.org/drawingml/2006/main">
            <a:r>
              <a:t>Founder public handle supplied by user: https://x.com/AliNurym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2cffa7bfbc47f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dfd9a44a9147f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d56c48789234f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29ebf3558bb4ef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5b000132e504ce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45e08778b943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7E9E80-FCA9-4B8C-9B9C-58BE0E6457C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F0A98E4-F31D-4786-81CE-2BF04FBE542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8751F85-4430-481D-8A6D-AF6BA4CC3A8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05AA2F-E47B-4ED4-A22E-9834C48AD5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14DB72-1497-42F5-8BED-9CF65B3F423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9C45B2C-1228-413B-A93F-3DD7E280BB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9DB6F23-3F0C-45C1-A57A-3D1DA5AA7B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8F1FC17-241E-4D6F-A0D1-C69F5AAFAA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A60056-3AE1-4620-846E-19743ED92A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9DB7A6-B391-4D4C-AC00-1D5FFED91B5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c0a9fc22b74a86" /><Relationship Type="http://schemas.openxmlformats.org/officeDocument/2006/relationships/slideLayout" Target="/ppt/slideLayouts/slideLayout1.xml" Id="R772a5c1a04aa47d5" /><Relationship Type="http://schemas.openxmlformats.org/officeDocument/2006/relationships/slideLayout" Target="/ppt/slideLayouts/slideLayout2.xml" Id="R522af5d2f816400c" /><Relationship Type="http://schemas.openxmlformats.org/officeDocument/2006/relationships/slideLayout" Target="/ppt/slideLayouts/slideLayout3.xml" Id="R4cacc51cf4884574" /><Relationship Type="http://schemas.openxmlformats.org/officeDocument/2006/relationships/slideLayout" Target="/ppt/slideLayouts/slideLayout4.xml" Id="R63d5bd9ffc1842e2" /><Relationship Type="http://schemas.openxmlformats.org/officeDocument/2006/relationships/slideLayout" Target="/ppt/slideLayouts/slideLayout5.xml" Id="Rf517489e5e254dff" /><Relationship Type="http://schemas.openxmlformats.org/officeDocument/2006/relationships/slideLayout" Target="/ppt/slideLayouts/slideLayout6.xml" Id="Rb3defe6354254f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2a5c1a04aa47d5"/>
    <p:sldLayoutId xmlns:r="http://schemas.openxmlformats.org/officeDocument/2006/relationships" id="2147483650" r:id="R522af5d2f816400c"/>
    <p:sldLayoutId xmlns:r="http://schemas.openxmlformats.org/officeDocument/2006/relationships" id="2147483651" r:id="R4cacc51cf4884574"/>
    <p:sldLayoutId xmlns:r="http://schemas.openxmlformats.org/officeDocument/2006/relationships" id="2147483652" r:id="R63d5bd9ffc1842e2"/>
    <p:sldLayoutId xmlns:r="http://schemas.openxmlformats.org/officeDocument/2006/relationships" id="2147483653" r:id="Rf517489e5e254dff"/>
    <p:sldLayoutId xmlns:r="http://schemas.openxmlformats.org/officeDocument/2006/relationships" id="2147483654" r:id="Rb3defe6354254f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Roboto"/>
        <a:ea typeface=""/>
        <a:cs typeface=""/>
      </a:majorFont>
      <a:minorFont>
        <a:latin typeface="Robot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412cc87a59a4d09" /><Relationship Type="http://schemas.openxmlformats.org/officeDocument/2006/relationships/image" Target="/ppt/media/image.png" Id="R490469d36f834990" /><Relationship Type="http://schemas.openxmlformats.org/officeDocument/2006/relationships/notesSlide" Target="/ppt/notesSlides/notesSlide1.xml" Id="Rea52b72b93284c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7655551b1574c63" /><Relationship Type="http://schemas.openxmlformats.org/officeDocument/2006/relationships/notesSlide" Target="/ppt/notesSlides/notesSlide2.xml" Id="Rde0b7382d32047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668e6bf7f5c4c74" /><Relationship Type="http://schemas.openxmlformats.org/officeDocument/2006/relationships/notesSlide" Target="/ppt/notesSlides/notesSlide3.xml" Id="Re4210c0922b44b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a5bdf4301c74ca3" /><Relationship Type="http://schemas.openxmlformats.org/officeDocument/2006/relationships/notesSlide" Target="/ppt/notesSlides/notesSlide4.xml" Id="Rb4609fddb90745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37fad86a61f4ad6" /><Relationship Type="http://schemas.openxmlformats.org/officeDocument/2006/relationships/notesSlide" Target="/ppt/notesSlides/notesSlide5.xml" Id="Ra3809d78346241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dcd159a410f43ac" /><Relationship Type="http://schemas.openxmlformats.org/officeDocument/2006/relationships/chart" Target="/ppt/slides/charts/chart1.xml" Id="R15c2ac550a4b4372" /><Relationship Type="http://schemas.openxmlformats.org/officeDocument/2006/relationships/notesSlide" Target="/ppt/notesSlides/notesSlide6.xml" Id="R8221912d0c764a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c0c7bdc2b014f00" /><Relationship Type="http://schemas.openxmlformats.org/officeDocument/2006/relationships/notesSlide" Target="/ppt/notesSlides/notesSlide7.xml" Id="R0b7ef9b8c8584a0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9d4cedeb8c749b9" /><Relationship Type="http://schemas.openxmlformats.org/officeDocument/2006/relationships/notesSlide" Target="/ppt/notesSlides/notesSlide8.xml" Id="R0202c176fc03410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D1B20"/>
                </a:solidFill>
                <a:latin typeface="Roboto"/>
                <a:ea typeface="Roboto"/>
                <a:cs typeface="Roboto"/>
              </a:rPr>
              <a:t>Operating result / month</a:t>
            </a:r>
          </a:p>
        </c:rich>
      </c:tx>
      <c:overlay val="0"/>
      <c:txPr>
        <a:bodyPr xmlns:a="http://schemas.openxmlformats.org/drawingml/2006/main" anchorCtr="1"/>
        <a:lstStyle xmlns:a="http://schemas.openxmlformats.org/drawingml/2006/main"/>
        <a:p xmlns:a="http://schemas.openxmlformats.org/drawingml/2006/main">
          <a:pPr>
            <a:defRPr sz="1950" b="1">
              <a:solidFill>
                <a:srgbClr val="1D1B20"/>
              </a:solidFill>
              <a:latin typeface="Roboto"/>
              <a:ea typeface="Roboto"/>
              <a:cs typeface="Roboto"/>
            </a:defRPr>
          </a:pPr>
        </a:p>
      </c:txPr>
    </c:title>
    <c:plotArea>
      <c:barChart>
        <c:barDir val="col"/>
        <c:grouping val="clustered"/>
        <c:varyColors val="0"/>
        <c:ser>
          <c:idx val="0"/>
          <c:order val="0"/>
          <c:tx>
            <c:v>Operating result</c:v>
          </c:tx>
          <c:spPr>
            <a:solidFill xmlns:a="http://schemas.openxmlformats.org/drawingml/2006/main">
              <a:srgbClr val="6750A4"/>
            </a:solidFill>
          </c:spPr>
          <c:invertIfNegative val="0"/>
          <c:dPt>
            <c:idx val="0"/>
            <c:invertIfNegative val="0"/>
            <c:spPr>
              <a:solidFill xmlns:a="http://schemas.openxmlformats.org/drawingml/2006/main">
                <a:srgbClr val="B3261E"/>
              </a:solidFill>
            </c:spPr>
          </c:dPt>
          <c:dPt>
            <c:idx val="1"/>
            <c:invertIfNegative val="0"/>
            <c:spPr>
              <a:solidFill xmlns:a="http://schemas.openxmlformats.org/drawingml/2006/main">
                <a:srgbClr val="6750A4"/>
              </a:solidFill>
            </c:spPr>
          </c:dPt>
          <c:dPt>
            <c:idx val="2"/>
            <c:invertIfNegative val="0"/>
            <c:spPr>
              <a:solidFill xmlns:a="http://schemas.openxmlformats.org/drawingml/2006/main">
                <a:srgbClr val="006B5F"/>
              </a:solidFill>
            </c:spPr>
          </c:dPt>
          <c:dLbls>
            <c:dLbl>
              <c:idx val="0"/>
              <c:dLblPos val="t"/>
            </c:dLbl>
            <c:delete val="0"/>
            <c:numFmt formatCode="$#,##0;($#,##0)" sourceLinked="0"/>
            <c:txPr>
              <a:bodyPr xmlns:a="http://schemas.openxmlformats.org/drawingml/2006/main" anchorCtr="1"/>
              <a:lstStyle xmlns:a="http://schemas.openxmlformats.org/drawingml/2006/main"/>
              <a:p xmlns:a="http://schemas.openxmlformats.org/drawingml/2006/main">
                <a:pPr>
                  <a:defRPr sz="1725" b="1">
                    <a:solidFill>
                      <a:srgbClr val="1D1B20"/>
                    </a:solidFill>
                    <a:latin typeface="Roboto"/>
                    <a:ea typeface="Roboto"/>
                    <a:cs typeface="Roboto"/>
                  </a:defRPr>
                </a:pPr>
              </a:p>
            </c:txPr>
            <c:dLblPos val="outEnd"/>
            <c:showLegendKey val="0"/>
            <c:showVal val="1"/>
            <c:showCatName val="0"/>
            <c:showSerName val="0"/>
            <c:showPercent val="0"/>
            <c:showBubbleSize val="0"/>
            <c:showLeaderLines val="0"/>
          </c:dLbls>
          <c:cat>
            <c:strRef>
              <c:f>'Chart Data'!$A$2:$A$4</c:f>
              <c:strCache>
                <c:ptCount val="3"/>
                <c:pt idx="0">
                  <c:v>100 teams</c:v>
                </c:pt>
                <c:pt idx="1">
                  <c:v>500 teams</c:v>
                </c:pt>
                <c:pt idx="2">
                  <c:v>1,000 teams</c:v>
                </c:pt>
              </c:strCache>
            </c:strRef>
          </c:cat>
          <c:val>
            <c:numRef>
              <c:f>'Chart Data'!$B$2:$B$4</c:f>
              <c:numCache>
                <c:formatCode>$#,##0;($#,##0)</c:formatCode>
                <c:ptCount val="3"/>
                <c:pt idx="0">
                  <c:v>-1600</c:v>
                </c:pt>
                <c:pt idx="1">
                  <c:v>12000</c:v>
                </c:pt>
                <c:pt idx="2">
                  <c:v>29000</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D1B20"/>
                  </a:solidFill>
                  <a:latin typeface="Roboto"/>
                  <a:ea typeface="Roboto"/>
                  <a:cs typeface="Roboto"/>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CAC4D0"/>
            </a:solidFill>
          </a:ln>
        </c:spPr>
        <c:txPr>
          <a:bodyPr xmlns:a="http://schemas.openxmlformats.org/drawingml/2006/main" anchorCtr="1"/>
          <a:lstStyle xmlns:a="http://schemas.openxmlformats.org/drawingml/2006/main"/>
          <a:p xmlns:a="http://schemas.openxmlformats.org/drawingml/2006/main">
            <a:pPr>
              <a:defRPr sz="1725">
                <a:solidFill>
                  <a:srgbClr val="49454F"/>
                </a:solidFill>
                <a:latin typeface="Roboto"/>
                <a:ea typeface="Roboto"/>
                <a:cs typeface="Roboto"/>
              </a:defRPr>
            </a:pPr>
          </a:p>
        </c:txPr>
        <c:crossAx val="48672768"/>
      </c:catAx>
      <c:valAx>
        <c:axId val="48672768"/>
        <c:scaling>
          <c:orientation val="minMax"/>
          <c:max val="35000"/>
          <c:min val="-10000"/>
        </c:scaling>
        <c:delete val="0"/>
        <c:axPos val="l"/>
        <c:majorGridlines>
          <c:spPr>
            <a:ln xmlns:a="http://schemas.openxmlformats.org/drawingml/2006/main" w="9525">
              <a:solidFill>
                <a:srgbClr val="E8DEF8"/>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49454F"/>
                </a:solidFill>
                <a:latin typeface="Roboto"/>
                <a:ea typeface="Roboto"/>
                <a:cs typeface="Roboto"/>
              </a:defRPr>
            </a:pPr>
          </a:p>
        </c:txPr>
        <c:crossAx val="48650112"/>
        <c:crossBetween val="between"/>
        <c:majorUnit val="1000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EF7FF"/>
        </a:solidFill>
      </p:bgPr>
    </p:bg>
    <p:spTree>
      <p:nvGrpSpPr>
        <p:cNvPr id="1" name=""/>
        <p:cNvGrpSpPr/>
        <p:nvPr/>
      </p:nvGrpSpPr>
      <p:grpSpPr>
        <a:xfrm xmlns:a="http://schemas.openxmlformats.org/drawingml/2006/main"/>
      </p:grpSpPr>
      <p:sp>
        <p:nvSpPr>
          <p:cNvPr id="2" name="Original brand mark surface">
            <a:extLst xmlns:a="http://schemas.openxmlformats.org/drawingml/2006/main">
              <a:ext uri="{FF2B5EF4-FFF2-40B4-BE49-F238E27FC236}">
                <a16:creationId xmlns:a16="http://schemas.microsoft.com/office/drawing/2014/main" id="{F2B67005-3BC0-4023-93B2-569DB23757B7}"/>
              </a:ext>
            </a:extLst>
          </p:cNvPr>
          <p:cNvSpPr>
            <a:spLocks xmlns:a="http://schemas.openxmlformats.org/drawingml/2006/main" noGrp="1"/>
          </p:cNvSpPr>
          <p:nvPr/>
        </p:nvSpPr>
        <p:spPr>
          <a:xfrm xmlns:a="http://schemas.openxmlformats.org/drawingml/2006/main">
            <a:off x="7972425" y="1028700"/>
            <a:ext cx="3571875" cy="4705350"/>
          </a:xfrm>
          <a:prstGeom xmlns:a="http://schemas.openxmlformats.org/drawingml/2006/main" prst="roundRect">
            <a:avLst>
              <a:gd name="adj" fmla="val 25600"/>
            </a:avLst>
          </a:prstGeom>
          <a:solidFill xmlns:a="http://schemas.openxmlformats.org/drawingml/2006/main">
            <a:srgbClr val="EADDFF"/>
          </a:solidFill>
          <a:ln xmlns:a="http://schemas.openxmlformats.org/drawingml/2006/main" w="0">
            <a:noFill/>
          </a:ln>
        </p:spPr>
      </p:sp>
      <p:sp>
        <p:nvSpPr>
          <p:cNvPr id="3" name="AI INFERENCE + COMPUTE">
            <a:extLst xmlns:a="http://schemas.openxmlformats.org/drawingml/2006/main">
              <a:ext uri="{FF2B5EF4-FFF2-40B4-BE49-F238E27FC236}">
                <a16:creationId xmlns:a16="http://schemas.microsoft.com/office/drawing/2014/main" id="{1E42BB72-6545-4034-9A8A-D47A639DE3BC}"/>
              </a:ext>
            </a:extLst>
          </p:cNvPr>
          <p:cNvSpPr>
            <a:spLocks xmlns:a="http://schemas.openxmlformats.org/drawingml/2006/main" noGrp="1"/>
          </p:cNvSpPr>
          <p:nvPr/>
        </p:nvSpPr>
        <p:spPr>
          <a:xfrm xmlns:a="http://schemas.openxmlformats.org/drawingml/2006/main">
            <a:off x="609600" y="657225"/>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6750A4"/>
                </a:solidFill>
                <a:latin typeface="Roboto"/>
                <a:ea typeface="Roboto"/>
                <a:cs typeface="Roboto"/>
              </a:defRPr>
            </a:defPPr>
            <a:lvl1pPr>
              <a:defRPr sz="1500" b="1">
                <a:solidFill>
                  <a:srgbClr val="6750A4"/>
                </a:solidFill>
                <a:latin typeface="Roboto"/>
                <a:ea typeface="Roboto"/>
                <a:cs typeface="Roboto"/>
              </a:defRPr>
            </a:lvl1pPr>
            <a:lvl2pPr>
              <a:defRPr sz="1500" b="1">
                <a:solidFill>
                  <a:srgbClr val="6750A4"/>
                </a:solidFill>
                <a:latin typeface="Roboto"/>
                <a:ea typeface="Roboto"/>
                <a:cs typeface="Roboto"/>
              </a:defRPr>
            </a:lvl2pPr>
            <a:lvl3pPr>
              <a:defRPr sz="1500" b="1">
                <a:solidFill>
                  <a:srgbClr val="6750A4"/>
                </a:solidFill>
                <a:latin typeface="Roboto"/>
                <a:ea typeface="Roboto"/>
                <a:cs typeface="Roboto"/>
              </a:defRPr>
            </a:lvl3pPr>
            <a:lvl4pPr>
              <a:defRPr sz="1500" b="1">
                <a:solidFill>
                  <a:srgbClr val="6750A4"/>
                </a:solidFill>
                <a:latin typeface="Roboto"/>
                <a:ea typeface="Roboto"/>
                <a:cs typeface="Roboto"/>
              </a:defRPr>
            </a:lvl4pPr>
            <a:lvl5pPr>
              <a:defRPr sz="1500" b="1">
                <a:solidFill>
                  <a:srgbClr val="6750A4"/>
                </a:solidFill>
                <a:latin typeface="Roboto"/>
                <a:ea typeface="Roboto"/>
                <a:cs typeface="Roboto"/>
              </a:defRPr>
            </a:lvl5pPr>
            <a:lvl6pPr>
              <a:defRPr sz="1500" b="1">
                <a:solidFill>
                  <a:srgbClr val="6750A4"/>
                </a:solidFill>
                <a:latin typeface="Roboto"/>
                <a:ea typeface="Roboto"/>
                <a:cs typeface="Roboto"/>
              </a:defRPr>
            </a:lvl6pPr>
            <a:lvl7pPr>
              <a:defRPr sz="1500" b="1">
                <a:solidFill>
                  <a:srgbClr val="6750A4"/>
                </a:solidFill>
                <a:latin typeface="Roboto"/>
                <a:ea typeface="Roboto"/>
                <a:cs typeface="Roboto"/>
              </a:defRPr>
            </a:lvl7pPr>
            <a:lvl8pPr>
              <a:defRPr sz="1500" b="1">
                <a:solidFill>
                  <a:srgbClr val="6750A4"/>
                </a:solidFill>
                <a:latin typeface="Roboto"/>
                <a:ea typeface="Roboto"/>
                <a:cs typeface="Roboto"/>
              </a:defRPr>
            </a:lvl8pPr>
            <a:lvl9pPr>
              <a:defRPr sz="1500" b="1">
                <a:solidFill>
                  <a:srgbClr val="6750A4"/>
                </a:solidFill>
                <a:latin typeface="Roboto"/>
                <a:ea typeface="Roboto"/>
                <a:cs typeface="Roboto"/>
              </a:defRPr>
            </a:lvl9pPr>
          </a:lstStyle>
          <a:p xmlns:a="http://schemas.openxmlformats.org/drawingml/2006/main">
            <a:pPr>
              <a:defRPr sz="1500" b="1">
                <a:solidFill>
                  <a:srgbClr val="6750A4"/>
                </a:solidFill>
                <a:latin typeface="Roboto"/>
                <a:ea typeface="Roboto"/>
                <a:cs typeface="Roboto"/>
              </a:defRPr>
            </a:pPr>
            <a:r>
              <a:rPr sz="1500" b="1">
                <a:solidFill>
                  <a:srgbClr val="6750A4"/>
                </a:solidFill>
                <a:latin typeface="Roboto"/>
                <a:ea typeface="Roboto"/>
                <a:cs typeface="Roboto"/>
              </a:rPr>
              <a:t>AI INFERENCE + COMPUTE</a:t>
            </a:r>
          </a:p>
        </p:txBody>
      </p:sp>
      <p:sp>
        <p:nvSpPr>
          <p:cNvPr id="4" name="Aperture">
            <a:extLst xmlns:a="http://schemas.openxmlformats.org/drawingml/2006/main">
              <a:ext uri="{FF2B5EF4-FFF2-40B4-BE49-F238E27FC236}">
                <a16:creationId xmlns:a16="http://schemas.microsoft.com/office/drawing/2014/main" id="{F558DBDA-0EC7-4D26-851F-402F6CA4311D}"/>
              </a:ext>
            </a:extLst>
          </p:cNvPr>
          <p:cNvSpPr>
            <a:spLocks xmlns:a="http://schemas.openxmlformats.org/drawingml/2006/main" noGrp="1"/>
          </p:cNvSpPr>
          <p:nvPr/>
        </p:nvSpPr>
        <p:spPr>
          <a:xfrm xmlns:a="http://schemas.openxmlformats.org/drawingml/2006/main">
            <a:off x="552450" y="1638300"/>
            <a:ext cx="7429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450" b="1">
                <a:solidFill>
                  <a:srgbClr val="21005D"/>
                </a:solidFill>
                <a:latin typeface="Roboto"/>
                <a:ea typeface="Roboto"/>
                <a:cs typeface="Roboto"/>
              </a:defRPr>
            </a:defPPr>
            <a:lvl1pPr>
              <a:defRPr sz="9450" b="1">
                <a:solidFill>
                  <a:srgbClr val="21005D"/>
                </a:solidFill>
                <a:latin typeface="Roboto"/>
                <a:ea typeface="Roboto"/>
                <a:cs typeface="Roboto"/>
              </a:defRPr>
            </a:lvl1pPr>
            <a:lvl2pPr>
              <a:defRPr sz="9450" b="1">
                <a:solidFill>
                  <a:srgbClr val="21005D"/>
                </a:solidFill>
                <a:latin typeface="Roboto"/>
                <a:ea typeface="Roboto"/>
                <a:cs typeface="Roboto"/>
              </a:defRPr>
            </a:lvl2pPr>
            <a:lvl3pPr>
              <a:defRPr sz="9450" b="1">
                <a:solidFill>
                  <a:srgbClr val="21005D"/>
                </a:solidFill>
                <a:latin typeface="Roboto"/>
                <a:ea typeface="Roboto"/>
                <a:cs typeface="Roboto"/>
              </a:defRPr>
            </a:lvl3pPr>
            <a:lvl4pPr>
              <a:defRPr sz="9450" b="1">
                <a:solidFill>
                  <a:srgbClr val="21005D"/>
                </a:solidFill>
                <a:latin typeface="Roboto"/>
                <a:ea typeface="Roboto"/>
                <a:cs typeface="Roboto"/>
              </a:defRPr>
            </a:lvl4pPr>
            <a:lvl5pPr>
              <a:defRPr sz="9450" b="1">
                <a:solidFill>
                  <a:srgbClr val="21005D"/>
                </a:solidFill>
                <a:latin typeface="Roboto"/>
                <a:ea typeface="Roboto"/>
                <a:cs typeface="Roboto"/>
              </a:defRPr>
            </a:lvl5pPr>
            <a:lvl6pPr>
              <a:defRPr sz="9450" b="1">
                <a:solidFill>
                  <a:srgbClr val="21005D"/>
                </a:solidFill>
                <a:latin typeface="Roboto"/>
                <a:ea typeface="Roboto"/>
                <a:cs typeface="Roboto"/>
              </a:defRPr>
            </a:lvl6pPr>
            <a:lvl7pPr>
              <a:defRPr sz="9450" b="1">
                <a:solidFill>
                  <a:srgbClr val="21005D"/>
                </a:solidFill>
                <a:latin typeface="Roboto"/>
                <a:ea typeface="Roboto"/>
                <a:cs typeface="Roboto"/>
              </a:defRPr>
            </a:lvl7pPr>
            <a:lvl8pPr>
              <a:defRPr sz="9450" b="1">
                <a:solidFill>
                  <a:srgbClr val="21005D"/>
                </a:solidFill>
                <a:latin typeface="Roboto"/>
                <a:ea typeface="Roboto"/>
                <a:cs typeface="Roboto"/>
              </a:defRPr>
            </a:lvl8pPr>
            <a:lvl9pPr>
              <a:defRPr sz="9450" b="1">
                <a:solidFill>
                  <a:srgbClr val="21005D"/>
                </a:solidFill>
                <a:latin typeface="Roboto"/>
                <a:ea typeface="Roboto"/>
                <a:cs typeface="Roboto"/>
              </a:defRPr>
            </a:lvl9pPr>
          </a:lstStyle>
          <a:p xmlns:a="http://schemas.openxmlformats.org/drawingml/2006/main">
            <a:pPr>
              <a:defRPr sz="9450" b="1">
                <a:solidFill>
                  <a:srgbClr val="21005D"/>
                </a:solidFill>
                <a:latin typeface="Roboto"/>
                <a:ea typeface="Roboto"/>
                <a:cs typeface="Roboto"/>
              </a:defRPr>
            </a:pPr>
            <a:r>
              <a:rPr sz="9450" b="1">
                <a:solidFill>
                  <a:srgbClr val="21005D"/>
                </a:solidFill>
                <a:latin typeface="Roboto"/>
                <a:ea typeface="Roboto"/>
                <a:cs typeface="Roboto"/>
              </a:rPr>
              <a:t>Aperture</a:t>
            </a:r>
          </a:p>
        </p:txBody>
      </p:sp>
      <p:sp>
        <p:nvSpPr>
          <p:cNvPr id="5" name="One approved task.&#10;A result you can insp">
            <a:extLst xmlns:a="http://schemas.openxmlformats.org/drawingml/2006/main">
              <a:ext uri="{FF2B5EF4-FFF2-40B4-BE49-F238E27FC236}">
                <a16:creationId xmlns:a16="http://schemas.microsoft.com/office/drawing/2014/main" id="{133718E5-A325-4754-AFCE-5601E147409C}"/>
              </a:ext>
            </a:extLst>
          </p:cNvPr>
          <p:cNvSpPr>
            <a:spLocks xmlns:a="http://schemas.openxmlformats.org/drawingml/2006/main" noGrp="1"/>
          </p:cNvSpPr>
          <p:nvPr/>
        </p:nvSpPr>
        <p:spPr>
          <a:xfrm xmlns:a="http://schemas.openxmlformats.org/drawingml/2006/main">
            <a:off x="609600" y="3419475"/>
            <a:ext cx="71056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1D1B20"/>
                </a:solidFill>
                <a:latin typeface="Roboto"/>
                <a:ea typeface="Roboto"/>
                <a:cs typeface="Roboto"/>
              </a:defRPr>
            </a:defPPr>
            <a:lvl1pPr>
              <a:defRPr sz="3300" b="0">
                <a:solidFill>
                  <a:srgbClr val="1D1B20"/>
                </a:solidFill>
                <a:latin typeface="Roboto"/>
                <a:ea typeface="Roboto"/>
                <a:cs typeface="Roboto"/>
              </a:defRPr>
            </a:lvl1pPr>
            <a:lvl2pPr>
              <a:defRPr sz="3300" b="0">
                <a:solidFill>
                  <a:srgbClr val="1D1B20"/>
                </a:solidFill>
                <a:latin typeface="Roboto"/>
                <a:ea typeface="Roboto"/>
                <a:cs typeface="Roboto"/>
              </a:defRPr>
            </a:lvl2pPr>
            <a:lvl3pPr>
              <a:defRPr sz="3300" b="0">
                <a:solidFill>
                  <a:srgbClr val="1D1B20"/>
                </a:solidFill>
                <a:latin typeface="Roboto"/>
                <a:ea typeface="Roboto"/>
                <a:cs typeface="Roboto"/>
              </a:defRPr>
            </a:lvl3pPr>
            <a:lvl4pPr>
              <a:defRPr sz="3300" b="0">
                <a:solidFill>
                  <a:srgbClr val="1D1B20"/>
                </a:solidFill>
                <a:latin typeface="Roboto"/>
                <a:ea typeface="Roboto"/>
                <a:cs typeface="Roboto"/>
              </a:defRPr>
            </a:lvl4pPr>
            <a:lvl5pPr>
              <a:defRPr sz="3300" b="0">
                <a:solidFill>
                  <a:srgbClr val="1D1B20"/>
                </a:solidFill>
                <a:latin typeface="Roboto"/>
                <a:ea typeface="Roboto"/>
                <a:cs typeface="Roboto"/>
              </a:defRPr>
            </a:lvl5pPr>
            <a:lvl6pPr>
              <a:defRPr sz="3300" b="0">
                <a:solidFill>
                  <a:srgbClr val="1D1B20"/>
                </a:solidFill>
                <a:latin typeface="Roboto"/>
                <a:ea typeface="Roboto"/>
                <a:cs typeface="Roboto"/>
              </a:defRPr>
            </a:lvl6pPr>
            <a:lvl7pPr>
              <a:defRPr sz="3300" b="0">
                <a:solidFill>
                  <a:srgbClr val="1D1B20"/>
                </a:solidFill>
                <a:latin typeface="Roboto"/>
                <a:ea typeface="Roboto"/>
                <a:cs typeface="Roboto"/>
              </a:defRPr>
            </a:lvl7pPr>
            <a:lvl8pPr>
              <a:defRPr sz="3300" b="0">
                <a:solidFill>
                  <a:srgbClr val="1D1B20"/>
                </a:solidFill>
                <a:latin typeface="Roboto"/>
                <a:ea typeface="Roboto"/>
                <a:cs typeface="Roboto"/>
              </a:defRPr>
            </a:lvl8pPr>
            <a:lvl9pPr>
              <a:defRPr sz="3300" b="0">
                <a:solidFill>
                  <a:srgbClr val="1D1B20"/>
                </a:solidFill>
                <a:latin typeface="Roboto"/>
                <a:ea typeface="Roboto"/>
                <a:cs typeface="Roboto"/>
              </a:defRPr>
            </a:lvl9pPr>
          </a:lstStyle>
          <a:p xmlns:a="http://schemas.openxmlformats.org/drawingml/2006/main">
            <a:pPr>
              <a:defRPr sz="3300" b="0">
                <a:solidFill>
                  <a:srgbClr val="1D1B20"/>
                </a:solidFill>
                <a:latin typeface="Roboto"/>
                <a:ea typeface="Roboto"/>
                <a:cs typeface="Roboto"/>
              </a:defRPr>
            </a:pPr>
            <a:r>
              <a:rPr sz="3300" b="0">
                <a:solidFill>
                  <a:srgbClr val="1D1B20"/>
                </a:solidFill>
                <a:latin typeface="Roboto"/>
                <a:ea typeface="Roboto"/>
                <a:cs typeface="Roboto"/>
              </a:rPr>
              <a:t>One approved task.</a:t>
            </a:r>
          </a:p>
          <a:p xmlns:a="http://schemas.openxmlformats.org/drawingml/2006/main">
            <a:pPr>
              <a:defRPr sz="3300" b="0">
                <a:solidFill>
                  <a:srgbClr val="1D1B20"/>
                </a:solidFill>
                <a:latin typeface="Roboto"/>
                <a:ea typeface="Roboto"/>
                <a:cs typeface="Roboto"/>
              </a:defRPr>
            </a:pPr>
            <a:r>
              <a:rPr sz="3300" b="0">
                <a:solidFill>
                  <a:srgbClr val="1D1B20"/>
                </a:solidFill>
                <a:latin typeface="Roboto"/>
                <a:ea typeface="Roboto"/>
                <a:cs typeface="Roboto"/>
              </a:rPr>
              <a:t>A result you can inspect.</a:t>
            </a:r>
          </a:p>
        </p:txBody>
      </p:sp>
      <p:sp>
        <p:nvSpPr>
          <p:cNvPr id="6" name="Solana · MVP">
            <a:extLst xmlns:a="http://schemas.openxmlformats.org/drawingml/2006/main">
              <a:ext uri="{FF2B5EF4-FFF2-40B4-BE49-F238E27FC236}">
                <a16:creationId xmlns:a16="http://schemas.microsoft.com/office/drawing/2014/main" id="{7AE54FAF-5F9C-4CA2-AF08-ADEF184EC48B}"/>
              </a:ext>
            </a:extLst>
          </p:cNvPr>
          <p:cNvSpPr>
            <a:spLocks xmlns:a="http://schemas.openxmlformats.org/drawingml/2006/main" noGrp="1"/>
          </p:cNvSpPr>
          <p:nvPr/>
        </p:nvSpPr>
        <p:spPr>
          <a:xfrm xmlns:a="http://schemas.openxmlformats.org/drawingml/2006/main">
            <a:off x="609600" y="602932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49454F"/>
                </a:solidFill>
                <a:latin typeface="Roboto"/>
                <a:ea typeface="Roboto"/>
                <a:cs typeface="Roboto"/>
              </a:defRPr>
            </a:defPPr>
            <a:lvl1pPr>
              <a:defRPr sz="1650" b="0">
                <a:solidFill>
                  <a:srgbClr val="49454F"/>
                </a:solidFill>
                <a:latin typeface="Roboto"/>
                <a:ea typeface="Roboto"/>
                <a:cs typeface="Roboto"/>
              </a:defRPr>
            </a:lvl1pPr>
            <a:lvl2pPr>
              <a:defRPr sz="1650" b="0">
                <a:solidFill>
                  <a:srgbClr val="49454F"/>
                </a:solidFill>
                <a:latin typeface="Roboto"/>
                <a:ea typeface="Roboto"/>
                <a:cs typeface="Roboto"/>
              </a:defRPr>
            </a:lvl2pPr>
            <a:lvl3pPr>
              <a:defRPr sz="1650" b="0">
                <a:solidFill>
                  <a:srgbClr val="49454F"/>
                </a:solidFill>
                <a:latin typeface="Roboto"/>
                <a:ea typeface="Roboto"/>
                <a:cs typeface="Roboto"/>
              </a:defRPr>
            </a:lvl3pPr>
            <a:lvl4pPr>
              <a:defRPr sz="1650" b="0">
                <a:solidFill>
                  <a:srgbClr val="49454F"/>
                </a:solidFill>
                <a:latin typeface="Roboto"/>
                <a:ea typeface="Roboto"/>
                <a:cs typeface="Roboto"/>
              </a:defRPr>
            </a:lvl4pPr>
            <a:lvl5pPr>
              <a:defRPr sz="1650" b="0">
                <a:solidFill>
                  <a:srgbClr val="49454F"/>
                </a:solidFill>
                <a:latin typeface="Roboto"/>
                <a:ea typeface="Roboto"/>
                <a:cs typeface="Roboto"/>
              </a:defRPr>
            </a:lvl5pPr>
            <a:lvl6pPr>
              <a:defRPr sz="1650" b="0">
                <a:solidFill>
                  <a:srgbClr val="49454F"/>
                </a:solidFill>
                <a:latin typeface="Roboto"/>
                <a:ea typeface="Roboto"/>
                <a:cs typeface="Roboto"/>
              </a:defRPr>
            </a:lvl6pPr>
            <a:lvl7pPr>
              <a:defRPr sz="1650" b="0">
                <a:solidFill>
                  <a:srgbClr val="49454F"/>
                </a:solidFill>
                <a:latin typeface="Roboto"/>
                <a:ea typeface="Roboto"/>
                <a:cs typeface="Roboto"/>
              </a:defRPr>
            </a:lvl7pPr>
            <a:lvl8pPr>
              <a:defRPr sz="1650" b="0">
                <a:solidFill>
                  <a:srgbClr val="49454F"/>
                </a:solidFill>
                <a:latin typeface="Roboto"/>
                <a:ea typeface="Roboto"/>
                <a:cs typeface="Roboto"/>
              </a:defRPr>
            </a:lvl8pPr>
            <a:lvl9pPr>
              <a:defRPr sz="1650" b="0">
                <a:solidFill>
                  <a:srgbClr val="49454F"/>
                </a:solidFill>
                <a:latin typeface="Roboto"/>
                <a:ea typeface="Roboto"/>
                <a:cs typeface="Roboto"/>
              </a:defRPr>
            </a:lvl9pPr>
          </a:lstStyle>
          <a:p xmlns:a="http://schemas.openxmlformats.org/drawingml/2006/main">
            <a:pPr>
              <a:defRPr sz="1650" b="0">
                <a:solidFill>
                  <a:srgbClr val="49454F"/>
                </a:solidFill>
                <a:latin typeface="Roboto"/>
                <a:ea typeface="Roboto"/>
                <a:cs typeface="Roboto"/>
              </a:defRPr>
            </a:pPr>
            <a:r>
              <a:rPr sz="1650" b="0">
                <a:solidFill>
                  <a:srgbClr val="49454F"/>
                </a:solidFill>
                <a:latin typeface="Roboto"/>
                <a:ea typeface="Roboto"/>
                <a:cs typeface="Roboto"/>
              </a:rPr>
              <a:t>Solana · MVP</a:t>
            </a:r>
          </a:p>
        </p:txBody>
      </p:sp>
      <p:sp>
        <p:nvSpPr>
          <p:cNvPr id="7" name="AliNurym">
            <a:extLst xmlns:a="http://schemas.openxmlformats.org/drawingml/2006/main">
              <a:ext uri="{FF2B5EF4-FFF2-40B4-BE49-F238E27FC236}">
                <a16:creationId xmlns:a16="http://schemas.microsoft.com/office/drawing/2014/main" id="{A0495C5F-BE0D-4CBE-ABAA-CFB5AAB52DA4}"/>
              </a:ext>
            </a:extLst>
          </p:cNvPr>
          <p:cNvSpPr>
            <a:spLocks xmlns:a="http://schemas.openxmlformats.org/drawingml/2006/main" noGrp="1"/>
          </p:cNvSpPr>
          <p:nvPr/>
        </p:nvSpPr>
        <p:spPr>
          <a:xfrm xmlns:a="http://schemas.openxmlformats.org/drawingml/2006/main">
            <a:off x="9639300" y="60293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49454F"/>
                </a:solidFill>
                <a:latin typeface="Roboto"/>
                <a:ea typeface="Roboto"/>
                <a:cs typeface="Roboto"/>
              </a:defRPr>
            </a:defPPr>
            <a:lvl1pPr>
              <a:defRPr sz="1650" b="0">
                <a:solidFill>
                  <a:srgbClr val="49454F"/>
                </a:solidFill>
                <a:latin typeface="Roboto"/>
                <a:ea typeface="Roboto"/>
                <a:cs typeface="Roboto"/>
              </a:defRPr>
            </a:lvl1pPr>
            <a:lvl2pPr>
              <a:defRPr sz="1650" b="0">
                <a:solidFill>
                  <a:srgbClr val="49454F"/>
                </a:solidFill>
                <a:latin typeface="Roboto"/>
                <a:ea typeface="Roboto"/>
                <a:cs typeface="Roboto"/>
              </a:defRPr>
            </a:lvl2pPr>
            <a:lvl3pPr>
              <a:defRPr sz="1650" b="0">
                <a:solidFill>
                  <a:srgbClr val="49454F"/>
                </a:solidFill>
                <a:latin typeface="Roboto"/>
                <a:ea typeface="Roboto"/>
                <a:cs typeface="Roboto"/>
              </a:defRPr>
            </a:lvl3pPr>
            <a:lvl4pPr>
              <a:defRPr sz="1650" b="0">
                <a:solidFill>
                  <a:srgbClr val="49454F"/>
                </a:solidFill>
                <a:latin typeface="Roboto"/>
                <a:ea typeface="Roboto"/>
                <a:cs typeface="Roboto"/>
              </a:defRPr>
            </a:lvl4pPr>
            <a:lvl5pPr>
              <a:defRPr sz="1650" b="0">
                <a:solidFill>
                  <a:srgbClr val="49454F"/>
                </a:solidFill>
                <a:latin typeface="Roboto"/>
                <a:ea typeface="Roboto"/>
                <a:cs typeface="Roboto"/>
              </a:defRPr>
            </a:lvl5pPr>
            <a:lvl6pPr>
              <a:defRPr sz="1650" b="0">
                <a:solidFill>
                  <a:srgbClr val="49454F"/>
                </a:solidFill>
                <a:latin typeface="Roboto"/>
                <a:ea typeface="Roboto"/>
                <a:cs typeface="Roboto"/>
              </a:defRPr>
            </a:lvl6pPr>
            <a:lvl7pPr>
              <a:defRPr sz="1650" b="0">
                <a:solidFill>
                  <a:srgbClr val="49454F"/>
                </a:solidFill>
                <a:latin typeface="Roboto"/>
                <a:ea typeface="Roboto"/>
                <a:cs typeface="Roboto"/>
              </a:defRPr>
            </a:lvl7pPr>
            <a:lvl8pPr>
              <a:defRPr sz="1650" b="0">
                <a:solidFill>
                  <a:srgbClr val="49454F"/>
                </a:solidFill>
                <a:latin typeface="Roboto"/>
                <a:ea typeface="Roboto"/>
                <a:cs typeface="Roboto"/>
              </a:defRPr>
            </a:lvl8pPr>
            <a:lvl9pPr>
              <a:defRPr sz="1650" b="0">
                <a:solidFill>
                  <a:srgbClr val="49454F"/>
                </a:solidFill>
                <a:latin typeface="Roboto"/>
                <a:ea typeface="Roboto"/>
                <a:cs typeface="Roboto"/>
              </a:defRPr>
            </a:lvl9pPr>
          </a:lstStyle>
          <a:p xmlns:a="http://schemas.openxmlformats.org/drawingml/2006/main">
            <a:pPr>
              <a:defRPr sz="1650" b="0">
                <a:solidFill>
                  <a:srgbClr val="49454F"/>
                </a:solidFill>
                <a:latin typeface="Roboto"/>
                <a:ea typeface="Roboto"/>
                <a:cs typeface="Roboto"/>
              </a:defRPr>
            </a:pPr>
            <a:r>
              <a:rPr sz="1650" b="0">
                <a:solidFill>
                  <a:srgbClr val="49454F"/>
                </a:solidFill>
                <a:latin typeface="Roboto"/>
                <a:ea typeface="Roboto"/>
                <a:cs typeface="Roboto"/>
              </a:rPr>
              <a:t>AliNurym</a:t>
            </a:r>
          </a:p>
        </p:txBody>
      </p:sp>
      <p:pic>
        <p:nvPicPr>
          <p:cNvPr id="8" name="">
            <a:extLst xmlns:a="http://schemas.openxmlformats.org/drawingml/2006/main">
              <a:ext uri="{FF2B5EF4-FFF2-40B4-BE49-F238E27FC236}">
                <a16:creationId xmlns:a16="http://schemas.microsoft.com/office/drawing/2014/main" id="{E08158D1-05B8-46E6-B8FA-2801244A14DB}"/>
              </a:ext>
            </a:extLst>
          </p:cNvPr>
          <p:cNvPicPr>
            <a:picLocks xmlns:a="http://schemas.openxmlformats.org/drawingml/2006/main" noChangeAspect="1"/>
          </p:cNvPicPr>
          <p:nvPr/>
        </p:nvPicPr>
        <p:blipFill>
          <a:blip xmlns:r="http://schemas.openxmlformats.org/officeDocument/2006/relationships" xmlns:a="http://schemas.openxmlformats.org/drawingml/2006/main" r:embed="R490469d36f834990"/>
          <a:stretch xmlns:a="http://schemas.openxmlformats.org/drawingml/2006/main"/>
        </p:blipFill>
        <p:spPr>
          <a:xfrm xmlns:a="http://schemas.openxmlformats.org/drawingml/2006/main">
            <a:off x="8482013" y="2105025"/>
            <a:ext cx="2552700" cy="2552700"/>
          </a:xfrm>
          <a:prstGeom xmlns:a="http://schemas.openxmlformats.org/drawingml/2006/main" prst="rect">
            <a:avLst/>
          </a:prstGeom>
        </p:spPr>
      </p:pic>
    </p:spTree>
    <p:extLst>
      <p:ext uri="{BB962C8B-B14F-4D97-AF65-F5344CB8AC3E}">
        <p14:creationId xmlns:p14="http://schemas.microsoft.com/office/powerpoint/2010/main" val="1018251563"/>
      </p:ext>
    </p:extLst>
  </p:cSld>
</p:sld>
</file>

<file path=ppt/slides/slide2.xml><?xml version="1.0" encoding="utf-8"?>
<p:sld xmlns:p="http://schemas.openxmlformats.org/presentationml/2006/main">
  <p:cSld>
    <p:bg>
      <p:bgPr>
        <a:solidFill xmlns:a="http://schemas.openxmlformats.org/drawingml/2006/main">
          <a:srgbClr val="F7F2FA"/>
        </a:solidFill>
      </p:bgPr>
    </p:bg>
    <p:spTree>
      <p:nvGrpSpPr>
        <p:cNvPr id="1" name=""/>
        <p:cNvGrpSpPr/>
        <p:nvPr/>
      </p:nvGrpSpPr>
      <p:grpSpPr>
        <a:xfrm xmlns:a="http://schemas.openxmlformats.org/drawingml/2006/main"/>
      </p:grpSpPr>
      <p:sp>
        <p:nvSpPr>
          <p:cNvPr id="2" name="AI gateway + compute workflows">
            <a:extLst xmlns:a="http://schemas.openxmlformats.org/drawingml/2006/main">
              <a:ext uri="{FF2B5EF4-FFF2-40B4-BE49-F238E27FC236}">
                <a16:creationId xmlns:a16="http://schemas.microsoft.com/office/drawing/2014/main" id="{9CCA0C21-6456-4B6B-96BC-34D29E5DC539}"/>
              </a:ext>
            </a:extLst>
          </p:cNvPr>
          <p:cNvSpPr>
            <a:spLocks xmlns:a="http://schemas.openxmlformats.org/drawingml/2006/main" noGrp="1"/>
          </p:cNvSpPr>
          <p:nvPr/>
        </p:nvSpPr>
        <p:spPr>
          <a:xfrm xmlns:a="http://schemas.openxmlformats.org/drawingml/2006/main">
            <a:off x="609600" y="5524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21005D"/>
                </a:solidFill>
                <a:latin typeface="Roboto"/>
                <a:ea typeface="Roboto"/>
                <a:cs typeface="Roboto"/>
              </a:defRPr>
            </a:defPPr>
            <a:lvl1pPr algn="l">
              <a:defRPr sz="4050" b="1">
                <a:solidFill>
                  <a:srgbClr val="21005D"/>
                </a:solidFill>
                <a:latin typeface="Roboto"/>
                <a:ea typeface="Roboto"/>
                <a:cs typeface="Roboto"/>
              </a:defRPr>
            </a:lvl1pPr>
            <a:lvl2pPr algn="l">
              <a:defRPr sz="4050" b="1">
                <a:solidFill>
                  <a:srgbClr val="21005D"/>
                </a:solidFill>
                <a:latin typeface="Roboto"/>
                <a:ea typeface="Roboto"/>
                <a:cs typeface="Roboto"/>
              </a:defRPr>
            </a:lvl2pPr>
            <a:lvl3pPr algn="l">
              <a:defRPr sz="4050" b="1">
                <a:solidFill>
                  <a:srgbClr val="21005D"/>
                </a:solidFill>
                <a:latin typeface="Roboto"/>
                <a:ea typeface="Roboto"/>
                <a:cs typeface="Roboto"/>
              </a:defRPr>
            </a:lvl3pPr>
            <a:lvl4pPr algn="l">
              <a:defRPr sz="4050" b="1">
                <a:solidFill>
                  <a:srgbClr val="21005D"/>
                </a:solidFill>
                <a:latin typeface="Roboto"/>
                <a:ea typeface="Roboto"/>
                <a:cs typeface="Roboto"/>
              </a:defRPr>
            </a:lvl4pPr>
            <a:lvl5pPr algn="l">
              <a:defRPr sz="4050" b="1">
                <a:solidFill>
                  <a:srgbClr val="21005D"/>
                </a:solidFill>
                <a:latin typeface="Roboto"/>
                <a:ea typeface="Roboto"/>
                <a:cs typeface="Roboto"/>
              </a:defRPr>
            </a:lvl5pPr>
            <a:lvl6pPr algn="l">
              <a:defRPr sz="4050" b="1">
                <a:solidFill>
                  <a:srgbClr val="21005D"/>
                </a:solidFill>
                <a:latin typeface="Roboto"/>
                <a:ea typeface="Roboto"/>
                <a:cs typeface="Roboto"/>
              </a:defRPr>
            </a:lvl6pPr>
            <a:lvl7pPr algn="l">
              <a:defRPr sz="4050" b="1">
                <a:solidFill>
                  <a:srgbClr val="21005D"/>
                </a:solidFill>
                <a:latin typeface="Roboto"/>
                <a:ea typeface="Roboto"/>
                <a:cs typeface="Roboto"/>
              </a:defRPr>
            </a:lvl7pPr>
            <a:lvl8pPr algn="l">
              <a:defRPr sz="4050" b="1">
                <a:solidFill>
                  <a:srgbClr val="21005D"/>
                </a:solidFill>
                <a:latin typeface="Roboto"/>
                <a:ea typeface="Roboto"/>
                <a:cs typeface="Roboto"/>
              </a:defRPr>
            </a:lvl8pPr>
            <a:lvl9pPr algn="l">
              <a:defRPr sz="4050" b="1">
                <a:solidFill>
                  <a:srgbClr val="21005D"/>
                </a:solidFill>
                <a:latin typeface="Roboto"/>
                <a:ea typeface="Roboto"/>
                <a:cs typeface="Roboto"/>
              </a:defRPr>
            </a:lvl9pPr>
          </a:lstStyle>
          <a:p xmlns:a="http://schemas.openxmlformats.org/drawingml/2006/main">
            <a:pPr algn="l">
              <a:defRPr sz="4050" b="1">
                <a:solidFill>
                  <a:srgbClr val="21005D"/>
                </a:solidFill>
                <a:latin typeface="Roboto"/>
                <a:ea typeface="Roboto"/>
                <a:cs typeface="Roboto"/>
              </a:defRPr>
            </a:pPr>
            <a:r>
              <a:rPr sz="4050" b="1">
                <a:solidFill>
                  <a:srgbClr val="21005D"/>
                </a:solidFill>
                <a:latin typeface="Roboto"/>
                <a:ea typeface="Roboto"/>
                <a:cs typeface="Roboto"/>
              </a:rPr>
              <a:t>AI gateway + compute workflows</a:t>
            </a:r>
          </a:p>
        </p:txBody>
      </p:sp>
      <p:sp>
        <p:nvSpPr>
          <p:cNvPr id="3" name="Two Aperture directions, one task journey">
            <a:extLst xmlns:a="http://schemas.openxmlformats.org/drawingml/2006/main">
              <a:ext uri="{FF2B5EF4-FFF2-40B4-BE49-F238E27FC236}">
                <a16:creationId xmlns:a16="http://schemas.microsoft.com/office/drawing/2014/main" id="{2ECA04D4-BB4D-4E7F-A1F4-DFF067D0E15F}"/>
              </a:ext>
            </a:extLst>
          </p:cNvPr>
          <p:cNvSpPr>
            <a:spLocks xmlns:a="http://schemas.openxmlformats.org/drawingml/2006/main" noGrp="1"/>
          </p:cNvSpPr>
          <p:nvPr/>
        </p:nvSpPr>
        <p:spPr>
          <a:xfrm xmlns:a="http://schemas.openxmlformats.org/drawingml/2006/main">
            <a:off x="609600" y="13620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9454F"/>
                </a:solidFill>
                <a:latin typeface="Roboto"/>
                <a:ea typeface="Roboto"/>
                <a:cs typeface="Roboto"/>
              </a:defRPr>
            </a:defPPr>
            <a:lvl1pPr algn="l">
              <a:defRPr sz="2100" b="0">
                <a:solidFill>
                  <a:srgbClr val="49454F"/>
                </a:solidFill>
                <a:latin typeface="Roboto"/>
                <a:ea typeface="Roboto"/>
                <a:cs typeface="Roboto"/>
              </a:defRPr>
            </a:lvl1pPr>
            <a:lvl2pPr algn="l">
              <a:defRPr sz="2100" b="0">
                <a:solidFill>
                  <a:srgbClr val="49454F"/>
                </a:solidFill>
                <a:latin typeface="Roboto"/>
                <a:ea typeface="Roboto"/>
                <a:cs typeface="Roboto"/>
              </a:defRPr>
            </a:lvl2pPr>
            <a:lvl3pPr algn="l">
              <a:defRPr sz="2100" b="0">
                <a:solidFill>
                  <a:srgbClr val="49454F"/>
                </a:solidFill>
                <a:latin typeface="Roboto"/>
                <a:ea typeface="Roboto"/>
                <a:cs typeface="Roboto"/>
              </a:defRPr>
            </a:lvl3pPr>
            <a:lvl4pPr algn="l">
              <a:defRPr sz="2100" b="0">
                <a:solidFill>
                  <a:srgbClr val="49454F"/>
                </a:solidFill>
                <a:latin typeface="Roboto"/>
                <a:ea typeface="Roboto"/>
                <a:cs typeface="Roboto"/>
              </a:defRPr>
            </a:lvl4pPr>
            <a:lvl5pPr algn="l">
              <a:defRPr sz="2100" b="0">
                <a:solidFill>
                  <a:srgbClr val="49454F"/>
                </a:solidFill>
                <a:latin typeface="Roboto"/>
                <a:ea typeface="Roboto"/>
                <a:cs typeface="Roboto"/>
              </a:defRPr>
            </a:lvl5pPr>
            <a:lvl6pPr algn="l">
              <a:defRPr sz="2100" b="0">
                <a:solidFill>
                  <a:srgbClr val="49454F"/>
                </a:solidFill>
                <a:latin typeface="Roboto"/>
                <a:ea typeface="Roboto"/>
                <a:cs typeface="Roboto"/>
              </a:defRPr>
            </a:lvl6pPr>
            <a:lvl7pPr algn="l">
              <a:defRPr sz="2100" b="0">
                <a:solidFill>
                  <a:srgbClr val="49454F"/>
                </a:solidFill>
                <a:latin typeface="Roboto"/>
                <a:ea typeface="Roboto"/>
                <a:cs typeface="Roboto"/>
              </a:defRPr>
            </a:lvl7pPr>
            <a:lvl8pPr algn="l">
              <a:defRPr sz="2100" b="0">
                <a:solidFill>
                  <a:srgbClr val="49454F"/>
                </a:solidFill>
                <a:latin typeface="Roboto"/>
                <a:ea typeface="Roboto"/>
                <a:cs typeface="Roboto"/>
              </a:defRPr>
            </a:lvl8pPr>
            <a:lvl9pPr algn="l">
              <a:defRPr sz="2100" b="0">
                <a:solidFill>
                  <a:srgbClr val="49454F"/>
                </a:solidFill>
                <a:latin typeface="Roboto"/>
                <a:ea typeface="Roboto"/>
                <a:cs typeface="Roboto"/>
              </a:defRPr>
            </a:lvl9pPr>
          </a:lstStyle>
          <a:p xmlns:a="http://schemas.openxmlformats.org/drawingml/2006/main">
            <a:pPr algn="l">
              <a:defRPr sz="2100" b="0">
                <a:solidFill>
                  <a:srgbClr val="49454F"/>
                </a:solidFill>
                <a:latin typeface="Roboto"/>
                <a:ea typeface="Roboto"/>
                <a:cs typeface="Roboto"/>
              </a:defRPr>
            </a:pPr>
            <a:r>
              <a:rPr sz="2100" b="0">
                <a:solidFill>
                  <a:srgbClr val="49454F"/>
                </a:solidFill>
                <a:latin typeface="Roboto"/>
                <a:ea typeface="Roboto"/>
                <a:cs typeface="Roboto"/>
              </a:rPr>
              <a:t>Two Aperture directions, one task journey</a:t>
            </a:r>
          </a:p>
        </p:txBody>
      </p:sp>
      <p:sp>
        <p:nvSpPr>
          <p:cNvPr id="4" name="">
            <a:extLst xmlns:a="http://schemas.openxmlformats.org/drawingml/2006/main">
              <a:ext uri="{FF2B5EF4-FFF2-40B4-BE49-F238E27FC236}">
                <a16:creationId xmlns:a16="http://schemas.microsoft.com/office/drawing/2014/main" id="{8E2635D1-F120-40D6-8EE7-D529964D2DCA}"/>
              </a:ext>
            </a:extLst>
          </p:cNvPr>
          <p:cNvSpPr>
            <a:spLocks xmlns:a="http://schemas.openxmlformats.org/drawingml/2006/main" noGrp="1"/>
          </p:cNvSpPr>
          <p:nvPr/>
        </p:nvSpPr>
        <p:spPr>
          <a:xfrm xmlns:a="http://schemas.openxmlformats.org/drawingml/2006/main">
            <a:off x="609600" y="2209800"/>
            <a:ext cx="5219700" cy="1704975"/>
          </a:xfrm>
          <a:prstGeom xmlns:a="http://schemas.openxmlformats.org/drawingml/2006/main" prst="roundRect">
            <a:avLst>
              <a:gd name="adj" fmla="val 20112"/>
            </a:avLst>
          </a:prstGeom>
          <a:solidFill xmlns:a="http://schemas.openxmlformats.org/drawingml/2006/main">
            <a:srgbClr val="EADD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ECED67F-400F-4F99-A711-77AD47EF80D7}"/>
              </a:ext>
            </a:extLst>
          </p:cNvPr>
          <p:cNvSpPr>
            <a:spLocks xmlns:a="http://schemas.openxmlformats.org/drawingml/2006/main" noGrp="1"/>
          </p:cNvSpPr>
          <p:nvPr/>
        </p:nvSpPr>
        <p:spPr>
          <a:xfrm xmlns:a="http://schemas.openxmlformats.org/drawingml/2006/main">
            <a:off x="6057900" y="2209800"/>
            <a:ext cx="5524500" cy="1704975"/>
          </a:xfrm>
          <a:prstGeom xmlns:a="http://schemas.openxmlformats.org/drawingml/2006/main" prst="roundRect">
            <a:avLst>
              <a:gd name="adj" fmla="val 20112"/>
            </a:avLst>
          </a:prstGeom>
          <a:solidFill xmlns:a="http://schemas.openxmlformats.org/drawingml/2006/main">
            <a:srgbClr val="BFEDE1"/>
          </a:solidFill>
          <a:ln xmlns:a="http://schemas.openxmlformats.org/drawingml/2006/main" w="0">
            <a:noFill/>
          </a:ln>
        </p:spPr>
      </p:sp>
      <p:sp>
        <p:nvSpPr>
          <p:cNvPr id="6" name="ORIGINAL · APR 2026">
            <a:extLst xmlns:a="http://schemas.openxmlformats.org/drawingml/2006/main">
              <a:ext uri="{FF2B5EF4-FFF2-40B4-BE49-F238E27FC236}">
                <a16:creationId xmlns:a16="http://schemas.microsoft.com/office/drawing/2014/main" id="{8288A98E-1444-45AD-A282-CDF768BE95C5}"/>
              </a:ext>
            </a:extLst>
          </p:cNvPr>
          <p:cNvSpPr>
            <a:spLocks xmlns:a="http://schemas.openxmlformats.org/drawingml/2006/main" noGrp="1"/>
          </p:cNvSpPr>
          <p:nvPr/>
        </p:nvSpPr>
        <p:spPr>
          <a:xfrm xmlns:a="http://schemas.openxmlformats.org/drawingml/2006/main">
            <a:off x="876300" y="2428875"/>
            <a:ext cx="468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6750A4"/>
                </a:solidFill>
                <a:latin typeface="Roboto"/>
                <a:ea typeface="Roboto"/>
                <a:cs typeface="Roboto"/>
              </a:defRPr>
            </a:defPPr>
            <a:lvl1pPr algn="l">
              <a:defRPr sz="1425" b="1">
                <a:solidFill>
                  <a:srgbClr val="6750A4"/>
                </a:solidFill>
                <a:latin typeface="Roboto"/>
                <a:ea typeface="Roboto"/>
                <a:cs typeface="Roboto"/>
              </a:defRPr>
            </a:lvl1pPr>
            <a:lvl2pPr algn="l">
              <a:defRPr sz="1425" b="1">
                <a:solidFill>
                  <a:srgbClr val="6750A4"/>
                </a:solidFill>
                <a:latin typeface="Roboto"/>
                <a:ea typeface="Roboto"/>
                <a:cs typeface="Roboto"/>
              </a:defRPr>
            </a:lvl2pPr>
            <a:lvl3pPr algn="l">
              <a:defRPr sz="1425" b="1">
                <a:solidFill>
                  <a:srgbClr val="6750A4"/>
                </a:solidFill>
                <a:latin typeface="Roboto"/>
                <a:ea typeface="Roboto"/>
                <a:cs typeface="Roboto"/>
              </a:defRPr>
            </a:lvl3pPr>
            <a:lvl4pPr algn="l">
              <a:defRPr sz="1425" b="1">
                <a:solidFill>
                  <a:srgbClr val="6750A4"/>
                </a:solidFill>
                <a:latin typeface="Roboto"/>
                <a:ea typeface="Roboto"/>
                <a:cs typeface="Roboto"/>
              </a:defRPr>
            </a:lvl4pPr>
            <a:lvl5pPr algn="l">
              <a:defRPr sz="1425" b="1">
                <a:solidFill>
                  <a:srgbClr val="6750A4"/>
                </a:solidFill>
                <a:latin typeface="Roboto"/>
                <a:ea typeface="Roboto"/>
                <a:cs typeface="Roboto"/>
              </a:defRPr>
            </a:lvl5pPr>
            <a:lvl6pPr algn="l">
              <a:defRPr sz="1425" b="1">
                <a:solidFill>
                  <a:srgbClr val="6750A4"/>
                </a:solidFill>
                <a:latin typeface="Roboto"/>
                <a:ea typeface="Roboto"/>
                <a:cs typeface="Roboto"/>
              </a:defRPr>
            </a:lvl6pPr>
            <a:lvl7pPr algn="l">
              <a:defRPr sz="1425" b="1">
                <a:solidFill>
                  <a:srgbClr val="6750A4"/>
                </a:solidFill>
                <a:latin typeface="Roboto"/>
                <a:ea typeface="Roboto"/>
                <a:cs typeface="Roboto"/>
              </a:defRPr>
            </a:lvl7pPr>
            <a:lvl8pPr algn="l">
              <a:defRPr sz="1425" b="1">
                <a:solidFill>
                  <a:srgbClr val="6750A4"/>
                </a:solidFill>
                <a:latin typeface="Roboto"/>
                <a:ea typeface="Roboto"/>
                <a:cs typeface="Roboto"/>
              </a:defRPr>
            </a:lvl8pPr>
            <a:lvl9pPr algn="l">
              <a:defRPr sz="1425" b="1">
                <a:solidFill>
                  <a:srgbClr val="6750A4"/>
                </a:solidFill>
                <a:latin typeface="Roboto"/>
                <a:ea typeface="Roboto"/>
                <a:cs typeface="Roboto"/>
              </a:defRPr>
            </a:lvl9pPr>
          </a:lstStyle>
          <a:p xmlns:a="http://schemas.openxmlformats.org/drawingml/2006/main">
            <a:pPr algn="l">
              <a:defRPr sz="1425" b="1">
                <a:solidFill>
                  <a:srgbClr val="6750A4"/>
                </a:solidFill>
                <a:latin typeface="Roboto"/>
                <a:ea typeface="Roboto"/>
                <a:cs typeface="Roboto"/>
              </a:defRPr>
            </a:pPr>
            <a:r>
              <a:rPr sz="1425" b="1">
                <a:solidFill>
                  <a:srgbClr val="6750A4"/>
                </a:solidFill>
                <a:latin typeface="Roboto"/>
                <a:ea typeface="Roboto"/>
                <a:cs typeface="Roboto"/>
              </a:rPr>
              <a:t>ORIGINAL · APR 2026</a:t>
            </a:r>
          </a:p>
        </p:txBody>
      </p:sp>
      <p:sp>
        <p:nvSpPr>
          <p:cNvPr id="7" name="AI inference + Sentinel">
            <a:extLst xmlns:a="http://schemas.openxmlformats.org/drawingml/2006/main">
              <a:ext uri="{FF2B5EF4-FFF2-40B4-BE49-F238E27FC236}">
                <a16:creationId xmlns:a16="http://schemas.microsoft.com/office/drawing/2014/main" id="{224E283C-2F43-4319-A361-5D1D5C71D908}"/>
              </a:ext>
            </a:extLst>
          </p:cNvPr>
          <p:cNvSpPr>
            <a:spLocks xmlns:a="http://schemas.openxmlformats.org/drawingml/2006/main" noGrp="1"/>
          </p:cNvSpPr>
          <p:nvPr/>
        </p:nvSpPr>
        <p:spPr>
          <a:xfrm xmlns:a="http://schemas.openxmlformats.org/drawingml/2006/main">
            <a:off x="876300" y="2867025"/>
            <a:ext cx="4686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21005D"/>
                </a:solidFill>
                <a:latin typeface="Roboto"/>
                <a:ea typeface="Roboto"/>
                <a:cs typeface="Roboto"/>
              </a:defRPr>
            </a:defPPr>
            <a:lvl1pPr algn="l">
              <a:defRPr sz="2850" b="1">
                <a:solidFill>
                  <a:srgbClr val="21005D"/>
                </a:solidFill>
                <a:latin typeface="Roboto"/>
                <a:ea typeface="Roboto"/>
                <a:cs typeface="Roboto"/>
              </a:defRPr>
            </a:lvl1pPr>
            <a:lvl2pPr algn="l">
              <a:defRPr sz="2850" b="1">
                <a:solidFill>
                  <a:srgbClr val="21005D"/>
                </a:solidFill>
                <a:latin typeface="Roboto"/>
                <a:ea typeface="Roboto"/>
                <a:cs typeface="Roboto"/>
              </a:defRPr>
            </a:lvl2pPr>
            <a:lvl3pPr algn="l">
              <a:defRPr sz="2850" b="1">
                <a:solidFill>
                  <a:srgbClr val="21005D"/>
                </a:solidFill>
                <a:latin typeface="Roboto"/>
                <a:ea typeface="Roboto"/>
                <a:cs typeface="Roboto"/>
              </a:defRPr>
            </a:lvl3pPr>
            <a:lvl4pPr algn="l">
              <a:defRPr sz="2850" b="1">
                <a:solidFill>
                  <a:srgbClr val="21005D"/>
                </a:solidFill>
                <a:latin typeface="Roboto"/>
                <a:ea typeface="Roboto"/>
                <a:cs typeface="Roboto"/>
              </a:defRPr>
            </a:lvl4pPr>
            <a:lvl5pPr algn="l">
              <a:defRPr sz="2850" b="1">
                <a:solidFill>
                  <a:srgbClr val="21005D"/>
                </a:solidFill>
                <a:latin typeface="Roboto"/>
                <a:ea typeface="Roboto"/>
                <a:cs typeface="Roboto"/>
              </a:defRPr>
            </a:lvl5pPr>
            <a:lvl6pPr algn="l">
              <a:defRPr sz="2850" b="1">
                <a:solidFill>
                  <a:srgbClr val="21005D"/>
                </a:solidFill>
                <a:latin typeface="Roboto"/>
                <a:ea typeface="Roboto"/>
                <a:cs typeface="Roboto"/>
              </a:defRPr>
            </a:lvl6pPr>
            <a:lvl7pPr algn="l">
              <a:defRPr sz="2850" b="1">
                <a:solidFill>
                  <a:srgbClr val="21005D"/>
                </a:solidFill>
                <a:latin typeface="Roboto"/>
                <a:ea typeface="Roboto"/>
                <a:cs typeface="Roboto"/>
              </a:defRPr>
            </a:lvl7pPr>
            <a:lvl8pPr algn="l">
              <a:defRPr sz="2850" b="1">
                <a:solidFill>
                  <a:srgbClr val="21005D"/>
                </a:solidFill>
                <a:latin typeface="Roboto"/>
                <a:ea typeface="Roboto"/>
                <a:cs typeface="Roboto"/>
              </a:defRPr>
            </a:lvl8pPr>
            <a:lvl9pPr algn="l">
              <a:defRPr sz="2850" b="1">
                <a:solidFill>
                  <a:srgbClr val="21005D"/>
                </a:solidFill>
                <a:latin typeface="Roboto"/>
                <a:ea typeface="Roboto"/>
                <a:cs typeface="Roboto"/>
              </a:defRPr>
            </a:lvl9pPr>
          </a:lstStyle>
          <a:p xmlns:a="http://schemas.openxmlformats.org/drawingml/2006/main">
            <a:pPr algn="l">
              <a:defRPr sz="2850" b="1">
                <a:solidFill>
                  <a:srgbClr val="21005D"/>
                </a:solidFill>
                <a:latin typeface="Roboto"/>
                <a:ea typeface="Roboto"/>
                <a:cs typeface="Roboto"/>
              </a:defRPr>
            </a:pPr>
            <a:r>
              <a:rPr sz="2850" b="1">
                <a:solidFill>
                  <a:srgbClr val="21005D"/>
                </a:solidFill>
                <a:latin typeface="Roboto"/>
                <a:ea typeface="Roboto"/>
                <a:cs typeface="Roboto"/>
              </a:rPr>
              <a:t>AI inference + Sentinel</a:t>
            </a:r>
          </a:p>
        </p:txBody>
      </p:sp>
      <p:sp>
        <p:nvSpPr>
          <p:cNvPr id="8" name="Model access and source review">
            <a:extLst xmlns:a="http://schemas.openxmlformats.org/drawingml/2006/main">
              <a:ext uri="{FF2B5EF4-FFF2-40B4-BE49-F238E27FC236}">
                <a16:creationId xmlns:a16="http://schemas.microsoft.com/office/drawing/2014/main" id="{427E55A7-8C12-4ADA-8800-ABE8B5750CD4}"/>
              </a:ext>
            </a:extLst>
          </p:cNvPr>
          <p:cNvSpPr>
            <a:spLocks xmlns:a="http://schemas.openxmlformats.org/drawingml/2006/main" noGrp="1"/>
          </p:cNvSpPr>
          <p:nvPr/>
        </p:nvSpPr>
        <p:spPr>
          <a:xfrm xmlns:a="http://schemas.openxmlformats.org/drawingml/2006/main">
            <a:off x="876300" y="3448050"/>
            <a:ext cx="4686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005D"/>
                </a:solidFill>
                <a:latin typeface="Roboto"/>
                <a:ea typeface="Roboto"/>
                <a:cs typeface="Roboto"/>
              </a:defRPr>
            </a:defPPr>
            <a:lvl1pPr algn="l">
              <a:defRPr sz="1800" b="0">
                <a:solidFill>
                  <a:srgbClr val="21005D"/>
                </a:solidFill>
                <a:latin typeface="Roboto"/>
                <a:ea typeface="Roboto"/>
                <a:cs typeface="Roboto"/>
              </a:defRPr>
            </a:lvl1pPr>
            <a:lvl2pPr algn="l">
              <a:defRPr sz="1800" b="0">
                <a:solidFill>
                  <a:srgbClr val="21005D"/>
                </a:solidFill>
                <a:latin typeface="Roboto"/>
                <a:ea typeface="Roboto"/>
                <a:cs typeface="Roboto"/>
              </a:defRPr>
            </a:lvl2pPr>
            <a:lvl3pPr algn="l">
              <a:defRPr sz="1800" b="0">
                <a:solidFill>
                  <a:srgbClr val="21005D"/>
                </a:solidFill>
                <a:latin typeface="Roboto"/>
                <a:ea typeface="Roboto"/>
                <a:cs typeface="Roboto"/>
              </a:defRPr>
            </a:lvl3pPr>
            <a:lvl4pPr algn="l">
              <a:defRPr sz="1800" b="0">
                <a:solidFill>
                  <a:srgbClr val="21005D"/>
                </a:solidFill>
                <a:latin typeface="Roboto"/>
                <a:ea typeface="Roboto"/>
                <a:cs typeface="Roboto"/>
              </a:defRPr>
            </a:lvl4pPr>
            <a:lvl5pPr algn="l">
              <a:defRPr sz="1800" b="0">
                <a:solidFill>
                  <a:srgbClr val="21005D"/>
                </a:solidFill>
                <a:latin typeface="Roboto"/>
                <a:ea typeface="Roboto"/>
                <a:cs typeface="Roboto"/>
              </a:defRPr>
            </a:lvl5pPr>
            <a:lvl6pPr algn="l">
              <a:defRPr sz="1800" b="0">
                <a:solidFill>
                  <a:srgbClr val="21005D"/>
                </a:solidFill>
                <a:latin typeface="Roboto"/>
                <a:ea typeface="Roboto"/>
                <a:cs typeface="Roboto"/>
              </a:defRPr>
            </a:lvl6pPr>
            <a:lvl7pPr algn="l">
              <a:defRPr sz="1800" b="0">
                <a:solidFill>
                  <a:srgbClr val="21005D"/>
                </a:solidFill>
                <a:latin typeface="Roboto"/>
                <a:ea typeface="Roboto"/>
                <a:cs typeface="Roboto"/>
              </a:defRPr>
            </a:lvl7pPr>
            <a:lvl8pPr algn="l">
              <a:defRPr sz="1800" b="0">
                <a:solidFill>
                  <a:srgbClr val="21005D"/>
                </a:solidFill>
                <a:latin typeface="Roboto"/>
                <a:ea typeface="Roboto"/>
                <a:cs typeface="Roboto"/>
              </a:defRPr>
            </a:lvl8pPr>
            <a:lvl9pPr algn="l">
              <a:defRPr sz="1800" b="0">
                <a:solidFill>
                  <a:srgbClr val="21005D"/>
                </a:solidFill>
                <a:latin typeface="Roboto"/>
                <a:ea typeface="Roboto"/>
                <a:cs typeface="Roboto"/>
              </a:defRPr>
            </a:lvl9pPr>
          </a:lstStyle>
          <a:p xmlns:a="http://schemas.openxmlformats.org/drawingml/2006/main">
            <a:pPr algn="l">
              <a:defRPr sz="1800" b="0">
                <a:solidFill>
                  <a:srgbClr val="21005D"/>
                </a:solidFill>
                <a:latin typeface="Roboto"/>
                <a:ea typeface="Roboto"/>
                <a:cs typeface="Roboto"/>
              </a:defRPr>
            </a:pPr>
            <a:r>
              <a:rPr sz="1800" b="0">
                <a:solidFill>
                  <a:srgbClr val="21005D"/>
                </a:solidFill>
                <a:latin typeface="Roboto"/>
                <a:ea typeface="Roboto"/>
                <a:cs typeface="Roboto"/>
              </a:rPr>
              <a:t>Model access and source review</a:t>
            </a:r>
          </a:p>
        </p:txBody>
      </p:sp>
      <p:sp>
        <p:nvSpPr>
          <p:cNvPr id="9" name="CURRENT · OCT 2026">
            <a:extLst xmlns:a="http://schemas.openxmlformats.org/drawingml/2006/main">
              <a:ext uri="{FF2B5EF4-FFF2-40B4-BE49-F238E27FC236}">
                <a16:creationId xmlns:a16="http://schemas.microsoft.com/office/drawing/2014/main" id="{C1CC449B-3779-4D01-B468-6CB318D06587}"/>
              </a:ext>
            </a:extLst>
          </p:cNvPr>
          <p:cNvSpPr>
            <a:spLocks xmlns:a="http://schemas.openxmlformats.org/drawingml/2006/main" noGrp="1"/>
          </p:cNvSpPr>
          <p:nvPr/>
        </p:nvSpPr>
        <p:spPr>
          <a:xfrm xmlns:a="http://schemas.openxmlformats.org/drawingml/2006/main">
            <a:off x="6324600" y="2428875"/>
            <a:ext cx="4991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6B5F"/>
                </a:solidFill>
                <a:latin typeface="Roboto"/>
                <a:ea typeface="Roboto"/>
                <a:cs typeface="Roboto"/>
              </a:defRPr>
            </a:defPPr>
            <a:lvl1pPr algn="l">
              <a:defRPr sz="1425" b="1">
                <a:solidFill>
                  <a:srgbClr val="006B5F"/>
                </a:solidFill>
                <a:latin typeface="Roboto"/>
                <a:ea typeface="Roboto"/>
                <a:cs typeface="Roboto"/>
              </a:defRPr>
            </a:lvl1pPr>
            <a:lvl2pPr algn="l">
              <a:defRPr sz="1425" b="1">
                <a:solidFill>
                  <a:srgbClr val="006B5F"/>
                </a:solidFill>
                <a:latin typeface="Roboto"/>
                <a:ea typeface="Roboto"/>
                <a:cs typeface="Roboto"/>
              </a:defRPr>
            </a:lvl2pPr>
            <a:lvl3pPr algn="l">
              <a:defRPr sz="1425" b="1">
                <a:solidFill>
                  <a:srgbClr val="006B5F"/>
                </a:solidFill>
                <a:latin typeface="Roboto"/>
                <a:ea typeface="Roboto"/>
                <a:cs typeface="Roboto"/>
              </a:defRPr>
            </a:lvl3pPr>
            <a:lvl4pPr algn="l">
              <a:defRPr sz="1425" b="1">
                <a:solidFill>
                  <a:srgbClr val="006B5F"/>
                </a:solidFill>
                <a:latin typeface="Roboto"/>
                <a:ea typeface="Roboto"/>
                <a:cs typeface="Roboto"/>
              </a:defRPr>
            </a:lvl4pPr>
            <a:lvl5pPr algn="l">
              <a:defRPr sz="1425" b="1">
                <a:solidFill>
                  <a:srgbClr val="006B5F"/>
                </a:solidFill>
                <a:latin typeface="Roboto"/>
                <a:ea typeface="Roboto"/>
                <a:cs typeface="Roboto"/>
              </a:defRPr>
            </a:lvl5pPr>
            <a:lvl6pPr algn="l">
              <a:defRPr sz="1425" b="1">
                <a:solidFill>
                  <a:srgbClr val="006B5F"/>
                </a:solidFill>
                <a:latin typeface="Roboto"/>
                <a:ea typeface="Roboto"/>
                <a:cs typeface="Roboto"/>
              </a:defRPr>
            </a:lvl6pPr>
            <a:lvl7pPr algn="l">
              <a:defRPr sz="1425" b="1">
                <a:solidFill>
                  <a:srgbClr val="006B5F"/>
                </a:solidFill>
                <a:latin typeface="Roboto"/>
                <a:ea typeface="Roboto"/>
                <a:cs typeface="Roboto"/>
              </a:defRPr>
            </a:lvl7pPr>
            <a:lvl8pPr algn="l">
              <a:defRPr sz="1425" b="1">
                <a:solidFill>
                  <a:srgbClr val="006B5F"/>
                </a:solidFill>
                <a:latin typeface="Roboto"/>
                <a:ea typeface="Roboto"/>
                <a:cs typeface="Roboto"/>
              </a:defRPr>
            </a:lvl8pPr>
            <a:lvl9pPr algn="l">
              <a:defRPr sz="1425" b="1">
                <a:solidFill>
                  <a:srgbClr val="006B5F"/>
                </a:solidFill>
                <a:latin typeface="Roboto"/>
                <a:ea typeface="Roboto"/>
                <a:cs typeface="Roboto"/>
              </a:defRPr>
            </a:lvl9pPr>
          </a:lstStyle>
          <a:p xmlns:a="http://schemas.openxmlformats.org/drawingml/2006/main">
            <a:pPr algn="l">
              <a:defRPr sz="1425" b="1">
                <a:solidFill>
                  <a:srgbClr val="006B5F"/>
                </a:solidFill>
                <a:latin typeface="Roboto"/>
                <a:ea typeface="Roboto"/>
                <a:cs typeface="Roboto"/>
              </a:defRPr>
            </a:pPr>
            <a:r>
              <a:rPr sz="1425" b="1">
                <a:solidFill>
                  <a:srgbClr val="006B5F"/>
                </a:solidFill>
                <a:latin typeface="Roboto"/>
                <a:ea typeface="Roboto"/>
                <a:cs typeface="Roboto"/>
              </a:rPr>
              <a:t>CURRENT · OCT 2026</a:t>
            </a:r>
          </a:p>
        </p:txBody>
      </p:sp>
      <p:sp>
        <p:nvSpPr>
          <p:cNvPr id="10" name="Compute + agent jobs">
            <a:extLst xmlns:a="http://schemas.openxmlformats.org/drawingml/2006/main">
              <a:ext uri="{FF2B5EF4-FFF2-40B4-BE49-F238E27FC236}">
                <a16:creationId xmlns:a16="http://schemas.microsoft.com/office/drawing/2014/main" id="{81ADB313-FDC6-40FE-8F3A-C7647B8339C1}"/>
              </a:ext>
            </a:extLst>
          </p:cNvPr>
          <p:cNvSpPr>
            <a:spLocks xmlns:a="http://schemas.openxmlformats.org/drawingml/2006/main" noGrp="1"/>
          </p:cNvSpPr>
          <p:nvPr/>
        </p:nvSpPr>
        <p:spPr>
          <a:xfrm xmlns:a="http://schemas.openxmlformats.org/drawingml/2006/main">
            <a:off x="6324600" y="2867025"/>
            <a:ext cx="4991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0201B"/>
                </a:solidFill>
                <a:latin typeface="Roboto"/>
                <a:ea typeface="Roboto"/>
                <a:cs typeface="Roboto"/>
              </a:defRPr>
            </a:defPPr>
            <a:lvl1pPr algn="l">
              <a:defRPr sz="2850" b="1">
                <a:solidFill>
                  <a:srgbClr val="00201B"/>
                </a:solidFill>
                <a:latin typeface="Roboto"/>
                <a:ea typeface="Roboto"/>
                <a:cs typeface="Roboto"/>
              </a:defRPr>
            </a:lvl1pPr>
            <a:lvl2pPr algn="l">
              <a:defRPr sz="2850" b="1">
                <a:solidFill>
                  <a:srgbClr val="00201B"/>
                </a:solidFill>
                <a:latin typeface="Roboto"/>
                <a:ea typeface="Roboto"/>
                <a:cs typeface="Roboto"/>
              </a:defRPr>
            </a:lvl2pPr>
            <a:lvl3pPr algn="l">
              <a:defRPr sz="2850" b="1">
                <a:solidFill>
                  <a:srgbClr val="00201B"/>
                </a:solidFill>
                <a:latin typeface="Roboto"/>
                <a:ea typeface="Roboto"/>
                <a:cs typeface="Roboto"/>
              </a:defRPr>
            </a:lvl3pPr>
            <a:lvl4pPr algn="l">
              <a:defRPr sz="2850" b="1">
                <a:solidFill>
                  <a:srgbClr val="00201B"/>
                </a:solidFill>
                <a:latin typeface="Roboto"/>
                <a:ea typeface="Roboto"/>
                <a:cs typeface="Roboto"/>
              </a:defRPr>
            </a:lvl4pPr>
            <a:lvl5pPr algn="l">
              <a:defRPr sz="2850" b="1">
                <a:solidFill>
                  <a:srgbClr val="00201B"/>
                </a:solidFill>
                <a:latin typeface="Roboto"/>
                <a:ea typeface="Roboto"/>
                <a:cs typeface="Roboto"/>
              </a:defRPr>
            </a:lvl5pPr>
            <a:lvl6pPr algn="l">
              <a:defRPr sz="2850" b="1">
                <a:solidFill>
                  <a:srgbClr val="00201B"/>
                </a:solidFill>
                <a:latin typeface="Roboto"/>
                <a:ea typeface="Roboto"/>
                <a:cs typeface="Roboto"/>
              </a:defRPr>
            </a:lvl6pPr>
            <a:lvl7pPr algn="l">
              <a:defRPr sz="2850" b="1">
                <a:solidFill>
                  <a:srgbClr val="00201B"/>
                </a:solidFill>
                <a:latin typeface="Roboto"/>
                <a:ea typeface="Roboto"/>
                <a:cs typeface="Roboto"/>
              </a:defRPr>
            </a:lvl7pPr>
            <a:lvl8pPr algn="l">
              <a:defRPr sz="2850" b="1">
                <a:solidFill>
                  <a:srgbClr val="00201B"/>
                </a:solidFill>
                <a:latin typeface="Roboto"/>
                <a:ea typeface="Roboto"/>
                <a:cs typeface="Roboto"/>
              </a:defRPr>
            </a:lvl8pPr>
            <a:lvl9pPr algn="l">
              <a:defRPr sz="2850" b="1">
                <a:solidFill>
                  <a:srgbClr val="00201B"/>
                </a:solidFill>
                <a:latin typeface="Roboto"/>
                <a:ea typeface="Roboto"/>
                <a:cs typeface="Roboto"/>
              </a:defRPr>
            </a:lvl9pPr>
          </a:lstStyle>
          <a:p xmlns:a="http://schemas.openxmlformats.org/drawingml/2006/main">
            <a:pPr algn="l">
              <a:defRPr sz="2850" b="1">
                <a:solidFill>
                  <a:srgbClr val="00201B"/>
                </a:solidFill>
                <a:latin typeface="Roboto"/>
                <a:ea typeface="Roboto"/>
                <a:cs typeface="Roboto"/>
              </a:defRPr>
            </a:pPr>
            <a:r>
              <a:rPr sz="2850" b="1">
                <a:solidFill>
                  <a:srgbClr val="00201B"/>
                </a:solidFill>
                <a:latin typeface="Roboto"/>
                <a:ea typeface="Roboto"/>
                <a:cs typeface="Roboto"/>
              </a:rPr>
              <a:t>Compute + agent jobs</a:t>
            </a:r>
          </a:p>
        </p:txBody>
      </p:sp>
      <p:sp>
        <p:nvSpPr>
          <p:cNvPr id="11" name="Python work, files and recovery">
            <a:extLst xmlns:a="http://schemas.openxmlformats.org/drawingml/2006/main">
              <a:ext uri="{FF2B5EF4-FFF2-40B4-BE49-F238E27FC236}">
                <a16:creationId xmlns:a16="http://schemas.microsoft.com/office/drawing/2014/main" id="{CD2C35E0-9ED3-4F0B-95AB-E1126D30F1E2}"/>
              </a:ext>
            </a:extLst>
          </p:cNvPr>
          <p:cNvSpPr>
            <a:spLocks xmlns:a="http://schemas.openxmlformats.org/drawingml/2006/main" noGrp="1"/>
          </p:cNvSpPr>
          <p:nvPr/>
        </p:nvSpPr>
        <p:spPr>
          <a:xfrm xmlns:a="http://schemas.openxmlformats.org/drawingml/2006/main">
            <a:off x="6324600" y="3448050"/>
            <a:ext cx="4991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201B"/>
                </a:solidFill>
                <a:latin typeface="Roboto"/>
                <a:ea typeface="Roboto"/>
                <a:cs typeface="Roboto"/>
              </a:defRPr>
            </a:defPPr>
            <a:lvl1pPr algn="l">
              <a:defRPr sz="1800" b="0">
                <a:solidFill>
                  <a:srgbClr val="00201B"/>
                </a:solidFill>
                <a:latin typeface="Roboto"/>
                <a:ea typeface="Roboto"/>
                <a:cs typeface="Roboto"/>
              </a:defRPr>
            </a:lvl1pPr>
            <a:lvl2pPr algn="l">
              <a:defRPr sz="1800" b="0">
                <a:solidFill>
                  <a:srgbClr val="00201B"/>
                </a:solidFill>
                <a:latin typeface="Roboto"/>
                <a:ea typeface="Roboto"/>
                <a:cs typeface="Roboto"/>
              </a:defRPr>
            </a:lvl2pPr>
            <a:lvl3pPr algn="l">
              <a:defRPr sz="1800" b="0">
                <a:solidFill>
                  <a:srgbClr val="00201B"/>
                </a:solidFill>
                <a:latin typeface="Roboto"/>
                <a:ea typeface="Roboto"/>
                <a:cs typeface="Roboto"/>
              </a:defRPr>
            </a:lvl3pPr>
            <a:lvl4pPr algn="l">
              <a:defRPr sz="1800" b="0">
                <a:solidFill>
                  <a:srgbClr val="00201B"/>
                </a:solidFill>
                <a:latin typeface="Roboto"/>
                <a:ea typeface="Roboto"/>
                <a:cs typeface="Roboto"/>
              </a:defRPr>
            </a:lvl4pPr>
            <a:lvl5pPr algn="l">
              <a:defRPr sz="1800" b="0">
                <a:solidFill>
                  <a:srgbClr val="00201B"/>
                </a:solidFill>
                <a:latin typeface="Roboto"/>
                <a:ea typeface="Roboto"/>
                <a:cs typeface="Roboto"/>
              </a:defRPr>
            </a:lvl5pPr>
            <a:lvl6pPr algn="l">
              <a:defRPr sz="1800" b="0">
                <a:solidFill>
                  <a:srgbClr val="00201B"/>
                </a:solidFill>
                <a:latin typeface="Roboto"/>
                <a:ea typeface="Roboto"/>
                <a:cs typeface="Roboto"/>
              </a:defRPr>
            </a:lvl6pPr>
            <a:lvl7pPr algn="l">
              <a:defRPr sz="1800" b="0">
                <a:solidFill>
                  <a:srgbClr val="00201B"/>
                </a:solidFill>
                <a:latin typeface="Roboto"/>
                <a:ea typeface="Roboto"/>
                <a:cs typeface="Roboto"/>
              </a:defRPr>
            </a:lvl7pPr>
            <a:lvl8pPr algn="l">
              <a:defRPr sz="1800" b="0">
                <a:solidFill>
                  <a:srgbClr val="00201B"/>
                </a:solidFill>
                <a:latin typeface="Roboto"/>
                <a:ea typeface="Roboto"/>
                <a:cs typeface="Roboto"/>
              </a:defRPr>
            </a:lvl8pPr>
            <a:lvl9pPr algn="l">
              <a:defRPr sz="1800" b="0">
                <a:solidFill>
                  <a:srgbClr val="00201B"/>
                </a:solidFill>
                <a:latin typeface="Roboto"/>
                <a:ea typeface="Roboto"/>
                <a:cs typeface="Roboto"/>
              </a:defRPr>
            </a:lvl9pPr>
          </a:lstStyle>
          <a:p xmlns:a="http://schemas.openxmlformats.org/drawingml/2006/main">
            <a:pPr algn="l">
              <a:defRPr sz="1800" b="0">
                <a:solidFill>
                  <a:srgbClr val="00201B"/>
                </a:solidFill>
                <a:latin typeface="Roboto"/>
                <a:ea typeface="Roboto"/>
                <a:cs typeface="Roboto"/>
              </a:defRPr>
            </a:pPr>
            <a:r>
              <a:rPr sz="1800" b="0">
                <a:solidFill>
                  <a:srgbClr val="00201B"/>
                </a:solidFill>
                <a:latin typeface="Roboto"/>
                <a:ea typeface="Roboto"/>
                <a:cs typeface="Roboto"/>
              </a:rPr>
              <a:t>Python work, files and recovery</a:t>
            </a:r>
          </a:p>
        </p:txBody>
      </p:sp>
      <p:sp>
        <p:nvSpPr>
          <p:cNvPr id="12" name="">
            <a:extLst xmlns:a="http://schemas.openxmlformats.org/drawingml/2006/main">
              <a:ext uri="{FF2B5EF4-FFF2-40B4-BE49-F238E27FC236}">
                <a16:creationId xmlns:a16="http://schemas.microsoft.com/office/drawing/2014/main" id="{0DAA2143-757D-4FF6-BE45-8FB1F84B8244}"/>
              </a:ext>
            </a:extLst>
          </p:cNvPr>
          <p:cNvSpPr>
            <a:spLocks xmlns:a="http://schemas.openxmlformats.org/drawingml/2006/main" noGrp="1"/>
          </p:cNvSpPr>
          <p:nvPr/>
        </p:nvSpPr>
        <p:spPr>
          <a:xfrm xmlns:a="http://schemas.openxmlformats.org/drawingml/2006/main">
            <a:off x="609600" y="4400550"/>
            <a:ext cx="10972800" cy="1581150"/>
          </a:xfrm>
          <a:prstGeom xmlns:a="http://schemas.openxmlformats.org/drawingml/2006/main" prst="roundRect">
            <a:avLst>
              <a:gd name="adj" fmla="val 24096"/>
            </a:avLst>
          </a:prstGeom>
          <a:solidFill xmlns:a="http://schemas.openxmlformats.org/drawingml/2006/main">
            <a:srgbClr val="21005D"/>
          </a:solidFill>
          <a:ln xmlns:a="http://schemas.openxmlformats.org/drawingml/2006/main" w="0">
            <a:noFill/>
          </a:ln>
        </p:spPr>
      </p:sp>
      <p:sp>
        <p:nvSpPr>
          <p:cNvPr id="13" name="Review">
            <a:extLst xmlns:a="http://schemas.openxmlformats.org/drawingml/2006/main">
              <a:ext uri="{FF2B5EF4-FFF2-40B4-BE49-F238E27FC236}">
                <a16:creationId xmlns:a16="http://schemas.microsoft.com/office/drawing/2014/main" id="{E1C73FA7-0712-4923-957B-FB6EEBFF65F3}"/>
              </a:ext>
            </a:extLst>
          </p:cNvPr>
          <p:cNvSpPr>
            <a:spLocks xmlns:a="http://schemas.openxmlformats.org/drawingml/2006/main" noGrp="1"/>
          </p:cNvSpPr>
          <p:nvPr/>
        </p:nvSpPr>
        <p:spPr>
          <a:xfrm xmlns:a="http://schemas.openxmlformats.org/drawingml/2006/main">
            <a:off x="895350" y="4667250"/>
            <a:ext cx="2305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Roboto"/>
                <a:ea typeface="Roboto"/>
                <a:cs typeface="Roboto"/>
              </a:defRPr>
            </a:defPPr>
            <a:lvl1pPr algn="l">
              <a:defRPr sz="2550" b="1">
                <a:solidFill>
                  <a:srgbClr val="FFFFFF"/>
                </a:solidFill>
                <a:latin typeface="Roboto"/>
                <a:ea typeface="Roboto"/>
                <a:cs typeface="Roboto"/>
              </a:defRPr>
            </a:lvl1pPr>
            <a:lvl2pPr algn="l">
              <a:defRPr sz="2550" b="1">
                <a:solidFill>
                  <a:srgbClr val="FFFFFF"/>
                </a:solidFill>
                <a:latin typeface="Roboto"/>
                <a:ea typeface="Roboto"/>
                <a:cs typeface="Roboto"/>
              </a:defRPr>
            </a:lvl2pPr>
            <a:lvl3pPr algn="l">
              <a:defRPr sz="2550" b="1">
                <a:solidFill>
                  <a:srgbClr val="FFFFFF"/>
                </a:solidFill>
                <a:latin typeface="Roboto"/>
                <a:ea typeface="Roboto"/>
                <a:cs typeface="Roboto"/>
              </a:defRPr>
            </a:lvl3pPr>
            <a:lvl4pPr algn="l">
              <a:defRPr sz="2550" b="1">
                <a:solidFill>
                  <a:srgbClr val="FFFFFF"/>
                </a:solidFill>
                <a:latin typeface="Roboto"/>
                <a:ea typeface="Roboto"/>
                <a:cs typeface="Roboto"/>
              </a:defRPr>
            </a:lvl4pPr>
            <a:lvl5pPr algn="l">
              <a:defRPr sz="2550" b="1">
                <a:solidFill>
                  <a:srgbClr val="FFFFFF"/>
                </a:solidFill>
                <a:latin typeface="Roboto"/>
                <a:ea typeface="Roboto"/>
                <a:cs typeface="Roboto"/>
              </a:defRPr>
            </a:lvl5pPr>
            <a:lvl6pPr algn="l">
              <a:defRPr sz="2550" b="1">
                <a:solidFill>
                  <a:srgbClr val="FFFFFF"/>
                </a:solidFill>
                <a:latin typeface="Roboto"/>
                <a:ea typeface="Roboto"/>
                <a:cs typeface="Roboto"/>
              </a:defRPr>
            </a:lvl6pPr>
            <a:lvl7pPr algn="l">
              <a:defRPr sz="2550" b="1">
                <a:solidFill>
                  <a:srgbClr val="FFFFFF"/>
                </a:solidFill>
                <a:latin typeface="Roboto"/>
                <a:ea typeface="Roboto"/>
                <a:cs typeface="Roboto"/>
              </a:defRPr>
            </a:lvl7pPr>
            <a:lvl8pPr algn="l">
              <a:defRPr sz="2550" b="1">
                <a:solidFill>
                  <a:srgbClr val="FFFFFF"/>
                </a:solidFill>
                <a:latin typeface="Roboto"/>
                <a:ea typeface="Roboto"/>
                <a:cs typeface="Roboto"/>
              </a:defRPr>
            </a:lvl8pPr>
            <a:lvl9pPr algn="l">
              <a:defRPr sz="2550" b="1">
                <a:solidFill>
                  <a:srgbClr val="FFFFFF"/>
                </a:solidFill>
                <a:latin typeface="Roboto"/>
                <a:ea typeface="Roboto"/>
                <a:cs typeface="Roboto"/>
              </a:defRPr>
            </a:lvl9pPr>
          </a:lstStyle>
          <a:p xmlns:a="http://schemas.openxmlformats.org/drawingml/2006/main">
            <a:pPr algn="l">
              <a:defRPr sz="2550" b="1">
                <a:solidFill>
                  <a:srgbClr val="FFFFFF"/>
                </a:solidFill>
                <a:latin typeface="Roboto"/>
                <a:ea typeface="Roboto"/>
                <a:cs typeface="Roboto"/>
              </a:defRPr>
            </a:pPr>
            <a:r>
              <a:rPr sz="2550" b="1">
                <a:solidFill>
                  <a:srgbClr val="FFFFFF"/>
                </a:solidFill>
                <a:latin typeface="Roboto"/>
                <a:ea typeface="Roboto"/>
                <a:cs typeface="Roboto"/>
              </a:rPr>
              <a:t>Review</a:t>
            </a:r>
          </a:p>
        </p:txBody>
      </p:sp>
      <p:sp>
        <p:nvSpPr>
          <p:cNvPr id="14" name="Exact source">
            <a:extLst xmlns:a="http://schemas.openxmlformats.org/drawingml/2006/main">
              <a:ext uri="{FF2B5EF4-FFF2-40B4-BE49-F238E27FC236}">
                <a16:creationId xmlns:a16="http://schemas.microsoft.com/office/drawing/2014/main" id="{506BD452-4C30-481E-8B42-BD3FD47E4FCE}"/>
              </a:ext>
            </a:extLst>
          </p:cNvPr>
          <p:cNvSpPr>
            <a:spLocks xmlns:a="http://schemas.openxmlformats.org/drawingml/2006/main" noGrp="1"/>
          </p:cNvSpPr>
          <p:nvPr/>
        </p:nvSpPr>
        <p:spPr>
          <a:xfrm xmlns:a="http://schemas.openxmlformats.org/drawingml/2006/main">
            <a:off x="895350" y="525780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ADDFF"/>
                </a:solidFill>
                <a:latin typeface="Roboto"/>
                <a:ea typeface="Roboto"/>
                <a:cs typeface="Roboto"/>
              </a:defRPr>
            </a:defPPr>
            <a:lvl1pPr algn="l">
              <a:defRPr sz="1725" b="0">
                <a:solidFill>
                  <a:srgbClr val="EADDFF"/>
                </a:solidFill>
                <a:latin typeface="Roboto"/>
                <a:ea typeface="Roboto"/>
                <a:cs typeface="Roboto"/>
              </a:defRPr>
            </a:lvl1pPr>
            <a:lvl2pPr algn="l">
              <a:defRPr sz="1725" b="0">
                <a:solidFill>
                  <a:srgbClr val="EADDFF"/>
                </a:solidFill>
                <a:latin typeface="Roboto"/>
                <a:ea typeface="Roboto"/>
                <a:cs typeface="Roboto"/>
              </a:defRPr>
            </a:lvl2pPr>
            <a:lvl3pPr algn="l">
              <a:defRPr sz="1725" b="0">
                <a:solidFill>
                  <a:srgbClr val="EADDFF"/>
                </a:solidFill>
                <a:latin typeface="Roboto"/>
                <a:ea typeface="Roboto"/>
                <a:cs typeface="Roboto"/>
              </a:defRPr>
            </a:lvl3pPr>
            <a:lvl4pPr algn="l">
              <a:defRPr sz="1725" b="0">
                <a:solidFill>
                  <a:srgbClr val="EADDFF"/>
                </a:solidFill>
                <a:latin typeface="Roboto"/>
                <a:ea typeface="Roboto"/>
                <a:cs typeface="Roboto"/>
              </a:defRPr>
            </a:lvl4pPr>
            <a:lvl5pPr algn="l">
              <a:defRPr sz="1725" b="0">
                <a:solidFill>
                  <a:srgbClr val="EADDFF"/>
                </a:solidFill>
                <a:latin typeface="Roboto"/>
                <a:ea typeface="Roboto"/>
                <a:cs typeface="Roboto"/>
              </a:defRPr>
            </a:lvl5pPr>
            <a:lvl6pPr algn="l">
              <a:defRPr sz="1725" b="0">
                <a:solidFill>
                  <a:srgbClr val="EADDFF"/>
                </a:solidFill>
                <a:latin typeface="Roboto"/>
                <a:ea typeface="Roboto"/>
                <a:cs typeface="Roboto"/>
              </a:defRPr>
            </a:lvl6pPr>
            <a:lvl7pPr algn="l">
              <a:defRPr sz="1725" b="0">
                <a:solidFill>
                  <a:srgbClr val="EADDFF"/>
                </a:solidFill>
                <a:latin typeface="Roboto"/>
                <a:ea typeface="Roboto"/>
                <a:cs typeface="Roboto"/>
              </a:defRPr>
            </a:lvl7pPr>
            <a:lvl8pPr algn="l">
              <a:defRPr sz="1725" b="0">
                <a:solidFill>
                  <a:srgbClr val="EADDFF"/>
                </a:solidFill>
                <a:latin typeface="Roboto"/>
                <a:ea typeface="Roboto"/>
                <a:cs typeface="Roboto"/>
              </a:defRPr>
            </a:lvl8pPr>
            <a:lvl9pPr algn="l">
              <a:defRPr sz="1725" b="0">
                <a:solidFill>
                  <a:srgbClr val="EADDFF"/>
                </a:solidFill>
                <a:latin typeface="Roboto"/>
                <a:ea typeface="Roboto"/>
                <a:cs typeface="Roboto"/>
              </a:defRPr>
            </a:lvl9pPr>
          </a:lstStyle>
          <a:p xmlns:a="http://schemas.openxmlformats.org/drawingml/2006/main">
            <a:pPr algn="l">
              <a:defRPr sz="1725" b="0">
                <a:solidFill>
                  <a:srgbClr val="EADDFF"/>
                </a:solidFill>
                <a:latin typeface="Roboto"/>
                <a:ea typeface="Roboto"/>
                <a:cs typeface="Roboto"/>
              </a:defRPr>
            </a:pPr>
            <a:r>
              <a:rPr sz="1725" b="0">
                <a:solidFill>
                  <a:srgbClr val="EADDFF"/>
                </a:solidFill>
                <a:latin typeface="Roboto"/>
                <a:ea typeface="Roboto"/>
                <a:cs typeface="Roboto"/>
              </a:rPr>
              <a:t>Exact source</a:t>
            </a:r>
          </a:p>
        </p:txBody>
      </p:sp>
      <p:sp>
        <p:nvSpPr>
          <p:cNvPr id="15" name="→">
            <a:extLst xmlns:a="http://schemas.openxmlformats.org/drawingml/2006/main">
              <a:ext uri="{FF2B5EF4-FFF2-40B4-BE49-F238E27FC236}">
                <a16:creationId xmlns:a16="http://schemas.microsoft.com/office/drawing/2014/main" id="{BE019C7A-130E-4EF0-BB36-DF6C0FA04DAE}"/>
              </a:ext>
            </a:extLst>
          </p:cNvPr>
          <p:cNvSpPr>
            <a:spLocks xmlns:a="http://schemas.openxmlformats.org/drawingml/2006/main" noGrp="1"/>
          </p:cNvSpPr>
          <p:nvPr/>
        </p:nvSpPr>
        <p:spPr>
          <a:xfrm xmlns:a="http://schemas.openxmlformats.org/drawingml/2006/main">
            <a:off x="3048000" y="482917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D0BCFF"/>
                </a:solidFill>
                <a:latin typeface="Roboto"/>
                <a:ea typeface="Roboto"/>
                <a:cs typeface="Roboto"/>
              </a:defRPr>
            </a:defPPr>
            <a:lvl1pPr algn="l">
              <a:defRPr sz="2400" b="0">
                <a:solidFill>
                  <a:srgbClr val="D0BCFF"/>
                </a:solidFill>
                <a:latin typeface="Roboto"/>
                <a:ea typeface="Roboto"/>
                <a:cs typeface="Roboto"/>
              </a:defRPr>
            </a:lvl1pPr>
            <a:lvl2pPr algn="l">
              <a:defRPr sz="2400" b="0">
                <a:solidFill>
                  <a:srgbClr val="D0BCFF"/>
                </a:solidFill>
                <a:latin typeface="Roboto"/>
                <a:ea typeface="Roboto"/>
                <a:cs typeface="Roboto"/>
              </a:defRPr>
            </a:lvl2pPr>
            <a:lvl3pPr algn="l">
              <a:defRPr sz="2400" b="0">
                <a:solidFill>
                  <a:srgbClr val="D0BCFF"/>
                </a:solidFill>
                <a:latin typeface="Roboto"/>
                <a:ea typeface="Roboto"/>
                <a:cs typeface="Roboto"/>
              </a:defRPr>
            </a:lvl3pPr>
            <a:lvl4pPr algn="l">
              <a:defRPr sz="2400" b="0">
                <a:solidFill>
                  <a:srgbClr val="D0BCFF"/>
                </a:solidFill>
                <a:latin typeface="Roboto"/>
                <a:ea typeface="Roboto"/>
                <a:cs typeface="Roboto"/>
              </a:defRPr>
            </a:lvl4pPr>
            <a:lvl5pPr algn="l">
              <a:defRPr sz="2400" b="0">
                <a:solidFill>
                  <a:srgbClr val="D0BCFF"/>
                </a:solidFill>
                <a:latin typeface="Roboto"/>
                <a:ea typeface="Roboto"/>
                <a:cs typeface="Roboto"/>
              </a:defRPr>
            </a:lvl5pPr>
            <a:lvl6pPr algn="l">
              <a:defRPr sz="2400" b="0">
                <a:solidFill>
                  <a:srgbClr val="D0BCFF"/>
                </a:solidFill>
                <a:latin typeface="Roboto"/>
                <a:ea typeface="Roboto"/>
                <a:cs typeface="Roboto"/>
              </a:defRPr>
            </a:lvl6pPr>
            <a:lvl7pPr algn="l">
              <a:defRPr sz="2400" b="0">
                <a:solidFill>
                  <a:srgbClr val="D0BCFF"/>
                </a:solidFill>
                <a:latin typeface="Roboto"/>
                <a:ea typeface="Roboto"/>
                <a:cs typeface="Roboto"/>
              </a:defRPr>
            </a:lvl7pPr>
            <a:lvl8pPr algn="l">
              <a:defRPr sz="2400" b="0">
                <a:solidFill>
                  <a:srgbClr val="D0BCFF"/>
                </a:solidFill>
                <a:latin typeface="Roboto"/>
                <a:ea typeface="Roboto"/>
                <a:cs typeface="Roboto"/>
              </a:defRPr>
            </a:lvl8pPr>
            <a:lvl9pPr algn="l">
              <a:defRPr sz="2400" b="0">
                <a:solidFill>
                  <a:srgbClr val="D0BCFF"/>
                </a:solidFill>
                <a:latin typeface="Roboto"/>
                <a:ea typeface="Roboto"/>
                <a:cs typeface="Roboto"/>
              </a:defRPr>
            </a:lvl9pPr>
          </a:lstStyle>
          <a:p xmlns:a="http://schemas.openxmlformats.org/drawingml/2006/main">
            <a:pPr algn="l">
              <a:defRPr sz="2400" b="0">
                <a:solidFill>
                  <a:srgbClr val="D0BCFF"/>
                </a:solidFill>
                <a:latin typeface="Roboto"/>
                <a:ea typeface="Roboto"/>
                <a:cs typeface="Roboto"/>
              </a:defRPr>
            </a:pPr>
            <a:r>
              <a:rPr sz="2400" b="0">
                <a:solidFill>
                  <a:srgbClr val="D0BCFF"/>
                </a:solidFill>
                <a:latin typeface="Roboto"/>
                <a:ea typeface="Roboto"/>
                <a:cs typeface="Roboto"/>
              </a:rPr>
              <a:t>→</a:t>
            </a:r>
          </a:p>
        </p:txBody>
      </p:sp>
      <p:sp>
        <p:nvSpPr>
          <p:cNvPr id="16" name="Approve">
            <a:extLst xmlns:a="http://schemas.openxmlformats.org/drawingml/2006/main">
              <a:ext uri="{FF2B5EF4-FFF2-40B4-BE49-F238E27FC236}">
                <a16:creationId xmlns:a16="http://schemas.microsoft.com/office/drawing/2014/main" id="{BBB8B140-E4B0-4041-8A66-8A0212B87D7F}"/>
              </a:ext>
            </a:extLst>
          </p:cNvPr>
          <p:cNvSpPr>
            <a:spLocks xmlns:a="http://schemas.openxmlformats.org/drawingml/2006/main" noGrp="1"/>
          </p:cNvSpPr>
          <p:nvPr/>
        </p:nvSpPr>
        <p:spPr>
          <a:xfrm xmlns:a="http://schemas.openxmlformats.org/drawingml/2006/main">
            <a:off x="3552825" y="4667250"/>
            <a:ext cx="2305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Roboto"/>
                <a:ea typeface="Roboto"/>
                <a:cs typeface="Roboto"/>
              </a:defRPr>
            </a:defPPr>
            <a:lvl1pPr algn="l">
              <a:defRPr sz="2550" b="1">
                <a:solidFill>
                  <a:srgbClr val="FFFFFF"/>
                </a:solidFill>
                <a:latin typeface="Roboto"/>
                <a:ea typeface="Roboto"/>
                <a:cs typeface="Roboto"/>
              </a:defRPr>
            </a:lvl1pPr>
            <a:lvl2pPr algn="l">
              <a:defRPr sz="2550" b="1">
                <a:solidFill>
                  <a:srgbClr val="FFFFFF"/>
                </a:solidFill>
                <a:latin typeface="Roboto"/>
                <a:ea typeface="Roboto"/>
                <a:cs typeface="Roboto"/>
              </a:defRPr>
            </a:lvl2pPr>
            <a:lvl3pPr algn="l">
              <a:defRPr sz="2550" b="1">
                <a:solidFill>
                  <a:srgbClr val="FFFFFF"/>
                </a:solidFill>
                <a:latin typeface="Roboto"/>
                <a:ea typeface="Roboto"/>
                <a:cs typeface="Roboto"/>
              </a:defRPr>
            </a:lvl3pPr>
            <a:lvl4pPr algn="l">
              <a:defRPr sz="2550" b="1">
                <a:solidFill>
                  <a:srgbClr val="FFFFFF"/>
                </a:solidFill>
                <a:latin typeface="Roboto"/>
                <a:ea typeface="Roboto"/>
                <a:cs typeface="Roboto"/>
              </a:defRPr>
            </a:lvl4pPr>
            <a:lvl5pPr algn="l">
              <a:defRPr sz="2550" b="1">
                <a:solidFill>
                  <a:srgbClr val="FFFFFF"/>
                </a:solidFill>
                <a:latin typeface="Roboto"/>
                <a:ea typeface="Roboto"/>
                <a:cs typeface="Roboto"/>
              </a:defRPr>
            </a:lvl5pPr>
            <a:lvl6pPr algn="l">
              <a:defRPr sz="2550" b="1">
                <a:solidFill>
                  <a:srgbClr val="FFFFFF"/>
                </a:solidFill>
                <a:latin typeface="Roboto"/>
                <a:ea typeface="Roboto"/>
                <a:cs typeface="Roboto"/>
              </a:defRPr>
            </a:lvl6pPr>
            <a:lvl7pPr algn="l">
              <a:defRPr sz="2550" b="1">
                <a:solidFill>
                  <a:srgbClr val="FFFFFF"/>
                </a:solidFill>
                <a:latin typeface="Roboto"/>
                <a:ea typeface="Roboto"/>
                <a:cs typeface="Roboto"/>
              </a:defRPr>
            </a:lvl7pPr>
            <a:lvl8pPr algn="l">
              <a:defRPr sz="2550" b="1">
                <a:solidFill>
                  <a:srgbClr val="FFFFFF"/>
                </a:solidFill>
                <a:latin typeface="Roboto"/>
                <a:ea typeface="Roboto"/>
                <a:cs typeface="Roboto"/>
              </a:defRPr>
            </a:lvl8pPr>
            <a:lvl9pPr algn="l">
              <a:defRPr sz="2550" b="1">
                <a:solidFill>
                  <a:srgbClr val="FFFFFF"/>
                </a:solidFill>
                <a:latin typeface="Roboto"/>
                <a:ea typeface="Roboto"/>
                <a:cs typeface="Roboto"/>
              </a:defRPr>
            </a:lvl9pPr>
          </a:lstStyle>
          <a:p xmlns:a="http://schemas.openxmlformats.org/drawingml/2006/main">
            <a:pPr algn="l">
              <a:defRPr sz="2550" b="1">
                <a:solidFill>
                  <a:srgbClr val="FFFFFF"/>
                </a:solidFill>
                <a:latin typeface="Roboto"/>
                <a:ea typeface="Roboto"/>
                <a:cs typeface="Roboto"/>
              </a:defRPr>
            </a:pPr>
            <a:r>
              <a:rPr sz="2550" b="1">
                <a:solidFill>
                  <a:srgbClr val="FFFFFF"/>
                </a:solidFill>
                <a:latin typeface="Roboto"/>
                <a:ea typeface="Roboto"/>
                <a:cs typeface="Roboto"/>
              </a:rPr>
              <a:t>Approve</a:t>
            </a:r>
          </a:p>
        </p:txBody>
      </p:sp>
      <p:sp>
        <p:nvSpPr>
          <p:cNvPr id="17" name="Budget + runtime">
            <a:extLst xmlns:a="http://schemas.openxmlformats.org/drawingml/2006/main">
              <a:ext uri="{FF2B5EF4-FFF2-40B4-BE49-F238E27FC236}">
                <a16:creationId xmlns:a16="http://schemas.microsoft.com/office/drawing/2014/main" id="{0E98A8EB-DAFF-44E1-AD3E-C88EBF8081A5}"/>
              </a:ext>
            </a:extLst>
          </p:cNvPr>
          <p:cNvSpPr>
            <a:spLocks xmlns:a="http://schemas.openxmlformats.org/drawingml/2006/main" noGrp="1"/>
          </p:cNvSpPr>
          <p:nvPr/>
        </p:nvSpPr>
        <p:spPr>
          <a:xfrm xmlns:a="http://schemas.openxmlformats.org/drawingml/2006/main">
            <a:off x="3552825" y="525780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ADDFF"/>
                </a:solidFill>
                <a:latin typeface="Roboto"/>
                <a:ea typeface="Roboto"/>
                <a:cs typeface="Roboto"/>
              </a:defRPr>
            </a:defPPr>
            <a:lvl1pPr algn="l">
              <a:defRPr sz="1725" b="0">
                <a:solidFill>
                  <a:srgbClr val="EADDFF"/>
                </a:solidFill>
                <a:latin typeface="Roboto"/>
                <a:ea typeface="Roboto"/>
                <a:cs typeface="Roboto"/>
              </a:defRPr>
            </a:lvl1pPr>
            <a:lvl2pPr algn="l">
              <a:defRPr sz="1725" b="0">
                <a:solidFill>
                  <a:srgbClr val="EADDFF"/>
                </a:solidFill>
                <a:latin typeface="Roboto"/>
                <a:ea typeface="Roboto"/>
                <a:cs typeface="Roboto"/>
              </a:defRPr>
            </a:lvl2pPr>
            <a:lvl3pPr algn="l">
              <a:defRPr sz="1725" b="0">
                <a:solidFill>
                  <a:srgbClr val="EADDFF"/>
                </a:solidFill>
                <a:latin typeface="Roboto"/>
                <a:ea typeface="Roboto"/>
                <a:cs typeface="Roboto"/>
              </a:defRPr>
            </a:lvl3pPr>
            <a:lvl4pPr algn="l">
              <a:defRPr sz="1725" b="0">
                <a:solidFill>
                  <a:srgbClr val="EADDFF"/>
                </a:solidFill>
                <a:latin typeface="Roboto"/>
                <a:ea typeface="Roboto"/>
                <a:cs typeface="Roboto"/>
              </a:defRPr>
            </a:lvl4pPr>
            <a:lvl5pPr algn="l">
              <a:defRPr sz="1725" b="0">
                <a:solidFill>
                  <a:srgbClr val="EADDFF"/>
                </a:solidFill>
                <a:latin typeface="Roboto"/>
                <a:ea typeface="Roboto"/>
                <a:cs typeface="Roboto"/>
              </a:defRPr>
            </a:lvl5pPr>
            <a:lvl6pPr algn="l">
              <a:defRPr sz="1725" b="0">
                <a:solidFill>
                  <a:srgbClr val="EADDFF"/>
                </a:solidFill>
                <a:latin typeface="Roboto"/>
                <a:ea typeface="Roboto"/>
                <a:cs typeface="Roboto"/>
              </a:defRPr>
            </a:lvl6pPr>
            <a:lvl7pPr algn="l">
              <a:defRPr sz="1725" b="0">
                <a:solidFill>
                  <a:srgbClr val="EADDFF"/>
                </a:solidFill>
                <a:latin typeface="Roboto"/>
                <a:ea typeface="Roboto"/>
                <a:cs typeface="Roboto"/>
              </a:defRPr>
            </a:lvl7pPr>
            <a:lvl8pPr algn="l">
              <a:defRPr sz="1725" b="0">
                <a:solidFill>
                  <a:srgbClr val="EADDFF"/>
                </a:solidFill>
                <a:latin typeface="Roboto"/>
                <a:ea typeface="Roboto"/>
                <a:cs typeface="Roboto"/>
              </a:defRPr>
            </a:lvl8pPr>
            <a:lvl9pPr algn="l">
              <a:defRPr sz="1725" b="0">
                <a:solidFill>
                  <a:srgbClr val="EADDFF"/>
                </a:solidFill>
                <a:latin typeface="Roboto"/>
                <a:ea typeface="Roboto"/>
                <a:cs typeface="Roboto"/>
              </a:defRPr>
            </a:lvl9pPr>
          </a:lstStyle>
          <a:p xmlns:a="http://schemas.openxmlformats.org/drawingml/2006/main">
            <a:pPr algn="l">
              <a:defRPr sz="1725" b="0">
                <a:solidFill>
                  <a:srgbClr val="EADDFF"/>
                </a:solidFill>
                <a:latin typeface="Roboto"/>
                <a:ea typeface="Roboto"/>
                <a:cs typeface="Roboto"/>
              </a:defRPr>
            </a:pPr>
            <a:r>
              <a:rPr sz="1725" b="0">
                <a:solidFill>
                  <a:srgbClr val="EADDFF"/>
                </a:solidFill>
                <a:latin typeface="Roboto"/>
                <a:ea typeface="Roboto"/>
                <a:cs typeface="Roboto"/>
              </a:rPr>
              <a:t>Budget + runtime</a:t>
            </a:r>
          </a:p>
        </p:txBody>
      </p:sp>
      <p:sp>
        <p:nvSpPr>
          <p:cNvPr id="18" name="→">
            <a:extLst xmlns:a="http://schemas.openxmlformats.org/drawingml/2006/main">
              <a:ext uri="{FF2B5EF4-FFF2-40B4-BE49-F238E27FC236}">
                <a16:creationId xmlns:a16="http://schemas.microsoft.com/office/drawing/2014/main" id="{40EA508F-A10F-41AF-B4AB-9840C5958555}"/>
              </a:ext>
            </a:extLst>
          </p:cNvPr>
          <p:cNvSpPr>
            <a:spLocks xmlns:a="http://schemas.openxmlformats.org/drawingml/2006/main" noGrp="1"/>
          </p:cNvSpPr>
          <p:nvPr/>
        </p:nvSpPr>
        <p:spPr>
          <a:xfrm xmlns:a="http://schemas.openxmlformats.org/drawingml/2006/main">
            <a:off x="5705475" y="482917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D0BCFF"/>
                </a:solidFill>
                <a:latin typeface="Roboto"/>
                <a:ea typeface="Roboto"/>
                <a:cs typeface="Roboto"/>
              </a:defRPr>
            </a:defPPr>
            <a:lvl1pPr algn="l">
              <a:defRPr sz="2400" b="0">
                <a:solidFill>
                  <a:srgbClr val="D0BCFF"/>
                </a:solidFill>
                <a:latin typeface="Roboto"/>
                <a:ea typeface="Roboto"/>
                <a:cs typeface="Roboto"/>
              </a:defRPr>
            </a:lvl1pPr>
            <a:lvl2pPr algn="l">
              <a:defRPr sz="2400" b="0">
                <a:solidFill>
                  <a:srgbClr val="D0BCFF"/>
                </a:solidFill>
                <a:latin typeface="Roboto"/>
                <a:ea typeface="Roboto"/>
                <a:cs typeface="Roboto"/>
              </a:defRPr>
            </a:lvl2pPr>
            <a:lvl3pPr algn="l">
              <a:defRPr sz="2400" b="0">
                <a:solidFill>
                  <a:srgbClr val="D0BCFF"/>
                </a:solidFill>
                <a:latin typeface="Roboto"/>
                <a:ea typeface="Roboto"/>
                <a:cs typeface="Roboto"/>
              </a:defRPr>
            </a:lvl3pPr>
            <a:lvl4pPr algn="l">
              <a:defRPr sz="2400" b="0">
                <a:solidFill>
                  <a:srgbClr val="D0BCFF"/>
                </a:solidFill>
                <a:latin typeface="Roboto"/>
                <a:ea typeface="Roboto"/>
                <a:cs typeface="Roboto"/>
              </a:defRPr>
            </a:lvl4pPr>
            <a:lvl5pPr algn="l">
              <a:defRPr sz="2400" b="0">
                <a:solidFill>
                  <a:srgbClr val="D0BCFF"/>
                </a:solidFill>
                <a:latin typeface="Roboto"/>
                <a:ea typeface="Roboto"/>
                <a:cs typeface="Roboto"/>
              </a:defRPr>
            </a:lvl5pPr>
            <a:lvl6pPr algn="l">
              <a:defRPr sz="2400" b="0">
                <a:solidFill>
                  <a:srgbClr val="D0BCFF"/>
                </a:solidFill>
                <a:latin typeface="Roboto"/>
                <a:ea typeface="Roboto"/>
                <a:cs typeface="Roboto"/>
              </a:defRPr>
            </a:lvl6pPr>
            <a:lvl7pPr algn="l">
              <a:defRPr sz="2400" b="0">
                <a:solidFill>
                  <a:srgbClr val="D0BCFF"/>
                </a:solidFill>
                <a:latin typeface="Roboto"/>
                <a:ea typeface="Roboto"/>
                <a:cs typeface="Roboto"/>
              </a:defRPr>
            </a:lvl7pPr>
            <a:lvl8pPr algn="l">
              <a:defRPr sz="2400" b="0">
                <a:solidFill>
                  <a:srgbClr val="D0BCFF"/>
                </a:solidFill>
                <a:latin typeface="Roboto"/>
                <a:ea typeface="Roboto"/>
                <a:cs typeface="Roboto"/>
              </a:defRPr>
            </a:lvl8pPr>
            <a:lvl9pPr algn="l">
              <a:defRPr sz="2400" b="0">
                <a:solidFill>
                  <a:srgbClr val="D0BCFF"/>
                </a:solidFill>
                <a:latin typeface="Roboto"/>
                <a:ea typeface="Roboto"/>
                <a:cs typeface="Roboto"/>
              </a:defRPr>
            </a:lvl9pPr>
          </a:lstStyle>
          <a:p xmlns:a="http://schemas.openxmlformats.org/drawingml/2006/main">
            <a:pPr algn="l">
              <a:defRPr sz="2400" b="0">
                <a:solidFill>
                  <a:srgbClr val="D0BCFF"/>
                </a:solidFill>
                <a:latin typeface="Roboto"/>
                <a:ea typeface="Roboto"/>
                <a:cs typeface="Roboto"/>
              </a:defRPr>
            </a:pPr>
            <a:r>
              <a:rPr sz="2400" b="0">
                <a:solidFill>
                  <a:srgbClr val="D0BCFF"/>
                </a:solidFill>
                <a:latin typeface="Roboto"/>
                <a:ea typeface="Roboto"/>
                <a:cs typeface="Roboto"/>
              </a:rPr>
              <a:t>→</a:t>
            </a:r>
          </a:p>
        </p:txBody>
      </p:sp>
      <p:sp>
        <p:nvSpPr>
          <p:cNvPr id="19" name="Run">
            <a:extLst xmlns:a="http://schemas.openxmlformats.org/drawingml/2006/main">
              <a:ext uri="{FF2B5EF4-FFF2-40B4-BE49-F238E27FC236}">
                <a16:creationId xmlns:a16="http://schemas.microsoft.com/office/drawing/2014/main" id="{E1101E64-C84B-4FF1-89F5-EA10470DF5C5}"/>
              </a:ext>
            </a:extLst>
          </p:cNvPr>
          <p:cNvSpPr>
            <a:spLocks xmlns:a="http://schemas.openxmlformats.org/drawingml/2006/main" noGrp="1"/>
          </p:cNvSpPr>
          <p:nvPr/>
        </p:nvSpPr>
        <p:spPr>
          <a:xfrm xmlns:a="http://schemas.openxmlformats.org/drawingml/2006/main">
            <a:off x="6210300" y="4667250"/>
            <a:ext cx="2305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Roboto"/>
                <a:ea typeface="Roboto"/>
                <a:cs typeface="Roboto"/>
              </a:defRPr>
            </a:defPPr>
            <a:lvl1pPr algn="l">
              <a:defRPr sz="2550" b="1">
                <a:solidFill>
                  <a:srgbClr val="FFFFFF"/>
                </a:solidFill>
                <a:latin typeface="Roboto"/>
                <a:ea typeface="Roboto"/>
                <a:cs typeface="Roboto"/>
              </a:defRPr>
            </a:lvl1pPr>
            <a:lvl2pPr algn="l">
              <a:defRPr sz="2550" b="1">
                <a:solidFill>
                  <a:srgbClr val="FFFFFF"/>
                </a:solidFill>
                <a:latin typeface="Roboto"/>
                <a:ea typeface="Roboto"/>
                <a:cs typeface="Roboto"/>
              </a:defRPr>
            </a:lvl2pPr>
            <a:lvl3pPr algn="l">
              <a:defRPr sz="2550" b="1">
                <a:solidFill>
                  <a:srgbClr val="FFFFFF"/>
                </a:solidFill>
                <a:latin typeface="Roboto"/>
                <a:ea typeface="Roboto"/>
                <a:cs typeface="Roboto"/>
              </a:defRPr>
            </a:lvl3pPr>
            <a:lvl4pPr algn="l">
              <a:defRPr sz="2550" b="1">
                <a:solidFill>
                  <a:srgbClr val="FFFFFF"/>
                </a:solidFill>
                <a:latin typeface="Roboto"/>
                <a:ea typeface="Roboto"/>
                <a:cs typeface="Roboto"/>
              </a:defRPr>
            </a:lvl4pPr>
            <a:lvl5pPr algn="l">
              <a:defRPr sz="2550" b="1">
                <a:solidFill>
                  <a:srgbClr val="FFFFFF"/>
                </a:solidFill>
                <a:latin typeface="Roboto"/>
                <a:ea typeface="Roboto"/>
                <a:cs typeface="Roboto"/>
              </a:defRPr>
            </a:lvl5pPr>
            <a:lvl6pPr algn="l">
              <a:defRPr sz="2550" b="1">
                <a:solidFill>
                  <a:srgbClr val="FFFFFF"/>
                </a:solidFill>
                <a:latin typeface="Roboto"/>
                <a:ea typeface="Roboto"/>
                <a:cs typeface="Roboto"/>
              </a:defRPr>
            </a:lvl6pPr>
            <a:lvl7pPr algn="l">
              <a:defRPr sz="2550" b="1">
                <a:solidFill>
                  <a:srgbClr val="FFFFFF"/>
                </a:solidFill>
                <a:latin typeface="Roboto"/>
                <a:ea typeface="Roboto"/>
                <a:cs typeface="Roboto"/>
              </a:defRPr>
            </a:lvl7pPr>
            <a:lvl8pPr algn="l">
              <a:defRPr sz="2550" b="1">
                <a:solidFill>
                  <a:srgbClr val="FFFFFF"/>
                </a:solidFill>
                <a:latin typeface="Roboto"/>
                <a:ea typeface="Roboto"/>
                <a:cs typeface="Roboto"/>
              </a:defRPr>
            </a:lvl8pPr>
            <a:lvl9pPr algn="l">
              <a:defRPr sz="2550" b="1">
                <a:solidFill>
                  <a:srgbClr val="FFFFFF"/>
                </a:solidFill>
                <a:latin typeface="Roboto"/>
                <a:ea typeface="Roboto"/>
                <a:cs typeface="Roboto"/>
              </a:defRPr>
            </a:lvl9pPr>
          </a:lstStyle>
          <a:p xmlns:a="http://schemas.openxmlformats.org/drawingml/2006/main">
            <a:pPr algn="l">
              <a:defRPr sz="2550" b="1">
                <a:solidFill>
                  <a:srgbClr val="FFFFFF"/>
                </a:solidFill>
                <a:latin typeface="Roboto"/>
                <a:ea typeface="Roboto"/>
                <a:cs typeface="Roboto"/>
              </a:defRPr>
            </a:pPr>
            <a:r>
              <a:rPr sz="2550" b="1">
                <a:solidFill>
                  <a:srgbClr val="FFFFFF"/>
                </a:solidFill>
                <a:latin typeface="Roboto"/>
                <a:ea typeface="Roboto"/>
                <a:cs typeface="Roboto"/>
              </a:rPr>
              <a:t>Run</a:t>
            </a:r>
          </a:p>
        </p:txBody>
      </p:sp>
      <p:sp>
        <p:nvSpPr>
          <p:cNvPr id="20" name="Assigned worker">
            <a:extLst xmlns:a="http://schemas.openxmlformats.org/drawingml/2006/main">
              <a:ext uri="{FF2B5EF4-FFF2-40B4-BE49-F238E27FC236}">
                <a16:creationId xmlns:a16="http://schemas.microsoft.com/office/drawing/2014/main" id="{1E742A6E-294B-43FE-A124-620B7628C20A}"/>
              </a:ext>
            </a:extLst>
          </p:cNvPr>
          <p:cNvSpPr>
            <a:spLocks xmlns:a="http://schemas.openxmlformats.org/drawingml/2006/main" noGrp="1"/>
          </p:cNvSpPr>
          <p:nvPr/>
        </p:nvSpPr>
        <p:spPr>
          <a:xfrm xmlns:a="http://schemas.openxmlformats.org/drawingml/2006/main">
            <a:off x="6210300" y="525780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ADDFF"/>
                </a:solidFill>
                <a:latin typeface="Roboto"/>
                <a:ea typeface="Roboto"/>
                <a:cs typeface="Roboto"/>
              </a:defRPr>
            </a:defPPr>
            <a:lvl1pPr algn="l">
              <a:defRPr sz="1725" b="0">
                <a:solidFill>
                  <a:srgbClr val="EADDFF"/>
                </a:solidFill>
                <a:latin typeface="Roboto"/>
                <a:ea typeface="Roboto"/>
                <a:cs typeface="Roboto"/>
              </a:defRPr>
            </a:lvl1pPr>
            <a:lvl2pPr algn="l">
              <a:defRPr sz="1725" b="0">
                <a:solidFill>
                  <a:srgbClr val="EADDFF"/>
                </a:solidFill>
                <a:latin typeface="Roboto"/>
                <a:ea typeface="Roboto"/>
                <a:cs typeface="Roboto"/>
              </a:defRPr>
            </a:lvl2pPr>
            <a:lvl3pPr algn="l">
              <a:defRPr sz="1725" b="0">
                <a:solidFill>
                  <a:srgbClr val="EADDFF"/>
                </a:solidFill>
                <a:latin typeface="Roboto"/>
                <a:ea typeface="Roboto"/>
                <a:cs typeface="Roboto"/>
              </a:defRPr>
            </a:lvl3pPr>
            <a:lvl4pPr algn="l">
              <a:defRPr sz="1725" b="0">
                <a:solidFill>
                  <a:srgbClr val="EADDFF"/>
                </a:solidFill>
                <a:latin typeface="Roboto"/>
                <a:ea typeface="Roboto"/>
                <a:cs typeface="Roboto"/>
              </a:defRPr>
            </a:lvl4pPr>
            <a:lvl5pPr algn="l">
              <a:defRPr sz="1725" b="0">
                <a:solidFill>
                  <a:srgbClr val="EADDFF"/>
                </a:solidFill>
                <a:latin typeface="Roboto"/>
                <a:ea typeface="Roboto"/>
                <a:cs typeface="Roboto"/>
              </a:defRPr>
            </a:lvl5pPr>
            <a:lvl6pPr algn="l">
              <a:defRPr sz="1725" b="0">
                <a:solidFill>
                  <a:srgbClr val="EADDFF"/>
                </a:solidFill>
                <a:latin typeface="Roboto"/>
                <a:ea typeface="Roboto"/>
                <a:cs typeface="Roboto"/>
              </a:defRPr>
            </a:lvl6pPr>
            <a:lvl7pPr algn="l">
              <a:defRPr sz="1725" b="0">
                <a:solidFill>
                  <a:srgbClr val="EADDFF"/>
                </a:solidFill>
                <a:latin typeface="Roboto"/>
                <a:ea typeface="Roboto"/>
                <a:cs typeface="Roboto"/>
              </a:defRPr>
            </a:lvl7pPr>
            <a:lvl8pPr algn="l">
              <a:defRPr sz="1725" b="0">
                <a:solidFill>
                  <a:srgbClr val="EADDFF"/>
                </a:solidFill>
                <a:latin typeface="Roboto"/>
                <a:ea typeface="Roboto"/>
                <a:cs typeface="Roboto"/>
              </a:defRPr>
            </a:lvl8pPr>
            <a:lvl9pPr algn="l">
              <a:defRPr sz="1725" b="0">
                <a:solidFill>
                  <a:srgbClr val="EADDFF"/>
                </a:solidFill>
                <a:latin typeface="Roboto"/>
                <a:ea typeface="Roboto"/>
                <a:cs typeface="Roboto"/>
              </a:defRPr>
            </a:lvl9pPr>
          </a:lstStyle>
          <a:p xmlns:a="http://schemas.openxmlformats.org/drawingml/2006/main">
            <a:pPr algn="l">
              <a:defRPr sz="1725" b="0">
                <a:solidFill>
                  <a:srgbClr val="EADDFF"/>
                </a:solidFill>
                <a:latin typeface="Roboto"/>
                <a:ea typeface="Roboto"/>
                <a:cs typeface="Roboto"/>
              </a:defRPr>
            </a:pPr>
            <a:r>
              <a:rPr sz="1725" b="0">
                <a:solidFill>
                  <a:srgbClr val="EADDFF"/>
                </a:solidFill>
                <a:latin typeface="Roboto"/>
                <a:ea typeface="Roboto"/>
                <a:cs typeface="Roboto"/>
              </a:rPr>
              <a:t>Assigned worker</a:t>
            </a:r>
          </a:p>
        </p:txBody>
      </p:sp>
      <p:sp>
        <p:nvSpPr>
          <p:cNvPr id="21" name="→">
            <a:extLst xmlns:a="http://schemas.openxmlformats.org/drawingml/2006/main">
              <a:ext uri="{FF2B5EF4-FFF2-40B4-BE49-F238E27FC236}">
                <a16:creationId xmlns:a16="http://schemas.microsoft.com/office/drawing/2014/main" id="{3E2FB742-D96D-48FF-A34E-7B4A236D5EE3}"/>
              </a:ext>
            </a:extLst>
          </p:cNvPr>
          <p:cNvSpPr>
            <a:spLocks xmlns:a="http://schemas.openxmlformats.org/drawingml/2006/main" noGrp="1"/>
          </p:cNvSpPr>
          <p:nvPr/>
        </p:nvSpPr>
        <p:spPr>
          <a:xfrm xmlns:a="http://schemas.openxmlformats.org/drawingml/2006/main">
            <a:off x="8362950" y="482917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D0BCFF"/>
                </a:solidFill>
                <a:latin typeface="Roboto"/>
                <a:ea typeface="Roboto"/>
                <a:cs typeface="Roboto"/>
              </a:defRPr>
            </a:defPPr>
            <a:lvl1pPr algn="l">
              <a:defRPr sz="2400" b="0">
                <a:solidFill>
                  <a:srgbClr val="D0BCFF"/>
                </a:solidFill>
                <a:latin typeface="Roboto"/>
                <a:ea typeface="Roboto"/>
                <a:cs typeface="Roboto"/>
              </a:defRPr>
            </a:lvl1pPr>
            <a:lvl2pPr algn="l">
              <a:defRPr sz="2400" b="0">
                <a:solidFill>
                  <a:srgbClr val="D0BCFF"/>
                </a:solidFill>
                <a:latin typeface="Roboto"/>
                <a:ea typeface="Roboto"/>
                <a:cs typeface="Roboto"/>
              </a:defRPr>
            </a:lvl2pPr>
            <a:lvl3pPr algn="l">
              <a:defRPr sz="2400" b="0">
                <a:solidFill>
                  <a:srgbClr val="D0BCFF"/>
                </a:solidFill>
                <a:latin typeface="Roboto"/>
                <a:ea typeface="Roboto"/>
                <a:cs typeface="Roboto"/>
              </a:defRPr>
            </a:lvl3pPr>
            <a:lvl4pPr algn="l">
              <a:defRPr sz="2400" b="0">
                <a:solidFill>
                  <a:srgbClr val="D0BCFF"/>
                </a:solidFill>
                <a:latin typeface="Roboto"/>
                <a:ea typeface="Roboto"/>
                <a:cs typeface="Roboto"/>
              </a:defRPr>
            </a:lvl4pPr>
            <a:lvl5pPr algn="l">
              <a:defRPr sz="2400" b="0">
                <a:solidFill>
                  <a:srgbClr val="D0BCFF"/>
                </a:solidFill>
                <a:latin typeface="Roboto"/>
                <a:ea typeface="Roboto"/>
                <a:cs typeface="Roboto"/>
              </a:defRPr>
            </a:lvl5pPr>
            <a:lvl6pPr algn="l">
              <a:defRPr sz="2400" b="0">
                <a:solidFill>
                  <a:srgbClr val="D0BCFF"/>
                </a:solidFill>
                <a:latin typeface="Roboto"/>
                <a:ea typeface="Roboto"/>
                <a:cs typeface="Roboto"/>
              </a:defRPr>
            </a:lvl6pPr>
            <a:lvl7pPr algn="l">
              <a:defRPr sz="2400" b="0">
                <a:solidFill>
                  <a:srgbClr val="D0BCFF"/>
                </a:solidFill>
                <a:latin typeface="Roboto"/>
                <a:ea typeface="Roboto"/>
                <a:cs typeface="Roboto"/>
              </a:defRPr>
            </a:lvl7pPr>
            <a:lvl8pPr algn="l">
              <a:defRPr sz="2400" b="0">
                <a:solidFill>
                  <a:srgbClr val="D0BCFF"/>
                </a:solidFill>
                <a:latin typeface="Roboto"/>
                <a:ea typeface="Roboto"/>
                <a:cs typeface="Roboto"/>
              </a:defRPr>
            </a:lvl8pPr>
            <a:lvl9pPr algn="l">
              <a:defRPr sz="2400" b="0">
                <a:solidFill>
                  <a:srgbClr val="D0BCFF"/>
                </a:solidFill>
                <a:latin typeface="Roboto"/>
                <a:ea typeface="Roboto"/>
                <a:cs typeface="Roboto"/>
              </a:defRPr>
            </a:lvl9pPr>
          </a:lstStyle>
          <a:p xmlns:a="http://schemas.openxmlformats.org/drawingml/2006/main">
            <a:pPr algn="l">
              <a:defRPr sz="2400" b="0">
                <a:solidFill>
                  <a:srgbClr val="D0BCFF"/>
                </a:solidFill>
                <a:latin typeface="Roboto"/>
                <a:ea typeface="Roboto"/>
                <a:cs typeface="Roboto"/>
              </a:defRPr>
            </a:pPr>
            <a:r>
              <a:rPr sz="2400" b="0">
                <a:solidFill>
                  <a:srgbClr val="D0BCFF"/>
                </a:solidFill>
                <a:latin typeface="Roboto"/>
                <a:ea typeface="Roboto"/>
                <a:cs typeface="Roboto"/>
              </a:rPr>
              <a:t>→</a:t>
            </a:r>
          </a:p>
        </p:txBody>
      </p:sp>
      <p:sp>
        <p:nvSpPr>
          <p:cNvPr id="22" name="Inspect">
            <a:extLst xmlns:a="http://schemas.openxmlformats.org/drawingml/2006/main">
              <a:ext uri="{FF2B5EF4-FFF2-40B4-BE49-F238E27FC236}">
                <a16:creationId xmlns:a16="http://schemas.microsoft.com/office/drawing/2014/main" id="{9B251037-6AA8-4687-8E4B-FFF8E2C986F0}"/>
              </a:ext>
            </a:extLst>
          </p:cNvPr>
          <p:cNvSpPr>
            <a:spLocks xmlns:a="http://schemas.openxmlformats.org/drawingml/2006/main" noGrp="1"/>
          </p:cNvSpPr>
          <p:nvPr/>
        </p:nvSpPr>
        <p:spPr>
          <a:xfrm xmlns:a="http://schemas.openxmlformats.org/drawingml/2006/main">
            <a:off x="8867775" y="4667250"/>
            <a:ext cx="2305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Roboto"/>
                <a:ea typeface="Roboto"/>
                <a:cs typeface="Roboto"/>
              </a:defRPr>
            </a:defPPr>
            <a:lvl1pPr algn="l">
              <a:defRPr sz="2550" b="1">
                <a:solidFill>
                  <a:srgbClr val="FFFFFF"/>
                </a:solidFill>
                <a:latin typeface="Roboto"/>
                <a:ea typeface="Roboto"/>
                <a:cs typeface="Roboto"/>
              </a:defRPr>
            </a:lvl1pPr>
            <a:lvl2pPr algn="l">
              <a:defRPr sz="2550" b="1">
                <a:solidFill>
                  <a:srgbClr val="FFFFFF"/>
                </a:solidFill>
                <a:latin typeface="Roboto"/>
                <a:ea typeface="Roboto"/>
                <a:cs typeface="Roboto"/>
              </a:defRPr>
            </a:lvl2pPr>
            <a:lvl3pPr algn="l">
              <a:defRPr sz="2550" b="1">
                <a:solidFill>
                  <a:srgbClr val="FFFFFF"/>
                </a:solidFill>
                <a:latin typeface="Roboto"/>
                <a:ea typeface="Roboto"/>
                <a:cs typeface="Roboto"/>
              </a:defRPr>
            </a:lvl3pPr>
            <a:lvl4pPr algn="l">
              <a:defRPr sz="2550" b="1">
                <a:solidFill>
                  <a:srgbClr val="FFFFFF"/>
                </a:solidFill>
                <a:latin typeface="Roboto"/>
                <a:ea typeface="Roboto"/>
                <a:cs typeface="Roboto"/>
              </a:defRPr>
            </a:lvl4pPr>
            <a:lvl5pPr algn="l">
              <a:defRPr sz="2550" b="1">
                <a:solidFill>
                  <a:srgbClr val="FFFFFF"/>
                </a:solidFill>
                <a:latin typeface="Roboto"/>
                <a:ea typeface="Roboto"/>
                <a:cs typeface="Roboto"/>
              </a:defRPr>
            </a:lvl5pPr>
            <a:lvl6pPr algn="l">
              <a:defRPr sz="2550" b="1">
                <a:solidFill>
                  <a:srgbClr val="FFFFFF"/>
                </a:solidFill>
                <a:latin typeface="Roboto"/>
                <a:ea typeface="Roboto"/>
                <a:cs typeface="Roboto"/>
              </a:defRPr>
            </a:lvl6pPr>
            <a:lvl7pPr algn="l">
              <a:defRPr sz="2550" b="1">
                <a:solidFill>
                  <a:srgbClr val="FFFFFF"/>
                </a:solidFill>
                <a:latin typeface="Roboto"/>
                <a:ea typeface="Roboto"/>
                <a:cs typeface="Roboto"/>
              </a:defRPr>
            </a:lvl7pPr>
            <a:lvl8pPr algn="l">
              <a:defRPr sz="2550" b="1">
                <a:solidFill>
                  <a:srgbClr val="FFFFFF"/>
                </a:solidFill>
                <a:latin typeface="Roboto"/>
                <a:ea typeface="Roboto"/>
                <a:cs typeface="Roboto"/>
              </a:defRPr>
            </a:lvl8pPr>
            <a:lvl9pPr algn="l">
              <a:defRPr sz="2550" b="1">
                <a:solidFill>
                  <a:srgbClr val="FFFFFF"/>
                </a:solidFill>
                <a:latin typeface="Roboto"/>
                <a:ea typeface="Roboto"/>
                <a:cs typeface="Roboto"/>
              </a:defRPr>
            </a:lvl9pPr>
          </a:lstStyle>
          <a:p xmlns:a="http://schemas.openxmlformats.org/drawingml/2006/main">
            <a:pPr algn="l">
              <a:defRPr sz="2550" b="1">
                <a:solidFill>
                  <a:srgbClr val="FFFFFF"/>
                </a:solidFill>
                <a:latin typeface="Roboto"/>
                <a:ea typeface="Roboto"/>
                <a:cs typeface="Roboto"/>
              </a:defRPr>
            </a:pPr>
            <a:r>
              <a:rPr sz="2550" b="1">
                <a:solidFill>
                  <a:srgbClr val="FFFFFF"/>
                </a:solidFill>
                <a:latin typeface="Roboto"/>
                <a:ea typeface="Roboto"/>
                <a:cs typeface="Roboto"/>
              </a:rPr>
              <a:t>Inspect</a:t>
            </a:r>
          </a:p>
        </p:txBody>
      </p:sp>
      <p:sp>
        <p:nvSpPr>
          <p:cNvPr id="23" name="Receipt + files">
            <a:extLst xmlns:a="http://schemas.openxmlformats.org/drawingml/2006/main">
              <a:ext uri="{FF2B5EF4-FFF2-40B4-BE49-F238E27FC236}">
                <a16:creationId xmlns:a16="http://schemas.microsoft.com/office/drawing/2014/main" id="{34A4E8DA-5165-4461-8DCE-2C0DA620242A}"/>
              </a:ext>
            </a:extLst>
          </p:cNvPr>
          <p:cNvSpPr>
            <a:spLocks xmlns:a="http://schemas.openxmlformats.org/drawingml/2006/main" noGrp="1"/>
          </p:cNvSpPr>
          <p:nvPr/>
        </p:nvSpPr>
        <p:spPr>
          <a:xfrm xmlns:a="http://schemas.openxmlformats.org/drawingml/2006/main">
            <a:off x="8867775" y="525780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ADDFF"/>
                </a:solidFill>
                <a:latin typeface="Roboto"/>
                <a:ea typeface="Roboto"/>
                <a:cs typeface="Roboto"/>
              </a:defRPr>
            </a:defPPr>
            <a:lvl1pPr algn="l">
              <a:defRPr sz="1725" b="0">
                <a:solidFill>
                  <a:srgbClr val="EADDFF"/>
                </a:solidFill>
                <a:latin typeface="Roboto"/>
                <a:ea typeface="Roboto"/>
                <a:cs typeface="Roboto"/>
              </a:defRPr>
            </a:lvl1pPr>
            <a:lvl2pPr algn="l">
              <a:defRPr sz="1725" b="0">
                <a:solidFill>
                  <a:srgbClr val="EADDFF"/>
                </a:solidFill>
                <a:latin typeface="Roboto"/>
                <a:ea typeface="Roboto"/>
                <a:cs typeface="Roboto"/>
              </a:defRPr>
            </a:lvl2pPr>
            <a:lvl3pPr algn="l">
              <a:defRPr sz="1725" b="0">
                <a:solidFill>
                  <a:srgbClr val="EADDFF"/>
                </a:solidFill>
                <a:latin typeface="Roboto"/>
                <a:ea typeface="Roboto"/>
                <a:cs typeface="Roboto"/>
              </a:defRPr>
            </a:lvl3pPr>
            <a:lvl4pPr algn="l">
              <a:defRPr sz="1725" b="0">
                <a:solidFill>
                  <a:srgbClr val="EADDFF"/>
                </a:solidFill>
                <a:latin typeface="Roboto"/>
                <a:ea typeface="Roboto"/>
                <a:cs typeface="Roboto"/>
              </a:defRPr>
            </a:lvl4pPr>
            <a:lvl5pPr algn="l">
              <a:defRPr sz="1725" b="0">
                <a:solidFill>
                  <a:srgbClr val="EADDFF"/>
                </a:solidFill>
                <a:latin typeface="Roboto"/>
                <a:ea typeface="Roboto"/>
                <a:cs typeface="Roboto"/>
              </a:defRPr>
            </a:lvl5pPr>
            <a:lvl6pPr algn="l">
              <a:defRPr sz="1725" b="0">
                <a:solidFill>
                  <a:srgbClr val="EADDFF"/>
                </a:solidFill>
                <a:latin typeface="Roboto"/>
                <a:ea typeface="Roboto"/>
                <a:cs typeface="Roboto"/>
              </a:defRPr>
            </a:lvl6pPr>
            <a:lvl7pPr algn="l">
              <a:defRPr sz="1725" b="0">
                <a:solidFill>
                  <a:srgbClr val="EADDFF"/>
                </a:solidFill>
                <a:latin typeface="Roboto"/>
                <a:ea typeface="Roboto"/>
                <a:cs typeface="Roboto"/>
              </a:defRPr>
            </a:lvl7pPr>
            <a:lvl8pPr algn="l">
              <a:defRPr sz="1725" b="0">
                <a:solidFill>
                  <a:srgbClr val="EADDFF"/>
                </a:solidFill>
                <a:latin typeface="Roboto"/>
                <a:ea typeface="Roboto"/>
                <a:cs typeface="Roboto"/>
              </a:defRPr>
            </a:lvl8pPr>
            <a:lvl9pPr algn="l">
              <a:defRPr sz="1725" b="0">
                <a:solidFill>
                  <a:srgbClr val="EADDFF"/>
                </a:solidFill>
                <a:latin typeface="Roboto"/>
                <a:ea typeface="Roboto"/>
                <a:cs typeface="Roboto"/>
              </a:defRPr>
            </a:lvl9pPr>
          </a:lstStyle>
          <a:p xmlns:a="http://schemas.openxmlformats.org/drawingml/2006/main">
            <a:pPr algn="l">
              <a:defRPr sz="1725" b="0">
                <a:solidFill>
                  <a:srgbClr val="EADDFF"/>
                </a:solidFill>
                <a:latin typeface="Roboto"/>
                <a:ea typeface="Roboto"/>
                <a:cs typeface="Roboto"/>
              </a:defRPr>
            </a:pPr>
            <a:r>
              <a:rPr sz="1725" b="0">
                <a:solidFill>
                  <a:srgbClr val="EADDFF"/>
                </a:solidFill>
                <a:latin typeface="Roboto"/>
                <a:ea typeface="Roboto"/>
                <a:cs typeface="Roboto"/>
              </a:rPr>
              <a:t>Receipt + files</a:t>
            </a:r>
          </a:p>
        </p:txBody>
      </p:sp>
    </p:spTree>
    <p:extLst>
      <p:ext uri="{BB962C8B-B14F-4D97-AF65-F5344CB8AC3E}">
        <p14:creationId xmlns:p14="http://schemas.microsoft.com/office/powerpoint/2010/main" val="1376902017"/>
      </p:ext>
    </p:extLst>
  </p:cSld>
</p:sld>
</file>

<file path=ppt/slides/slide3.xml><?xml version="1.0" encoding="utf-8"?>
<p:sld xmlns:p="http://schemas.openxmlformats.org/presentationml/2006/main">
  <p:cSld>
    <p:bg>
      <p:bgPr>
        <a:solidFill xmlns:a="http://schemas.openxmlformats.org/drawingml/2006/main">
          <a:srgbClr val="25212B"/>
        </a:solidFill>
      </p:bgPr>
    </p:bg>
    <p:spTree>
      <p:nvGrpSpPr>
        <p:cNvPr id="1" name=""/>
        <p:cNvGrpSpPr/>
        <p:nvPr/>
      </p:nvGrpSpPr>
      <p:grpSpPr>
        <a:xfrm xmlns:a="http://schemas.openxmlformats.org/drawingml/2006/main"/>
      </p:grpSpPr>
      <p:sp>
        <p:nvSpPr>
          <p:cNvPr id="2" name="Control the job. Recover the work.">
            <a:extLst xmlns:a="http://schemas.openxmlformats.org/drawingml/2006/main">
              <a:ext uri="{FF2B5EF4-FFF2-40B4-BE49-F238E27FC236}">
                <a16:creationId xmlns:a16="http://schemas.microsoft.com/office/drawing/2014/main" id="{CEB91300-D6C5-4C76-AA6F-C9D1501EEB1A}"/>
              </a:ext>
            </a:extLst>
          </p:cNvPr>
          <p:cNvSpPr>
            <a:spLocks xmlns:a="http://schemas.openxmlformats.org/drawingml/2006/main" noGrp="1"/>
          </p:cNvSpPr>
          <p:nvPr/>
        </p:nvSpPr>
        <p:spPr>
          <a:xfrm xmlns:a="http://schemas.openxmlformats.org/drawingml/2006/main">
            <a:off x="609600" y="5619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5EFF7"/>
                </a:solidFill>
                <a:latin typeface="Roboto"/>
                <a:ea typeface="Roboto"/>
                <a:cs typeface="Roboto"/>
              </a:defRPr>
            </a:defPPr>
            <a:lvl1pPr algn="l">
              <a:defRPr sz="3900" b="1">
                <a:solidFill>
                  <a:srgbClr val="F5EFF7"/>
                </a:solidFill>
                <a:latin typeface="Roboto"/>
                <a:ea typeface="Roboto"/>
                <a:cs typeface="Roboto"/>
              </a:defRPr>
            </a:lvl1pPr>
            <a:lvl2pPr algn="l">
              <a:defRPr sz="3900" b="1">
                <a:solidFill>
                  <a:srgbClr val="F5EFF7"/>
                </a:solidFill>
                <a:latin typeface="Roboto"/>
                <a:ea typeface="Roboto"/>
                <a:cs typeface="Roboto"/>
              </a:defRPr>
            </a:lvl2pPr>
            <a:lvl3pPr algn="l">
              <a:defRPr sz="3900" b="1">
                <a:solidFill>
                  <a:srgbClr val="F5EFF7"/>
                </a:solidFill>
                <a:latin typeface="Roboto"/>
                <a:ea typeface="Roboto"/>
                <a:cs typeface="Roboto"/>
              </a:defRPr>
            </a:lvl3pPr>
            <a:lvl4pPr algn="l">
              <a:defRPr sz="3900" b="1">
                <a:solidFill>
                  <a:srgbClr val="F5EFF7"/>
                </a:solidFill>
                <a:latin typeface="Roboto"/>
                <a:ea typeface="Roboto"/>
                <a:cs typeface="Roboto"/>
              </a:defRPr>
            </a:lvl4pPr>
            <a:lvl5pPr algn="l">
              <a:defRPr sz="3900" b="1">
                <a:solidFill>
                  <a:srgbClr val="F5EFF7"/>
                </a:solidFill>
                <a:latin typeface="Roboto"/>
                <a:ea typeface="Roboto"/>
                <a:cs typeface="Roboto"/>
              </a:defRPr>
            </a:lvl5pPr>
            <a:lvl6pPr algn="l">
              <a:defRPr sz="3900" b="1">
                <a:solidFill>
                  <a:srgbClr val="F5EFF7"/>
                </a:solidFill>
                <a:latin typeface="Roboto"/>
                <a:ea typeface="Roboto"/>
                <a:cs typeface="Roboto"/>
              </a:defRPr>
            </a:lvl6pPr>
            <a:lvl7pPr algn="l">
              <a:defRPr sz="3900" b="1">
                <a:solidFill>
                  <a:srgbClr val="F5EFF7"/>
                </a:solidFill>
                <a:latin typeface="Roboto"/>
                <a:ea typeface="Roboto"/>
                <a:cs typeface="Roboto"/>
              </a:defRPr>
            </a:lvl7pPr>
            <a:lvl8pPr algn="l">
              <a:defRPr sz="3900" b="1">
                <a:solidFill>
                  <a:srgbClr val="F5EFF7"/>
                </a:solidFill>
                <a:latin typeface="Roboto"/>
                <a:ea typeface="Roboto"/>
                <a:cs typeface="Roboto"/>
              </a:defRPr>
            </a:lvl8pPr>
            <a:lvl9pPr algn="l">
              <a:defRPr sz="3900" b="1">
                <a:solidFill>
                  <a:srgbClr val="F5EFF7"/>
                </a:solidFill>
                <a:latin typeface="Roboto"/>
                <a:ea typeface="Roboto"/>
                <a:cs typeface="Roboto"/>
              </a:defRPr>
            </a:lvl9pPr>
          </a:lstStyle>
          <a:p xmlns:a="http://schemas.openxmlformats.org/drawingml/2006/main">
            <a:pPr algn="l">
              <a:defRPr sz="3900" b="1">
                <a:solidFill>
                  <a:srgbClr val="F5EFF7"/>
                </a:solidFill>
                <a:latin typeface="Roboto"/>
                <a:ea typeface="Roboto"/>
                <a:cs typeface="Roboto"/>
              </a:defRPr>
            </a:pPr>
            <a:r>
              <a:rPr sz="3900" b="1">
                <a:solidFill>
                  <a:srgbClr val="F5EFF7"/>
                </a:solidFill>
                <a:latin typeface="Roboto"/>
                <a:ea typeface="Roboto"/>
                <a:cs typeface="Roboto"/>
              </a:rPr>
              <a:t>Control the job. Recover the work</a:t>
            </a:r>
          </a:p>
        </p:txBody>
      </p:sp>
      <p:sp>
        <p:nvSpPr>
          <p:cNvPr id="3" name="Signed limits before execution">
            <a:extLst xmlns:a="http://schemas.openxmlformats.org/drawingml/2006/main">
              <a:ext uri="{FF2B5EF4-FFF2-40B4-BE49-F238E27FC236}">
                <a16:creationId xmlns:a16="http://schemas.microsoft.com/office/drawing/2014/main" id="{B4A250CD-7B36-4AC2-B137-137E02A9E704}"/>
              </a:ext>
            </a:extLst>
          </p:cNvPr>
          <p:cNvSpPr>
            <a:spLocks xmlns:a="http://schemas.openxmlformats.org/drawingml/2006/main" noGrp="1"/>
          </p:cNvSpPr>
          <p:nvPr/>
        </p:nvSpPr>
        <p:spPr>
          <a:xfrm xmlns:a="http://schemas.openxmlformats.org/drawingml/2006/main">
            <a:off x="609600" y="1809750"/>
            <a:ext cx="552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D0BCFF"/>
                </a:solidFill>
                <a:latin typeface="Roboto"/>
                <a:ea typeface="Roboto"/>
                <a:cs typeface="Roboto"/>
              </a:defRPr>
            </a:defPPr>
            <a:lvl1pPr algn="l">
              <a:defRPr sz="2400" b="1">
                <a:solidFill>
                  <a:srgbClr val="D0BCFF"/>
                </a:solidFill>
                <a:latin typeface="Roboto"/>
                <a:ea typeface="Roboto"/>
                <a:cs typeface="Roboto"/>
              </a:defRPr>
            </a:lvl1pPr>
            <a:lvl2pPr algn="l">
              <a:defRPr sz="2400" b="1">
                <a:solidFill>
                  <a:srgbClr val="D0BCFF"/>
                </a:solidFill>
                <a:latin typeface="Roboto"/>
                <a:ea typeface="Roboto"/>
                <a:cs typeface="Roboto"/>
              </a:defRPr>
            </a:lvl2pPr>
            <a:lvl3pPr algn="l">
              <a:defRPr sz="2400" b="1">
                <a:solidFill>
                  <a:srgbClr val="D0BCFF"/>
                </a:solidFill>
                <a:latin typeface="Roboto"/>
                <a:ea typeface="Roboto"/>
                <a:cs typeface="Roboto"/>
              </a:defRPr>
            </a:lvl3pPr>
            <a:lvl4pPr algn="l">
              <a:defRPr sz="2400" b="1">
                <a:solidFill>
                  <a:srgbClr val="D0BCFF"/>
                </a:solidFill>
                <a:latin typeface="Roboto"/>
                <a:ea typeface="Roboto"/>
                <a:cs typeface="Roboto"/>
              </a:defRPr>
            </a:lvl4pPr>
            <a:lvl5pPr algn="l">
              <a:defRPr sz="2400" b="1">
                <a:solidFill>
                  <a:srgbClr val="D0BCFF"/>
                </a:solidFill>
                <a:latin typeface="Roboto"/>
                <a:ea typeface="Roboto"/>
                <a:cs typeface="Roboto"/>
              </a:defRPr>
            </a:lvl5pPr>
            <a:lvl6pPr algn="l">
              <a:defRPr sz="2400" b="1">
                <a:solidFill>
                  <a:srgbClr val="D0BCFF"/>
                </a:solidFill>
                <a:latin typeface="Roboto"/>
                <a:ea typeface="Roboto"/>
                <a:cs typeface="Roboto"/>
              </a:defRPr>
            </a:lvl6pPr>
            <a:lvl7pPr algn="l">
              <a:defRPr sz="2400" b="1">
                <a:solidFill>
                  <a:srgbClr val="D0BCFF"/>
                </a:solidFill>
                <a:latin typeface="Roboto"/>
                <a:ea typeface="Roboto"/>
                <a:cs typeface="Roboto"/>
              </a:defRPr>
            </a:lvl7pPr>
            <a:lvl8pPr algn="l">
              <a:defRPr sz="2400" b="1">
                <a:solidFill>
                  <a:srgbClr val="D0BCFF"/>
                </a:solidFill>
                <a:latin typeface="Roboto"/>
                <a:ea typeface="Roboto"/>
                <a:cs typeface="Roboto"/>
              </a:defRPr>
            </a:lvl8pPr>
            <a:lvl9pPr algn="l">
              <a:defRPr sz="2400" b="1">
                <a:solidFill>
                  <a:srgbClr val="D0BCFF"/>
                </a:solidFill>
                <a:latin typeface="Roboto"/>
                <a:ea typeface="Roboto"/>
                <a:cs typeface="Roboto"/>
              </a:defRPr>
            </a:lvl9pPr>
          </a:lstStyle>
          <a:p xmlns:a="http://schemas.openxmlformats.org/drawingml/2006/main">
            <a:pPr algn="l">
              <a:defRPr sz="2400" b="1">
                <a:solidFill>
                  <a:srgbClr val="D0BCFF"/>
                </a:solidFill>
                <a:latin typeface="Roboto"/>
                <a:ea typeface="Roboto"/>
                <a:cs typeface="Roboto"/>
              </a:defRPr>
            </a:pPr>
            <a:r>
              <a:rPr sz="2400" b="1">
                <a:solidFill>
                  <a:srgbClr val="D0BCFF"/>
                </a:solidFill>
                <a:latin typeface="Roboto"/>
                <a:ea typeface="Roboto"/>
                <a:cs typeface="Roboto"/>
              </a:rPr>
              <a:t>Signed limits before execution</a:t>
            </a:r>
          </a:p>
        </p:txBody>
      </p:sp>
      <p:sp>
        <p:nvSpPr>
          <p:cNvPr id="4" name="Source, budget and runtime&#10;are bound to the task q">
            <a:extLst xmlns:a="http://schemas.openxmlformats.org/drawingml/2006/main">
              <a:ext uri="{FF2B5EF4-FFF2-40B4-BE49-F238E27FC236}">
                <a16:creationId xmlns:a16="http://schemas.microsoft.com/office/drawing/2014/main" id="{20973EF2-88C5-4894-9266-174E10053548}"/>
              </a:ext>
            </a:extLst>
          </p:cNvPr>
          <p:cNvSpPr>
            <a:spLocks xmlns:a="http://schemas.openxmlformats.org/drawingml/2006/main" noGrp="1"/>
          </p:cNvSpPr>
          <p:nvPr/>
        </p:nvSpPr>
        <p:spPr>
          <a:xfrm xmlns:a="http://schemas.openxmlformats.org/drawingml/2006/main">
            <a:off x="609600" y="2495550"/>
            <a:ext cx="53149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5EFF7"/>
                </a:solidFill>
                <a:latin typeface="Roboto"/>
                <a:ea typeface="Roboto"/>
                <a:cs typeface="Roboto"/>
              </a:defRPr>
            </a:defPPr>
            <a:lvl1pPr algn="l">
              <a:defRPr sz="2325" b="0">
                <a:solidFill>
                  <a:srgbClr val="F5EFF7"/>
                </a:solidFill>
                <a:latin typeface="Roboto"/>
                <a:ea typeface="Roboto"/>
                <a:cs typeface="Roboto"/>
              </a:defRPr>
            </a:lvl1pPr>
            <a:lvl2pPr algn="l">
              <a:defRPr sz="2325" b="0">
                <a:solidFill>
                  <a:srgbClr val="F5EFF7"/>
                </a:solidFill>
                <a:latin typeface="Roboto"/>
                <a:ea typeface="Roboto"/>
                <a:cs typeface="Roboto"/>
              </a:defRPr>
            </a:lvl2pPr>
            <a:lvl3pPr algn="l">
              <a:defRPr sz="2325" b="0">
                <a:solidFill>
                  <a:srgbClr val="F5EFF7"/>
                </a:solidFill>
                <a:latin typeface="Roboto"/>
                <a:ea typeface="Roboto"/>
                <a:cs typeface="Roboto"/>
              </a:defRPr>
            </a:lvl3pPr>
            <a:lvl4pPr algn="l">
              <a:defRPr sz="2325" b="0">
                <a:solidFill>
                  <a:srgbClr val="F5EFF7"/>
                </a:solidFill>
                <a:latin typeface="Roboto"/>
                <a:ea typeface="Roboto"/>
                <a:cs typeface="Roboto"/>
              </a:defRPr>
            </a:lvl4pPr>
            <a:lvl5pPr algn="l">
              <a:defRPr sz="2325" b="0">
                <a:solidFill>
                  <a:srgbClr val="F5EFF7"/>
                </a:solidFill>
                <a:latin typeface="Roboto"/>
                <a:ea typeface="Roboto"/>
                <a:cs typeface="Roboto"/>
              </a:defRPr>
            </a:lvl5pPr>
            <a:lvl6pPr algn="l">
              <a:defRPr sz="2325" b="0">
                <a:solidFill>
                  <a:srgbClr val="F5EFF7"/>
                </a:solidFill>
                <a:latin typeface="Roboto"/>
                <a:ea typeface="Roboto"/>
                <a:cs typeface="Roboto"/>
              </a:defRPr>
            </a:lvl6pPr>
            <a:lvl7pPr algn="l">
              <a:defRPr sz="2325" b="0">
                <a:solidFill>
                  <a:srgbClr val="F5EFF7"/>
                </a:solidFill>
                <a:latin typeface="Roboto"/>
                <a:ea typeface="Roboto"/>
                <a:cs typeface="Roboto"/>
              </a:defRPr>
            </a:lvl7pPr>
            <a:lvl8pPr algn="l">
              <a:defRPr sz="2325" b="0">
                <a:solidFill>
                  <a:srgbClr val="F5EFF7"/>
                </a:solidFill>
                <a:latin typeface="Roboto"/>
                <a:ea typeface="Roboto"/>
                <a:cs typeface="Roboto"/>
              </a:defRPr>
            </a:lvl8pPr>
            <a:lvl9pPr algn="l">
              <a:defRPr sz="2325" b="0">
                <a:solidFill>
                  <a:srgbClr val="F5EFF7"/>
                </a:solidFill>
                <a:latin typeface="Roboto"/>
                <a:ea typeface="Roboto"/>
                <a:cs typeface="Roboto"/>
              </a:defRPr>
            </a:lvl9pPr>
          </a:lstStyle>
          <a:p xmlns:a="http://schemas.openxmlformats.org/drawingml/2006/main">
            <a:pPr algn="l">
              <a:defRPr sz="2325" b="0">
                <a:solidFill>
                  <a:srgbClr val="F5EFF7"/>
                </a:solidFill>
                <a:latin typeface="Roboto"/>
                <a:ea typeface="Roboto"/>
                <a:cs typeface="Roboto"/>
              </a:defRPr>
            </a:pPr>
            <a:r>
              <a:rPr sz="2325" b="0">
                <a:solidFill>
                  <a:srgbClr val="F5EFF7"/>
                </a:solidFill>
                <a:latin typeface="Roboto"/>
                <a:ea typeface="Roboto"/>
                <a:cs typeface="Roboto"/>
              </a:rPr>
              <a:t>Source, budget and runtime</a:t>
            </a:r>
          </a:p>
          <a:p xmlns:a="http://schemas.openxmlformats.org/drawingml/2006/main">
            <a:pPr algn="l">
              <a:defRPr sz="2325" b="0">
                <a:solidFill>
                  <a:srgbClr val="F5EFF7"/>
                </a:solidFill>
                <a:latin typeface="Roboto"/>
                <a:ea typeface="Roboto"/>
                <a:cs typeface="Roboto"/>
              </a:defRPr>
            </a:pPr>
            <a:r>
              <a:rPr sz="2325" b="0">
                <a:solidFill>
                  <a:srgbClr val="F5EFF7"/>
                </a:solidFill>
                <a:latin typeface="Roboto"/>
                <a:ea typeface="Roboto"/>
                <a:cs typeface="Roboto"/>
              </a:rPr>
              <a:t>are bound to the task quote</a:t>
            </a:r>
          </a:p>
        </p:txBody>
      </p:sp>
      <p:sp>
        <p:nvSpPr>
          <p:cNvPr id="5" name="">
            <a:extLst xmlns:a="http://schemas.openxmlformats.org/drawingml/2006/main">
              <a:ext uri="{FF2B5EF4-FFF2-40B4-BE49-F238E27FC236}">
                <a16:creationId xmlns:a16="http://schemas.microsoft.com/office/drawing/2014/main" id="{1A1CC5C5-D61D-40A1-B7ED-1A5D47EA5D1D}"/>
              </a:ext>
            </a:extLst>
          </p:cNvPr>
          <p:cNvSpPr>
            <a:spLocks xmlns:a="http://schemas.openxmlformats.org/drawingml/2006/main" noGrp="1"/>
          </p:cNvSpPr>
          <p:nvPr/>
        </p:nvSpPr>
        <p:spPr>
          <a:xfrm xmlns:a="http://schemas.openxmlformats.org/drawingml/2006/main">
            <a:off x="609600" y="4010025"/>
            <a:ext cx="10972800" cy="0"/>
          </a:xfrm>
          <a:prstGeom xmlns:a="http://schemas.openxmlformats.org/drawingml/2006/main" prst="line">
            <a:avLst/>
          </a:prstGeom>
          <a:noFill xmlns:a="http://schemas.openxmlformats.org/drawingml/2006/main"/>
          <a:ln xmlns:a="http://schemas.openxmlformats.org/drawingml/2006/main" w="19050">
            <a:solidFill>
              <a:srgbClr val="49454F"/>
            </a:solidFill>
            <a:prstDash val="solid"/>
          </a:ln>
        </p:spPr>
      </p:sp>
      <p:sp>
        <p:nvSpPr>
          <p:cNvPr id="6" name="5/5">
            <a:extLst xmlns:a="http://schemas.openxmlformats.org/drawingml/2006/main">
              <a:ext uri="{FF2B5EF4-FFF2-40B4-BE49-F238E27FC236}">
                <a16:creationId xmlns:a16="http://schemas.microsoft.com/office/drawing/2014/main" id="{EB673DD7-AD5E-4285-A59E-2CF91CA63C30}"/>
              </a:ext>
            </a:extLst>
          </p:cNvPr>
          <p:cNvSpPr>
            <a:spLocks xmlns:a="http://schemas.openxmlformats.org/drawingml/2006/main" noGrp="1"/>
          </p:cNvSpPr>
          <p:nvPr/>
        </p:nvSpPr>
        <p:spPr>
          <a:xfrm xmlns:a="http://schemas.openxmlformats.org/drawingml/2006/main">
            <a:off x="609600" y="4343400"/>
            <a:ext cx="3810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100" b="1">
                <a:solidFill>
                  <a:srgbClr val="D0BCFF"/>
                </a:solidFill>
                <a:latin typeface="Roboto"/>
                <a:ea typeface="Roboto"/>
                <a:cs typeface="Roboto"/>
              </a:defRPr>
            </a:defPPr>
            <a:lvl1pPr algn="l">
              <a:defRPr sz="8100" b="1">
                <a:solidFill>
                  <a:srgbClr val="D0BCFF"/>
                </a:solidFill>
                <a:latin typeface="Roboto"/>
                <a:ea typeface="Roboto"/>
                <a:cs typeface="Roboto"/>
              </a:defRPr>
            </a:lvl1pPr>
            <a:lvl2pPr algn="l">
              <a:defRPr sz="8100" b="1">
                <a:solidFill>
                  <a:srgbClr val="D0BCFF"/>
                </a:solidFill>
                <a:latin typeface="Roboto"/>
                <a:ea typeface="Roboto"/>
                <a:cs typeface="Roboto"/>
              </a:defRPr>
            </a:lvl2pPr>
            <a:lvl3pPr algn="l">
              <a:defRPr sz="8100" b="1">
                <a:solidFill>
                  <a:srgbClr val="D0BCFF"/>
                </a:solidFill>
                <a:latin typeface="Roboto"/>
                <a:ea typeface="Roboto"/>
                <a:cs typeface="Roboto"/>
              </a:defRPr>
            </a:lvl3pPr>
            <a:lvl4pPr algn="l">
              <a:defRPr sz="8100" b="1">
                <a:solidFill>
                  <a:srgbClr val="D0BCFF"/>
                </a:solidFill>
                <a:latin typeface="Roboto"/>
                <a:ea typeface="Roboto"/>
                <a:cs typeface="Roboto"/>
              </a:defRPr>
            </a:lvl4pPr>
            <a:lvl5pPr algn="l">
              <a:defRPr sz="8100" b="1">
                <a:solidFill>
                  <a:srgbClr val="D0BCFF"/>
                </a:solidFill>
                <a:latin typeface="Roboto"/>
                <a:ea typeface="Roboto"/>
                <a:cs typeface="Roboto"/>
              </a:defRPr>
            </a:lvl5pPr>
            <a:lvl6pPr algn="l">
              <a:defRPr sz="8100" b="1">
                <a:solidFill>
                  <a:srgbClr val="D0BCFF"/>
                </a:solidFill>
                <a:latin typeface="Roboto"/>
                <a:ea typeface="Roboto"/>
                <a:cs typeface="Roboto"/>
              </a:defRPr>
            </a:lvl6pPr>
            <a:lvl7pPr algn="l">
              <a:defRPr sz="8100" b="1">
                <a:solidFill>
                  <a:srgbClr val="D0BCFF"/>
                </a:solidFill>
                <a:latin typeface="Roboto"/>
                <a:ea typeface="Roboto"/>
                <a:cs typeface="Roboto"/>
              </a:defRPr>
            </a:lvl7pPr>
            <a:lvl8pPr algn="l">
              <a:defRPr sz="8100" b="1">
                <a:solidFill>
                  <a:srgbClr val="D0BCFF"/>
                </a:solidFill>
                <a:latin typeface="Roboto"/>
                <a:ea typeface="Roboto"/>
                <a:cs typeface="Roboto"/>
              </a:defRPr>
            </a:lvl8pPr>
            <a:lvl9pPr algn="l">
              <a:defRPr sz="8100" b="1">
                <a:solidFill>
                  <a:srgbClr val="D0BCFF"/>
                </a:solidFill>
                <a:latin typeface="Roboto"/>
                <a:ea typeface="Roboto"/>
                <a:cs typeface="Roboto"/>
              </a:defRPr>
            </a:lvl9pPr>
          </a:lstStyle>
          <a:p xmlns:a="http://schemas.openxmlformats.org/drawingml/2006/main">
            <a:pPr algn="l">
              <a:defRPr sz="8100" b="1">
                <a:solidFill>
                  <a:srgbClr val="D0BCFF"/>
                </a:solidFill>
                <a:latin typeface="Roboto"/>
                <a:ea typeface="Roboto"/>
                <a:cs typeface="Roboto"/>
              </a:defRPr>
            </a:pPr>
            <a:r>
              <a:rPr sz="8100" b="1">
                <a:solidFill>
                  <a:srgbClr val="D0BCFF"/>
                </a:solidFill>
                <a:latin typeface="Roboto"/>
                <a:ea typeface="Roboto"/>
                <a:cs typeface="Roboto"/>
              </a:rPr>
              <a:t>5/5</a:t>
            </a:r>
          </a:p>
        </p:txBody>
      </p:sp>
      <p:sp>
        <p:nvSpPr>
          <p:cNvPr id="7" name="tasks recovered">
            <a:extLst xmlns:a="http://schemas.openxmlformats.org/drawingml/2006/main">
              <a:ext uri="{FF2B5EF4-FFF2-40B4-BE49-F238E27FC236}">
                <a16:creationId xmlns:a16="http://schemas.microsoft.com/office/drawing/2014/main" id="{C9CFDA90-114F-49EE-8580-638B7413B731}"/>
              </a:ext>
            </a:extLst>
          </p:cNvPr>
          <p:cNvSpPr>
            <a:spLocks xmlns:a="http://schemas.openxmlformats.org/drawingml/2006/main" noGrp="1"/>
          </p:cNvSpPr>
          <p:nvPr/>
        </p:nvSpPr>
        <p:spPr>
          <a:xfrm xmlns:a="http://schemas.openxmlformats.org/drawingml/2006/main">
            <a:off x="609600" y="5638800"/>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5EFF7"/>
                </a:solidFill>
                <a:latin typeface="Roboto"/>
                <a:ea typeface="Roboto"/>
                <a:cs typeface="Roboto"/>
              </a:defRPr>
            </a:defPPr>
            <a:lvl1pPr algn="l">
              <a:defRPr sz="2175" b="0">
                <a:solidFill>
                  <a:srgbClr val="F5EFF7"/>
                </a:solidFill>
                <a:latin typeface="Roboto"/>
                <a:ea typeface="Roboto"/>
                <a:cs typeface="Roboto"/>
              </a:defRPr>
            </a:lvl1pPr>
            <a:lvl2pPr algn="l">
              <a:defRPr sz="2175" b="0">
                <a:solidFill>
                  <a:srgbClr val="F5EFF7"/>
                </a:solidFill>
                <a:latin typeface="Roboto"/>
                <a:ea typeface="Roboto"/>
                <a:cs typeface="Roboto"/>
              </a:defRPr>
            </a:lvl2pPr>
            <a:lvl3pPr algn="l">
              <a:defRPr sz="2175" b="0">
                <a:solidFill>
                  <a:srgbClr val="F5EFF7"/>
                </a:solidFill>
                <a:latin typeface="Roboto"/>
                <a:ea typeface="Roboto"/>
                <a:cs typeface="Roboto"/>
              </a:defRPr>
            </a:lvl3pPr>
            <a:lvl4pPr algn="l">
              <a:defRPr sz="2175" b="0">
                <a:solidFill>
                  <a:srgbClr val="F5EFF7"/>
                </a:solidFill>
                <a:latin typeface="Roboto"/>
                <a:ea typeface="Roboto"/>
                <a:cs typeface="Roboto"/>
              </a:defRPr>
            </a:lvl4pPr>
            <a:lvl5pPr algn="l">
              <a:defRPr sz="2175" b="0">
                <a:solidFill>
                  <a:srgbClr val="F5EFF7"/>
                </a:solidFill>
                <a:latin typeface="Roboto"/>
                <a:ea typeface="Roboto"/>
                <a:cs typeface="Roboto"/>
              </a:defRPr>
            </a:lvl5pPr>
            <a:lvl6pPr algn="l">
              <a:defRPr sz="2175" b="0">
                <a:solidFill>
                  <a:srgbClr val="F5EFF7"/>
                </a:solidFill>
                <a:latin typeface="Roboto"/>
                <a:ea typeface="Roboto"/>
                <a:cs typeface="Roboto"/>
              </a:defRPr>
            </a:lvl6pPr>
            <a:lvl7pPr algn="l">
              <a:defRPr sz="2175" b="0">
                <a:solidFill>
                  <a:srgbClr val="F5EFF7"/>
                </a:solidFill>
                <a:latin typeface="Roboto"/>
                <a:ea typeface="Roboto"/>
                <a:cs typeface="Roboto"/>
              </a:defRPr>
            </a:lvl7pPr>
            <a:lvl8pPr algn="l">
              <a:defRPr sz="2175" b="0">
                <a:solidFill>
                  <a:srgbClr val="F5EFF7"/>
                </a:solidFill>
                <a:latin typeface="Roboto"/>
                <a:ea typeface="Roboto"/>
                <a:cs typeface="Roboto"/>
              </a:defRPr>
            </a:lvl8pPr>
            <a:lvl9pPr algn="l">
              <a:defRPr sz="2175" b="0">
                <a:solidFill>
                  <a:srgbClr val="F5EFF7"/>
                </a:solidFill>
                <a:latin typeface="Roboto"/>
                <a:ea typeface="Roboto"/>
                <a:cs typeface="Roboto"/>
              </a:defRPr>
            </a:lvl9pPr>
          </a:lstStyle>
          <a:p xmlns:a="http://schemas.openxmlformats.org/drawingml/2006/main">
            <a:pPr algn="l">
              <a:defRPr sz="2175" b="0">
                <a:solidFill>
                  <a:srgbClr val="F5EFF7"/>
                </a:solidFill>
                <a:latin typeface="Roboto"/>
                <a:ea typeface="Roboto"/>
                <a:cs typeface="Roboto"/>
              </a:defRPr>
            </a:pPr>
            <a:r>
              <a:rPr sz="2175" b="0">
                <a:solidFill>
                  <a:srgbClr val="F5EFF7"/>
                </a:solidFill>
                <a:latin typeface="Roboto"/>
                <a:ea typeface="Roboto"/>
                <a:cs typeface="Roboto"/>
              </a:rPr>
              <a:t>tasks recovered</a:t>
            </a:r>
          </a:p>
        </p:txBody>
      </p:sp>
      <p:sp>
        <p:nvSpPr>
          <p:cNvPr id="8" name="3/3">
            <a:extLst xmlns:a="http://schemas.openxmlformats.org/drawingml/2006/main">
              <a:ext uri="{FF2B5EF4-FFF2-40B4-BE49-F238E27FC236}">
                <a16:creationId xmlns:a16="http://schemas.microsoft.com/office/drawing/2014/main" id="{F458DEA9-4C18-46DA-A93F-11161090A1E8}"/>
              </a:ext>
            </a:extLst>
          </p:cNvPr>
          <p:cNvSpPr>
            <a:spLocks xmlns:a="http://schemas.openxmlformats.org/drawingml/2006/main" noGrp="1"/>
          </p:cNvSpPr>
          <p:nvPr/>
        </p:nvSpPr>
        <p:spPr>
          <a:xfrm xmlns:a="http://schemas.openxmlformats.org/drawingml/2006/main">
            <a:off x="6381750" y="4343400"/>
            <a:ext cx="3810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100" b="1">
                <a:solidFill>
                  <a:srgbClr val="BFEDE1"/>
                </a:solidFill>
                <a:latin typeface="Roboto"/>
                <a:ea typeface="Roboto"/>
                <a:cs typeface="Roboto"/>
              </a:defRPr>
            </a:defPPr>
            <a:lvl1pPr algn="l">
              <a:defRPr sz="8100" b="1">
                <a:solidFill>
                  <a:srgbClr val="BFEDE1"/>
                </a:solidFill>
                <a:latin typeface="Roboto"/>
                <a:ea typeface="Roboto"/>
                <a:cs typeface="Roboto"/>
              </a:defRPr>
            </a:lvl1pPr>
            <a:lvl2pPr algn="l">
              <a:defRPr sz="8100" b="1">
                <a:solidFill>
                  <a:srgbClr val="BFEDE1"/>
                </a:solidFill>
                <a:latin typeface="Roboto"/>
                <a:ea typeface="Roboto"/>
                <a:cs typeface="Roboto"/>
              </a:defRPr>
            </a:lvl2pPr>
            <a:lvl3pPr algn="l">
              <a:defRPr sz="8100" b="1">
                <a:solidFill>
                  <a:srgbClr val="BFEDE1"/>
                </a:solidFill>
                <a:latin typeface="Roboto"/>
                <a:ea typeface="Roboto"/>
                <a:cs typeface="Roboto"/>
              </a:defRPr>
            </a:lvl3pPr>
            <a:lvl4pPr algn="l">
              <a:defRPr sz="8100" b="1">
                <a:solidFill>
                  <a:srgbClr val="BFEDE1"/>
                </a:solidFill>
                <a:latin typeface="Roboto"/>
                <a:ea typeface="Roboto"/>
                <a:cs typeface="Roboto"/>
              </a:defRPr>
            </a:lvl4pPr>
            <a:lvl5pPr algn="l">
              <a:defRPr sz="8100" b="1">
                <a:solidFill>
                  <a:srgbClr val="BFEDE1"/>
                </a:solidFill>
                <a:latin typeface="Roboto"/>
                <a:ea typeface="Roboto"/>
                <a:cs typeface="Roboto"/>
              </a:defRPr>
            </a:lvl5pPr>
            <a:lvl6pPr algn="l">
              <a:defRPr sz="8100" b="1">
                <a:solidFill>
                  <a:srgbClr val="BFEDE1"/>
                </a:solidFill>
                <a:latin typeface="Roboto"/>
                <a:ea typeface="Roboto"/>
                <a:cs typeface="Roboto"/>
              </a:defRPr>
            </a:lvl6pPr>
            <a:lvl7pPr algn="l">
              <a:defRPr sz="8100" b="1">
                <a:solidFill>
                  <a:srgbClr val="BFEDE1"/>
                </a:solidFill>
                <a:latin typeface="Roboto"/>
                <a:ea typeface="Roboto"/>
                <a:cs typeface="Roboto"/>
              </a:defRPr>
            </a:lvl7pPr>
            <a:lvl8pPr algn="l">
              <a:defRPr sz="8100" b="1">
                <a:solidFill>
                  <a:srgbClr val="BFEDE1"/>
                </a:solidFill>
                <a:latin typeface="Roboto"/>
                <a:ea typeface="Roboto"/>
                <a:cs typeface="Roboto"/>
              </a:defRPr>
            </a:lvl8pPr>
            <a:lvl9pPr algn="l">
              <a:defRPr sz="8100" b="1">
                <a:solidFill>
                  <a:srgbClr val="BFEDE1"/>
                </a:solidFill>
                <a:latin typeface="Roboto"/>
                <a:ea typeface="Roboto"/>
                <a:cs typeface="Roboto"/>
              </a:defRPr>
            </a:lvl9pPr>
          </a:lstStyle>
          <a:p xmlns:a="http://schemas.openxmlformats.org/drawingml/2006/main">
            <a:pPr algn="l">
              <a:defRPr sz="8100" b="1">
                <a:solidFill>
                  <a:srgbClr val="BFEDE1"/>
                </a:solidFill>
                <a:latin typeface="Roboto"/>
                <a:ea typeface="Roboto"/>
                <a:cs typeface="Roboto"/>
              </a:defRPr>
            </a:pPr>
            <a:r>
              <a:rPr sz="8100" b="1">
                <a:solidFill>
                  <a:srgbClr val="BFEDE1"/>
                </a:solidFill>
                <a:latin typeface="Roboto"/>
                <a:ea typeface="Roboto"/>
                <a:cs typeface="Roboto"/>
              </a:rPr>
              <a:t>3/3</a:t>
            </a:r>
          </a:p>
        </p:txBody>
      </p:sp>
      <p:sp>
        <p:nvSpPr>
          <p:cNvPr id="9" name="files matched direct Python">
            <a:extLst xmlns:a="http://schemas.openxmlformats.org/drawingml/2006/main">
              <a:ext uri="{FF2B5EF4-FFF2-40B4-BE49-F238E27FC236}">
                <a16:creationId xmlns:a16="http://schemas.microsoft.com/office/drawing/2014/main" id="{CD8D9E85-7DFF-4BC5-870F-8E62DB224A12}"/>
              </a:ext>
            </a:extLst>
          </p:cNvPr>
          <p:cNvSpPr>
            <a:spLocks xmlns:a="http://schemas.openxmlformats.org/drawingml/2006/main" noGrp="1"/>
          </p:cNvSpPr>
          <p:nvPr/>
        </p:nvSpPr>
        <p:spPr>
          <a:xfrm xmlns:a="http://schemas.openxmlformats.org/drawingml/2006/main">
            <a:off x="6381750" y="5638800"/>
            <a:ext cx="5086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5EFF7"/>
                </a:solidFill>
                <a:latin typeface="Roboto"/>
                <a:ea typeface="Roboto"/>
                <a:cs typeface="Roboto"/>
              </a:defRPr>
            </a:defPPr>
            <a:lvl1pPr algn="l">
              <a:defRPr sz="2175" b="0">
                <a:solidFill>
                  <a:srgbClr val="F5EFF7"/>
                </a:solidFill>
                <a:latin typeface="Roboto"/>
                <a:ea typeface="Roboto"/>
                <a:cs typeface="Roboto"/>
              </a:defRPr>
            </a:lvl1pPr>
            <a:lvl2pPr algn="l">
              <a:defRPr sz="2175" b="0">
                <a:solidFill>
                  <a:srgbClr val="F5EFF7"/>
                </a:solidFill>
                <a:latin typeface="Roboto"/>
                <a:ea typeface="Roboto"/>
                <a:cs typeface="Roboto"/>
              </a:defRPr>
            </a:lvl2pPr>
            <a:lvl3pPr algn="l">
              <a:defRPr sz="2175" b="0">
                <a:solidFill>
                  <a:srgbClr val="F5EFF7"/>
                </a:solidFill>
                <a:latin typeface="Roboto"/>
                <a:ea typeface="Roboto"/>
                <a:cs typeface="Roboto"/>
              </a:defRPr>
            </a:lvl3pPr>
            <a:lvl4pPr algn="l">
              <a:defRPr sz="2175" b="0">
                <a:solidFill>
                  <a:srgbClr val="F5EFF7"/>
                </a:solidFill>
                <a:latin typeface="Roboto"/>
                <a:ea typeface="Roboto"/>
                <a:cs typeface="Roboto"/>
              </a:defRPr>
            </a:lvl4pPr>
            <a:lvl5pPr algn="l">
              <a:defRPr sz="2175" b="0">
                <a:solidFill>
                  <a:srgbClr val="F5EFF7"/>
                </a:solidFill>
                <a:latin typeface="Roboto"/>
                <a:ea typeface="Roboto"/>
                <a:cs typeface="Roboto"/>
              </a:defRPr>
            </a:lvl5pPr>
            <a:lvl6pPr algn="l">
              <a:defRPr sz="2175" b="0">
                <a:solidFill>
                  <a:srgbClr val="F5EFF7"/>
                </a:solidFill>
                <a:latin typeface="Roboto"/>
                <a:ea typeface="Roboto"/>
                <a:cs typeface="Roboto"/>
              </a:defRPr>
            </a:lvl6pPr>
            <a:lvl7pPr algn="l">
              <a:defRPr sz="2175" b="0">
                <a:solidFill>
                  <a:srgbClr val="F5EFF7"/>
                </a:solidFill>
                <a:latin typeface="Roboto"/>
                <a:ea typeface="Roboto"/>
                <a:cs typeface="Roboto"/>
              </a:defRPr>
            </a:lvl7pPr>
            <a:lvl8pPr algn="l">
              <a:defRPr sz="2175" b="0">
                <a:solidFill>
                  <a:srgbClr val="F5EFF7"/>
                </a:solidFill>
                <a:latin typeface="Roboto"/>
                <a:ea typeface="Roboto"/>
                <a:cs typeface="Roboto"/>
              </a:defRPr>
            </a:lvl8pPr>
            <a:lvl9pPr algn="l">
              <a:defRPr sz="2175" b="0">
                <a:solidFill>
                  <a:srgbClr val="F5EFF7"/>
                </a:solidFill>
                <a:latin typeface="Roboto"/>
                <a:ea typeface="Roboto"/>
                <a:cs typeface="Roboto"/>
              </a:defRPr>
            </a:lvl9pPr>
          </a:lstStyle>
          <a:p xmlns:a="http://schemas.openxmlformats.org/drawingml/2006/main">
            <a:pPr algn="l">
              <a:defRPr sz="2175" b="0">
                <a:solidFill>
                  <a:srgbClr val="F5EFF7"/>
                </a:solidFill>
                <a:latin typeface="Roboto"/>
                <a:ea typeface="Roboto"/>
                <a:cs typeface="Roboto"/>
              </a:defRPr>
            </a:pPr>
            <a:r>
              <a:rPr sz="2175" b="0">
                <a:solidFill>
                  <a:srgbClr val="F5EFF7"/>
                </a:solidFill>
                <a:latin typeface="Roboto"/>
                <a:ea typeface="Roboto"/>
                <a:cs typeface="Roboto"/>
              </a:rPr>
              <a:t>files matched direct Python</a:t>
            </a:r>
          </a:p>
        </p:txBody>
      </p:sp>
      <p:sp>
        <p:nvSpPr>
          <p:cNvPr id="10" name="Recorded local CPU run · 17,000 synthetic rows">
            <a:extLst xmlns:a="http://schemas.openxmlformats.org/drawingml/2006/main">
              <a:ext uri="{FF2B5EF4-FFF2-40B4-BE49-F238E27FC236}">
                <a16:creationId xmlns:a16="http://schemas.microsoft.com/office/drawing/2014/main" id="{7CDCF8FC-7CB1-469E-8E9E-28C36F2DD01D}"/>
              </a:ext>
            </a:extLst>
          </p:cNvPr>
          <p:cNvSpPr>
            <a:spLocks xmlns:a="http://schemas.openxmlformats.org/drawingml/2006/main" noGrp="1"/>
          </p:cNvSpPr>
          <p:nvPr/>
        </p:nvSpPr>
        <p:spPr>
          <a:xfrm xmlns:a="http://schemas.openxmlformats.org/drawingml/2006/main">
            <a:off x="609600" y="6353175"/>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CAC4D0"/>
                </a:solidFill>
                <a:latin typeface="Roboto"/>
                <a:ea typeface="Roboto"/>
                <a:cs typeface="Roboto"/>
              </a:defRPr>
            </a:defPPr>
            <a:lvl1pPr algn="l">
              <a:defRPr sz="1500" b="0">
                <a:solidFill>
                  <a:srgbClr val="CAC4D0"/>
                </a:solidFill>
                <a:latin typeface="Roboto"/>
                <a:ea typeface="Roboto"/>
                <a:cs typeface="Roboto"/>
              </a:defRPr>
            </a:lvl1pPr>
            <a:lvl2pPr algn="l">
              <a:defRPr sz="1500" b="0">
                <a:solidFill>
                  <a:srgbClr val="CAC4D0"/>
                </a:solidFill>
                <a:latin typeface="Roboto"/>
                <a:ea typeface="Roboto"/>
                <a:cs typeface="Roboto"/>
              </a:defRPr>
            </a:lvl2pPr>
            <a:lvl3pPr algn="l">
              <a:defRPr sz="1500" b="0">
                <a:solidFill>
                  <a:srgbClr val="CAC4D0"/>
                </a:solidFill>
                <a:latin typeface="Roboto"/>
                <a:ea typeface="Roboto"/>
                <a:cs typeface="Roboto"/>
              </a:defRPr>
            </a:lvl3pPr>
            <a:lvl4pPr algn="l">
              <a:defRPr sz="1500" b="0">
                <a:solidFill>
                  <a:srgbClr val="CAC4D0"/>
                </a:solidFill>
                <a:latin typeface="Roboto"/>
                <a:ea typeface="Roboto"/>
                <a:cs typeface="Roboto"/>
              </a:defRPr>
            </a:lvl4pPr>
            <a:lvl5pPr algn="l">
              <a:defRPr sz="1500" b="0">
                <a:solidFill>
                  <a:srgbClr val="CAC4D0"/>
                </a:solidFill>
                <a:latin typeface="Roboto"/>
                <a:ea typeface="Roboto"/>
                <a:cs typeface="Roboto"/>
              </a:defRPr>
            </a:lvl5pPr>
            <a:lvl6pPr algn="l">
              <a:defRPr sz="1500" b="0">
                <a:solidFill>
                  <a:srgbClr val="CAC4D0"/>
                </a:solidFill>
                <a:latin typeface="Roboto"/>
                <a:ea typeface="Roboto"/>
                <a:cs typeface="Roboto"/>
              </a:defRPr>
            </a:lvl6pPr>
            <a:lvl7pPr algn="l">
              <a:defRPr sz="1500" b="0">
                <a:solidFill>
                  <a:srgbClr val="CAC4D0"/>
                </a:solidFill>
                <a:latin typeface="Roboto"/>
                <a:ea typeface="Roboto"/>
                <a:cs typeface="Roboto"/>
              </a:defRPr>
            </a:lvl7pPr>
            <a:lvl8pPr algn="l">
              <a:defRPr sz="1500" b="0">
                <a:solidFill>
                  <a:srgbClr val="CAC4D0"/>
                </a:solidFill>
                <a:latin typeface="Roboto"/>
                <a:ea typeface="Roboto"/>
                <a:cs typeface="Roboto"/>
              </a:defRPr>
            </a:lvl8pPr>
            <a:lvl9pPr algn="l">
              <a:defRPr sz="1500" b="0">
                <a:solidFill>
                  <a:srgbClr val="CAC4D0"/>
                </a:solidFill>
                <a:latin typeface="Roboto"/>
                <a:ea typeface="Roboto"/>
                <a:cs typeface="Roboto"/>
              </a:defRPr>
            </a:lvl9pPr>
          </a:lstStyle>
          <a:p xmlns:a="http://schemas.openxmlformats.org/drawingml/2006/main">
            <a:pPr algn="l">
              <a:defRPr sz="1500" b="0">
                <a:solidFill>
                  <a:srgbClr val="CAC4D0"/>
                </a:solidFill>
                <a:latin typeface="Roboto"/>
                <a:ea typeface="Roboto"/>
                <a:cs typeface="Roboto"/>
              </a:defRPr>
            </a:pPr>
            <a:r>
              <a:rPr sz="1500" b="0">
                <a:solidFill>
                  <a:srgbClr val="CAC4D0"/>
                </a:solidFill>
                <a:latin typeface="Roboto"/>
                <a:ea typeface="Roboto"/>
                <a:cs typeface="Roboto"/>
              </a:rPr>
              <a:t>Recorded local CPU run · 17,000 synthetic rows</a:t>
            </a:r>
          </a:p>
        </p:txBody>
      </p:sp>
      <p:sp>
        <p:nvSpPr>
          <p:cNvPr id="11" name="">
            <a:extLst xmlns:a="http://schemas.openxmlformats.org/drawingml/2006/main">
              <a:ext uri="{FF2B5EF4-FFF2-40B4-BE49-F238E27FC236}">
                <a16:creationId xmlns:a16="http://schemas.microsoft.com/office/drawing/2014/main" id="{A9CC86A8-C640-4411-AD25-6E5C4F040BC3}"/>
              </a:ext>
            </a:extLst>
          </p:cNvPr>
          <p:cNvSpPr>
            <a:spLocks xmlns:a="http://schemas.openxmlformats.org/drawingml/2006/main" noGrp="1"/>
          </p:cNvSpPr>
          <p:nvPr/>
        </p:nvSpPr>
        <p:spPr>
          <a:xfrm xmlns:a="http://schemas.openxmlformats.org/drawingml/2006/main">
            <a:off x="6848475" y="1847850"/>
            <a:ext cx="4733925" cy="1533525"/>
          </a:xfrm>
          <a:prstGeom xmlns:a="http://schemas.openxmlformats.org/drawingml/2006/main" prst="roundRect">
            <a:avLst>
              <a:gd name="adj" fmla="val 19876"/>
            </a:avLst>
          </a:prstGeom>
          <a:solidFill xmlns:a="http://schemas.openxmlformats.org/drawingml/2006/main">
            <a:srgbClr val="39333F"/>
          </a:solidFill>
          <a:ln xmlns:a="http://schemas.openxmlformats.org/drawingml/2006/main" w="0">
            <a:noFill/>
          </a:ln>
        </p:spPr>
      </p:sp>
      <p:sp>
        <p:nvSpPr>
          <p:cNvPr id="12" name="Result evidence">
            <a:extLst xmlns:a="http://schemas.openxmlformats.org/drawingml/2006/main">
              <a:ext uri="{FF2B5EF4-FFF2-40B4-BE49-F238E27FC236}">
                <a16:creationId xmlns:a16="http://schemas.microsoft.com/office/drawing/2014/main" id="{6017A3F6-3689-4B40-A88C-47AA9DC09790}"/>
              </a:ext>
            </a:extLst>
          </p:cNvPr>
          <p:cNvSpPr>
            <a:spLocks xmlns:a="http://schemas.openxmlformats.org/drawingml/2006/main" noGrp="1"/>
          </p:cNvSpPr>
          <p:nvPr/>
        </p:nvSpPr>
        <p:spPr>
          <a:xfrm xmlns:a="http://schemas.openxmlformats.org/drawingml/2006/main">
            <a:off x="7143750" y="2085975"/>
            <a:ext cx="414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FEDE1"/>
                </a:solidFill>
                <a:latin typeface="Roboto"/>
                <a:ea typeface="Roboto"/>
                <a:cs typeface="Roboto"/>
              </a:defRPr>
            </a:defPPr>
            <a:lvl1pPr algn="l">
              <a:defRPr sz="2325" b="1">
                <a:solidFill>
                  <a:srgbClr val="BFEDE1"/>
                </a:solidFill>
                <a:latin typeface="Roboto"/>
                <a:ea typeface="Roboto"/>
                <a:cs typeface="Roboto"/>
              </a:defRPr>
            </a:lvl1pPr>
            <a:lvl2pPr algn="l">
              <a:defRPr sz="2325" b="1">
                <a:solidFill>
                  <a:srgbClr val="BFEDE1"/>
                </a:solidFill>
                <a:latin typeface="Roboto"/>
                <a:ea typeface="Roboto"/>
                <a:cs typeface="Roboto"/>
              </a:defRPr>
            </a:lvl2pPr>
            <a:lvl3pPr algn="l">
              <a:defRPr sz="2325" b="1">
                <a:solidFill>
                  <a:srgbClr val="BFEDE1"/>
                </a:solidFill>
                <a:latin typeface="Roboto"/>
                <a:ea typeface="Roboto"/>
                <a:cs typeface="Roboto"/>
              </a:defRPr>
            </a:lvl3pPr>
            <a:lvl4pPr algn="l">
              <a:defRPr sz="2325" b="1">
                <a:solidFill>
                  <a:srgbClr val="BFEDE1"/>
                </a:solidFill>
                <a:latin typeface="Roboto"/>
                <a:ea typeface="Roboto"/>
                <a:cs typeface="Roboto"/>
              </a:defRPr>
            </a:lvl4pPr>
            <a:lvl5pPr algn="l">
              <a:defRPr sz="2325" b="1">
                <a:solidFill>
                  <a:srgbClr val="BFEDE1"/>
                </a:solidFill>
                <a:latin typeface="Roboto"/>
                <a:ea typeface="Roboto"/>
                <a:cs typeface="Roboto"/>
              </a:defRPr>
            </a:lvl5pPr>
            <a:lvl6pPr algn="l">
              <a:defRPr sz="2325" b="1">
                <a:solidFill>
                  <a:srgbClr val="BFEDE1"/>
                </a:solidFill>
                <a:latin typeface="Roboto"/>
                <a:ea typeface="Roboto"/>
                <a:cs typeface="Roboto"/>
              </a:defRPr>
            </a:lvl6pPr>
            <a:lvl7pPr algn="l">
              <a:defRPr sz="2325" b="1">
                <a:solidFill>
                  <a:srgbClr val="BFEDE1"/>
                </a:solidFill>
                <a:latin typeface="Roboto"/>
                <a:ea typeface="Roboto"/>
                <a:cs typeface="Roboto"/>
              </a:defRPr>
            </a:lvl7pPr>
            <a:lvl8pPr algn="l">
              <a:defRPr sz="2325" b="1">
                <a:solidFill>
                  <a:srgbClr val="BFEDE1"/>
                </a:solidFill>
                <a:latin typeface="Roboto"/>
                <a:ea typeface="Roboto"/>
                <a:cs typeface="Roboto"/>
              </a:defRPr>
            </a:lvl8pPr>
            <a:lvl9pPr algn="l">
              <a:defRPr sz="2325" b="1">
                <a:solidFill>
                  <a:srgbClr val="BFEDE1"/>
                </a:solidFill>
                <a:latin typeface="Roboto"/>
                <a:ea typeface="Roboto"/>
                <a:cs typeface="Roboto"/>
              </a:defRPr>
            </a:lvl9pPr>
          </a:lstStyle>
          <a:p xmlns:a="http://schemas.openxmlformats.org/drawingml/2006/main">
            <a:pPr algn="l">
              <a:defRPr sz="2325" b="1">
                <a:solidFill>
                  <a:srgbClr val="BFEDE1"/>
                </a:solidFill>
                <a:latin typeface="Roboto"/>
                <a:ea typeface="Roboto"/>
                <a:cs typeface="Roboto"/>
              </a:defRPr>
            </a:pPr>
            <a:r>
              <a:rPr sz="2325" b="1">
                <a:solidFill>
                  <a:srgbClr val="BFEDE1"/>
                </a:solidFill>
                <a:latin typeface="Roboto"/>
                <a:ea typeface="Roboto"/>
                <a:cs typeface="Roboto"/>
              </a:rPr>
              <a:t>Result evidence</a:t>
            </a:r>
          </a:p>
        </p:txBody>
      </p:sp>
      <p:sp>
        <p:nvSpPr>
          <p:cNvPr id="13" name="Worker signature + file hashes">
            <a:extLst xmlns:a="http://schemas.openxmlformats.org/drawingml/2006/main">
              <a:ext uri="{FF2B5EF4-FFF2-40B4-BE49-F238E27FC236}">
                <a16:creationId xmlns:a16="http://schemas.microsoft.com/office/drawing/2014/main" id="{7BBD75E9-6895-4FD6-BD6C-2E9ED8DB15AD}"/>
              </a:ext>
            </a:extLst>
          </p:cNvPr>
          <p:cNvSpPr>
            <a:spLocks xmlns:a="http://schemas.openxmlformats.org/drawingml/2006/main" noGrp="1"/>
          </p:cNvSpPr>
          <p:nvPr/>
        </p:nvSpPr>
        <p:spPr>
          <a:xfrm xmlns:a="http://schemas.openxmlformats.org/drawingml/2006/main">
            <a:off x="7143750" y="2667000"/>
            <a:ext cx="4143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5EFF7"/>
                </a:solidFill>
                <a:latin typeface="Roboto"/>
                <a:ea typeface="Roboto"/>
                <a:cs typeface="Roboto"/>
              </a:defRPr>
            </a:defPPr>
            <a:lvl1pPr algn="l">
              <a:defRPr sz="2100" b="0">
                <a:solidFill>
                  <a:srgbClr val="F5EFF7"/>
                </a:solidFill>
                <a:latin typeface="Roboto"/>
                <a:ea typeface="Roboto"/>
                <a:cs typeface="Roboto"/>
              </a:defRPr>
            </a:lvl1pPr>
            <a:lvl2pPr algn="l">
              <a:defRPr sz="2100" b="0">
                <a:solidFill>
                  <a:srgbClr val="F5EFF7"/>
                </a:solidFill>
                <a:latin typeface="Roboto"/>
                <a:ea typeface="Roboto"/>
                <a:cs typeface="Roboto"/>
              </a:defRPr>
            </a:lvl2pPr>
            <a:lvl3pPr algn="l">
              <a:defRPr sz="2100" b="0">
                <a:solidFill>
                  <a:srgbClr val="F5EFF7"/>
                </a:solidFill>
                <a:latin typeface="Roboto"/>
                <a:ea typeface="Roboto"/>
                <a:cs typeface="Roboto"/>
              </a:defRPr>
            </a:lvl3pPr>
            <a:lvl4pPr algn="l">
              <a:defRPr sz="2100" b="0">
                <a:solidFill>
                  <a:srgbClr val="F5EFF7"/>
                </a:solidFill>
                <a:latin typeface="Roboto"/>
                <a:ea typeface="Roboto"/>
                <a:cs typeface="Roboto"/>
              </a:defRPr>
            </a:lvl4pPr>
            <a:lvl5pPr algn="l">
              <a:defRPr sz="2100" b="0">
                <a:solidFill>
                  <a:srgbClr val="F5EFF7"/>
                </a:solidFill>
                <a:latin typeface="Roboto"/>
                <a:ea typeface="Roboto"/>
                <a:cs typeface="Roboto"/>
              </a:defRPr>
            </a:lvl5pPr>
            <a:lvl6pPr algn="l">
              <a:defRPr sz="2100" b="0">
                <a:solidFill>
                  <a:srgbClr val="F5EFF7"/>
                </a:solidFill>
                <a:latin typeface="Roboto"/>
                <a:ea typeface="Roboto"/>
                <a:cs typeface="Roboto"/>
              </a:defRPr>
            </a:lvl6pPr>
            <a:lvl7pPr algn="l">
              <a:defRPr sz="2100" b="0">
                <a:solidFill>
                  <a:srgbClr val="F5EFF7"/>
                </a:solidFill>
                <a:latin typeface="Roboto"/>
                <a:ea typeface="Roboto"/>
                <a:cs typeface="Roboto"/>
              </a:defRPr>
            </a:lvl7pPr>
            <a:lvl8pPr algn="l">
              <a:defRPr sz="2100" b="0">
                <a:solidFill>
                  <a:srgbClr val="F5EFF7"/>
                </a:solidFill>
                <a:latin typeface="Roboto"/>
                <a:ea typeface="Roboto"/>
                <a:cs typeface="Roboto"/>
              </a:defRPr>
            </a:lvl8pPr>
            <a:lvl9pPr algn="l">
              <a:defRPr sz="2100" b="0">
                <a:solidFill>
                  <a:srgbClr val="F5EFF7"/>
                </a:solidFill>
                <a:latin typeface="Roboto"/>
                <a:ea typeface="Roboto"/>
                <a:cs typeface="Roboto"/>
              </a:defRPr>
            </a:lvl9pPr>
          </a:lstStyle>
          <a:p xmlns:a="http://schemas.openxmlformats.org/drawingml/2006/main">
            <a:pPr algn="l">
              <a:defRPr sz="2100" b="0">
                <a:solidFill>
                  <a:srgbClr val="F5EFF7"/>
                </a:solidFill>
                <a:latin typeface="Roboto"/>
                <a:ea typeface="Roboto"/>
                <a:cs typeface="Roboto"/>
              </a:defRPr>
            </a:pPr>
            <a:r>
              <a:rPr sz="2100" b="0">
                <a:solidFill>
                  <a:srgbClr val="F5EFF7"/>
                </a:solidFill>
                <a:latin typeface="Roboto"/>
                <a:ea typeface="Roboto"/>
                <a:cs typeface="Roboto"/>
              </a:rPr>
              <a:t>Worker signature + file hashes</a:t>
            </a:r>
          </a:p>
        </p:txBody>
      </p:sp>
    </p:spTree>
    <p:extLst>
      <p:ext uri="{BB962C8B-B14F-4D97-AF65-F5344CB8AC3E}">
        <p14:creationId xmlns:p14="http://schemas.microsoft.com/office/powerpoint/2010/main" val="485605348"/>
      </p:ext>
    </p:extLst>
  </p:cSld>
</p:sld>
</file>

<file path=ppt/slides/slide4.xml><?xml version="1.0" encoding="utf-8"?>
<p:sld xmlns:p="http://schemas.openxmlformats.org/presentationml/2006/main">
  <p:cSld>
    <p:bg>
      <p:bgPr>
        <a:solidFill xmlns:a="http://schemas.openxmlformats.org/drawingml/2006/main">
          <a:srgbClr val="FEF7FF"/>
        </a:solidFill>
      </p:bgPr>
    </p:bg>
    <p:spTree>
      <p:nvGrpSpPr>
        <p:cNvPr id="1" name=""/>
        <p:cNvGrpSpPr/>
        <p:nvPr/>
      </p:nvGrpSpPr>
      <p:grpSpPr>
        <a:xfrm xmlns:a="http://schemas.openxmlformats.org/drawingml/2006/main"/>
      </p:grpSpPr>
      <p:sp>
        <p:nvSpPr>
          <p:cNvPr id="2" name="Where Aperture fits">
            <a:extLst xmlns:a="http://schemas.openxmlformats.org/drawingml/2006/main">
              <a:ext uri="{FF2B5EF4-FFF2-40B4-BE49-F238E27FC236}">
                <a16:creationId xmlns:a16="http://schemas.microsoft.com/office/drawing/2014/main" id="{21ECFBA2-341D-492D-BC1F-44EB54D2A98B}"/>
              </a:ext>
            </a:extLst>
          </p:cNvPr>
          <p:cNvSpPr>
            <a:spLocks xmlns:a="http://schemas.openxmlformats.org/drawingml/2006/main" noGrp="1"/>
          </p:cNvSpPr>
          <p:nvPr/>
        </p:nvSpPr>
        <p:spPr>
          <a:xfrm xmlns:a="http://schemas.openxmlformats.org/drawingml/2006/main">
            <a:off x="609600" y="5524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21005D"/>
                </a:solidFill>
                <a:latin typeface="Roboto"/>
                <a:ea typeface="Roboto"/>
                <a:cs typeface="Roboto"/>
              </a:defRPr>
            </a:defPPr>
            <a:lvl1pPr algn="l">
              <a:defRPr sz="4200" b="1">
                <a:solidFill>
                  <a:srgbClr val="21005D"/>
                </a:solidFill>
                <a:latin typeface="Roboto"/>
                <a:ea typeface="Roboto"/>
                <a:cs typeface="Roboto"/>
              </a:defRPr>
            </a:lvl1pPr>
            <a:lvl2pPr algn="l">
              <a:defRPr sz="4200" b="1">
                <a:solidFill>
                  <a:srgbClr val="21005D"/>
                </a:solidFill>
                <a:latin typeface="Roboto"/>
                <a:ea typeface="Roboto"/>
                <a:cs typeface="Roboto"/>
              </a:defRPr>
            </a:lvl2pPr>
            <a:lvl3pPr algn="l">
              <a:defRPr sz="4200" b="1">
                <a:solidFill>
                  <a:srgbClr val="21005D"/>
                </a:solidFill>
                <a:latin typeface="Roboto"/>
                <a:ea typeface="Roboto"/>
                <a:cs typeface="Roboto"/>
              </a:defRPr>
            </a:lvl3pPr>
            <a:lvl4pPr algn="l">
              <a:defRPr sz="4200" b="1">
                <a:solidFill>
                  <a:srgbClr val="21005D"/>
                </a:solidFill>
                <a:latin typeface="Roboto"/>
                <a:ea typeface="Roboto"/>
                <a:cs typeface="Roboto"/>
              </a:defRPr>
            </a:lvl4pPr>
            <a:lvl5pPr algn="l">
              <a:defRPr sz="4200" b="1">
                <a:solidFill>
                  <a:srgbClr val="21005D"/>
                </a:solidFill>
                <a:latin typeface="Roboto"/>
                <a:ea typeface="Roboto"/>
                <a:cs typeface="Roboto"/>
              </a:defRPr>
            </a:lvl5pPr>
            <a:lvl6pPr algn="l">
              <a:defRPr sz="4200" b="1">
                <a:solidFill>
                  <a:srgbClr val="21005D"/>
                </a:solidFill>
                <a:latin typeface="Roboto"/>
                <a:ea typeface="Roboto"/>
                <a:cs typeface="Roboto"/>
              </a:defRPr>
            </a:lvl6pPr>
            <a:lvl7pPr algn="l">
              <a:defRPr sz="4200" b="1">
                <a:solidFill>
                  <a:srgbClr val="21005D"/>
                </a:solidFill>
                <a:latin typeface="Roboto"/>
                <a:ea typeface="Roboto"/>
                <a:cs typeface="Roboto"/>
              </a:defRPr>
            </a:lvl7pPr>
            <a:lvl8pPr algn="l">
              <a:defRPr sz="4200" b="1">
                <a:solidFill>
                  <a:srgbClr val="21005D"/>
                </a:solidFill>
                <a:latin typeface="Roboto"/>
                <a:ea typeface="Roboto"/>
                <a:cs typeface="Roboto"/>
              </a:defRPr>
            </a:lvl8pPr>
            <a:lvl9pPr algn="l">
              <a:defRPr sz="4200" b="1">
                <a:solidFill>
                  <a:srgbClr val="21005D"/>
                </a:solidFill>
                <a:latin typeface="Roboto"/>
                <a:ea typeface="Roboto"/>
                <a:cs typeface="Roboto"/>
              </a:defRPr>
            </a:lvl9pPr>
          </a:lstStyle>
          <a:p xmlns:a="http://schemas.openxmlformats.org/drawingml/2006/main">
            <a:pPr algn="l">
              <a:defRPr sz="4200" b="1">
                <a:solidFill>
                  <a:srgbClr val="21005D"/>
                </a:solidFill>
                <a:latin typeface="Roboto"/>
                <a:ea typeface="Roboto"/>
                <a:cs typeface="Roboto"/>
              </a:defRPr>
            </a:pPr>
            <a:r>
              <a:rPr sz="4200" b="1">
                <a:solidFill>
                  <a:srgbClr val="21005D"/>
                </a:solidFill>
                <a:latin typeface="Roboto"/>
                <a:ea typeface="Roboto"/>
                <a:cs typeface="Roboto"/>
              </a:rPr>
              <a:t>Where Aperture fits</a:t>
            </a:r>
          </a:p>
        </p:txBody>
      </p:sp>
      <p:sp>
        <p:nvSpPr>
          <p:cNvPr id="3" name="Our focus: owner-controlled AI + compute tasks">
            <a:extLst xmlns:a="http://schemas.openxmlformats.org/drawingml/2006/main">
              <a:ext uri="{FF2B5EF4-FFF2-40B4-BE49-F238E27FC236}">
                <a16:creationId xmlns:a16="http://schemas.microsoft.com/office/drawing/2014/main" id="{F73AA49D-2953-4CEE-BEE3-6467BBB40649}"/>
              </a:ext>
            </a:extLst>
          </p:cNvPr>
          <p:cNvSpPr>
            <a:spLocks xmlns:a="http://schemas.openxmlformats.org/drawingml/2006/main" noGrp="1"/>
          </p:cNvSpPr>
          <p:nvPr/>
        </p:nvSpPr>
        <p:spPr>
          <a:xfrm xmlns:a="http://schemas.openxmlformats.org/drawingml/2006/main">
            <a:off x="609600" y="14001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9454F"/>
                </a:solidFill>
                <a:latin typeface="Roboto"/>
                <a:ea typeface="Roboto"/>
                <a:cs typeface="Roboto"/>
              </a:defRPr>
            </a:defPPr>
            <a:lvl1pPr algn="l">
              <a:defRPr sz="2175" b="0">
                <a:solidFill>
                  <a:srgbClr val="49454F"/>
                </a:solidFill>
                <a:latin typeface="Roboto"/>
                <a:ea typeface="Roboto"/>
                <a:cs typeface="Roboto"/>
              </a:defRPr>
            </a:lvl1pPr>
            <a:lvl2pPr algn="l">
              <a:defRPr sz="2175" b="0">
                <a:solidFill>
                  <a:srgbClr val="49454F"/>
                </a:solidFill>
                <a:latin typeface="Roboto"/>
                <a:ea typeface="Roboto"/>
                <a:cs typeface="Roboto"/>
              </a:defRPr>
            </a:lvl2pPr>
            <a:lvl3pPr algn="l">
              <a:defRPr sz="2175" b="0">
                <a:solidFill>
                  <a:srgbClr val="49454F"/>
                </a:solidFill>
                <a:latin typeface="Roboto"/>
                <a:ea typeface="Roboto"/>
                <a:cs typeface="Roboto"/>
              </a:defRPr>
            </a:lvl3pPr>
            <a:lvl4pPr algn="l">
              <a:defRPr sz="2175" b="0">
                <a:solidFill>
                  <a:srgbClr val="49454F"/>
                </a:solidFill>
                <a:latin typeface="Roboto"/>
                <a:ea typeface="Roboto"/>
                <a:cs typeface="Roboto"/>
              </a:defRPr>
            </a:lvl4pPr>
            <a:lvl5pPr algn="l">
              <a:defRPr sz="2175" b="0">
                <a:solidFill>
                  <a:srgbClr val="49454F"/>
                </a:solidFill>
                <a:latin typeface="Roboto"/>
                <a:ea typeface="Roboto"/>
                <a:cs typeface="Roboto"/>
              </a:defRPr>
            </a:lvl5pPr>
            <a:lvl6pPr algn="l">
              <a:defRPr sz="2175" b="0">
                <a:solidFill>
                  <a:srgbClr val="49454F"/>
                </a:solidFill>
                <a:latin typeface="Roboto"/>
                <a:ea typeface="Roboto"/>
                <a:cs typeface="Roboto"/>
              </a:defRPr>
            </a:lvl6pPr>
            <a:lvl7pPr algn="l">
              <a:defRPr sz="2175" b="0">
                <a:solidFill>
                  <a:srgbClr val="49454F"/>
                </a:solidFill>
                <a:latin typeface="Roboto"/>
                <a:ea typeface="Roboto"/>
                <a:cs typeface="Roboto"/>
              </a:defRPr>
            </a:lvl7pPr>
            <a:lvl8pPr algn="l">
              <a:defRPr sz="2175" b="0">
                <a:solidFill>
                  <a:srgbClr val="49454F"/>
                </a:solidFill>
                <a:latin typeface="Roboto"/>
                <a:ea typeface="Roboto"/>
                <a:cs typeface="Roboto"/>
              </a:defRPr>
            </a:lvl8pPr>
            <a:lvl9pPr algn="l">
              <a:defRPr sz="2175" b="0">
                <a:solidFill>
                  <a:srgbClr val="49454F"/>
                </a:solidFill>
                <a:latin typeface="Roboto"/>
                <a:ea typeface="Roboto"/>
                <a:cs typeface="Roboto"/>
              </a:defRPr>
            </a:lvl9pPr>
          </a:lstStyle>
          <a:p xmlns:a="http://schemas.openxmlformats.org/drawingml/2006/main">
            <a:pPr algn="l">
              <a:defRPr sz="2175" b="0">
                <a:solidFill>
                  <a:srgbClr val="49454F"/>
                </a:solidFill>
                <a:latin typeface="Roboto"/>
                <a:ea typeface="Roboto"/>
                <a:cs typeface="Roboto"/>
              </a:defRPr>
            </a:pPr>
            <a:r>
              <a:rPr sz="2175" b="0">
                <a:solidFill>
                  <a:srgbClr val="49454F"/>
                </a:solidFill>
                <a:latin typeface="Roboto"/>
                <a:ea typeface="Roboto"/>
                <a:cs typeface="Roboto"/>
              </a:rPr>
              <a:t>Our focus: owner-controlled AI + compute tasks</a:t>
            </a:r>
          </a:p>
        </p:txBody>
      </p:sp>
      <p:graphicFrame>
        <p:nvGraphicFramePr>
          <p:cNvPr id="4" name="">
            <a:extLst xmlns:a="http://schemas.openxmlformats.org/drawingml/2006/main">
              <a:ext uri="{FF2B5EF4-FFF2-40B4-BE49-F238E27FC236}">
                <a16:creationId xmlns:a16="http://schemas.microsoft.com/office/drawing/2014/main" id="{C00C0626-3A84-40BD-99EA-56792EC17DF0}"/>
              </a:ext>
            </a:extLst>
          </p:cNvPr>
          <p:cNvGraphicFramePr/>
          <p:nvPr/>
        </p:nvGraphicFramePr>
        <p:xfrm>
          <a:off xmlns:a="http://schemas.openxmlformats.org/drawingml/2006/main" x="609600" y="2133600"/>
          <a:ext xmlns:a="http://schemas.openxmlformats.org/drawingml/2006/main" cx="10972800" cy="3333750"/>
        </p:xfrm>
        <a:graphic xmlns:a="http://schemas.openxmlformats.org/drawingml/2006/main">
          <a:graphicData uri="http://schemas.openxmlformats.org/drawingml/2006/table">
            <a:tbl>
              <a:tblPr/>
              <a:tblGrid>
                <a:gridCol w="2095500"/>
                <a:gridCol w="5353050"/>
                <a:gridCol w="3524250"/>
              </a:tblGrid>
              <a:tr h="666750">
                <a:tc>
                  <a:txBody>
                    <a:bodyPr wrap="square" lIns="190500" tIns="114300" rIns="152400" bIns="95250"/>
                    <a:lstStyle/>
                    <a:p>
                      <a:r>
                        <a:rPr sz="1650" b="1">
                          <a:solidFill>
                            <a:srgbClr val="1D1B20"/>
                          </a:solidFill>
                          <a:latin typeface="Roboto"/>
                          <a:ea typeface="Roboto"/>
                          <a:cs typeface="Roboto"/>
                        </a:rPr>
                        <a:t>Option</a:t>
                      </a:r>
                    </a:p>
                  </a:txBody>
                  <a:tcPr marL="91440" marR="91440" marT="45720" marB="45720" anchor="ctr">
                    <a:lnL w="0">
                      <a:solidFill>
                        <a:srgbClr val="FEF7FF"/>
                      </a:solidFill>
                      <a:prstDash val="solid"/>
                    </a:lnL>
                    <a:lnR w="0">
                      <a:solidFill>
                        <a:srgbClr val="FEF7FF"/>
                      </a:solidFill>
                      <a:prstDash val="solid"/>
                    </a:lnR>
                    <a:lnT w="0">
                      <a:solidFill>
                        <a:srgbClr val="FEF7FF"/>
                      </a:solidFill>
                      <a:prstDash val="solid"/>
                    </a:lnT>
                    <a:lnB w="0">
                      <a:solidFill>
                        <a:srgbClr val="FEF7FF"/>
                      </a:solidFill>
                      <a:prstDash val="solid"/>
                    </a:lnB>
                    <a:solidFill>
                      <a:srgbClr val="E8DEF8"/>
                    </a:solidFill>
                  </a:tcPr>
                </a:tc>
                <a:tc>
                  <a:txBody>
                    <a:bodyPr wrap="square" lIns="190500" tIns="114300" rIns="152400" bIns="95250"/>
                    <a:lstStyle/>
                    <a:p>
                      <a:r>
                        <a:rPr sz="1650" b="1">
                          <a:solidFill>
                            <a:srgbClr val="1D1B20"/>
                          </a:solidFill>
                          <a:latin typeface="Roboto"/>
                          <a:ea typeface="Roboto"/>
                          <a:cs typeface="Roboto"/>
                        </a:rPr>
                        <a:t>Documented focus</a:t>
                      </a:r>
                    </a:p>
                  </a:txBody>
                  <a:tcPr marL="91440" marR="91440" marT="45720" marB="45720" anchor="ctr">
                    <a:lnR w="0">
                      <a:solidFill>
                        <a:srgbClr val="FEF7FF"/>
                      </a:solidFill>
                      <a:prstDash val="solid"/>
                    </a:lnR>
                    <a:lnT w="0">
                      <a:solidFill>
                        <a:srgbClr val="FEF7FF"/>
                      </a:solidFill>
                      <a:prstDash val="solid"/>
                    </a:lnT>
                    <a:lnB w="0">
                      <a:solidFill>
                        <a:srgbClr val="FEF7FF"/>
                      </a:solidFill>
                      <a:prstDash val="solid"/>
                    </a:lnB>
                    <a:solidFill>
                      <a:srgbClr val="E8DEF8"/>
                    </a:solidFill>
                  </a:tcPr>
                </a:tc>
                <a:tc>
                  <a:txBody>
                    <a:bodyPr wrap="square" lIns="190500" tIns="114300" rIns="152400" bIns="95250"/>
                    <a:lstStyle/>
                    <a:p>
                      <a:r>
                        <a:rPr sz="1650" b="1">
                          <a:solidFill>
                            <a:srgbClr val="1D1B20"/>
                          </a:solidFill>
                          <a:latin typeface="Roboto"/>
                          <a:ea typeface="Roboto"/>
                          <a:cs typeface="Roboto"/>
                        </a:rPr>
                        <a:t>Primary unit</a:t>
                      </a:r>
                    </a:p>
                  </a:txBody>
                  <a:tcPr marL="91440" marR="91440" marT="45720" marB="45720" anchor="ctr">
                    <a:lnR w="0">
                      <a:solidFill>
                        <a:srgbClr val="FEF7FF"/>
                      </a:solidFill>
                      <a:prstDash val="solid"/>
                    </a:lnR>
                    <a:lnT w="0">
                      <a:solidFill>
                        <a:srgbClr val="FEF7FF"/>
                      </a:solidFill>
                      <a:prstDash val="solid"/>
                    </a:lnT>
                    <a:lnB w="0">
                      <a:solidFill>
                        <a:srgbClr val="FEF7FF"/>
                      </a:solidFill>
                      <a:prstDash val="solid"/>
                    </a:lnB>
                    <a:solidFill>
                      <a:srgbClr val="E8DEF8"/>
                    </a:solidFill>
                  </a:tcPr>
                </a:tc>
              </a:tr>
              <a:tr h="666750">
                <a:tc>
                  <a:txBody>
                    <a:bodyPr wrap="square" lIns="190500" tIns="114300" rIns="152400" bIns="95250"/>
                    <a:lstStyle/>
                    <a:p>
                      <a:r>
                        <a:rPr sz="1875" b="1">
                          <a:solidFill>
                            <a:srgbClr val="1D1B20"/>
                          </a:solidFill>
                          <a:latin typeface="Roboto"/>
                          <a:ea typeface="Roboto"/>
                          <a:cs typeface="Roboto"/>
                        </a:rPr>
                        <a:t>OpenRouter</a:t>
                      </a:r>
                    </a:p>
                  </a:txBody>
                  <a:tcPr marL="91440" marR="91440" marT="45720" marB="45720" anchor="ctr">
                    <a:lnL w="0">
                      <a:solidFill>
                        <a:srgbClr val="FEF7FF"/>
                      </a:solidFill>
                      <a:prstDash val="solid"/>
                    </a:lnL>
                    <a:lnR w="0">
                      <a:solidFill>
                        <a:srgbClr val="FEF7FF"/>
                      </a:solidFill>
                      <a:prstDash val="solid"/>
                    </a:lnR>
                    <a:lnB w="0">
                      <a:solidFill>
                        <a:srgbClr val="FEF7FF"/>
                      </a:solidFill>
                      <a:prstDash val="solid"/>
                    </a:lnB>
                    <a:solidFill>
                      <a:srgbClr val="F9F5FB"/>
                    </a:solidFill>
                  </a:tcPr>
                </a:tc>
                <a:tc>
                  <a:txBody>
                    <a:bodyPr wrap="square" lIns="190500" tIns="114300" rIns="152400" bIns="95250"/>
                    <a:lstStyle/>
                    <a:p>
                      <a:r>
                        <a:rPr sz="1875" b="0">
                          <a:solidFill>
                            <a:srgbClr val="1D1B20"/>
                          </a:solidFill>
                          <a:latin typeface="Roboto"/>
                          <a:ea typeface="Roboto"/>
                          <a:cs typeface="Roboto"/>
                        </a:rPr>
                        <a:t>Model API routing</a:t>
                      </a:r>
                    </a:p>
                  </a:txBody>
                  <a:tcPr marL="91440" marR="91440" marT="45720" marB="45720" anchor="ctr">
                    <a:lnR w="0">
                      <a:solidFill>
                        <a:srgbClr val="FEF7FF"/>
                      </a:solidFill>
                      <a:prstDash val="solid"/>
                    </a:lnR>
                    <a:lnB w="0">
                      <a:solidFill>
                        <a:srgbClr val="FEF7FF"/>
                      </a:solidFill>
                      <a:prstDash val="solid"/>
                    </a:lnB>
                    <a:solidFill>
                      <a:srgbClr val="F9F5FB"/>
                    </a:solidFill>
                  </a:tcPr>
                </a:tc>
                <a:tc>
                  <a:txBody>
                    <a:bodyPr wrap="square" lIns="190500" tIns="114300" rIns="152400" bIns="95250"/>
                    <a:lstStyle/>
                    <a:p>
                      <a:r>
                        <a:rPr sz="1875" b="0">
                          <a:solidFill>
                            <a:srgbClr val="1D1B20"/>
                          </a:solidFill>
                          <a:latin typeface="Roboto"/>
                          <a:ea typeface="Roboto"/>
                          <a:cs typeface="Roboto"/>
                        </a:rPr>
                        <a:t>Model request</a:t>
                      </a:r>
                    </a:p>
                  </a:txBody>
                  <a:tcPr marL="91440" marR="91440" marT="45720" marB="45720" anchor="ctr">
                    <a:lnR w="0">
                      <a:solidFill>
                        <a:srgbClr val="FEF7FF"/>
                      </a:solidFill>
                      <a:prstDash val="solid"/>
                    </a:lnR>
                    <a:lnB w="0">
                      <a:solidFill>
                        <a:srgbClr val="FEF7FF"/>
                      </a:solidFill>
                      <a:prstDash val="solid"/>
                    </a:lnB>
                    <a:solidFill>
                      <a:srgbClr val="F9F5FB"/>
                    </a:solidFill>
                  </a:tcPr>
                </a:tc>
              </a:tr>
              <a:tr h="666750">
                <a:tc>
                  <a:txBody>
                    <a:bodyPr wrap="square" lIns="190500" tIns="114300" rIns="152400" bIns="95250"/>
                    <a:lstStyle/>
                    <a:p>
                      <a:r>
                        <a:rPr sz="1875" b="1">
                          <a:solidFill>
                            <a:srgbClr val="1D1B20"/>
                          </a:solidFill>
                          <a:latin typeface="Roboto"/>
                          <a:ea typeface="Roboto"/>
                          <a:cs typeface="Roboto"/>
                        </a:rPr>
                        <a:t>Nosana</a:t>
                      </a:r>
                    </a:p>
                  </a:txBody>
                  <a:tcPr marL="91440" marR="91440" marT="45720" marB="45720" anchor="ctr">
                    <a:lnL w="0">
                      <a:solidFill>
                        <a:srgbClr val="FEF7FF"/>
                      </a:solidFill>
                      <a:prstDash val="solid"/>
                    </a:lnL>
                    <a:lnR w="0">
                      <a:solidFill>
                        <a:srgbClr val="FEF7FF"/>
                      </a:solidFill>
                      <a:prstDash val="solid"/>
                    </a:lnR>
                    <a:lnB w="0">
                      <a:solidFill>
                        <a:srgbClr val="FEF7FF"/>
                      </a:solidFill>
                      <a:prstDash val="solid"/>
                    </a:lnB>
                    <a:solidFill>
                      <a:srgbClr val="F3EDF7"/>
                    </a:solidFill>
                  </a:tcPr>
                </a:tc>
                <a:tc>
                  <a:txBody>
                    <a:bodyPr wrap="square" lIns="190500" tIns="114300" rIns="152400" bIns="95250"/>
                    <a:lstStyle/>
                    <a:p>
                      <a:r>
                        <a:rPr sz="1875" b="0">
                          <a:solidFill>
                            <a:srgbClr val="1D1B20"/>
                          </a:solidFill>
                          <a:latin typeface="Roboto"/>
                          <a:ea typeface="Roboto"/>
                          <a:cs typeface="Roboto"/>
                        </a:rPr>
                        <a:t>Decentralized GPU compute</a:t>
                      </a:r>
                    </a:p>
                  </a:txBody>
                  <a:tcPr marL="91440" marR="91440" marT="45720" marB="45720" anchor="ctr">
                    <a:lnR w="0">
                      <a:solidFill>
                        <a:srgbClr val="FEF7FF"/>
                      </a:solidFill>
                      <a:prstDash val="solid"/>
                    </a:lnR>
                    <a:lnB w="0">
                      <a:solidFill>
                        <a:srgbClr val="FEF7FF"/>
                      </a:solidFill>
                      <a:prstDash val="solid"/>
                    </a:lnB>
                    <a:solidFill>
                      <a:srgbClr val="F3EDF7"/>
                    </a:solidFill>
                  </a:tcPr>
                </a:tc>
                <a:tc>
                  <a:txBody>
                    <a:bodyPr wrap="square" lIns="190500" tIns="114300" rIns="152400" bIns="95250"/>
                    <a:lstStyle/>
                    <a:p>
                      <a:r>
                        <a:rPr sz="1875" b="0">
                          <a:solidFill>
                            <a:srgbClr val="1D1B20"/>
                          </a:solidFill>
                          <a:latin typeface="Roboto"/>
                          <a:ea typeface="Roboto"/>
                          <a:cs typeface="Roboto"/>
                        </a:rPr>
                        <a:t>Container job</a:t>
                      </a:r>
                    </a:p>
                  </a:txBody>
                  <a:tcPr marL="91440" marR="91440" marT="45720" marB="45720" anchor="ctr">
                    <a:lnR w="0">
                      <a:solidFill>
                        <a:srgbClr val="FEF7FF"/>
                      </a:solidFill>
                      <a:prstDash val="solid"/>
                    </a:lnR>
                    <a:lnB w="0">
                      <a:solidFill>
                        <a:srgbClr val="FEF7FF"/>
                      </a:solidFill>
                      <a:prstDash val="solid"/>
                    </a:lnB>
                    <a:solidFill>
                      <a:srgbClr val="F3EDF7"/>
                    </a:solidFill>
                  </a:tcPr>
                </a:tc>
              </a:tr>
              <a:tr h="666750">
                <a:tc>
                  <a:txBody>
                    <a:bodyPr wrap="square" lIns="190500" tIns="114300" rIns="152400" bIns="95250"/>
                    <a:lstStyle/>
                    <a:p>
                      <a:r>
                        <a:rPr sz="1875" b="1">
                          <a:solidFill>
                            <a:srgbClr val="1D1B20"/>
                          </a:solidFill>
                          <a:latin typeface="Roboto"/>
                          <a:ea typeface="Roboto"/>
                          <a:cs typeface="Roboto"/>
                        </a:rPr>
                        <a:t>x402</a:t>
                      </a:r>
                    </a:p>
                  </a:txBody>
                  <a:tcPr marL="91440" marR="91440" marT="45720" marB="45720" anchor="ctr">
                    <a:lnL w="0">
                      <a:solidFill>
                        <a:srgbClr val="FEF7FF"/>
                      </a:solidFill>
                      <a:prstDash val="solid"/>
                    </a:lnL>
                    <a:lnR w="0">
                      <a:solidFill>
                        <a:srgbClr val="FEF7FF"/>
                      </a:solidFill>
                      <a:prstDash val="solid"/>
                    </a:lnR>
                    <a:lnB w="0">
                      <a:solidFill>
                        <a:srgbClr val="FEF7FF"/>
                      </a:solidFill>
                      <a:prstDash val="solid"/>
                    </a:lnB>
                    <a:solidFill>
                      <a:srgbClr val="F9F5FB"/>
                    </a:solidFill>
                  </a:tcPr>
                </a:tc>
                <a:tc>
                  <a:txBody>
                    <a:bodyPr wrap="square" lIns="190500" tIns="114300" rIns="152400" bIns="95250"/>
                    <a:lstStyle/>
                    <a:p>
                      <a:r>
                        <a:rPr sz="1875" b="0">
                          <a:solidFill>
                            <a:srgbClr val="1D1B20"/>
                          </a:solidFill>
                          <a:latin typeface="Roboto"/>
                          <a:ea typeface="Roboto"/>
                          <a:cs typeface="Roboto"/>
                        </a:rPr>
                        <a:t>HTTP payment standard</a:t>
                      </a:r>
                    </a:p>
                  </a:txBody>
                  <a:tcPr marL="91440" marR="91440" marT="45720" marB="45720" anchor="ctr">
                    <a:lnR w="0">
                      <a:solidFill>
                        <a:srgbClr val="FEF7FF"/>
                      </a:solidFill>
                      <a:prstDash val="solid"/>
                    </a:lnR>
                    <a:lnB w="0">
                      <a:solidFill>
                        <a:srgbClr val="FEF7FF"/>
                      </a:solidFill>
                      <a:prstDash val="solid"/>
                    </a:lnB>
                    <a:solidFill>
                      <a:srgbClr val="F9F5FB"/>
                    </a:solidFill>
                  </a:tcPr>
                </a:tc>
                <a:tc>
                  <a:txBody>
                    <a:bodyPr wrap="square" lIns="190500" tIns="114300" rIns="152400" bIns="95250"/>
                    <a:lstStyle/>
                    <a:p>
                      <a:r>
                        <a:rPr sz="1875" b="0">
                          <a:solidFill>
                            <a:srgbClr val="1D1B20"/>
                          </a:solidFill>
                          <a:latin typeface="Roboto"/>
                          <a:ea typeface="Roboto"/>
                          <a:cs typeface="Roboto"/>
                        </a:rPr>
                        <a:t>Paid API request</a:t>
                      </a:r>
                    </a:p>
                  </a:txBody>
                  <a:tcPr marL="91440" marR="91440" marT="45720" marB="45720" anchor="ctr">
                    <a:lnR w="0">
                      <a:solidFill>
                        <a:srgbClr val="FEF7FF"/>
                      </a:solidFill>
                      <a:prstDash val="solid"/>
                    </a:lnR>
                    <a:lnB w="0">
                      <a:solidFill>
                        <a:srgbClr val="FEF7FF"/>
                      </a:solidFill>
                      <a:prstDash val="solid"/>
                    </a:lnB>
                    <a:solidFill>
                      <a:srgbClr val="F9F5FB"/>
                    </a:solidFill>
                  </a:tcPr>
                </a:tc>
              </a:tr>
              <a:tr h="666750">
                <a:tc>
                  <a:txBody>
                    <a:bodyPr wrap="square" lIns="190500" tIns="114300" rIns="152400" bIns="95250"/>
                    <a:lstStyle/>
                    <a:p>
                      <a:r>
                        <a:rPr sz="1875" b="1">
                          <a:solidFill>
                            <a:srgbClr val="FFFFFF"/>
                          </a:solidFill>
                          <a:latin typeface="Roboto"/>
                          <a:ea typeface="Roboto"/>
                          <a:cs typeface="Roboto"/>
                        </a:rPr>
                        <a:t>Aperture</a:t>
                      </a:r>
                    </a:p>
                  </a:txBody>
                  <a:tcPr marL="91440" marR="91440" marT="45720" marB="45720" anchor="ctr">
                    <a:lnL w="0">
                      <a:solidFill>
                        <a:srgbClr val="FEF7FF"/>
                      </a:solidFill>
                      <a:prstDash val="solid"/>
                    </a:lnL>
                    <a:lnR w="0">
                      <a:solidFill>
                        <a:srgbClr val="FEF7FF"/>
                      </a:solidFill>
                      <a:prstDash val="solid"/>
                    </a:lnR>
                    <a:lnB w="0">
                      <a:solidFill>
                        <a:srgbClr val="FEF7FF"/>
                      </a:solidFill>
                      <a:prstDash val="solid"/>
                    </a:lnB>
                    <a:solidFill>
                      <a:srgbClr val="21005D"/>
                    </a:solidFill>
                  </a:tcPr>
                </a:tc>
                <a:tc>
                  <a:txBody>
                    <a:bodyPr wrap="square" lIns="190500" tIns="114300" rIns="152400" bIns="95250"/>
                    <a:lstStyle/>
                    <a:p>
                      <a:r>
                        <a:rPr sz="1875" b="1">
                          <a:solidFill>
                            <a:srgbClr val="FFFFFF"/>
                          </a:solidFill>
                          <a:latin typeface="Roboto"/>
                          <a:ea typeface="Roboto"/>
                          <a:cs typeface="Roboto"/>
                        </a:rPr>
                        <a:t>AI + compute with task controls</a:t>
                      </a:r>
                    </a:p>
                  </a:txBody>
                  <a:tcPr marL="91440" marR="91440" marT="45720" marB="45720" anchor="ctr">
                    <a:lnR w="0">
                      <a:solidFill>
                        <a:srgbClr val="FEF7FF"/>
                      </a:solidFill>
                      <a:prstDash val="solid"/>
                    </a:lnR>
                    <a:lnB w="0">
                      <a:solidFill>
                        <a:srgbClr val="FEF7FF"/>
                      </a:solidFill>
                      <a:prstDash val="solid"/>
                    </a:lnB>
                    <a:solidFill>
                      <a:srgbClr val="21005D"/>
                    </a:solidFill>
                  </a:tcPr>
                </a:tc>
                <a:tc>
                  <a:txBody>
                    <a:bodyPr wrap="square" lIns="190500" tIns="114300" rIns="152400" bIns="95250"/>
                    <a:lstStyle/>
                    <a:p>
                      <a:r>
                        <a:rPr sz="1875" b="1">
                          <a:solidFill>
                            <a:srgbClr val="FFFFFF"/>
                          </a:solidFill>
                          <a:latin typeface="Roboto"/>
                          <a:ea typeface="Roboto"/>
                          <a:cs typeface="Roboto"/>
                        </a:rPr>
                        <a:t>Approved workflow</a:t>
                      </a:r>
                    </a:p>
                  </a:txBody>
                  <a:tcPr marL="91440" marR="91440" marT="45720" marB="45720" anchor="ctr">
                    <a:lnR w="0">
                      <a:solidFill>
                        <a:srgbClr val="FEF7FF"/>
                      </a:solidFill>
                      <a:prstDash val="solid"/>
                    </a:lnR>
                    <a:lnB w="0">
                      <a:solidFill>
                        <a:srgbClr val="FEF7FF"/>
                      </a:solidFill>
                      <a:prstDash val="solid"/>
                    </a:lnB>
                    <a:solidFill>
                      <a:srgbClr val="21005D"/>
                    </a:solidFill>
                  </a:tcPr>
                </a:tc>
              </a:tr>
            </a:tbl>
          </a:graphicData>
        </a:graphic>
      </p:graphicFrame>
      <p:sp>
        <p:nvSpPr>
          <p:cNvPr id="5" name="Approval → recovery → signed output evidence">
            <a:extLst xmlns:a="http://schemas.openxmlformats.org/drawingml/2006/main">
              <a:ext uri="{FF2B5EF4-FFF2-40B4-BE49-F238E27FC236}">
                <a16:creationId xmlns:a16="http://schemas.microsoft.com/office/drawing/2014/main" id="{471A6901-2DEF-476B-A283-FA69CCDE981E}"/>
              </a:ext>
            </a:extLst>
          </p:cNvPr>
          <p:cNvSpPr>
            <a:spLocks xmlns:a="http://schemas.openxmlformats.org/drawingml/2006/main" noGrp="1"/>
          </p:cNvSpPr>
          <p:nvPr/>
        </p:nvSpPr>
        <p:spPr>
          <a:xfrm xmlns:a="http://schemas.openxmlformats.org/drawingml/2006/main">
            <a:off x="609600" y="57054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6B5F"/>
                </a:solidFill>
                <a:latin typeface="Roboto"/>
                <a:ea typeface="Roboto"/>
                <a:cs typeface="Roboto"/>
              </a:defRPr>
            </a:defPPr>
            <a:lvl1pPr algn="l">
              <a:defRPr sz="2400" b="1">
                <a:solidFill>
                  <a:srgbClr val="006B5F"/>
                </a:solidFill>
                <a:latin typeface="Roboto"/>
                <a:ea typeface="Roboto"/>
                <a:cs typeface="Roboto"/>
              </a:defRPr>
            </a:lvl1pPr>
            <a:lvl2pPr algn="l">
              <a:defRPr sz="2400" b="1">
                <a:solidFill>
                  <a:srgbClr val="006B5F"/>
                </a:solidFill>
                <a:latin typeface="Roboto"/>
                <a:ea typeface="Roboto"/>
                <a:cs typeface="Roboto"/>
              </a:defRPr>
            </a:lvl2pPr>
            <a:lvl3pPr algn="l">
              <a:defRPr sz="2400" b="1">
                <a:solidFill>
                  <a:srgbClr val="006B5F"/>
                </a:solidFill>
                <a:latin typeface="Roboto"/>
                <a:ea typeface="Roboto"/>
                <a:cs typeface="Roboto"/>
              </a:defRPr>
            </a:lvl3pPr>
            <a:lvl4pPr algn="l">
              <a:defRPr sz="2400" b="1">
                <a:solidFill>
                  <a:srgbClr val="006B5F"/>
                </a:solidFill>
                <a:latin typeface="Roboto"/>
                <a:ea typeface="Roboto"/>
                <a:cs typeface="Roboto"/>
              </a:defRPr>
            </a:lvl4pPr>
            <a:lvl5pPr algn="l">
              <a:defRPr sz="2400" b="1">
                <a:solidFill>
                  <a:srgbClr val="006B5F"/>
                </a:solidFill>
                <a:latin typeface="Roboto"/>
                <a:ea typeface="Roboto"/>
                <a:cs typeface="Roboto"/>
              </a:defRPr>
            </a:lvl5pPr>
            <a:lvl6pPr algn="l">
              <a:defRPr sz="2400" b="1">
                <a:solidFill>
                  <a:srgbClr val="006B5F"/>
                </a:solidFill>
                <a:latin typeface="Roboto"/>
                <a:ea typeface="Roboto"/>
                <a:cs typeface="Roboto"/>
              </a:defRPr>
            </a:lvl6pPr>
            <a:lvl7pPr algn="l">
              <a:defRPr sz="2400" b="1">
                <a:solidFill>
                  <a:srgbClr val="006B5F"/>
                </a:solidFill>
                <a:latin typeface="Roboto"/>
                <a:ea typeface="Roboto"/>
                <a:cs typeface="Roboto"/>
              </a:defRPr>
            </a:lvl7pPr>
            <a:lvl8pPr algn="l">
              <a:defRPr sz="2400" b="1">
                <a:solidFill>
                  <a:srgbClr val="006B5F"/>
                </a:solidFill>
                <a:latin typeface="Roboto"/>
                <a:ea typeface="Roboto"/>
                <a:cs typeface="Roboto"/>
              </a:defRPr>
            </a:lvl8pPr>
            <a:lvl9pPr algn="l">
              <a:defRPr sz="2400" b="1">
                <a:solidFill>
                  <a:srgbClr val="006B5F"/>
                </a:solidFill>
                <a:latin typeface="Roboto"/>
                <a:ea typeface="Roboto"/>
                <a:cs typeface="Roboto"/>
              </a:defRPr>
            </a:lvl9pPr>
          </a:lstStyle>
          <a:p xmlns:a="http://schemas.openxmlformats.org/drawingml/2006/main">
            <a:pPr algn="l">
              <a:defRPr sz="2400" b="1">
                <a:solidFill>
                  <a:srgbClr val="006B5F"/>
                </a:solidFill>
                <a:latin typeface="Roboto"/>
                <a:ea typeface="Roboto"/>
                <a:cs typeface="Roboto"/>
              </a:defRPr>
            </a:pPr>
            <a:r>
              <a:rPr sz="2400" b="1">
                <a:solidFill>
                  <a:srgbClr val="006B5F"/>
                </a:solidFill>
                <a:latin typeface="Roboto"/>
                <a:ea typeface="Roboto"/>
                <a:cs typeface="Roboto"/>
              </a:rPr>
              <a:t>Approval → recovery → signed output evidence</a:t>
            </a:r>
          </a:p>
        </p:txBody>
      </p:sp>
      <p:sp>
        <p:nvSpPr>
          <p:cNvPr id="6" name="Official documentation · checked 24 Oct 2026">
            <a:extLst xmlns:a="http://schemas.openxmlformats.org/drawingml/2006/main">
              <a:ext uri="{FF2B5EF4-FFF2-40B4-BE49-F238E27FC236}">
                <a16:creationId xmlns:a16="http://schemas.microsoft.com/office/drawing/2014/main" id="{FE85B3DD-58CB-4911-B26A-65C72207550D}"/>
              </a:ext>
            </a:extLst>
          </p:cNvPr>
          <p:cNvSpPr>
            <a:spLocks xmlns:a="http://schemas.openxmlformats.org/drawingml/2006/main" noGrp="1"/>
          </p:cNvSpPr>
          <p:nvPr/>
        </p:nvSpPr>
        <p:spPr>
          <a:xfrm xmlns:a="http://schemas.openxmlformats.org/drawingml/2006/main">
            <a:off x="609600" y="63436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49454F"/>
                </a:solidFill>
                <a:latin typeface="Roboto"/>
                <a:ea typeface="Roboto"/>
                <a:cs typeface="Roboto"/>
              </a:defRPr>
            </a:defPPr>
            <a:lvl1pPr algn="l">
              <a:defRPr sz="1350" b="0">
                <a:solidFill>
                  <a:srgbClr val="49454F"/>
                </a:solidFill>
                <a:latin typeface="Roboto"/>
                <a:ea typeface="Roboto"/>
                <a:cs typeface="Roboto"/>
              </a:defRPr>
            </a:lvl1pPr>
            <a:lvl2pPr algn="l">
              <a:defRPr sz="1350" b="0">
                <a:solidFill>
                  <a:srgbClr val="49454F"/>
                </a:solidFill>
                <a:latin typeface="Roboto"/>
                <a:ea typeface="Roboto"/>
                <a:cs typeface="Roboto"/>
              </a:defRPr>
            </a:lvl2pPr>
            <a:lvl3pPr algn="l">
              <a:defRPr sz="1350" b="0">
                <a:solidFill>
                  <a:srgbClr val="49454F"/>
                </a:solidFill>
                <a:latin typeface="Roboto"/>
                <a:ea typeface="Roboto"/>
                <a:cs typeface="Roboto"/>
              </a:defRPr>
            </a:lvl3pPr>
            <a:lvl4pPr algn="l">
              <a:defRPr sz="1350" b="0">
                <a:solidFill>
                  <a:srgbClr val="49454F"/>
                </a:solidFill>
                <a:latin typeface="Roboto"/>
                <a:ea typeface="Roboto"/>
                <a:cs typeface="Roboto"/>
              </a:defRPr>
            </a:lvl4pPr>
            <a:lvl5pPr algn="l">
              <a:defRPr sz="1350" b="0">
                <a:solidFill>
                  <a:srgbClr val="49454F"/>
                </a:solidFill>
                <a:latin typeface="Roboto"/>
                <a:ea typeface="Roboto"/>
                <a:cs typeface="Roboto"/>
              </a:defRPr>
            </a:lvl5pPr>
            <a:lvl6pPr algn="l">
              <a:defRPr sz="1350" b="0">
                <a:solidFill>
                  <a:srgbClr val="49454F"/>
                </a:solidFill>
                <a:latin typeface="Roboto"/>
                <a:ea typeface="Roboto"/>
                <a:cs typeface="Roboto"/>
              </a:defRPr>
            </a:lvl6pPr>
            <a:lvl7pPr algn="l">
              <a:defRPr sz="1350" b="0">
                <a:solidFill>
                  <a:srgbClr val="49454F"/>
                </a:solidFill>
                <a:latin typeface="Roboto"/>
                <a:ea typeface="Roboto"/>
                <a:cs typeface="Roboto"/>
              </a:defRPr>
            </a:lvl7pPr>
            <a:lvl8pPr algn="l">
              <a:defRPr sz="1350" b="0">
                <a:solidFill>
                  <a:srgbClr val="49454F"/>
                </a:solidFill>
                <a:latin typeface="Roboto"/>
                <a:ea typeface="Roboto"/>
                <a:cs typeface="Roboto"/>
              </a:defRPr>
            </a:lvl8pPr>
            <a:lvl9pPr algn="l">
              <a:defRPr sz="1350" b="0">
                <a:solidFill>
                  <a:srgbClr val="49454F"/>
                </a:solidFill>
                <a:latin typeface="Roboto"/>
                <a:ea typeface="Roboto"/>
                <a:cs typeface="Roboto"/>
              </a:defRPr>
            </a:lvl9pPr>
          </a:lstStyle>
          <a:p xmlns:a="http://schemas.openxmlformats.org/drawingml/2006/main">
            <a:pPr algn="l">
              <a:defRPr sz="1350" b="0">
                <a:solidFill>
                  <a:srgbClr val="49454F"/>
                </a:solidFill>
                <a:latin typeface="Roboto"/>
                <a:ea typeface="Roboto"/>
                <a:cs typeface="Roboto"/>
              </a:defRPr>
            </a:pPr>
            <a:r>
              <a:rPr sz="1350" b="0">
                <a:solidFill>
                  <a:srgbClr val="49454F"/>
                </a:solidFill>
                <a:latin typeface="Roboto"/>
                <a:ea typeface="Roboto"/>
                <a:cs typeface="Roboto"/>
              </a:rPr>
              <a:t>Official documentation · checked 24 Oct 2026</a:t>
            </a:r>
          </a:p>
        </p:txBody>
      </p:sp>
    </p:spTree>
    <p:extLst>
      <p:ext uri="{BB962C8B-B14F-4D97-AF65-F5344CB8AC3E}">
        <p14:creationId xmlns:p14="http://schemas.microsoft.com/office/powerpoint/2010/main" val="706396617"/>
      </p:ext>
    </p:extLst>
  </p:cSld>
</p:sld>
</file>

<file path=ppt/slides/slide5.xml><?xml version="1.0" encoding="utf-8"?>
<p:sld xmlns:p="http://schemas.openxmlformats.org/presentationml/2006/main">
  <p:cSld>
    <p:bg>
      <p:bgPr>
        <a:solidFill xmlns:a="http://schemas.openxmlformats.org/drawingml/2006/main">
          <a:srgbClr val="F7F2FA"/>
        </a:solidFill>
      </p:bgPr>
    </p:bg>
    <p:spTree>
      <p:nvGrpSpPr>
        <p:cNvPr id="1" name=""/>
        <p:cNvGrpSpPr/>
        <p:nvPr/>
      </p:nvGrpSpPr>
      <p:grpSpPr>
        <a:xfrm xmlns:a="http://schemas.openxmlformats.org/drawingml/2006/main"/>
      </p:grpSpPr>
      <p:sp>
        <p:nvSpPr>
          <p:cNvPr id="2" name="Teams pay for managed Aperture">
            <a:extLst xmlns:a="http://schemas.openxmlformats.org/drawingml/2006/main">
              <a:ext uri="{FF2B5EF4-FFF2-40B4-BE49-F238E27FC236}">
                <a16:creationId xmlns:a16="http://schemas.microsoft.com/office/drawing/2014/main" id="{1C68314A-BC05-4915-A520-B65B69E8383C}"/>
              </a:ext>
            </a:extLst>
          </p:cNvPr>
          <p:cNvSpPr>
            <a:spLocks xmlns:a="http://schemas.openxmlformats.org/drawingml/2006/main" noGrp="1"/>
          </p:cNvSpPr>
          <p:nvPr/>
        </p:nvSpPr>
        <p:spPr>
          <a:xfrm xmlns:a="http://schemas.openxmlformats.org/drawingml/2006/main">
            <a:off x="609600" y="5524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21005D"/>
                </a:solidFill>
                <a:latin typeface="Roboto"/>
                <a:ea typeface="Roboto"/>
                <a:cs typeface="Roboto"/>
              </a:defRPr>
            </a:defPPr>
            <a:lvl1pPr algn="l">
              <a:defRPr sz="3975" b="1">
                <a:solidFill>
                  <a:srgbClr val="21005D"/>
                </a:solidFill>
                <a:latin typeface="Roboto"/>
                <a:ea typeface="Roboto"/>
                <a:cs typeface="Roboto"/>
              </a:defRPr>
            </a:lvl1pPr>
            <a:lvl2pPr algn="l">
              <a:defRPr sz="3975" b="1">
                <a:solidFill>
                  <a:srgbClr val="21005D"/>
                </a:solidFill>
                <a:latin typeface="Roboto"/>
                <a:ea typeface="Roboto"/>
                <a:cs typeface="Roboto"/>
              </a:defRPr>
            </a:lvl2pPr>
            <a:lvl3pPr algn="l">
              <a:defRPr sz="3975" b="1">
                <a:solidFill>
                  <a:srgbClr val="21005D"/>
                </a:solidFill>
                <a:latin typeface="Roboto"/>
                <a:ea typeface="Roboto"/>
                <a:cs typeface="Roboto"/>
              </a:defRPr>
            </a:lvl3pPr>
            <a:lvl4pPr algn="l">
              <a:defRPr sz="3975" b="1">
                <a:solidFill>
                  <a:srgbClr val="21005D"/>
                </a:solidFill>
                <a:latin typeface="Roboto"/>
                <a:ea typeface="Roboto"/>
                <a:cs typeface="Roboto"/>
              </a:defRPr>
            </a:lvl4pPr>
            <a:lvl5pPr algn="l">
              <a:defRPr sz="3975" b="1">
                <a:solidFill>
                  <a:srgbClr val="21005D"/>
                </a:solidFill>
                <a:latin typeface="Roboto"/>
                <a:ea typeface="Roboto"/>
                <a:cs typeface="Roboto"/>
              </a:defRPr>
            </a:lvl5pPr>
            <a:lvl6pPr algn="l">
              <a:defRPr sz="3975" b="1">
                <a:solidFill>
                  <a:srgbClr val="21005D"/>
                </a:solidFill>
                <a:latin typeface="Roboto"/>
                <a:ea typeface="Roboto"/>
                <a:cs typeface="Roboto"/>
              </a:defRPr>
            </a:lvl6pPr>
            <a:lvl7pPr algn="l">
              <a:defRPr sz="3975" b="1">
                <a:solidFill>
                  <a:srgbClr val="21005D"/>
                </a:solidFill>
                <a:latin typeface="Roboto"/>
                <a:ea typeface="Roboto"/>
                <a:cs typeface="Roboto"/>
              </a:defRPr>
            </a:lvl7pPr>
            <a:lvl8pPr algn="l">
              <a:defRPr sz="3975" b="1">
                <a:solidFill>
                  <a:srgbClr val="21005D"/>
                </a:solidFill>
                <a:latin typeface="Roboto"/>
                <a:ea typeface="Roboto"/>
                <a:cs typeface="Roboto"/>
              </a:defRPr>
            </a:lvl8pPr>
            <a:lvl9pPr algn="l">
              <a:defRPr sz="3975" b="1">
                <a:solidFill>
                  <a:srgbClr val="21005D"/>
                </a:solidFill>
                <a:latin typeface="Roboto"/>
                <a:ea typeface="Roboto"/>
                <a:cs typeface="Roboto"/>
              </a:defRPr>
            </a:lvl9pPr>
          </a:lstStyle>
          <a:p xmlns:a="http://schemas.openxmlformats.org/drawingml/2006/main">
            <a:pPr algn="l">
              <a:defRPr sz="3975" b="1">
                <a:solidFill>
                  <a:srgbClr val="21005D"/>
                </a:solidFill>
                <a:latin typeface="Roboto"/>
                <a:ea typeface="Roboto"/>
                <a:cs typeface="Roboto"/>
              </a:defRPr>
            </a:pPr>
            <a:r>
              <a:rPr sz="3975" b="1">
                <a:solidFill>
                  <a:srgbClr val="21005D"/>
                </a:solidFill>
                <a:latin typeface="Roboto"/>
                <a:ea typeface="Roboto"/>
                <a:cs typeface="Roboto"/>
              </a:rPr>
              <a:t>Teams pay for managed Aperture</a:t>
            </a:r>
          </a:p>
        </p:txBody>
      </p:sp>
      <p:sp>
        <p:nvSpPr>
          <p:cNvPr id="3" name="Proposed business model">
            <a:extLst xmlns:a="http://schemas.openxmlformats.org/drawingml/2006/main">
              <a:ext uri="{FF2B5EF4-FFF2-40B4-BE49-F238E27FC236}">
                <a16:creationId xmlns:a16="http://schemas.microsoft.com/office/drawing/2014/main" id="{32E21F42-1E2A-423A-B3AF-F1DE407EB0D4}"/>
              </a:ext>
            </a:extLst>
          </p:cNvPr>
          <p:cNvSpPr>
            <a:spLocks xmlns:a="http://schemas.openxmlformats.org/drawingml/2006/main" noGrp="1"/>
          </p:cNvSpPr>
          <p:nvPr/>
        </p:nvSpPr>
        <p:spPr>
          <a:xfrm xmlns:a="http://schemas.openxmlformats.org/drawingml/2006/main">
            <a:off x="609600" y="1409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9454F"/>
                </a:solidFill>
                <a:latin typeface="Roboto"/>
                <a:ea typeface="Roboto"/>
                <a:cs typeface="Roboto"/>
              </a:defRPr>
            </a:defPPr>
            <a:lvl1pPr algn="l">
              <a:defRPr sz="2100" b="0">
                <a:solidFill>
                  <a:srgbClr val="49454F"/>
                </a:solidFill>
                <a:latin typeface="Roboto"/>
                <a:ea typeface="Roboto"/>
                <a:cs typeface="Roboto"/>
              </a:defRPr>
            </a:lvl1pPr>
            <a:lvl2pPr algn="l">
              <a:defRPr sz="2100" b="0">
                <a:solidFill>
                  <a:srgbClr val="49454F"/>
                </a:solidFill>
                <a:latin typeface="Roboto"/>
                <a:ea typeface="Roboto"/>
                <a:cs typeface="Roboto"/>
              </a:defRPr>
            </a:lvl2pPr>
            <a:lvl3pPr algn="l">
              <a:defRPr sz="2100" b="0">
                <a:solidFill>
                  <a:srgbClr val="49454F"/>
                </a:solidFill>
                <a:latin typeface="Roboto"/>
                <a:ea typeface="Roboto"/>
                <a:cs typeface="Roboto"/>
              </a:defRPr>
            </a:lvl3pPr>
            <a:lvl4pPr algn="l">
              <a:defRPr sz="2100" b="0">
                <a:solidFill>
                  <a:srgbClr val="49454F"/>
                </a:solidFill>
                <a:latin typeface="Roboto"/>
                <a:ea typeface="Roboto"/>
                <a:cs typeface="Roboto"/>
              </a:defRPr>
            </a:lvl4pPr>
            <a:lvl5pPr algn="l">
              <a:defRPr sz="2100" b="0">
                <a:solidFill>
                  <a:srgbClr val="49454F"/>
                </a:solidFill>
                <a:latin typeface="Roboto"/>
                <a:ea typeface="Roboto"/>
                <a:cs typeface="Roboto"/>
              </a:defRPr>
            </a:lvl5pPr>
            <a:lvl6pPr algn="l">
              <a:defRPr sz="2100" b="0">
                <a:solidFill>
                  <a:srgbClr val="49454F"/>
                </a:solidFill>
                <a:latin typeface="Roboto"/>
                <a:ea typeface="Roboto"/>
                <a:cs typeface="Roboto"/>
              </a:defRPr>
            </a:lvl6pPr>
            <a:lvl7pPr algn="l">
              <a:defRPr sz="2100" b="0">
                <a:solidFill>
                  <a:srgbClr val="49454F"/>
                </a:solidFill>
                <a:latin typeface="Roboto"/>
                <a:ea typeface="Roboto"/>
                <a:cs typeface="Roboto"/>
              </a:defRPr>
            </a:lvl7pPr>
            <a:lvl8pPr algn="l">
              <a:defRPr sz="2100" b="0">
                <a:solidFill>
                  <a:srgbClr val="49454F"/>
                </a:solidFill>
                <a:latin typeface="Roboto"/>
                <a:ea typeface="Roboto"/>
                <a:cs typeface="Roboto"/>
              </a:defRPr>
            </a:lvl8pPr>
            <a:lvl9pPr algn="l">
              <a:defRPr sz="2100" b="0">
                <a:solidFill>
                  <a:srgbClr val="49454F"/>
                </a:solidFill>
                <a:latin typeface="Roboto"/>
                <a:ea typeface="Roboto"/>
                <a:cs typeface="Roboto"/>
              </a:defRPr>
            </a:lvl9pPr>
          </a:lstStyle>
          <a:p xmlns:a="http://schemas.openxmlformats.org/drawingml/2006/main">
            <a:pPr algn="l">
              <a:defRPr sz="2100" b="0">
                <a:solidFill>
                  <a:srgbClr val="49454F"/>
                </a:solidFill>
                <a:latin typeface="Roboto"/>
                <a:ea typeface="Roboto"/>
                <a:cs typeface="Roboto"/>
              </a:defRPr>
            </a:pPr>
            <a:r>
              <a:rPr sz="2100" b="0">
                <a:solidFill>
                  <a:srgbClr val="49454F"/>
                </a:solidFill>
                <a:latin typeface="Roboto"/>
                <a:ea typeface="Roboto"/>
                <a:cs typeface="Roboto"/>
              </a:rPr>
              <a:t>Proposed business model</a:t>
            </a:r>
          </a:p>
        </p:txBody>
      </p:sp>
      <p:sp>
        <p:nvSpPr>
          <p:cNvPr id="4" name="">
            <a:extLst xmlns:a="http://schemas.openxmlformats.org/drawingml/2006/main">
              <a:ext uri="{FF2B5EF4-FFF2-40B4-BE49-F238E27FC236}">
                <a16:creationId xmlns:a16="http://schemas.microsoft.com/office/drawing/2014/main" id="{9A0B8BB7-E02D-4C9A-BA78-DA3D957606BB}"/>
              </a:ext>
            </a:extLst>
          </p:cNvPr>
          <p:cNvSpPr>
            <a:spLocks xmlns:a="http://schemas.openxmlformats.org/drawingml/2006/main" noGrp="1"/>
          </p:cNvSpPr>
          <p:nvPr/>
        </p:nvSpPr>
        <p:spPr>
          <a:xfrm xmlns:a="http://schemas.openxmlformats.org/drawingml/2006/main">
            <a:off x="609600" y="2209800"/>
            <a:ext cx="10972800" cy="1476375"/>
          </a:xfrm>
          <a:prstGeom xmlns:a="http://schemas.openxmlformats.org/drawingml/2006/main" prst="roundRect">
            <a:avLst>
              <a:gd name="adj" fmla="val 25806"/>
            </a:avLst>
          </a:prstGeom>
          <a:solidFill xmlns:a="http://schemas.openxmlformats.org/drawingml/2006/main">
            <a:srgbClr val="EADDFF"/>
          </a:solidFill>
          <a:ln xmlns:a="http://schemas.openxmlformats.org/drawingml/2006/main" w="0">
            <a:noFill/>
          </a:ln>
        </p:spPr>
      </p:sp>
      <p:sp>
        <p:nvSpPr>
          <p:cNvPr id="5" name="Hosted subscription">
            <a:extLst xmlns:a="http://schemas.openxmlformats.org/drawingml/2006/main">
              <a:ext uri="{FF2B5EF4-FFF2-40B4-BE49-F238E27FC236}">
                <a16:creationId xmlns:a16="http://schemas.microsoft.com/office/drawing/2014/main" id="{4EC0AE07-E013-4F8C-A012-F878893E0A84}"/>
              </a:ext>
            </a:extLst>
          </p:cNvPr>
          <p:cNvSpPr>
            <a:spLocks xmlns:a="http://schemas.openxmlformats.org/drawingml/2006/main" noGrp="1"/>
          </p:cNvSpPr>
          <p:nvPr/>
        </p:nvSpPr>
        <p:spPr>
          <a:xfrm xmlns:a="http://schemas.openxmlformats.org/drawingml/2006/main">
            <a:off x="895350" y="2457450"/>
            <a:ext cx="542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1005D"/>
                </a:solidFill>
                <a:latin typeface="Roboto"/>
                <a:ea typeface="Roboto"/>
                <a:cs typeface="Roboto"/>
              </a:defRPr>
            </a:defPPr>
            <a:lvl1pPr algn="l">
              <a:defRPr sz="2700" b="1">
                <a:solidFill>
                  <a:srgbClr val="21005D"/>
                </a:solidFill>
                <a:latin typeface="Roboto"/>
                <a:ea typeface="Roboto"/>
                <a:cs typeface="Roboto"/>
              </a:defRPr>
            </a:lvl1pPr>
            <a:lvl2pPr algn="l">
              <a:defRPr sz="2700" b="1">
                <a:solidFill>
                  <a:srgbClr val="21005D"/>
                </a:solidFill>
                <a:latin typeface="Roboto"/>
                <a:ea typeface="Roboto"/>
                <a:cs typeface="Roboto"/>
              </a:defRPr>
            </a:lvl2pPr>
            <a:lvl3pPr algn="l">
              <a:defRPr sz="2700" b="1">
                <a:solidFill>
                  <a:srgbClr val="21005D"/>
                </a:solidFill>
                <a:latin typeface="Roboto"/>
                <a:ea typeface="Roboto"/>
                <a:cs typeface="Roboto"/>
              </a:defRPr>
            </a:lvl3pPr>
            <a:lvl4pPr algn="l">
              <a:defRPr sz="2700" b="1">
                <a:solidFill>
                  <a:srgbClr val="21005D"/>
                </a:solidFill>
                <a:latin typeface="Roboto"/>
                <a:ea typeface="Roboto"/>
                <a:cs typeface="Roboto"/>
              </a:defRPr>
            </a:lvl4pPr>
            <a:lvl5pPr algn="l">
              <a:defRPr sz="2700" b="1">
                <a:solidFill>
                  <a:srgbClr val="21005D"/>
                </a:solidFill>
                <a:latin typeface="Roboto"/>
                <a:ea typeface="Roboto"/>
                <a:cs typeface="Roboto"/>
              </a:defRPr>
            </a:lvl5pPr>
            <a:lvl6pPr algn="l">
              <a:defRPr sz="2700" b="1">
                <a:solidFill>
                  <a:srgbClr val="21005D"/>
                </a:solidFill>
                <a:latin typeface="Roboto"/>
                <a:ea typeface="Roboto"/>
                <a:cs typeface="Roboto"/>
              </a:defRPr>
            </a:lvl6pPr>
            <a:lvl7pPr algn="l">
              <a:defRPr sz="2700" b="1">
                <a:solidFill>
                  <a:srgbClr val="21005D"/>
                </a:solidFill>
                <a:latin typeface="Roboto"/>
                <a:ea typeface="Roboto"/>
                <a:cs typeface="Roboto"/>
              </a:defRPr>
            </a:lvl7pPr>
            <a:lvl8pPr algn="l">
              <a:defRPr sz="2700" b="1">
                <a:solidFill>
                  <a:srgbClr val="21005D"/>
                </a:solidFill>
                <a:latin typeface="Roboto"/>
                <a:ea typeface="Roboto"/>
                <a:cs typeface="Roboto"/>
              </a:defRPr>
            </a:lvl8pPr>
            <a:lvl9pPr algn="l">
              <a:defRPr sz="2700" b="1">
                <a:solidFill>
                  <a:srgbClr val="21005D"/>
                </a:solidFill>
                <a:latin typeface="Roboto"/>
                <a:ea typeface="Roboto"/>
                <a:cs typeface="Roboto"/>
              </a:defRPr>
            </a:lvl9pPr>
          </a:lstStyle>
          <a:p xmlns:a="http://schemas.openxmlformats.org/drawingml/2006/main">
            <a:pPr algn="l">
              <a:defRPr sz="2700" b="1">
                <a:solidFill>
                  <a:srgbClr val="21005D"/>
                </a:solidFill>
                <a:latin typeface="Roboto"/>
                <a:ea typeface="Roboto"/>
                <a:cs typeface="Roboto"/>
              </a:defRPr>
            </a:pPr>
            <a:r>
              <a:rPr sz="2700" b="1">
                <a:solidFill>
                  <a:srgbClr val="21005D"/>
                </a:solidFill>
                <a:latin typeface="Roboto"/>
                <a:ea typeface="Roboto"/>
                <a:cs typeface="Roboto"/>
              </a:rPr>
              <a:t>Hosted subscription</a:t>
            </a:r>
          </a:p>
        </p:txBody>
      </p:sp>
      <p:sp>
        <p:nvSpPr>
          <p:cNvPr id="6" name="Controls, task history and support">
            <a:extLst xmlns:a="http://schemas.openxmlformats.org/drawingml/2006/main">
              <a:ext uri="{FF2B5EF4-FFF2-40B4-BE49-F238E27FC236}">
                <a16:creationId xmlns:a16="http://schemas.microsoft.com/office/drawing/2014/main" id="{DA5F01B1-6D11-4FCC-B778-9DC5D05A2558}"/>
              </a:ext>
            </a:extLst>
          </p:cNvPr>
          <p:cNvSpPr>
            <a:spLocks xmlns:a="http://schemas.openxmlformats.org/drawingml/2006/main" noGrp="1"/>
          </p:cNvSpPr>
          <p:nvPr/>
        </p:nvSpPr>
        <p:spPr>
          <a:xfrm xmlns:a="http://schemas.openxmlformats.org/drawingml/2006/main">
            <a:off x="895350" y="3057525"/>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005D"/>
                </a:solidFill>
                <a:latin typeface="Roboto"/>
                <a:ea typeface="Roboto"/>
                <a:cs typeface="Roboto"/>
              </a:defRPr>
            </a:defPPr>
            <a:lvl1pPr algn="l">
              <a:defRPr sz="1875" b="0">
                <a:solidFill>
                  <a:srgbClr val="21005D"/>
                </a:solidFill>
                <a:latin typeface="Roboto"/>
                <a:ea typeface="Roboto"/>
                <a:cs typeface="Roboto"/>
              </a:defRPr>
            </a:lvl1pPr>
            <a:lvl2pPr algn="l">
              <a:defRPr sz="1875" b="0">
                <a:solidFill>
                  <a:srgbClr val="21005D"/>
                </a:solidFill>
                <a:latin typeface="Roboto"/>
                <a:ea typeface="Roboto"/>
                <a:cs typeface="Roboto"/>
              </a:defRPr>
            </a:lvl2pPr>
            <a:lvl3pPr algn="l">
              <a:defRPr sz="1875" b="0">
                <a:solidFill>
                  <a:srgbClr val="21005D"/>
                </a:solidFill>
                <a:latin typeface="Roboto"/>
                <a:ea typeface="Roboto"/>
                <a:cs typeface="Roboto"/>
              </a:defRPr>
            </a:lvl3pPr>
            <a:lvl4pPr algn="l">
              <a:defRPr sz="1875" b="0">
                <a:solidFill>
                  <a:srgbClr val="21005D"/>
                </a:solidFill>
                <a:latin typeface="Roboto"/>
                <a:ea typeface="Roboto"/>
                <a:cs typeface="Roboto"/>
              </a:defRPr>
            </a:lvl4pPr>
            <a:lvl5pPr algn="l">
              <a:defRPr sz="1875" b="0">
                <a:solidFill>
                  <a:srgbClr val="21005D"/>
                </a:solidFill>
                <a:latin typeface="Roboto"/>
                <a:ea typeface="Roboto"/>
                <a:cs typeface="Roboto"/>
              </a:defRPr>
            </a:lvl5pPr>
            <a:lvl6pPr algn="l">
              <a:defRPr sz="1875" b="0">
                <a:solidFill>
                  <a:srgbClr val="21005D"/>
                </a:solidFill>
                <a:latin typeface="Roboto"/>
                <a:ea typeface="Roboto"/>
                <a:cs typeface="Roboto"/>
              </a:defRPr>
            </a:lvl6pPr>
            <a:lvl7pPr algn="l">
              <a:defRPr sz="1875" b="0">
                <a:solidFill>
                  <a:srgbClr val="21005D"/>
                </a:solidFill>
                <a:latin typeface="Roboto"/>
                <a:ea typeface="Roboto"/>
                <a:cs typeface="Roboto"/>
              </a:defRPr>
            </a:lvl7pPr>
            <a:lvl8pPr algn="l">
              <a:defRPr sz="1875" b="0">
                <a:solidFill>
                  <a:srgbClr val="21005D"/>
                </a:solidFill>
                <a:latin typeface="Roboto"/>
                <a:ea typeface="Roboto"/>
                <a:cs typeface="Roboto"/>
              </a:defRPr>
            </a:lvl8pPr>
            <a:lvl9pPr algn="l">
              <a:defRPr sz="1875" b="0">
                <a:solidFill>
                  <a:srgbClr val="21005D"/>
                </a:solidFill>
                <a:latin typeface="Roboto"/>
                <a:ea typeface="Roboto"/>
                <a:cs typeface="Roboto"/>
              </a:defRPr>
            </a:lvl9pPr>
          </a:lstStyle>
          <a:p xmlns:a="http://schemas.openxmlformats.org/drawingml/2006/main">
            <a:pPr algn="l">
              <a:defRPr sz="1875" b="0">
                <a:solidFill>
                  <a:srgbClr val="21005D"/>
                </a:solidFill>
                <a:latin typeface="Roboto"/>
                <a:ea typeface="Roboto"/>
                <a:cs typeface="Roboto"/>
              </a:defRPr>
            </a:pPr>
            <a:r>
              <a:rPr sz="1875" b="0">
                <a:solidFill>
                  <a:srgbClr val="21005D"/>
                </a:solidFill>
                <a:latin typeface="Roboto"/>
                <a:ea typeface="Roboto"/>
                <a:cs typeface="Roboto"/>
              </a:rPr>
              <a:t>Controls, task history and support</a:t>
            </a:r>
          </a:p>
        </p:txBody>
      </p:sp>
      <p:sp>
        <p:nvSpPr>
          <p:cNvPr id="7" name="→">
            <a:extLst xmlns:a="http://schemas.openxmlformats.org/drawingml/2006/main">
              <a:ext uri="{FF2B5EF4-FFF2-40B4-BE49-F238E27FC236}">
                <a16:creationId xmlns:a16="http://schemas.microsoft.com/office/drawing/2014/main" id="{FE72DAD6-E88E-4238-9F71-CCA15B49DDC5}"/>
              </a:ext>
            </a:extLst>
          </p:cNvPr>
          <p:cNvSpPr>
            <a:spLocks xmlns:a="http://schemas.openxmlformats.org/drawingml/2006/main" noGrp="1"/>
          </p:cNvSpPr>
          <p:nvPr/>
        </p:nvSpPr>
        <p:spPr>
          <a:xfrm xmlns:a="http://schemas.openxmlformats.org/drawingml/2006/main">
            <a:off x="7296150" y="2695575"/>
            <a:ext cx="85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6750A4"/>
                </a:solidFill>
                <a:latin typeface="Roboto"/>
                <a:ea typeface="Roboto"/>
                <a:cs typeface="Roboto"/>
              </a:defRPr>
            </a:defPPr>
            <a:lvl1pPr algn="l">
              <a:defRPr sz="3900" b="0">
                <a:solidFill>
                  <a:srgbClr val="6750A4"/>
                </a:solidFill>
                <a:latin typeface="Roboto"/>
                <a:ea typeface="Roboto"/>
                <a:cs typeface="Roboto"/>
              </a:defRPr>
            </a:lvl1pPr>
            <a:lvl2pPr algn="l">
              <a:defRPr sz="3900" b="0">
                <a:solidFill>
                  <a:srgbClr val="6750A4"/>
                </a:solidFill>
                <a:latin typeface="Roboto"/>
                <a:ea typeface="Roboto"/>
                <a:cs typeface="Roboto"/>
              </a:defRPr>
            </a:lvl2pPr>
            <a:lvl3pPr algn="l">
              <a:defRPr sz="3900" b="0">
                <a:solidFill>
                  <a:srgbClr val="6750A4"/>
                </a:solidFill>
                <a:latin typeface="Roboto"/>
                <a:ea typeface="Roboto"/>
                <a:cs typeface="Roboto"/>
              </a:defRPr>
            </a:lvl3pPr>
            <a:lvl4pPr algn="l">
              <a:defRPr sz="3900" b="0">
                <a:solidFill>
                  <a:srgbClr val="6750A4"/>
                </a:solidFill>
                <a:latin typeface="Roboto"/>
                <a:ea typeface="Roboto"/>
                <a:cs typeface="Roboto"/>
              </a:defRPr>
            </a:lvl4pPr>
            <a:lvl5pPr algn="l">
              <a:defRPr sz="3900" b="0">
                <a:solidFill>
                  <a:srgbClr val="6750A4"/>
                </a:solidFill>
                <a:latin typeface="Roboto"/>
                <a:ea typeface="Roboto"/>
                <a:cs typeface="Roboto"/>
              </a:defRPr>
            </a:lvl5pPr>
            <a:lvl6pPr algn="l">
              <a:defRPr sz="3900" b="0">
                <a:solidFill>
                  <a:srgbClr val="6750A4"/>
                </a:solidFill>
                <a:latin typeface="Roboto"/>
                <a:ea typeface="Roboto"/>
                <a:cs typeface="Roboto"/>
              </a:defRPr>
            </a:lvl6pPr>
            <a:lvl7pPr algn="l">
              <a:defRPr sz="3900" b="0">
                <a:solidFill>
                  <a:srgbClr val="6750A4"/>
                </a:solidFill>
                <a:latin typeface="Roboto"/>
                <a:ea typeface="Roboto"/>
                <a:cs typeface="Roboto"/>
              </a:defRPr>
            </a:lvl7pPr>
            <a:lvl8pPr algn="l">
              <a:defRPr sz="3900" b="0">
                <a:solidFill>
                  <a:srgbClr val="6750A4"/>
                </a:solidFill>
                <a:latin typeface="Roboto"/>
                <a:ea typeface="Roboto"/>
                <a:cs typeface="Roboto"/>
              </a:defRPr>
            </a:lvl8pPr>
            <a:lvl9pPr algn="l">
              <a:defRPr sz="3900" b="0">
                <a:solidFill>
                  <a:srgbClr val="6750A4"/>
                </a:solidFill>
                <a:latin typeface="Roboto"/>
                <a:ea typeface="Roboto"/>
                <a:cs typeface="Roboto"/>
              </a:defRPr>
            </a:lvl9pPr>
          </a:lstStyle>
          <a:p xmlns:a="http://schemas.openxmlformats.org/drawingml/2006/main">
            <a:pPr algn="l">
              <a:defRPr sz="3900" b="0">
                <a:solidFill>
                  <a:srgbClr val="6750A4"/>
                </a:solidFill>
                <a:latin typeface="Roboto"/>
                <a:ea typeface="Roboto"/>
                <a:cs typeface="Roboto"/>
              </a:defRPr>
            </a:pPr>
            <a:r>
              <a:rPr sz="3900" b="0">
                <a:solidFill>
                  <a:srgbClr val="6750A4"/>
                </a:solidFill>
                <a:latin typeface="Roboto"/>
                <a:ea typeface="Roboto"/>
                <a:cs typeface="Roboto"/>
              </a:rPr>
              <a:t>→</a:t>
            </a:r>
          </a:p>
        </p:txBody>
      </p:sp>
      <p:sp>
        <p:nvSpPr>
          <p:cNvPr id="8" name="Aperture">
            <a:extLst xmlns:a="http://schemas.openxmlformats.org/drawingml/2006/main">
              <a:ext uri="{FF2B5EF4-FFF2-40B4-BE49-F238E27FC236}">
                <a16:creationId xmlns:a16="http://schemas.microsoft.com/office/drawing/2014/main" id="{7F7F61D5-A5AD-4911-9234-C1EBE3CA4AE6}"/>
              </a:ext>
            </a:extLst>
          </p:cNvPr>
          <p:cNvSpPr>
            <a:spLocks xmlns:a="http://schemas.openxmlformats.org/drawingml/2006/main" noGrp="1"/>
          </p:cNvSpPr>
          <p:nvPr/>
        </p:nvSpPr>
        <p:spPr>
          <a:xfrm xmlns:a="http://schemas.openxmlformats.org/drawingml/2006/main">
            <a:off x="8782050" y="2647950"/>
            <a:ext cx="2552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21005D"/>
                </a:solidFill>
                <a:latin typeface="Roboto"/>
                <a:ea typeface="Roboto"/>
                <a:cs typeface="Roboto"/>
              </a:defRPr>
            </a:defPPr>
            <a:lvl1pPr algn="l">
              <a:defRPr sz="3450" b="1">
                <a:solidFill>
                  <a:srgbClr val="21005D"/>
                </a:solidFill>
                <a:latin typeface="Roboto"/>
                <a:ea typeface="Roboto"/>
                <a:cs typeface="Roboto"/>
              </a:defRPr>
            </a:lvl1pPr>
            <a:lvl2pPr algn="l">
              <a:defRPr sz="3450" b="1">
                <a:solidFill>
                  <a:srgbClr val="21005D"/>
                </a:solidFill>
                <a:latin typeface="Roboto"/>
                <a:ea typeface="Roboto"/>
                <a:cs typeface="Roboto"/>
              </a:defRPr>
            </a:lvl2pPr>
            <a:lvl3pPr algn="l">
              <a:defRPr sz="3450" b="1">
                <a:solidFill>
                  <a:srgbClr val="21005D"/>
                </a:solidFill>
                <a:latin typeface="Roboto"/>
                <a:ea typeface="Roboto"/>
                <a:cs typeface="Roboto"/>
              </a:defRPr>
            </a:lvl3pPr>
            <a:lvl4pPr algn="l">
              <a:defRPr sz="3450" b="1">
                <a:solidFill>
                  <a:srgbClr val="21005D"/>
                </a:solidFill>
                <a:latin typeface="Roboto"/>
                <a:ea typeface="Roboto"/>
                <a:cs typeface="Roboto"/>
              </a:defRPr>
            </a:lvl4pPr>
            <a:lvl5pPr algn="l">
              <a:defRPr sz="3450" b="1">
                <a:solidFill>
                  <a:srgbClr val="21005D"/>
                </a:solidFill>
                <a:latin typeface="Roboto"/>
                <a:ea typeface="Roboto"/>
                <a:cs typeface="Roboto"/>
              </a:defRPr>
            </a:lvl5pPr>
            <a:lvl6pPr algn="l">
              <a:defRPr sz="3450" b="1">
                <a:solidFill>
                  <a:srgbClr val="21005D"/>
                </a:solidFill>
                <a:latin typeface="Roboto"/>
                <a:ea typeface="Roboto"/>
                <a:cs typeface="Roboto"/>
              </a:defRPr>
            </a:lvl6pPr>
            <a:lvl7pPr algn="l">
              <a:defRPr sz="3450" b="1">
                <a:solidFill>
                  <a:srgbClr val="21005D"/>
                </a:solidFill>
                <a:latin typeface="Roboto"/>
                <a:ea typeface="Roboto"/>
                <a:cs typeface="Roboto"/>
              </a:defRPr>
            </a:lvl7pPr>
            <a:lvl8pPr algn="l">
              <a:defRPr sz="3450" b="1">
                <a:solidFill>
                  <a:srgbClr val="21005D"/>
                </a:solidFill>
                <a:latin typeface="Roboto"/>
                <a:ea typeface="Roboto"/>
                <a:cs typeface="Roboto"/>
              </a:defRPr>
            </a:lvl8pPr>
            <a:lvl9pPr algn="l">
              <a:defRPr sz="3450" b="1">
                <a:solidFill>
                  <a:srgbClr val="21005D"/>
                </a:solidFill>
                <a:latin typeface="Roboto"/>
                <a:ea typeface="Roboto"/>
                <a:cs typeface="Roboto"/>
              </a:defRPr>
            </a:lvl9pPr>
          </a:lstStyle>
          <a:p xmlns:a="http://schemas.openxmlformats.org/drawingml/2006/main">
            <a:pPr algn="l">
              <a:defRPr sz="3450" b="1">
                <a:solidFill>
                  <a:srgbClr val="21005D"/>
                </a:solidFill>
                <a:latin typeface="Roboto"/>
                <a:ea typeface="Roboto"/>
                <a:cs typeface="Roboto"/>
              </a:defRPr>
            </a:pPr>
            <a:r>
              <a:rPr sz="3450" b="1">
                <a:solidFill>
                  <a:srgbClr val="21005D"/>
                </a:solidFill>
                <a:latin typeface="Roboto"/>
                <a:ea typeface="Roboto"/>
                <a:cs typeface="Roboto"/>
              </a:rPr>
              <a:t>Aperture</a:t>
            </a:r>
          </a:p>
        </p:txBody>
      </p:sp>
      <p:sp>
        <p:nvSpPr>
          <p:cNvPr id="9" name="">
            <a:extLst xmlns:a="http://schemas.openxmlformats.org/drawingml/2006/main">
              <a:ext uri="{FF2B5EF4-FFF2-40B4-BE49-F238E27FC236}">
                <a16:creationId xmlns:a16="http://schemas.microsoft.com/office/drawing/2014/main" id="{15E9AB5B-953A-4D9C-BC2A-76E7479ECDED}"/>
              </a:ext>
            </a:extLst>
          </p:cNvPr>
          <p:cNvSpPr>
            <a:spLocks xmlns:a="http://schemas.openxmlformats.org/drawingml/2006/main" noGrp="1"/>
          </p:cNvSpPr>
          <p:nvPr/>
        </p:nvSpPr>
        <p:spPr>
          <a:xfrm xmlns:a="http://schemas.openxmlformats.org/drawingml/2006/main">
            <a:off x="609600" y="3914775"/>
            <a:ext cx="10972800" cy="1476375"/>
          </a:xfrm>
          <a:prstGeom xmlns:a="http://schemas.openxmlformats.org/drawingml/2006/main" prst="roundRect">
            <a:avLst>
              <a:gd name="adj" fmla="val 25806"/>
            </a:avLst>
          </a:prstGeom>
          <a:solidFill xmlns:a="http://schemas.openxmlformats.org/drawingml/2006/main">
            <a:srgbClr val="BFEDE1"/>
          </a:solidFill>
          <a:ln xmlns:a="http://schemas.openxmlformats.org/drawingml/2006/main" w="0">
            <a:noFill/>
          </a:ln>
        </p:spPr>
      </p:sp>
      <p:sp>
        <p:nvSpPr>
          <p:cNvPr id="10" name="Compute payment">
            <a:extLst xmlns:a="http://schemas.openxmlformats.org/drawingml/2006/main">
              <a:ext uri="{FF2B5EF4-FFF2-40B4-BE49-F238E27FC236}">
                <a16:creationId xmlns:a16="http://schemas.microsoft.com/office/drawing/2014/main" id="{F76BE877-E07D-4F60-8939-D3F15BCD05F7}"/>
              </a:ext>
            </a:extLst>
          </p:cNvPr>
          <p:cNvSpPr>
            <a:spLocks xmlns:a="http://schemas.openxmlformats.org/drawingml/2006/main" noGrp="1"/>
          </p:cNvSpPr>
          <p:nvPr/>
        </p:nvSpPr>
        <p:spPr>
          <a:xfrm xmlns:a="http://schemas.openxmlformats.org/drawingml/2006/main">
            <a:off x="895350" y="4171950"/>
            <a:ext cx="542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201B"/>
                </a:solidFill>
                <a:latin typeface="Roboto"/>
                <a:ea typeface="Roboto"/>
                <a:cs typeface="Roboto"/>
              </a:defRPr>
            </a:defPPr>
            <a:lvl1pPr algn="l">
              <a:defRPr sz="2700" b="1">
                <a:solidFill>
                  <a:srgbClr val="00201B"/>
                </a:solidFill>
                <a:latin typeface="Roboto"/>
                <a:ea typeface="Roboto"/>
                <a:cs typeface="Roboto"/>
              </a:defRPr>
            </a:lvl1pPr>
            <a:lvl2pPr algn="l">
              <a:defRPr sz="2700" b="1">
                <a:solidFill>
                  <a:srgbClr val="00201B"/>
                </a:solidFill>
                <a:latin typeface="Roboto"/>
                <a:ea typeface="Roboto"/>
                <a:cs typeface="Roboto"/>
              </a:defRPr>
            </a:lvl2pPr>
            <a:lvl3pPr algn="l">
              <a:defRPr sz="2700" b="1">
                <a:solidFill>
                  <a:srgbClr val="00201B"/>
                </a:solidFill>
                <a:latin typeface="Roboto"/>
                <a:ea typeface="Roboto"/>
                <a:cs typeface="Roboto"/>
              </a:defRPr>
            </a:lvl3pPr>
            <a:lvl4pPr algn="l">
              <a:defRPr sz="2700" b="1">
                <a:solidFill>
                  <a:srgbClr val="00201B"/>
                </a:solidFill>
                <a:latin typeface="Roboto"/>
                <a:ea typeface="Roboto"/>
                <a:cs typeface="Roboto"/>
              </a:defRPr>
            </a:lvl4pPr>
            <a:lvl5pPr algn="l">
              <a:defRPr sz="2700" b="1">
                <a:solidFill>
                  <a:srgbClr val="00201B"/>
                </a:solidFill>
                <a:latin typeface="Roboto"/>
                <a:ea typeface="Roboto"/>
                <a:cs typeface="Roboto"/>
              </a:defRPr>
            </a:lvl5pPr>
            <a:lvl6pPr algn="l">
              <a:defRPr sz="2700" b="1">
                <a:solidFill>
                  <a:srgbClr val="00201B"/>
                </a:solidFill>
                <a:latin typeface="Roboto"/>
                <a:ea typeface="Roboto"/>
                <a:cs typeface="Roboto"/>
              </a:defRPr>
            </a:lvl6pPr>
            <a:lvl7pPr algn="l">
              <a:defRPr sz="2700" b="1">
                <a:solidFill>
                  <a:srgbClr val="00201B"/>
                </a:solidFill>
                <a:latin typeface="Roboto"/>
                <a:ea typeface="Roboto"/>
                <a:cs typeface="Roboto"/>
              </a:defRPr>
            </a:lvl7pPr>
            <a:lvl8pPr algn="l">
              <a:defRPr sz="2700" b="1">
                <a:solidFill>
                  <a:srgbClr val="00201B"/>
                </a:solidFill>
                <a:latin typeface="Roboto"/>
                <a:ea typeface="Roboto"/>
                <a:cs typeface="Roboto"/>
              </a:defRPr>
            </a:lvl8pPr>
            <a:lvl9pPr algn="l">
              <a:defRPr sz="2700" b="1">
                <a:solidFill>
                  <a:srgbClr val="00201B"/>
                </a:solidFill>
                <a:latin typeface="Roboto"/>
                <a:ea typeface="Roboto"/>
                <a:cs typeface="Roboto"/>
              </a:defRPr>
            </a:lvl9pPr>
          </a:lstStyle>
          <a:p xmlns:a="http://schemas.openxmlformats.org/drawingml/2006/main">
            <a:pPr algn="l">
              <a:defRPr sz="2700" b="1">
                <a:solidFill>
                  <a:srgbClr val="00201B"/>
                </a:solidFill>
                <a:latin typeface="Roboto"/>
                <a:ea typeface="Roboto"/>
                <a:cs typeface="Roboto"/>
              </a:defRPr>
            </a:pPr>
            <a:r>
              <a:rPr sz="2700" b="1">
                <a:solidFill>
                  <a:srgbClr val="00201B"/>
                </a:solidFill>
                <a:latin typeface="Roboto"/>
                <a:ea typeface="Roboto"/>
                <a:cs typeface="Roboto"/>
              </a:rPr>
              <a:t>Compute payment</a:t>
            </a:r>
          </a:p>
        </p:txBody>
      </p:sp>
      <p:sp>
        <p:nvSpPr>
          <p:cNvPr id="11" name="100% of the task charge">
            <a:extLst xmlns:a="http://schemas.openxmlformats.org/drawingml/2006/main">
              <a:ext uri="{FF2B5EF4-FFF2-40B4-BE49-F238E27FC236}">
                <a16:creationId xmlns:a16="http://schemas.microsoft.com/office/drawing/2014/main" id="{528A90E6-4823-4FEE-B911-CFCAD8F909F6}"/>
              </a:ext>
            </a:extLst>
          </p:cNvPr>
          <p:cNvSpPr>
            <a:spLocks xmlns:a="http://schemas.openxmlformats.org/drawingml/2006/main" noGrp="1"/>
          </p:cNvSpPr>
          <p:nvPr/>
        </p:nvSpPr>
        <p:spPr>
          <a:xfrm xmlns:a="http://schemas.openxmlformats.org/drawingml/2006/main">
            <a:off x="895350" y="4762500"/>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201B"/>
                </a:solidFill>
                <a:latin typeface="Roboto"/>
                <a:ea typeface="Roboto"/>
                <a:cs typeface="Roboto"/>
              </a:defRPr>
            </a:defPPr>
            <a:lvl1pPr algn="l">
              <a:defRPr sz="1875" b="0">
                <a:solidFill>
                  <a:srgbClr val="00201B"/>
                </a:solidFill>
                <a:latin typeface="Roboto"/>
                <a:ea typeface="Roboto"/>
                <a:cs typeface="Roboto"/>
              </a:defRPr>
            </a:lvl1pPr>
            <a:lvl2pPr algn="l">
              <a:defRPr sz="1875" b="0">
                <a:solidFill>
                  <a:srgbClr val="00201B"/>
                </a:solidFill>
                <a:latin typeface="Roboto"/>
                <a:ea typeface="Roboto"/>
                <a:cs typeface="Roboto"/>
              </a:defRPr>
            </a:lvl2pPr>
            <a:lvl3pPr algn="l">
              <a:defRPr sz="1875" b="0">
                <a:solidFill>
                  <a:srgbClr val="00201B"/>
                </a:solidFill>
                <a:latin typeface="Roboto"/>
                <a:ea typeface="Roboto"/>
                <a:cs typeface="Roboto"/>
              </a:defRPr>
            </a:lvl3pPr>
            <a:lvl4pPr algn="l">
              <a:defRPr sz="1875" b="0">
                <a:solidFill>
                  <a:srgbClr val="00201B"/>
                </a:solidFill>
                <a:latin typeface="Roboto"/>
                <a:ea typeface="Roboto"/>
                <a:cs typeface="Roboto"/>
              </a:defRPr>
            </a:lvl4pPr>
            <a:lvl5pPr algn="l">
              <a:defRPr sz="1875" b="0">
                <a:solidFill>
                  <a:srgbClr val="00201B"/>
                </a:solidFill>
                <a:latin typeface="Roboto"/>
                <a:ea typeface="Roboto"/>
                <a:cs typeface="Roboto"/>
              </a:defRPr>
            </a:lvl5pPr>
            <a:lvl6pPr algn="l">
              <a:defRPr sz="1875" b="0">
                <a:solidFill>
                  <a:srgbClr val="00201B"/>
                </a:solidFill>
                <a:latin typeface="Roboto"/>
                <a:ea typeface="Roboto"/>
                <a:cs typeface="Roboto"/>
              </a:defRPr>
            </a:lvl6pPr>
            <a:lvl7pPr algn="l">
              <a:defRPr sz="1875" b="0">
                <a:solidFill>
                  <a:srgbClr val="00201B"/>
                </a:solidFill>
                <a:latin typeface="Roboto"/>
                <a:ea typeface="Roboto"/>
                <a:cs typeface="Roboto"/>
              </a:defRPr>
            </a:lvl7pPr>
            <a:lvl8pPr algn="l">
              <a:defRPr sz="1875" b="0">
                <a:solidFill>
                  <a:srgbClr val="00201B"/>
                </a:solidFill>
                <a:latin typeface="Roboto"/>
                <a:ea typeface="Roboto"/>
                <a:cs typeface="Roboto"/>
              </a:defRPr>
            </a:lvl8pPr>
            <a:lvl9pPr algn="l">
              <a:defRPr sz="1875" b="0">
                <a:solidFill>
                  <a:srgbClr val="00201B"/>
                </a:solidFill>
                <a:latin typeface="Roboto"/>
                <a:ea typeface="Roboto"/>
                <a:cs typeface="Roboto"/>
              </a:defRPr>
            </a:lvl9pPr>
          </a:lstStyle>
          <a:p xmlns:a="http://schemas.openxmlformats.org/drawingml/2006/main">
            <a:pPr algn="l">
              <a:defRPr sz="1875" b="0">
                <a:solidFill>
                  <a:srgbClr val="00201B"/>
                </a:solidFill>
                <a:latin typeface="Roboto"/>
                <a:ea typeface="Roboto"/>
                <a:cs typeface="Roboto"/>
              </a:defRPr>
            </a:pPr>
            <a:r>
              <a:rPr sz="1875" b="0">
                <a:solidFill>
                  <a:srgbClr val="00201B"/>
                </a:solidFill>
                <a:latin typeface="Roboto"/>
                <a:ea typeface="Roboto"/>
                <a:cs typeface="Roboto"/>
              </a:rPr>
              <a:t>100% of the task charge</a:t>
            </a:r>
          </a:p>
        </p:txBody>
      </p:sp>
      <p:sp>
        <p:nvSpPr>
          <p:cNvPr id="12" name="→">
            <a:extLst xmlns:a="http://schemas.openxmlformats.org/drawingml/2006/main">
              <a:ext uri="{FF2B5EF4-FFF2-40B4-BE49-F238E27FC236}">
                <a16:creationId xmlns:a16="http://schemas.microsoft.com/office/drawing/2014/main" id="{E433F236-F4AD-4A3B-A716-69E7ECB80AAC}"/>
              </a:ext>
            </a:extLst>
          </p:cNvPr>
          <p:cNvSpPr>
            <a:spLocks xmlns:a="http://schemas.openxmlformats.org/drawingml/2006/main" noGrp="1"/>
          </p:cNvSpPr>
          <p:nvPr/>
        </p:nvSpPr>
        <p:spPr>
          <a:xfrm xmlns:a="http://schemas.openxmlformats.org/drawingml/2006/main">
            <a:off x="7296150" y="4391025"/>
            <a:ext cx="85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006B5F"/>
                </a:solidFill>
                <a:latin typeface="Roboto"/>
                <a:ea typeface="Roboto"/>
                <a:cs typeface="Roboto"/>
              </a:defRPr>
            </a:defPPr>
            <a:lvl1pPr algn="l">
              <a:defRPr sz="3900" b="0">
                <a:solidFill>
                  <a:srgbClr val="006B5F"/>
                </a:solidFill>
                <a:latin typeface="Roboto"/>
                <a:ea typeface="Roboto"/>
                <a:cs typeface="Roboto"/>
              </a:defRPr>
            </a:lvl1pPr>
            <a:lvl2pPr algn="l">
              <a:defRPr sz="3900" b="0">
                <a:solidFill>
                  <a:srgbClr val="006B5F"/>
                </a:solidFill>
                <a:latin typeface="Roboto"/>
                <a:ea typeface="Roboto"/>
                <a:cs typeface="Roboto"/>
              </a:defRPr>
            </a:lvl2pPr>
            <a:lvl3pPr algn="l">
              <a:defRPr sz="3900" b="0">
                <a:solidFill>
                  <a:srgbClr val="006B5F"/>
                </a:solidFill>
                <a:latin typeface="Roboto"/>
                <a:ea typeface="Roboto"/>
                <a:cs typeface="Roboto"/>
              </a:defRPr>
            </a:lvl3pPr>
            <a:lvl4pPr algn="l">
              <a:defRPr sz="3900" b="0">
                <a:solidFill>
                  <a:srgbClr val="006B5F"/>
                </a:solidFill>
                <a:latin typeface="Roboto"/>
                <a:ea typeface="Roboto"/>
                <a:cs typeface="Roboto"/>
              </a:defRPr>
            </a:lvl4pPr>
            <a:lvl5pPr algn="l">
              <a:defRPr sz="3900" b="0">
                <a:solidFill>
                  <a:srgbClr val="006B5F"/>
                </a:solidFill>
                <a:latin typeface="Roboto"/>
                <a:ea typeface="Roboto"/>
                <a:cs typeface="Roboto"/>
              </a:defRPr>
            </a:lvl5pPr>
            <a:lvl6pPr algn="l">
              <a:defRPr sz="3900" b="0">
                <a:solidFill>
                  <a:srgbClr val="006B5F"/>
                </a:solidFill>
                <a:latin typeface="Roboto"/>
                <a:ea typeface="Roboto"/>
                <a:cs typeface="Roboto"/>
              </a:defRPr>
            </a:lvl6pPr>
            <a:lvl7pPr algn="l">
              <a:defRPr sz="3900" b="0">
                <a:solidFill>
                  <a:srgbClr val="006B5F"/>
                </a:solidFill>
                <a:latin typeface="Roboto"/>
                <a:ea typeface="Roboto"/>
                <a:cs typeface="Roboto"/>
              </a:defRPr>
            </a:lvl7pPr>
            <a:lvl8pPr algn="l">
              <a:defRPr sz="3900" b="0">
                <a:solidFill>
                  <a:srgbClr val="006B5F"/>
                </a:solidFill>
                <a:latin typeface="Roboto"/>
                <a:ea typeface="Roboto"/>
                <a:cs typeface="Roboto"/>
              </a:defRPr>
            </a:lvl8pPr>
            <a:lvl9pPr algn="l">
              <a:defRPr sz="3900" b="0">
                <a:solidFill>
                  <a:srgbClr val="006B5F"/>
                </a:solidFill>
                <a:latin typeface="Roboto"/>
                <a:ea typeface="Roboto"/>
                <a:cs typeface="Roboto"/>
              </a:defRPr>
            </a:lvl9pPr>
          </a:lstStyle>
          <a:p xmlns:a="http://schemas.openxmlformats.org/drawingml/2006/main">
            <a:pPr algn="l">
              <a:defRPr sz="3900" b="0">
                <a:solidFill>
                  <a:srgbClr val="006B5F"/>
                </a:solidFill>
                <a:latin typeface="Roboto"/>
                <a:ea typeface="Roboto"/>
                <a:cs typeface="Roboto"/>
              </a:defRPr>
            </a:pPr>
            <a:r>
              <a:rPr sz="3900" b="0">
                <a:solidFill>
                  <a:srgbClr val="006B5F"/>
                </a:solidFill>
                <a:latin typeface="Roboto"/>
                <a:ea typeface="Roboto"/>
                <a:cs typeface="Roboto"/>
              </a:rPr>
              <a:t>→</a:t>
            </a:r>
          </a:p>
        </p:txBody>
      </p:sp>
      <p:sp>
        <p:nvSpPr>
          <p:cNvPr id="13" name="Worker">
            <a:extLst xmlns:a="http://schemas.openxmlformats.org/drawingml/2006/main">
              <a:ext uri="{FF2B5EF4-FFF2-40B4-BE49-F238E27FC236}">
                <a16:creationId xmlns:a16="http://schemas.microsoft.com/office/drawing/2014/main" id="{FD2ACE25-64AE-473A-BD1E-F4B138E84FF2}"/>
              </a:ext>
            </a:extLst>
          </p:cNvPr>
          <p:cNvSpPr>
            <a:spLocks xmlns:a="http://schemas.openxmlformats.org/drawingml/2006/main" noGrp="1"/>
          </p:cNvSpPr>
          <p:nvPr/>
        </p:nvSpPr>
        <p:spPr>
          <a:xfrm xmlns:a="http://schemas.openxmlformats.org/drawingml/2006/main">
            <a:off x="8782050" y="4352925"/>
            <a:ext cx="2552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00201B"/>
                </a:solidFill>
                <a:latin typeface="Roboto"/>
                <a:ea typeface="Roboto"/>
                <a:cs typeface="Roboto"/>
              </a:defRPr>
            </a:defPPr>
            <a:lvl1pPr algn="l">
              <a:defRPr sz="3450" b="1">
                <a:solidFill>
                  <a:srgbClr val="00201B"/>
                </a:solidFill>
                <a:latin typeface="Roboto"/>
                <a:ea typeface="Roboto"/>
                <a:cs typeface="Roboto"/>
              </a:defRPr>
            </a:lvl1pPr>
            <a:lvl2pPr algn="l">
              <a:defRPr sz="3450" b="1">
                <a:solidFill>
                  <a:srgbClr val="00201B"/>
                </a:solidFill>
                <a:latin typeface="Roboto"/>
                <a:ea typeface="Roboto"/>
                <a:cs typeface="Roboto"/>
              </a:defRPr>
            </a:lvl2pPr>
            <a:lvl3pPr algn="l">
              <a:defRPr sz="3450" b="1">
                <a:solidFill>
                  <a:srgbClr val="00201B"/>
                </a:solidFill>
                <a:latin typeface="Roboto"/>
                <a:ea typeface="Roboto"/>
                <a:cs typeface="Roboto"/>
              </a:defRPr>
            </a:lvl3pPr>
            <a:lvl4pPr algn="l">
              <a:defRPr sz="3450" b="1">
                <a:solidFill>
                  <a:srgbClr val="00201B"/>
                </a:solidFill>
                <a:latin typeface="Roboto"/>
                <a:ea typeface="Roboto"/>
                <a:cs typeface="Roboto"/>
              </a:defRPr>
            </a:lvl4pPr>
            <a:lvl5pPr algn="l">
              <a:defRPr sz="3450" b="1">
                <a:solidFill>
                  <a:srgbClr val="00201B"/>
                </a:solidFill>
                <a:latin typeface="Roboto"/>
                <a:ea typeface="Roboto"/>
                <a:cs typeface="Roboto"/>
              </a:defRPr>
            </a:lvl5pPr>
            <a:lvl6pPr algn="l">
              <a:defRPr sz="3450" b="1">
                <a:solidFill>
                  <a:srgbClr val="00201B"/>
                </a:solidFill>
                <a:latin typeface="Roboto"/>
                <a:ea typeface="Roboto"/>
                <a:cs typeface="Roboto"/>
              </a:defRPr>
            </a:lvl6pPr>
            <a:lvl7pPr algn="l">
              <a:defRPr sz="3450" b="1">
                <a:solidFill>
                  <a:srgbClr val="00201B"/>
                </a:solidFill>
                <a:latin typeface="Roboto"/>
                <a:ea typeface="Roboto"/>
                <a:cs typeface="Roboto"/>
              </a:defRPr>
            </a:lvl7pPr>
            <a:lvl8pPr algn="l">
              <a:defRPr sz="3450" b="1">
                <a:solidFill>
                  <a:srgbClr val="00201B"/>
                </a:solidFill>
                <a:latin typeface="Roboto"/>
                <a:ea typeface="Roboto"/>
                <a:cs typeface="Roboto"/>
              </a:defRPr>
            </a:lvl8pPr>
            <a:lvl9pPr algn="l">
              <a:defRPr sz="3450" b="1">
                <a:solidFill>
                  <a:srgbClr val="00201B"/>
                </a:solidFill>
                <a:latin typeface="Roboto"/>
                <a:ea typeface="Roboto"/>
                <a:cs typeface="Roboto"/>
              </a:defRPr>
            </a:lvl9pPr>
          </a:lstStyle>
          <a:p xmlns:a="http://schemas.openxmlformats.org/drawingml/2006/main">
            <a:pPr algn="l">
              <a:defRPr sz="3450" b="1">
                <a:solidFill>
                  <a:srgbClr val="00201B"/>
                </a:solidFill>
                <a:latin typeface="Roboto"/>
                <a:ea typeface="Roboto"/>
                <a:cs typeface="Roboto"/>
              </a:defRPr>
            </a:pPr>
            <a:r>
              <a:rPr sz="3450" b="1">
                <a:solidFill>
                  <a:srgbClr val="00201B"/>
                </a:solidFill>
                <a:latin typeface="Roboto"/>
                <a:ea typeface="Roboto"/>
                <a:cs typeface="Roboto"/>
              </a:rPr>
              <a:t>Worker</a:t>
            </a:r>
          </a:p>
        </p:txBody>
      </p:sp>
      <p:sp>
        <p:nvSpPr>
          <p:cNvPr id="14" name="Free self-hosting → paid managed workspaces">
            <a:extLst xmlns:a="http://schemas.openxmlformats.org/drawingml/2006/main">
              <a:ext uri="{FF2B5EF4-FFF2-40B4-BE49-F238E27FC236}">
                <a16:creationId xmlns:a16="http://schemas.microsoft.com/office/drawing/2014/main" id="{BD18979A-A740-47C0-9CB3-6EFCF88A5E7B}"/>
              </a:ext>
            </a:extLst>
          </p:cNvPr>
          <p:cNvSpPr>
            <a:spLocks xmlns:a="http://schemas.openxmlformats.org/drawingml/2006/main" noGrp="1"/>
          </p:cNvSpPr>
          <p:nvPr/>
        </p:nvSpPr>
        <p:spPr>
          <a:xfrm xmlns:a="http://schemas.openxmlformats.org/drawingml/2006/main">
            <a:off x="609600" y="57531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1005D"/>
                </a:solidFill>
                <a:latin typeface="Roboto"/>
                <a:ea typeface="Roboto"/>
                <a:cs typeface="Roboto"/>
              </a:defRPr>
            </a:defPPr>
            <a:lvl1pPr algn="l">
              <a:defRPr sz="2325" b="1">
                <a:solidFill>
                  <a:srgbClr val="21005D"/>
                </a:solidFill>
                <a:latin typeface="Roboto"/>
                <a:ea typeface="Roboto"/>
                <a:cs typeface="Roboto"/>
              </a:defRPr>
            </a:lvl1pPr>
            <a:lvl2pPr algn="l">
              <a:defRPr sz="2325" b="1">
                <a:solidFill>
                  <a:srgbClr val="21005D"/>
                </a:solidFill>
                <a:latin typeface="Roboto"/>
                <a:ea typeface="Roboto"/>
                <a:cs typeface="Roboto"/>
              </a:defRPr>
            </a:lvl2pPr>
            <a:lvl3pPr algn="l">
              <a:defRPr sz="2325" b="1">
                <a:solidFill>
                  <a:srgbClr val="21005D"/>
                </a:solidFill>
                <a:latin typeface="Roboto"/>
                <a:ea typeface="Roboto"/>
                <a:cs typeface="Roboto"/>
              </a:defRPr>
            </a:lvl3pPr>
            <a:lvl4pPr algn="l">
              <a:defRPr sz="2325" b="1">
                <a:solidFill>
                  <a:srgbClr val="21005D"/>
                </a:solidFill>
                <a:latin typeface="Roboto"/>
                <a:ea typeface="Roboto"/>
                <a:cs typeface="Roboto"/>
              </a:defRPr>
            </a:lvl4pPr>
            <a:lvl5pPr algn="l">
              <a:defRPr sz="2325" b="1">
                <a:solidFill>
                  <a:srgbClr val="21005D"/>
                </a:solidFill>
                <a:latin typeface="Roboto"/>
                <a:ea typeface="Roboto"/>
                <a:cs typeface="Roboto"/>
              </a:defRPr>
            </a:lvl5pPr>
            <a:lvl6pPr algn="l">
              <a:defRPr sz="2325" b="1">
                <a:solidFill>
                  <a:srgbClr val="21005D"/>
                </a:solidFill>
                <a:latin typeface="Roboto"/>
                <a:ea typeface="Roboto"/>
                <a:cs typeface="Roboto"/>
              </a:defRPr>
            </a:lvl6pPr>
            <a:lvl7pPr algn="l">
              <a:defRPr sz="2325" b="1">
                <a:solidFill>
                  <a:srgbClr val="21005D"/>
                </a:solidFill>
                <a:latin typeface="Roboto"/>
                <a:ea typeface="Roboto"/>
                <a:cs typeface="Roboto"/>
              </a:defRPr>
            </a:lvl7pPr>
            <a:lvl8pPr algn="l">
              <a:defRPr sz="2325" b="1">
                <a:solidFill>
                  <a:srgbClr val="21005D"/>
                </a:solidFill>
                <a:latin typeface="Roboto"/>
                <a:ea typeface="Roboto"/>
                <a:cs typeface="Roboto"/>
              </a:defRPr>
            </a:lvl8pPr>
            <a:lvl9pPr algn="l">
              <a:defRPr sz="2325" b="1">
                <a:solidFill>
                  <a:srgbClr val="21005D"/>
                </a:solidFill>
                <a:latin typeface="Roboto"/>
                <a:ea typeface="Roboto"/>
                <a:cs typeface="Roboto"/>
              </a:defRPr>
            </a:lvl9pPr>
          </a:lstStyle>
          <a:p xmlns:a="http://schemas.openxmlformats.org/drawingml/2006/main">
            <a:pPr algn="l">
              <a:defRPr sz="2325" b="1">
                <a:solidFill>
                  <a:srgbClr val="21005D"/>
                </a:solidFill>
                <a:latin typeface="Roboto"/>
                <a:ea typeface="Roboto"/>
                <a:cs typeface="Roboto"/>
              </a:defRPr>
            </a:pPr>
            <a:r>
              <a:rPr sz="2325" b="1">
                <a:solidFill>
                  <a:srgbClr val="21005D"/>
                </a:solidFill>
                <a:latin typeface="Roboto"/>
                <a:ea typeface="Roboto"/>
                <a:cs typeface="Roboto"/>
              </a:rPr>
              <a:t>Free self-hosting → paid managed workspaces</a:t>
            </a:r>
          </a:p>
        </p:txBody>
      </p:sp>
      <p:sp>
        <p:nvSpPr>
          <p:cNvPr id="15" name="Worker payout: protocol model · subscription bille">
            <a:extLst xmlns:a="http://schemas.openxmlformats.org/drawingml/2006/main">
              <a:ext uri="{FF2B5EF4-FFF2-40B4-BE49-F238E27FC236}">
                <a16:creationId xmlns:a16="http://schemas.microsoft.com/office/drawing/2014/main" id="{EF9F27D1-72C4-47B7-9237-6043AD580BB6}"/>
              </a:ext>
            </a:extLst>
          </p:cNvPr>
          <p:cNvSpPr>
            <a:spLocks xmlns:a="http://schemas.openxmlformats.org/drawingml/2006/main" noGrp="1"/>
          </p:cNvSpPr>
          <p:nvPr/>
        </p:nvSpPr>
        <p:spPr>
          <a:xfrm xmlns:a="http://schemas.openxmlformats.org/drawingml/2006/main">
            <a:off x="609600" y="63341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9454F"/>
                </a:solidFill>
                <a:latin typeface="Roboto"/>
                <a:ea typeface="Roboto"/>
                <a:cs typeface="Roboto"/>
              </a:defRPr>
            </a:defPPr>
            <a:lvl1pPr algn="l">
              <a:defRPr sz="1425" b="0">
                <a:solidFill>
                  <a:srgbClr val="49454F"/>
                </a:solidFill>
                <a:latin typeface="Roboto"/>
                <a:ea typeface="Roboto"/>
                <a:cs typeface="Roboto"/>
              </a:defRPr>
            </a:lvl1pPr>
            <a:lvl2pPr algn="l">
              <a:defRPr sz="1425" b="0">
                <a:solidFill>
                  <a:srgbClr val="49454F"/>
                </a:solidFill>
                <a:latin typeface="Roboto"/>
                <a:ea typeface="Roboto"/>
                <a:cs typeface="Roboto"/>
              </a:defRPr>
            </a:lvl2pPr>
            <a:lvl3pPr algn="l">
              <a:defRPr sz="1425" b="0">
                <a:solidFill>
                  <a:srgbClr val="49454F"/>
                </a:solidFill>
                <a:latin typeface="Roboto"/>
                <a:ea typeface="Roboto"/>
                <a:cs typeface="Roboto"/>
              </a:defRPr>
            </a:lvl3pPr>
            <a:lvl4pPr algn="l">
              <a:defRPr sz="1425" b="0">
                <a:solidFill>
                  <a:srgbClr val="49454F"/>
                </a:solidFill>
                <a:latin typeface="Roboto"/>
                <a:ea typeface="Roboto"/>
                <a:cs typeface="Roboto"/>
              </a:defRPr>
            </a:lvl4pPr>
            <a:lvl5pPr algn="l">
              <a:defRPr sz="1425" b="0">
                <a:solidFill>
                  <a:srgbClr val="49454F"/>
                </a:solidFill>
                <a:latin typeface="Roboto"/>
                <a:ea typeface="Roboto"/>
                <a:cs typeface="Roboto"/>
              </a:defRPr>
            </a:lvl5pPr>
            <a:lvl6pPr algn="l">
              <a:defRPr sz="1425" b="0">
                <a:solidFill>
                  <a:srgbClr val="49454F"/>
                </a:solidFill>
                <a:latin typeface="Roboto"/>
                <a:ea typeface="Roboto"/>
                <a:cs typeface="Roboto"/>
              </a:defRPr>
            </a:lvl6pPr>
            <a:lvl7pPr algn="l">
              <a:defRPr sz="1425" b="0">
                <a:solidFill>
                  <a:srgbClr val="49454F"/>
                </a:solidFill>
                <a:latin typeface="Roboto"/>
                <a:ea typeface="Roboto"/>
                <a:cs typeface="Roboto"/>
              </a:defRPr>
            </a:lvl7pPr>
            <a:lvl8pPr algn="l">
              <a:defRPr sz="1425" b="0">
                <a:solidFill>
                  <a:srgbClr val="49454F"/>
                </a:solidFill>
                <a:latin typeface="Roboto"/>
                <a:ea typeface="Roboto"/>
                <a:cs typeface="Roboto"/>
              </a:defRPr>
            </a:lvl8pPr>
            <a:lvl9pPr algn="l">
              <a:defRPr sz="1425" b="0">
                <a:solidFill>
                  <a:srgbClr val="49454F"/>
                </a:solidFill>
                <a:latin typeface="Roboto"/>
                <a:ea typeface="Roboto"/>
                <a:cs typeface="Roboto"/>
              </a:defRPr>
            </a:lvl9pPr>
          </a:lstStyle>
          <a:p xmlns:a="http://schemas.openxmlformats.org/drawingml/2006/main">
            <a:pPr algn="l">
              <a:defRPr sz="1425" b="0">
                <a:solidFill>
                  <a:srgbClr val="49454F"/>
                </a:solidFill>
                <a:latin typeface="Roboto"/>
                <a:ea typeface="Roboto"/>
                <a:cs typeface="Roboto"/>
              </a:defRPr>
            </a:pPr>
            <a:r>
              <a:rPr sz="1425" b="0">
                <a:solidFill>
                  <a:srgbClr val="49454F"/>
                </a:solidFill>
                <a:latin typeface="Roboto"/>
                <a:ea typeface="Roboto"/>
                <a:cs typeface="Roboto"/>
              </a:rPr>
              <a:t>Worker payout: protocol model · subscription billed separately</a:t>
            </a:r>
          </a:p>
        </p:txBody>
      </p:sp>
    </p:spTree>
    <p:extLst>
      <p:ext uri="{BB962C8B-B14F-4D97-AF65-F5344CB8AC3E}">
        <p14:creationId xmlns:p14="http://schemas.microsoft.com/office/powerpoint/2010/main" val="670576929"/>
      </p:ext>
    </p:extLst>
  </p:cSld>
</p:sld>
</file>

<file path=ppt/slides/slide6.xml><?xml version="1.0" encoding="utf-8"?>
<p:sld xmlns:p="http://schemas.openxmlformats.org/presentationml/2006/main">
  <p:cSld>
    <p:bg>
      <p:bgPr>
        <a:solidFill xmlns:a="http://schemas.openxmlformats.org/drawingml/2006/main">
          <a:srgbClr val="FEF7FF"/>
        </a:solidFill>
      </p:bgPr>
    </p:bg>
    <p:spTree>
      <p:nvGrpSpPr>
        <p:cNvPr id="1" name=""/>
        <p:cNvGrpSpPr/>
        <p:nvPr/>
      </p:nvGrpSpPr>
      <p:grpSpPr>
        <a:xfrm xmlns:a="http://schemas.openxmlformats.org/drawingml/2006/main"/>
      </p:grpSpPr>
      <p:sp>
        <p:nvSpPr>
          <p:cNvPr id="2" name="Hosted economics">
            <a:extLst xmlns:a="http://schemas.openxmlformats.org/drawingml/2006/main">
              <a:ext uri="{FF2B5EF4-FFF2-40B4-BE49-F238E27FC236}">
                <a16:creationId xmlns:a16="http://schemas.microsoft.com/office/drawing/2014/main" id="{B62FC2EF-F7DB-4BC7-8C1C-69DCCB5167AE}"/>
              </a:ext>
            </a:extLst>
          </p:cNvPr>
          <p:cNvSpPr>
            <a:spLocks xmlns:a="http://schemas.openxmlformats.org/drawingml/2006/main" noGrp="1"/>
          </p:cNvSpPr>
          <p:nvPr/>
        </p:nvSpPr>
        <p:spPr>
          <a:xfrm xmlns:a="http://schemas.openxmlformats.org/drawingml/2006/main">
            <a:off x="609600" y="5524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21005D"/>
                </a:solidFill>
                <a:latin typeface="Roboto"/>
                <a:ea typeface="Roboto"/>
                <a:cs typeface="Roboto"/>
              </a:defRPr>
            </a:defPPr>
            <a:lvl1pPr algn="l">
              <a:defRPr sz="4200" b="1">
                <a:solidFill>
                  <a:srgbClr val="21005D"/>
                </a:solidFill>
                <a:latin typeface="Roboto"/>
                <a:ea typeface="Roboto"/>
                <a:cs typeface="Roboto"/>
              </a:defRPr>
            </a:lvl1pPr>
            <a:lvl2pPr algn="l">
              <a:defRPr sz="4200" b="1">
                <a:solidFill>
                  <a:srgbClr val="21005D"/>
                </a:solidFill>
                <a:latin typeface="Roboto"/>
                <a:ea typeface="Roboto"/>
                <a:cs typeface="Roboto"/>
              </a:defRPr>
            </a:lvl2pPr>
            <a:lvl3pPr algn="l">
              <a:defRPr sz="4200" b="1">
                <a:solidFill>
                  <a:srgbClr val="21005D"/>
                </a:solidFill>
                <a:latin typeface="Roboto"/>
                <a:ea typeface="Roboto"/>
                <a:cs typeface="Roboto"/>
              </a:defRPr>
            </a:lvl3pPr>
            <a:lvl4pPr algn="l">
              <a:defRPr sz="4200" b="1">
                <a:solidFill>
                  <a:srgbClr val="21005D"/>
                </a:solidFill>
                <a:latin typeface="Roboto"/>
                <a:ea typeface="Roboto"/>
                <a:cs typeface="Roboto"/>
              </a:defRPr>
            </a:lvl4pPr>
            <a:lvl5pPr algn="l">
              <a:defRPr sz="4200" b="1">
                <a:solidFill>
                  <a:srgbClr val="21005D"/>
                </a:solidFill>
                <a:latin typeface="Roboto"/>
                <a:ea typeface="Roboto"/>
                <a:cs typeface="Roboto"/>
              </a:defRPr>
            </a:lvl5pPr>
            <a:lvl6pPr algn="l">
              <a:defRPr sz="4200" b="1">
                <a:solidFill>
                  <a:srgbClr val="21005D"/>
                </a:solidFill>
                <a:latin typeface="Roboto"/>
                <a:ea typeface="Roboto"/>
                <a:cs typeface="Roboto"/>
              </a:defRPr>
            </a:lvl6pPr>
            <a:lvl7pPr algn="l">
              <a:defRPr sz="4200" b="1">
                <a:solidFill>
                  <a:srgbClr val="21005D"/>
                </a:solidFill>
                <a:latin typeface="Roboto"/>
                <a:ea typeface="Roboto"/>
                <a:cs typeface="Roboto"/>
              </a:defRPr>
            </a:lvl7pPr>
            <a:lvl8pPr algn="l">
              <a:defRPr sz="4200" b="1">
                <a:solidFill>
                  <a:srgbClr val="21005D"/>
                </a:solidFill>
                <a:latin typeface="Roboto"/>
                <a:ea typeface="Roboto"/>
                <a:cs typeface="Roboto"/>
              </a:defRPr>
            </a:lvl8pPr>
            <a:lvl9pPr algn="l">
              <a:defRPr sz="4200" b="1">
                <a:solidFill>
                  <a:srgbClr val="21005D"/>
                </a:solidFill>
                <a:latin typeface="Roboto"/>
                <a:ea typeface="Roboto"/>
                <a:cs typeface="Roboto"/>
              </a:defRPr>
            </a:lvl9pPr>
          </a:lstStyle>
          <a:p xmlns:a="http://schemas.openxmlformats.org/drawingml/2006/main">
            <a:pPr algn="l">
              <a:defRPr sz="4200" b="1">
                <a:solidFill>
                  <a:srgbClr val="21005D"/>
                </a:solidFill>
                <a:latin typeface="Roboto"/>
                <a:ea typeface="Roboto"/>
                <a:cs typeface="Roboto"/>
              </a:defRPr>
            </a:pPr>
            <a:r>
              <a:rPr sz="4200" b="1">
                <a:solidFill>
                  <a:srgbClr val="21005D"/>
                </a:solidFill>
                <a:latin typeface="Roboto"/>
                <a:ea typeface="Roboto"/>
                <a:cs typeface="Roboto"/>
              </a:rPr>
              <a:t>Hosted economics</a:t>
            </a:r>
          </a:p>
        </p:txBody>
      </p:sp>
      <p:sp>
        <p:nvSpPr>
          <p:cNvPr id="3" name="Illustrative monthly scenario · USD">
            <a:extLst xmlns:a="http://schemas.openxmlformats.org/drawingml/2006/main">
              <a:ext uri="{FF2B5EF4-FFF2-40B4-BE49-F238E27FC236}">
                <a16:creationId xmlns:a16="http://schemas.microsoft.com/office/drawing/2014/main" id="{C85BCC86-063E-4D95-8786-886C768DB606}"/>
              </a:ext>
            </a:extLst>
          </p:cNvPr>
          <p:cNvSpPr>
            <a:spLocks xmlns:a="http://schemas.openxmlformats.org/drawingml/2006/main" noGrp="1"/>
          </p:cNvSpPr>
          <p:nvPr/>
        </p:nvSpPr>
        <p:spPr>
          <a:xfrm xmlns:a="http://schemas.openxmlformats.org/drawingml/2006/main">
            <a:off x="609600" y="14001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9454F"/>
                </a:solidFill>
                <a:latin typeface="Roboto"/>
                <a:ea typeface="Roboto"/>
                <a:cs typeface="Roboto"/>
              </a:defRPr>
            </a:defPPr>
            <a:lvl1pPr algn="l">
              <a:defRPr sz="2100" b="0">
                <a:solidFill>
                  <a:srgbClr val="49454F"/>
                </a:solidFill>
                <a:latin typeface="Roboto"/>
                <a:ea typeface="Roboto"/>
                <a:cs typeface="Roboto"/>
              </a:defRPr>
            </a:lvl1pPr>
            <a:lvl2pPr algn="l">
              <a:defRPr sz="2100" b="0">
                <a:solidFill>
                  <a:srgbClr val="49454F"/>
                </a:solidFill>
                <a:latin typeface="Roboto"/>
                <a:ea typeface="Roboto"/>
                <a:cs typeface="Roboto"/>
              </a:defRPr>
            </a:lvl2pPr>
            <a:lvl3pPr algn="l">
              <a:defRPr sz="2100" b="0">
                <a:solidFill>
                  <a:srgbClr val="49454F"/>
                </a:solidFill>
                <a:latin typeface="Roboto"/>
                <a:ea typeface="Roboto"/>
                <a:cs typeface="Roboto"/>
              </a:defRPr>
            </a:lvl3pPr>
            <a:lvl4pPr algn="l">
              <a:defRPr sz="2100" b="0">
                <a:solidFill>
                  <a:srgbClr val="49454F"/>
                </a:solidFill>
                <a:latin typeface="Roboto"/>
                <a:ea typeface="Roboto"/>
                <a:cs typeface="Roboto"/>
              </a:defRPr>
            </a:lvl4pPr>
            <a:lvl5pPr algn="l">
              <a:defRPr sz="2100" b="0">
                <a:solidFill>
                  <a:srgbClr val="49454F"/>
                </a:solidFill>
                <a:latin typeface="Roboto"/>
                <a:ea typeface="Roboto"/>
                <a:cs typeface="Roboto"/>
              </a:defRPr>
            </a:lvl5pPr>
            <a:lvl6pPr algn="l">
              <a:defRPr sz="2100" b="0">
                <a:solidFill>
                  <a:srgbClr val="49454F"/>
                </a:solidFill>
                <a:latin typeface="Roboto"/>
                <a:ea typeface="Roboto"/>
                <a:cs typeface="Roboto"/>
              </a:defRPr>
            </a:lvl6pPr>
            <a:lvl7pPr algn="l">
              <a:defRPr sz="2100" b="0">
                <a:solidFill>
                  <a:srgbClr val="49454F"/>
                </a:solidFill>
                <a:latin typeface="Roboto"/>
                <a:ea typeface="Roboto"/>
                <a:cs typeface="Roboto"/>
              </a:defRPr>
            </a:lvl7pPr>
            <a:lvl8pPr algn="l">
              <a:defRPr sz="2100" b="0">
                <a:solidFill>
                  <a:srgbClr val="49454F"/>
                </a:solidFill>
                <a:latin typeface="Roboto"/>
                <a:ea typeface="Roboto"/>
                <a:cs typeface="Roboto"/>
              </a:defRPr>
            </a:lvl8pPr>
            <a:lvl9pPr algn="l">
              <a:defRPr sz="2100" b="0">
                <a:solidFill>
                  <a:srgbClr val="49454F"/>
                </a:solidFill>
                <a:latin typeface="Roboto"/>
                <a:ea typeface="Roboto"/>
                <a:cs typeface="Roboto"/>
              </a:defRPr>
            </a:lvl9pPr>
          </a:lstStyle>
          <a:p xmlns:a="http://schemas.openxmlformats.org/drawingml/2006/main">
            <a:pPr algn="l">
              <a:defRPr sz="2100" b="0">
                <a:solidFill>
                  <a:srgbClr val="49454F"/>
                </a:solidFill>
                <a:latin typeface="Roboto"/>
                <a:ea typeface="Roboto"/>
                <a:cs typeface="Roboto"/>
              </a:defRPr>
            </a:pPr>
            <a:r>
              <a:rPr sz="2100" b="0">
                <a:solidFill>
                  <a:srgbClr val="49454F"/>
                </a:solidFill>
                <a:latin typeface="Roboto"/>
                <a:ea typeface="Roboto"/>
                <a:cs typeface="Roboto"/>
              </a:rPr>
              <a:t>Illustrative monthly scenario · USD</a:t>
            </a:r>
          </a:p>
        </p:txBody>
      </p:sp>
      <p:sp>
        <p:nvSpPr>
          <p:cNvPr id="4" name="$49">
            <a:extLst xmlns:a="http://schemas.openxmlformats.org/drawingml/2006/main">
              <a:ext uri="{FF2B5EF4-FFF2-40B4-BE49-F238E27FC236}">
                <a16:creationId xmlns:a16="http://schemas.microsoft.com/office/drawing/2014/main" id="{2CB3169D-3A10-4318-9243-437409C23C93}"/>
              </a:ext>
            </a:extLst>
          </p:cNvPr>
          <p:cNvSpPr>
            <a:spLocks xmlns:a="http://schemas.openxmlformats.org/drawingml/2006/main" noGrp="1"/>
          </p:cNvSpPr>
          <p:nvPr/>
        </p:nvSpPr>
        <p:spPr>
          <a:xfrm xmlns:a="http://schemas.openxmlformats.org/drawingml/2006/main">
            <a:off x="609600" y="2095500"/>
            <a:ext cx="333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21005D"/>
                </a:solidFill>
                <a:latin typeface="Roboto"/>
                <a:ea typeface="Roboto"/>
                <a:cs typeface="Roboto"/>
              </a:defRPr>
            </a:defPPr>
            <a:lvl1pPr algn="l">
              <a:defRPr sz="5400" b="1">
                <a:solidFill>
                  <a:srgbClr val="21005D"/>
                </a:solidFill>
                <a:latin typeface="Roboto"/>
                <a:ea typeface="Roboto"/>
                <a:cs typeface="Roboto"/>
              </a:defRPr>
            </a:lvl1pPr>
            <a:lvl2pPr algn="l">
              <a:defRPr sz="5400" b="1">
                <a:solidFill>
                  <a:srgbClr val="21005D"/>
                </a:solidFill>
                <a:latin typeface="Roboto"/>
                <a:ea typeface="Roboto"/>
                <a:cs typeface="Roboto"/>
              </a:defRPr>
            </a:lvl2pPr>
            <a:lvl3pPr algn="l">
              <a:defRPr sz="5400" b="1">
                <a:solidFill>
                  <a:srgbClr val="21005D"/>
                </a:solidFill>
                <a:latin typeface="Roboto"/>
                <a:ea typeface="Roboto"/>
                <a:cs typeface="Roboto"/>
              </a:defRPr>
            </a:lvl3pPr>
            <a:lvl4pPr algn="l">
              <a:defRPr sz="5400" b="1">
                <a:solidFill>
                  <a:srgbClr val="21005D"/>
                </a:solidFill>
                <a:latin typeface="Roboto"/>
                <a:ea typeface="Roboto"/>
                <a:cs typeface="Roboto"/>
              </a:defRPr>
            </a:lvl4pPr>
            <a:lvl5pPr algn="l">
              <a:defRPr sz="5400" b="1">
                <a:solidFill>
                  <a:srgbClr val="21005D"/>
                </a:solidFill>
                <a:latin typeface="Roboto"/>
                <a:ea typeface="Roboto"/>
                <a:cs typeface="Roboto"/>
              </a:defRPr>
            </a:lvl5pPr>
            <a:lvl6pPr algn="l">
              <a:defRPr sz="5400" b="1">
                <a:solidFill>
                  <a:srgbClr val="21005D"/>
                </a:solidFill>
                <a:latin typeface="Roboto"/>
                <a:ea typeface="Roboto"/>
                <a:cs typeface="Roboto"/>
              </a:defRPr>
            </a:lvl6pPr>
            <a:lvl7pPr algn="l">
              <a:defRPr sz="5400" b="1">
                <a:solidFill>
                  <a:srgbClr val="21005D"/>
                </a:solidFill>
                <a:latin typeface="Roboto"/>
                <a:ea typeface="Roboto"/>
                <a:cs typeface="Roboto"/>
              </a:defRPr>
            </a:lvl7pPr>
            <a:lvl8pPr algn="l">
              <a:defRPr sz="5400" b="1">
                <a:solidFill>
                  <a:srgbClr val="21005D"/>
                </a:solidFill>
                <a:latin typeface="Roboto"/>
                <a:ea typeface="Roboto"/>
                <a:cs typeface="Roboto"/>
              </a:defRPr>
            </a:lvl8pPr>
            <a:lvl9pPr algn="l">
              <a:defRPr sz="5400" b="1">
                <a:solidFill>
                  <a:srgbClr val="21005D"/>
                </a:solidFill>
                <a:latin typeface="Roboto"/>
                <a:ea typeface="Roboto"/>
                <a:cs typeface="Roboto"/>
              </a:defRPr>
            </a:lvl9pPr>
          </a:lstStyle>
          <a:p xmlns:a="http://schemas.openxmlformats.org/drawingml/2006/main">
            <a:pPr algn="l">
              <a:defRPr sz="5400" b="1">
                <a:solidFill>
                  <a:srgbClr val="21005D"/>
                </a:solidFill>
                <a:latin typeface="Roboto"/>
                <a:ea typeface="Roboto"/>
                <a:cs typeface="Roboto"/>
              </a:defRPr>
            </a:pPr>
            <a:r>
              <a:rPr sz="5400" b="1">
                <a:solidFill>
                  <a:srgbClr val="21005D"/>
                </a:solidFill>
                <a:latin typeface="Roboto"/>
                <a:ea typeface="Roboto"/>
                <a:cs typeface="Roboto"/>
              </a:rPr>
              <a:t>$49</a:t>
            </a:r>
          </a:p>
        </p:txBody>
      </p:sp>
      <p:sp>
        <p:nvSpPr>
          <p:cNvPr id="5" name="subscription / team">
            <a:extLst xmlns:a="http://schemas.openxmlformats.org/drawingml/2006/main">
              <a:ext uri="{FF2B5EF4-FFF2-40B4-BE49-F238E27FC236}">
                <a16:creationId xmlns:a16="http://schemas.microsoft.com/office/drawing/2014/main" id="{B0DD3780-7502-4ABA-9564-5CA2E91C7270}"/>
              </a:ext>
            </a:extLst>
          </p:cNvPr>
          <p:cNvSpPr>
            <a:spLocks xmlns:a="http://schemas.openxmlformats.org/drawingml/2006/main" noGrp="1"/>
          </p:cNvSpPr>
          <p:nvPr/>
        </p:nvSpPr>
        <p:spPr>
          <a:xfrm xmlns:a="http://schemas.openxmlformats.org/drawingml/2006/main">
            <a:off x="609600" y="29051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49454F"/>
                </a:solidFill>
                <a:latin typeface="Roboto"/>
                <a:ea typeface="Roboto"/>
                <a:cs typeface="Roboto"/>
              </a:defRPr>
            </a:defPPr>
            <a:lvl1pPr algn="l">
              <a:defRPr sz="1800" b="0">
                <a:solidFill>
                  <a:srgbClr val="49454F"/>
                </a:solidFill>
                <a:latin typeface="Roboto"/>
                <a:ea typeface="Roboto"/>
                <a:cs typeface="Roboto"/>
              </a:defRPr>
            </a:lvl1pPr>
            <a:lvl2pPr algn="l">
              <a:defRPr sz="1800" b="0">
                <a:solidFill>
                  <a:srgbClr val="49454F"/>
                </a:solidFill>
                <a:latin typeface="Roboto"/>
                <a:ea typeface="Roboto"/>
                <a:cs typeface="Roboto"/>
              </a:defRPr>
            </a:lvl2pPr>
            <a:lvl3pPr algn="l">
              <a:defRPr sz="1800" b="0">
                <a:solidFill>
                  <a:srgbClr val="49454F"/>
                </a:solidFill>
                <a:latin typeface="Roboto"/>
                <a:ea typeface="Roboto"/>
                <a:cs typeface="Roboto"/>
              </a:defRPr>
            </a:lvl3pPr>
            <a:lvl4pPr algn="l">
              <a:defRPr sz="1800" b="0">
                <a:solidFill>
                  <a:srgbClr val="49454F"/>
                </a:solidFill>
                <a:latin typeface="Roboto"/>
                <a:ea typeface="Roboto"/>
                <a:cs typeface="Roboto"/>
              </a:defRPr>
            </a:lvl4pPr>
            <a:lvl5pPr algn="l">
              <a:defRPr sz="1800" b="0">
                <a:solidFill>
                  <a:srgbClr val="49454F"/>
                </a:solidFill>
                <a:latin typeface="Roboto"/>
                <a:ea typeface="Roboto"/>
                <a:cs typeface="Roboto"/>
              </a:defRPr>
            </a:lvl5pPr>
            <a:lvl6pPr algn="l">
              <a:defRPr sz="1800" b="0">
                <a:solidFill>
                  <a:srgbClr val="49454F"/>
                </a:solidFill>
                <a:latin typeface="Roboto"/>
                <a:ea typeface="Roboto"/>
                <a:cs typeface="Roboto"/>
              </a:defRPr>
            </a:lvl6pPr>
            <a:lvl7pPr algn="l">
              <a:defRPr sz="1800" b="0">
                <a:solidFill>
                  <a:srgbClr val="49454F"/>
                </a:solidFill>
                <a:latin typeface="Roboto"/>
                <a:ea typeface="Roboto"/>
                <a:cs typeface="Roboto"/>
              </a:defRPr>
            </a:lvl7pPr>
            <a:lvl8pPr algn="l">
              <a:defRPr sz="1800" b="0">
                <a:solidFill>
                  <a:srgbClr val="49454F"/>
                </a:solidFill>
                <a:latin typeface="Roboto"/>
                <a:ea typeface="Roboto"/>
                <a:cs typeface="Roboto"/>
              </a:defRPr>
            </a:lvl8pPr>
            <a:lvl9pPr algn="l">
              <a:defRPr sz="1800" b="0">
                <a:solidFill>
                  <a:srgbClr val="49454F"/>
                </a:solidFill>
                <a:latin typeface="Roboto"/>
                <a:ea typeface="Roboto"/>
                <a:cs typeface="Roboto"/>
              </a:defRPr>
            </a:lvl9pPr>
          </a:lstStyle>
          <a:p xmlns:a="http://schemas.openxmlformats.org/drawingml/2006/main">
            <a:pPr algn="l">
              <a:defRPr sz="1800" b="0">
                <a:solidFill>
                  <a:srgbClr val="49454F"/>
                </a:solidFill>
                <a:latin typeface="Roboto"/>
                <a:ea typeface="Roboto"/>
                <a:cs typeface="Roboto"/>
              </a:defRPr>
            </a:pPr>
            <a:r>
              <a:rPr sz="1800" b="0">
                <a:solidFill>
                  <a:srgbClr val="49454F"/>
                </a:solidFill>
                <a:latin typeface="Roboto"/>
                <a:ea typeface="Roboto"/>
                <a:cs typeface="Roboto"/>
              </a:rPr>
              <a:t>subscription / team</a:t>
            </a:r>
          </a:p>
        </p:txBody>
      </p:sp>
      <p:sp>
        <p:nvSpPr>
          <p:cNvPr id="6" name="− $15">
            <a:extLst xmlns:a="http://schemas.openxmlformats.org/drawingml/2006/main">
              <a:ext uri="{FF2B5EF4-FFF2-40B4-BE49-F238E27FC236}">
                <a16:creationId xmlns:a16="http://schemas.microsoft.com/office/drawing/2014/main" id="{06F4182C-2538-4CA1-B426-7B14CA6590D1}"/>
              </a:ext>
            </a:extLst>
          </p:cNvPr>
          <p:cNvSpPr>
            <a:spLocks xmlns:a="http://schemas.openxmlformats.org/drawingml/2006/main" noGrp="1"/>
          </p:cNvSpPr>
          <p:nvPr/>
        </p:nvSpPr>
        <p:spPr>
          <a:xfrm xmlns:a="http://schemas.openxmlformats.org/drawingml/2006/main">
            <a:off x="609600" y="3400425"/>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49454F"/>
                </a:solidFill>
                <a:latin typeface="Roboto"/>
                <a:ea typeface="Roboto"/>
                <a:cs typeface="Roboto"/>
              </a:defRPr>
            </a:defPPr>
            <a:lvl1pPr algn="l">
              <a:defRPr sz="4050" b="1">
                <a:solidFill>
                  <a:srgbClr val="49454F"/>
                </a:solidFill>
                <a:latin typeface="Roboto"/>
                <a:ea typeface="Roboto"/>
                <a:cs typeface="Roboto"/>
              </a:defRPr>
            </a:lvl1pPr>
            <a:lvl2pPr algn="l">
              <a:defRPr sz="4050" b="1">
                <a:solidFill>
                  <a:srgbClr val="49454F"/>
                </a:solidFill>
                <a:latin typeface="Roboto"/>
                <a:ea typeface="Roboto"/>
                <a:cs typeface="Roboto"/>
              </a:defRPr>
            </a:lvl2pPr>
            <a:lvl3pPr algn="l">
              <a:defRPr sz="4050" b="1">
                <a:solidFill>
                  <a:srgbClr val="49454F"/>
                </a:solidFill>
                <a:latin typeface="Roboto"/>
                <a:ea typeface="Roboto"/>
                <a:cs typeface="Roboto"/>
              </a:defRPr>
            </a:lvl3pPr>
            <a:lvl4pPr algn="l">
              <a:defRPr sz="4050" b="1">
                <a:solidFill>
                  <a:srgbClr val="49454F"/>
                </a:solidFill>
                <a:latin typeface="Roboto"/>
                <a:ea typeface="Roboto"/>
                <a:cs typeface="Roboto"/>
              </a:defRPr>
            </a:lvl4pPr>
            <a:lvl5pPr algn="l">
              <a:defRPr sz="4050" b="1">
                <a:solidFill>
                  <a:srgbClr val="49454F"/>
                </a:solidFill>
                <a:latin typeface="Roboto"/>
                <a:ea typeface="Roboto"/>
                <a:cs typeface="Roboto"/>
              </a:defRPr>
            </a:lvl5pPr>
            <a:lvl6pPr algn="l">
              <a:defRPr sz="4050" b="1">
                <a:solidFill>
                  <a:srgbClr val="49454F"/>
                </a:solidFill>
                <a:latin typeface="Roboto"/>
                <a:ea typeface="Roboto"/>
                <a:cs typeface="Roboto"/>
              </a:defRPr>
            </a:lvl6pPr>
            <a:lvl7pPr algn="l">
              <a:defRPr sz="4050" b="1">
                <a:solidFill>
                  <a:srgbClr val="49454F"/>
                </a:solidFill>
                <a:latin typeface="Roboto"/>
                <a:ea typeface="Roboto"/>
                <a:cs typeface="Roboto"/>
              </a:defRPr>
            </a:lvl7pPr>
            <a:lvl8pPr algn="l">
              <a:defRPr sz="4050" b="1">
                <a:solidFill>
                  <a:srgbClr val="49454F"/>
                </a:solidFill>
                <a:latin typeface="Roboto"/>
                <a:ea typeface="Roboto"/>
                <a:cs typeface="Roboto"/>
              </a:defRPr>
            </a:lvl8pPr>
            <a:lvl9pPr algn="l">
              <a:defRPr sz="4050" b="1">
                <a:solidFill>
                  <a:srgbClr val="49454F"/>
                </a:solidFill>
                <a:latin typeface="Roboto"/>
                <a:ea typeface="Roboto"/>
                <a:cs typeface="Roboto"/>
              </a:defRPr>
            </a:lvl9pPr>
          </a:lstStyle>
          <a:p xmlns:a="http://schemas.openxmlformats.org/drawingml/2006/main">
            <a:pPr algn="l">
              <a:defRPr sz="4050" b="1">
                <a:solidFill>
                  <a:srgbClr val="49454F"/>
                </a:solidFill>
                <a:latin typeface="Roboto"/>
                <a:ea typeface="Roboto"/>
                <a:cs typeface="Roboto"/>
              </a:defRPr>
            </a:pPr>
            <a:r>
              <a:rPr sz="4050" b="1">
                <a:solidFill>
                  <a:srgbClr val="49454F"/>
                </a:solidFill>
                <a:latin typeface="Roboto"/>
                <a:ea typeface="Roboto"/>
                <a:cs typeface="Roboto"/>
              </a:rPr>
              <a:t>− $15</a:t>
            </a:r>
          </a:p>
        </p:txBody>
      </p:sp>
      <p:sp>
        <p:nvSpPr>
          <p:cNvPr id="7" name="variable cost / team">
            <a:extLst xmlns:a="http://schemas.openxmlformats.org/drawingml/2006/main">
              <a:ext uri="{FF2B5EF4-FFF2-40B4-BE49-F238E27FC236}">
                <a16:creationId xmlns:a16="http://schemas.microsoft.com/office/drawing/2014/main" id="{809FBE9B-0EA3-4175-AE33-A692E3209DA8}"/>
              </a:ext>
            </a:extLst>
          </p:cNvPr>
          <p:cNvSpPr>
            <a:spLocks xmlns:a="http://schemas.openxmlformats.org/drawingml/2006/main" noGrp="1"/>
          </p:cNvSpPr>
          <p:nvPr/>
        </p:nvSpPr>
        <p:spPr>
          <a:xfrm xmlns:a="http://schemas.openxmlformats.org/drawingml/2006/main">
            <a:off x="609600" y="40671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49454F"/>
                </a:solidFill>
                <a:latin typeface="Roboto"/>
                <a:ea typeface="Roboto"/>
                <a:cs typeface="Roboto"/>
              </a:defRPr>
            </a:defPPr>
            <a:lvl1pPr algn="l">
              <a:defRPr sz="1800" b="0">
                <a:solidFill>
                  <a:srgbClr val="49454F"/>
                </a:solidFill>
                <a:latin typeface="Roboto"/>
                <a:ea typeface="Roboto"/>
                <a:cs typeface="Roboto"/>
              </a:defRPr>
            </a:lvl1pPr>
            <a:lvl2pPr algn="l">
              <a:defRPr sz="1800" b="0">
                <a:solidFill>
                  <a:srgbClr val="49454F"/>
                </a:solidFill>
                <a:latin typeface="Roboto"/>
                <a:ea typeface="Roboto"/>
                <a:cs typeface="Roboto"/>
              </a:defRPr>
            </a:lvl2pPr>
            <a:lvl3pPr algn="l">
              <a:defRPr sz="1800" b="0">
                <a:solidFill>
                  <a:srgbClr val="49454F"/>
                </a:solidFill>
                <a:latin typeface="Roboto"/>
                <a:ea typeface="Roboto"/>
                <a:cs typeface="Roboto"/>
              </a:defRPr>
            </a:lvl3pPr>
            <a:lvl4pPr algn="l">
              <a:defRPr sz="1800" b="0">
                <a:solidFill>
                  <a:srgbClr val="49454F"/>
                </a:solidFill>
                <a:latin typeface="Roboto"/>
                <a:ea typeface="Roboto"/>
                <a:cs typeface="Roboto"/>
              </a:defRPr>
            </a:lvl4pPr>
            <a:lvl5pPr algn="l">
              <a:defRPr sz="1800" b="0">
                <a:solidFill>
                  <a:srgbClr val="49454F"/>
                </a:solidFill>
                <a:latin typeface="Roboto"/>
                <a:ea typeface="Roboto"/>
                <a:cs typeface="Roboto"/>
              </a:defRPr>
            </a:lvl5pPr>
            <a:lvl6pPr algn="l">
              <a:defRPr sz="1800" b="0">
                <a:solidFill>
                  <a:srgbClr val="49454F"/>
                </a:solidFill>
                <a:latin typeface="Roboto"/>
                <a:ea typeface="Roboto"/>
                <a:cs typeface="Roboto"/>
              </a:defRPr>
            </a:lvl6pPr>
            <a:lvl7pPr algn="l">
              <a:defRPr sz="1800" b="0">
                <a:solidFill>
                  <a:srgbClr val="49454F"/>
                </a:solidFill>
                <a:latin typeface="Roboto"/>
                <a:ea typeface="Roboto"/>
                <a:cs typeface="Roboto"/>
              </a:defRPr>
            </a:lvl7pPr>
            <a:lvl8pPr algn="l">
              <a:defRPr sz="1800" b="0">
                <a:solidFill>
                  <a:srgbClr val="49454F"/>
                </a:solidFill>
                <a:latin typeface="Roboto"/>
                <a:ea typeface="Roboto"/>
                <a:cs typeface="Roboto"/>
              </a:defRPr>
            </a:lvl8pPr>
            <a:lvl9pPr algn="l">
              <a:defRPr sz="1800" b="0">
                <a:solidFill>
                  <a:srgbClr val="49454F"/>
                </a:solidFill>
                <a:latin typeface="Roboto"/>
                <a:ea typeface="Roboto"/>
                <a:cs typeface="Roboto"/>
              </a:defRPr>
            </a:lvl9pPr>
          </a:lstStyle>
          <a:p xmlns:a="http://schemas.openxmlformats.org/drawingml/2006/main">
            <a:pPr algn="l">
              <a:defRPr sz="1800" b="0">
                <a:solidFill>
                  <a:srgbClr val="49454F"/>
                </a:solidFill>
                <a:latin typeface="Roboto"/>
                <a:ea typeface="Roboto"/>
                <a:cs typeface="Roboto"/>
              </a:defRPr>
            </a:pPr>
            <a:r>
              <a:rPr sz="1800" b="0">
                <a:solidFill>
                  <a:srgbClr val="49454F"/>
                </a:solidFill>
                <a:latin typeface="Roboto"/>
                <a:ea typeface="Roboto"/>
                <a:cs typeface="Roboto"/>
              </a:rPr>
              <a:t>variable cost / team</a:t>
            </a:r>
          </a:p>
        </p:txBody>
      </p:sp>
      <p:sp>
        <p:nvSpPr>
          <p:cNvPr id="8" name="= $34">
            <a:extLst xmlns:a="http://schemas.openxmlformats.org/drawingml/2006/main">
              <a:ext uri="{FF2B5EF4-FFF2-40B4-BE49-F238E27FC236}">
                <a16:creationId xmlns:a16="http://schemas.microsoft.com/office/drawing/2014/main" id="{F245FCDC-F92C-4B2B-B7DD-11EE37A32FA1}"/>
              </a:ext>
            </a:extLst>
          </p:cNvPr>
          <p:cNvSpPr>
            <a:spLocks xmlns:a="http://schemas.openxmlformats.org/drawingml/2006/main" noGrp="1"/>
          </p:cNvSpPr>
          <p:nvPr/>
        </p:nvSpPr>
        <p:spPr>
          <a:xfrm xmlns:a="http://schemas.openxmlformats.org/drawingml/2006/main">
            <a:off x="609600" y="457200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06B5F"/>
                </a:solidFill>
                <a:latin typeface="Roboto"/>
                <a:ea typeface="Roboto"/>
                <a:cs typeface="Roboto"/>
              </a:defRPr>
            </a:defPPr>
            <a:lvl1pPr algn="l">
              <a:defRPr sz="4800" b="1">
                <a:solidFill>
                  <a:srgbClr val="006B5F"/>
                </a:solidFill>
                <a:latin typeface="Roboto"/>
                <a:ea typeface="Roboto"/>
                <a:cs typeface="Roboto"/>
              </a:defRPr>
            </a:lvl1pPr>
            <a:lvl2pPr algn="l">
              <a:defRPr sz="4800" b="1">
                <a:solidFill>
                  <a:srgbClr val="006B5F"/>
                </a:solidFill>
                <a:latin typeface="Roboto"/>
                <a:ea typeface="Roboto"/>
                <a:cs typeface="Roboto"/>
              </a:defRPr>
            </a:lvl2pPr>
            <a:lvl3pPr algn="l">
              <a:defRPr sz="4800" b="1">
                <a:solidFill>
                  <a:srgbClr val="006B5F"/>
                </a:solidFill>
                <a:latin typeface="Roboto"/>
                <a:ea typeface="Roboto"/>
                <a:cs typeface="Roboto"/>
              </a:defRPr>
            </a:lvl3pPr>
            <a:lvl4pPr algn="l">
              <a:defRPr sz="4800" b="1">
                <a:solidFill>
                  <a:srgbClr val="006B5F"/>
                </a:solidFill>
                <a:latin typeface="Roboto"/>
                <a:ea typeface="Roboto"/>
                <a:cs typeface="Roboto"/>
              </a:defRPr>
            </a:lvl4pPr>
            <a:lvl5pPr algn="l">
              <a:defRPr sz="4800" b="1">
                <a:solidFill>
                  <a:srgbClr val="006B5F"/>
                </a:solidFill>
                <a:latin typeface="Roboto"/>
                <a:ea typeface="Roboto"/>
                <a:cs typeface="Roboto"/>
              </a:defRPr>
            </a:lvl5pPr>
            <a:lvl6pPr algn="l">
              <a:defRPr sz="4800" b="1">
                <a:solidFill>
                  <a:srgbClr val="006B5F"/>
                </a:solidFill>
                <a:latin typeface="Roboto"/>
                <a:ea typeface="Roboto"/>
                <a:cs typeface="Roboto"/>
              </a:defRPr>
            </a:lvl6pPr>
            <a:lvl7pPr algn="l">
              <a:defRPr sz="4800" b="1">
                <a:solidFill>
                  <a:srgbClr val="006B5F"/>
                </a:solidFill>
                <a:latin typeface="Roboto"/>
                <a:ea typeface="Roboto"/>
                <a:cs typeface="Roboto"/>
              </a:defRPr>
            </a:lvl7pPr>
            <a:lvl8pPr algn="l">
              <a:defRPr sz="4800" b="1">
                <a:solidFill>
                  <a:srgbClr val="006B5F"/>
                </a:solidFill>
                <a:latin typeface="Roboto"/>
                <a:ea typeface="Roboto"/>
                <a:cs typeface="Roboto"/>
              </a:defRPr>
            </a:lvl8pPr>
            <a:lvl9pPr algn="l">
              <a:defRPr sz="4800" b="1">
                <a:solidFill>
                  <a:srgbClr val="006B5F"/>
                </a:solidFill>
                <a:latin typeface="Roboto"/>
                <a:ea typeface="Roboto"/>
                <a:cs typeface="Roboto"/>
              </a:defRPr>
            </a:lvl9pPr>
          </a:lstStyle>
          <a:p xmlns:a="http://schemas.openxmlformats.org/drawingml/2006/main">
            <a:pPr algn="l">
              <a:defRPr sz="4800" b="1">
                <a:solidFill>
                  <a:srgbClr val="006B5F"/>
                </a:solidFill>
                <a:latin typeface="Roboto"/>
                <a:ea typeface="Roboto"/>
                <a:cs typeface="Roboto"/>
              </a:defRPr>
            </a:pPr>
            <a:r>
              <a:rPr sz="4800" b="1">
                <a:solidFill>
                  <a:srgbClr val="006B5F"/>
                </a:solidFill>
                <a:latin typeface="Roboto"/>
                <a:ea typeface="Roboto"/>
                <a:cs typeface="Roboto"/>
              </a:rPr>
              <a:t>= $34</a:t>
            </a:r>
          </a:p>
        </p:txBody>
      </p:sp>
      <p:sp>
        <p:nvSpPr>
          <p:cNvPr id="9" name="contribution / team">
            <a:extLst xmlns:a="http://schemas.openxmlformats.org/drawingml/2006/main">
              <a:ext uri="{FF2B5EF4-FFF2-40B4-BE49-F238E27FC236}">
                <a16:creationId xmlns:a16="http://schemas.microsoft.com/office/drawing/2014/main" id="{71A16C2D-2C75-4CEC-960C-8D396EB71A34}"/>
              </a:ext>
            </a:extLst>
          </p:cNvPr>
          <p:cNvSpPr>
            <a:spLocks xmlns:a="http://schemas.openxmlformats.org/drawingml/2006/main" noGrp="1"/>
          </p:cNvSpPr>
          <p:nvPr/>
        </p:nvSpPr>
        <p:spPr>
          <a:xfrm xmlns:a="http://schemas.openxmlformats.org/drawingml/2006/main">
            <a:off x="609600" y="53435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49454F"/>
                </a:solidFill>
                <a:latin typeface="Roboto"/>
                <a:ea typeface="Roboto"/>
                <a:cs typeface="Roboto"/>
              </a:defRPr>
            </a:defPPr>
            <a:lvl1pPr algn="l">
              <a:defRPr sz="1800" b="0">
                <a:solidFill>
                  <a:srgbClr val="49454F"/>
                </a:solidFill>
                <a:latin typeface="Roboto"/>
                <a:ea typeface="Roboto"/>
                <a:cs typeface="Roboto"/>
              </a:defRPr>
            </a:lvl1pPr>
            <a:lvl2pPr algn="l">
              <a:defRPr sz="1800" b="0">
                <a:solidFill>
                  <a:srgbClr val="49454F"/>
                </a:solidFill>
                <a:latin typeface="Roboto"/>
                <a:ea typeface="Roboto"/>
                <a:cs typeface="Roboto"/>
              </a:defRPr>
            </a:lvl2pPr>
            <a:lvl3pPr algn="l">
              <a:defRPr sz="1800" b="0">
                <a:solidFill>
                  <a:srgbClr val="49454F"/>
                </a:solidFill>
                <a:latin typeface="Roboto"/>
                <a:ea typeface="Roboto"/>
                <a:cs typeface="Roboto"/>
              </a:defRPr>
            </a:lvl3pPr>
            <a:lvl4pPr algn="l">
              <a:defRPr sz="1800" b="0">
                <a:solidFill>
                  <a:srgbClr val="49454F"/>
                </a:solidFill>
                <a:latin typeface="Roboto"/>
                <a:ea typeface="Roboto"/>
                <a:cs typeface="Roboto"/>
              </a:defRPr>
            </a:lvl4pPr>
            <a:lvl5pPr algn="l">
              <a:defRPr sz="1800" b="0">
                <a:solidFill>
                  <a:srgbClr val="49454F"/>
                </a:solidFill>
                <a:latin typeface="Roboto"/>
                <a:ea typeface="Roboto"/>
                <a:cs typeface="Roboto"/>
              </a:defRPr>
            </a:lvl5pPr>
            <a:lvl6pPr algn="l">
              <a:defRPr sz="1800" b="0">
                <a:solidFill>
                  <a:srgbClr val="49454F"/>
                </a:solidFill>
                <a:latin typeface="Roboto"/>
                <a:ea typeface="Roboto"/>
                <a:cs typeface="Roboto"/>
              </a:defRPr>
            </a:lvl6pPr>
            <a:lvl7pPr algn="l">
              <a:defRPr sz="1800" b="0">
                <a:solidFill>
                  <a:srgbClr val="49454F"/>
                </a:solidFill>
                <a:latin typeface="Roboto"/>
                <a:ea typeface="Roboto"/>
                <a:cs typeface="Roboto"/>
              </a:defRPr>
            </a:lvl7pPr>
            <a:lvl8pPr algn="l">
              <a:defRPr sz="1800" b="0">
                <a:solidFill>
                  <a:srgbClr val="49454F"/>
                </a:solidFill>
                <a:latin typeface="Roboto"/>
                <a:ea typeface="Roboto"/>
                <a:cs typeface="Roboto"/>
              </a:defRPr>
            </a:lvl8pPr>
            <a:lvl9pPr algn="l">
              <a:defRPr sz="1800" b="0">
                <a:solidFill>
                  <a:srgbClr val="49454F"/>
                </a:solidFill>
                <a:latin typeface="Roboto"/>
                <a:ea typeface="Roboto"/>
                <a:cs typeface="Roboto"/>
              </a:defRPr>
            </a:lvl9pPr>
          </a:lstStyle>
          <a:p xmlns:a="http://schemas.openxmlformats.org/drawingml/2006/main">
            <a:pPr algn="l">
              <a:defRPr sz="1800" b="0">
                <a:solidFill>
                  <a:srgbClr val="49454F"/>
                </a:solidFill>
                <a:latin typeface="Roboto"/>
                <a:ea typeface="Roboto"/>
                <a:cs typeface="Roboto"/>
              </a:defRPr>
            </a:pPr>
            <a:r>
              <a:rPr sz="1800" b="0">
                <a:solidFill>
                  <a:srgbClr val="49454F"/>
                </a:solidFill>
                <a:latin typeface="Roboto"/>
                <a:ea typeface="Roboto"/>
                <a:cs typeface="Roboto"/>
              </a:rPr>
              <a:t>contribution / team</a:t>
            </a:r>
          </a:p>
        </p:txBody>
      </p:sp>
      <p:graphicFrame>
        <p:nvGraphicFramePr>
          <p:cNvPr id="10" name="Chart">
            <a:extLst xmlns:a="http://schemas.openxmlformats.org/drawingml/2006/main">
              <a:ext uri="{FF2B5EF4-FFF2-40B4-BE49-F238E27FC236}">
                <a16:creationId xmlns:a16="http://schemas.microsoft.com/office/drawing/2014/main" id="{4F004624-E26B-4E85-85F8-43E9BF597B84}"/>
              </a:ext>
            </a:extLst>
          </p:cNvPr>
          <p:cNvGraphicFramePr/>
          <p:nvPr/>
        </p:nvGraphicFramePr>
        <p:xfrm>
          <a:off xmlns:a="http://schemas.openxmlformats.org/drawingml/2006/main" x="4438650" y="2057400"/>
          <a:ext xmlns:a="http://schemas.openxmlformats.org/drawingml/2006/main" cx="7124700" cy="3448050"/>
        </p:xfrm>
        <a:graphic xmlns:a="http://schemas.openxmlformats.org/drawingml/2006/main">
          <a:graphicData uri="http://schemas.openxmlformats.org/drawingml/2006/chart">
            <c:chart xmlns:r="http://schemas.openxmlformats.org/officeDocument/2006/relationships" xmlns:c="http://schemas.openxmlformats.org/drawingml/2006/chart" r:id="R15c2ac550a4b4372"/>
          </a:graphicData>
        </a:graphic>
      </p:graphicFrame>
      <p:sp>
        <p:nvSpPr>
          <p:cNvPr id="11" name="">
            <a:extLst xmlns:a="http://schemas.openxmlformats.org/drawingml/2006/main">
              <a:ext uri="{FF2B5EF4-FFF2-40B4-BE49-F238E27FC236}">
                <a16:creationId xmlns:a16="http://schemas.microsoft.com/office/drawing/2014/main" id="{773BA703-CE2E-40A1-9D4F-5A0E95243098}"/>
              </a:ext>
            </a:extLst>
          </p:cNvPr>
          <p:cNvSpPr>
            <a:spLocks xmlns:a="http://schemas.openxmlformats.org/drawingml/2006/main" noGrp="1"/>
          </p:cNvSpPr>
          <p:nvPr/>
        </p:nvSpPr>
        <p:spPr>
          <a:xfrm xmlns:a="http://schemas.openxmlformats.org/drawingml/2006/main">
            <a:off x="4438650" y="5657850"/>
            <a:ext cx="7124700" cy="561975"/>
          </a:xfrm>
          <a:prstGeom xmlns:a="http://schemas.openxmlformats.org/drawingml/2006/main" prst="roundRect">
            <a:avLst>
              <a:gd name="adj" fmla="val 33898"/>
            </a:avLst>
          </a:prstGeom>
          <a:solidFill xmlns:a="http://schemas.openxmlformats.org/drawingml/2006/main">
            <a:srgbClr val="BFEDE1"/>
          </a:solidFill>
          <a:ln xmlns:a="http://schemas.openxmlformats.org/drawingml/2006/main" w="0">
            <a:noFill/>
          </a:ln>
        </p:spPr>
      </p:sp>
      <p:sp>
        <p:nvSpPr>
          <p:cNvPr id="12" name="Break-even: 148 paying teams">
            <a:extLst xmlns:a="http://schemas.openxmlformats.org/drawingml/2006/main">
              <a:ext uri="{FF2B5EF4-FFF2-40B4-BE49-F238E27FC236}">
                <a16:creationId xmlns:a16="http://schemas.microsoft.com/office/drawing/2014/main" id="{4AA0EF85-865A-428F-8CF0-0143473A3400}"/>
              </a:ext>
            </a:extLst>
          </p:cNvPr>
          <p:cNvSpPr>
            <a:spLocks xmlns:a="http://schemas.openxmlformats.org/drawingml/2006/main" noGrp="1"/>
          </p:cNvSpPr>
          <p:nvPr/>
        </p:nvSpPr>
        <p:spPr>
          <a:xfrm xmlns:a="http://schemas.openxmlformats.org/drawingml/2006/main">
            <a:off x="4657725" y="5781675"/>
            <a:ext cx="6705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201B"/>
                </a:solidFill>
                <a:latin typeface="Roboto"/>
                <a:ea typeface="Roboto"/>
                <a:cs typeface="Roboto"/>
              </a:defRPr>
            </a:defPPr>
            <a:lvl1pPr algn="l">
              <a:defRPr sz="2100" b="1">
                <a:solidFill>
                  <a:srgbClr val="00201B"/>
                </a:solidFill>
                <a:latin typeface="Roboto"/>
                <a:ea typeface="Roboto"/>
                <a:cs typeface="Roboto"/>
              </a:defRPr>
            </a:lvl1pPr>
            <a:lvl2pPr algn="l">
              <a:defRPr sz="2100" b="1">
                <a:solidFill>
                  <a:srgbClr val="00201B"/>
                </a:solidFill>
                <a:latin typeface="Roboto"/>
                <a:ea typeface="Roboto"/>
                <a:cs typeface="Roboto"/>
              </a:defRPr>
            </a:lvl2pPr>
            <a:lvl3pPr algn="l">
              <a:defRPr sz="2100" b="1">
                <a:solidFill>
                  <a:srgbClr val="00201B"/>
                </a:solidFill>
                <a:latin typeface="Roboto"/>
                <a:ea typeface="Roboto"/>
                <a:cs typeface="Roboto"/>
              </a:defRPr>
            </a:lvl3pPr>
            <a:lvl4pPr algn="l">
              <a:defRPr sz="2100" b="1">
                <a:solidFill>
                  <a:srgbClr val="00201B"/>
                </a:solidFill>
                <a:latin typeface="Roboto"/>
                <a:ea typeface="Roboto"/>
                <a:cs typeface="Roboto"/>
              </a:defRPr>
            </a:lvl4pPr>
            <a:lvl5pPr algn="l">
              <a:defRPr sz="2100" b="1">
                <a:solidFill>
                  <a:srgbClr val="00201B"/>
                </a:solidFill>
                <a:latin typeface="Roboto"/>
                <a:ea typeface="Roboto"/>
                <a:cs typeface="Roboto"/>
              </a:defRPr>
            </a:lvl5pPr>
            <a:lvl6pPr algn="l">
              <a:defRPr sz="2100" b="1">
                <a:solidFill>
                  <a:srgbClr val="00201B"/>
                </a:solidFill>
                <a:latin typeface="Roboto"/>
                <a:ea typeface="Roboto"/>
                <a:cs typeface="Roboto"/>
              </a:defRPr>
            </a:lvl6pPr>
            <a:lvl7pPr algn="l">
              <a:defRPr sz="2100" b="1">
                <a:solidFill>
                  <a:srgbClr val="00201B"/>
                </a:solidFill>
                <a:latin typeface="Roboto"/>
                <a:ea typeface="Roboto"/>
                <a:cs typeface="Roboto"/>
              </a:defRPr>
            </a:lvl7pPr>
            <a:lvl8pPr algn="l">
              <a:defRPr sz="2100" b="1">
                <a:solidFill>
                  <a:srgbClr val="00201B"/>
                </a:solidFill>
                <a:latin typeface="Roboto"/>
                <a:ea typeface="Roboto"/>
                <a:cs typeface="Roboto"/>
              </a:defRPr>
            </a:lvl8pPr>
            <a:lvl9pPr algn="l">
              <a:defRPr sz="2100" b="1">
                <a:solidFill>
                  <a:srgbClr val="00201B"/>
                </a:solidFill>
                <a:latin typeface="Roboto"/>
                <a:ea typeface="Roboto"/>
                <a:cs typeface="Roboto"/>
              </a:defRPr>
            </a:lvl9pPr>
          </a:lstStyle>
          <a:p xmlns:a="http://schemas.openxmlformats.org/drawingml/2006/main">
            <a:pPr algn="l">
              <a:defRPr sz="2100" b="1">
                <a:solidFill>
                  <a:srgbClr val="00201B"/>
                </a:solidFill>
                <a:latin typeface="Roboto"/>
                <a:ea typeface="Roboto"/>
                <a:cs typeface="Roboto"/>
              </a:defRPr>
            </a:pPr>
            <a:r>
              <a:rPr sz="2100" b="1">
                <a:solidFill>
                  <a:srgbClr val="00201B"/>
                </a:solidFill>
                <a:latin typeface="Roboto"/>
                <a:ea typeface="Roboto"/>
                <a:cs typeface="Roboto"/>
              </a:rPr>
              <a:t>Break-even: 148 paying teams</a:t>
            </a:r>
          </a:p>
        </p:txBody>
      </p:sp>
      <p:sp>
        <p:nvSpPr>
          <p:cNvPr id="13" name="Assumes $5,000 fixed costs / month; before tax">
            <a:extLst xmlns:a="http://schemas.openxmlformats.org/drawingml/2006/main">
              <a:ext uri="{FF2B5EF4-FFF2-40B4-BE49-F238E27FC236}">
                <a16:creationId xmlns:a16="http://schemas.microsoft.com/office/drawing/2014/main" id="{16E697A6-CBFC-4D15-A725-D2A1031919CC}"/>
              </a:ext>
            </a:extLst>
          </p:cNvPr>
          <p:cNvSpPr>
            <a:spLocks xmlns:a="http://schemas.openxmlformats.org/drawingml/2006/main" noGrp="1"/>
          </p:cNvSpPr>
          <p:nvPr/>
        </p:nvSpPr>
        <p:spPr>
          <a:xfrm xmlns:a="http://schemas.openxmlformats.org/drawingml/2006/main">
            <a:off x="609600" y="63722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9454F"/>
                </a:solidFill>
                <a:latin typeface="Roboto"/>
                <a:ea typeface="Roboto"/>
                <a:cs typeface="Roboto"/>
              </a:defRPr>
            </a:defPPr>
            <a:lvl1pPr algn="l">
              <a:defRPr sz="1500" b="0">
                <a:solidFill>
                  <a:srgbClr val="49454F"/>
                </a:solidFill>
                <a:latin typeface="Roboto"/>
                <a:ea typeface="Roboto"/>
                <a:cs typeface="Roboto"/>
              </a:defRPr>
            </a:lvl1pPr>
            <a:lvl2pPr algn="l">
              <a:defRPr sz="1500" b="0">
                <a:solidFill>
                  <a:srgbClr val="49454F"/>
                </a:solidFill>
                <a:latin typeface="Roboto"/>
                <a:ea typeface="Roboto"/>
                <a:cs typeface="Roboto"/>
              </a:defRPr>
            </a:lvl2pPr>
            <a:lvl3pPr algn="l">
              <a:defRPr sz="1500" b="0">
                <a:solidFill>
                  <a:srgbClr val="49454F"/>
                </a:solidFill>
                <a:latin typeface="Roboto"/>
                <a:ea typeface="Roboto"/>
                <a:cs typeface="Roboto"/>
              </a:defRPr>
            </a:lvl3pPr>
            <a:lvl4pPr algn="l">
              <a:defRPr sz="1500" b="0">
                <a:solidFill>
                  <a:srgbClr val="49454F"/>
                </a:solidFill>
                <a:latin typeface="Roboto"/>
                <a:ea typeface="Roboto"/>
                <a:cs typeface="Roboto"/>
              </a:defRPr>
            </a:lvl4pPr>
            <a:lvl5pPr algn="l">
              <a:defRPr sz="1500" b="0">
                <a:solidFill>
                  <a:srgbClr val="49454F"/>
                </a:solidFill>
                <a:latin typeface="Roboto"/>
                <a:ea typeface="Roboto"/>
                <a:cs typeface="Roboto"/>
              </a:defRPr>
            </a:lvl5pPr>
            <a:lvl6pPr algn="l">
              <a:defRPr sz="1500" b="0">
                <a:solidFill>
                  <a:srgbClr val="49454F"/>
                </a:solidFill>
                <a:latin typeface="Roboto"/>
                <a:ea typeface="Roboto"/>
                <a:cs typeface="Roboto"/>
              </a:defRPr>
            </a:lvl6pPr>
            <a:lvl7pPr algn="l">
              <a:defRPr sz="1500" b="0">
                <a:solidFill>
                  <a:srgbClr val="49454F"/>
                </a:solidFill>
                <a:latin typeface="Roboto"/>
                <a:ea typeface="Roboto"/>
                <a:cs typeface="Roboto"/>
              </a:defRPr>
            </a:lvl7pPr>
            <a:lvl8pPr algn="l">
              <a:defRPr sz="1500" b="0">
                <a:solidFill>
                  <a:srgbClr val="49454F"/>
                </a:solidFill>
                <a:latin typeface="Roboto"/>
                <a:ea typeface="Roboto"/>
                <a:cs typeface="Roboto"/>
              </a:defRPr>
            </a:lvl8pPr>
            <a:lvl9pPr algn="l">
              <a:defRPr sz="1500" b="0">
                <a:solidFill>
                  <a:srgbClr val="49454F"/>
                </a:solidFill>
                <a:latin typeface="Roboto"/>
                <a:ea typeface="Roboto"/>
                <a:cs typeface="Roboto"/>
              </a:defRPr>
            </a:lvl9pPr>
          </a:lstStyle>
          <a:p xmlns:a="http://schemas.openxmlformats.org/drawingml/2006/main">
            <a:pPr algn="l">
              <a:defRPr sz="1500" b="0">
                <a:solidFill>
                  <a:srgbClr val="49454F"/>
                </a:solidFill>
                <a:latin typeface="Roboto"/>
                <a:ea typeface="Roboto"/>
                <a:cs typeface="Roboto"/>
              </a:defRPr>
            </a:pPr>
            <a:r>
              <a:rPr sz="1500" b="0">
                <a:solidFill>
                  <a:srgbClr val="49454F"/>
                </a:solidFill>
                <a:latin typeface="Roboto"/>
                <a:ea typeface="Roboto"/>
                <a:cs typeface="Roboto"/>
              </a:rPr>
              <a:t>Assumes $5,000 fixed costs / month; before tax</a:t>
            </a:r>
          </a:p>
        </p:txBody>
      </p:sp>
    </p:spTree>
    <p:extLst>
      <p:ext uri="{BB962C8B-B14F-4D97-AF65-F5344CB8AC3E}">
        <p14:creationId xmlns:p14="http://schemas.microsoft.com/office/powerpoint/2010/main" val="687702601"/>
      </p:ext>
    </p:extLst>
  </p:cSld>
</p:sld>
</file>

<file path=ppt/slides/slide7.xml><?xml version="1.0" encoding="utf-8"?>
<p:sld xmlns:p="http://schemas.openxmlformats.org/presentationml/2006/main">
  <p:cSld>
    <p:bg>
      <p:bgPr>
        <a:solidFill xmlns:a="http://schemas.openxmlformats.org/drawingml/2006/main">
          <a:srgbClr val="F7F2FA"/>
        </a:solidFill>
      </p:bgPr>
    </p:bg>
    <p:spTree>
      <p:nvGrpSpPr>
        <p:cNvPr id="1" name=""/>
        <p:cNvGrpSpPr/>
        <p:nvPr/>
      </p:nvGrpSpPr>
      <p:grpSpPr>
        <a:xfrm xmlns:a="http://schemas.openxmlformats.org/drawingml/2006/main"/>
      </p:grpSpPr>
      <p:sp>
        <p:nvSpPr>
          <p:cNvPr id="2" name="Roadmap to a hosted business">
            <a:extLst xmlns:a="http://schemas.openxmlformats.org/drawingml/2006/main">
              <a:ext uri="{FF2B5EF4-FFF2-40B4-BE49-F238E27FC236}">
                <a16:creationId xmlns:a16="http://schemas.microsoft.com/office/drawing/2014/main" id="{00C37C00-7E1F-4233-A400-79AF1234DA6E}"/>
              </a:ext>
            </a:extLst>
          </p:cNvPr>
          <p:cNvSpPr>
            <a:spLocks xmlns:a="http://schemas.openxmlformats.org/drawingml/2006/main" noGrp="1"/>
          </p:cNvSpPr>
          <p:nvPr/>
        </p:nvSpPr>
        <p:spPr>
          <a:xfrm xmlns:a="http://schemas.openxmlformats.org/drawingml/2006/main">
            <a:off x="609600" y="5524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21005D"/>
                </a:solidFill>
                <a:latin typeface="Roboto"/>
                <a:ea typeface="Roboto"/>
                <a:cs typeface="Roboto"/>
              </a:defRPr>
            </a:defPPr>
            <a:lvl1pPr algn="l">
              <a:defRPr sz="4050" b="1">
                <a:solidFill>
                  <a:srgbClr val="21005D"/>
                </a:solidFill>
                <a:latin typeface="Roboto"/>
                <a:ea typeface="Roboto"/>
                <a:cs typeface="Roboto"/>
              </a:defRPr>
            </a:lvl1pPr>
            <a:lvl2pPr algn="l">
              <a:defRPr sz="4050" b="1">
                <a:solidFill>
                  <a:srgbClr val="21005D"/>
                </a:solidFill>
                <a:latin typeface="Roboto"/>
                <a:ea typeface="Roboto"/>
                <a:cs typeface="Roboto"/>
              </a:defRPr>
            </a:lvl2pPr>
            <a:lvl3pPr algn="l">
              <a:defRPr sz="4050" b="1">
                <a:solidFill>
                  <a:srgbClr val="21005D"/>
                </a:solidFill>
                <a:latin typeface="Roboto"/>
                <a:ea typeface="Roboto"/>
                <a:cs typeface="Roboto"/>
              </a:defRPr>
            </a:lvl3pPr>
            <a:lvl4pPr algn="l">
              <a:defRPr sz="4050" b="1">
                <a:solidFill>
                  <a:srgbClr val="21005D"/>
                </a:solidFill>
                <a:latin typeface="Roboto"/>
                <a:ea typeface="Roboto"/>
                <a:cs typeface="Roboto"/>
              </a:defRPr>
            </a:lvl4pPr>
            <a:lvl5pPr algn="l">
              <a:defRPr sz="4050" b="1">
                <a:solidFill>
                  <a:srgbClr val="21005D"/>
                </a:solidFill>
                <a:latin typeface="Roboto"/>
                <a:ea typeface="Roboto"/>
                <a:cs typeface="Roboto"/>
              </a:defRPr>
            </a:lvl5pPr>
            <a:lvl6pPr algn="l">
              <a:defRPr sz="4050" b="1">
                <a:solidFill>
                  <a:srgbClr val="21005D"/>
                </a:solidFill>
                <a:latin typeface="Roboto"/>
                <a:ea typeface="Roboto"/>
                <a:cs typeface="Roboto"/>
              </a:defRPr>
            </a:lvl6pPr>
            <a:lvl7pPr algn="l">
              <a:defRPr sz="4050" b="1">
                <a:solidFill>
                  <a:srgbClr val="21005D"/>
                </a:solidFill>
                <a:latin typeface="Roboto"/>
                <a:ea typeface="Roboto"/>
                <a:cs typeface="Roboto"/>
              </a:defRPr>
            </a:lvl7pPr>
            <a:lvl8pPr algn="l">
              <a:defRPr sz="4050" b="1">
                <a:solidFill>
                  <a:srgbClr val="21005D"/>
                </a:solidFill>
                <a:latin typeface="Roboto"/>
                <a:ea typeface="Roboto"/>
                <a:cs typeface="Roboto"/>
              </a:defRPr>
            </a:lvl8pPr>
            <a:lvl9pPr algn="l">
              <a:defRPr sz="4050" b="1">
                <a:solidFill>
                  <a:srgbClr val="21005D"/>
                </a:solidFill>
                <a:latin typeface="Roboto"/>
                <a:ea typeface="Roboto"/>
                <a:cs typeface="Roboto"/>
              </a:defRPr>
            </a:lvl9pPr>
          </a:lstStyle>
          <a:p xmlns:a="http://schemas.openxmlformats.org/drawingml/2006/main">
            <a:pPr algn="l">
              <a:defRPr sz="4050" b="1">
                <a:solidFill>
                  <a:srgbClr val="21005D"/>
                </a:solidFill>
                <a:latin typeface="Roboto"/>
                <a:ea typeface="Roboto"/>
                <a:cs typeface="Roboto"/>
              </a:defRPr>
            </a:pPr>
            <a:r>
              <a:rPr sz="4050" b="1">
                <a:solidFill>
                  <a:srgbClr val="21005D"/>
                </a:solidFill>
                <a:latin typeface="Roboto"/>
                <a:ea typeface="Roboto"/>
                <a:cs typeface="Roboto"/>
              </a:rPr>
              <a:t>Roadmap to a hosted business</a:t>
            </a:r>
          </a:p>
        </p:txBody>
      </p:sp>
      <p:sp>
        <p:nvSpPr>
          <p:cNvPr id="3" name="First customer: Solana teams with recurring agent ">
            <a:extLst xmlns:a="http://schemas.openxmlformats.org/drawingml/2006/main">
              <a:ext uri="{FF2B5EF4-FFF2-40B4-BE49-F238E27FC236}">
                <a16:creationId xmlns:a16="http://schemas.microsoft.com/office/drawing/2014/main" id="{E9C8023F-3DAB-4457-8EE0-75F2C4F73FA1}"/>
              </a:ext>
            </a:extLst>
          </p:cNvPr>
          <p:cNvSpPr>
            <a:spLocks xmlns:a="http://schemas.openxmlformats.org/drawingml/2006/main" noGrp="1"/>
          </p:cNvSpPr>
          <p:nvPr/>
        </p:nvSpPr>
        <p:spPr>
          <a:xfrm xmlns:a="http://schemas.openxmlformats.org/drawingml/2006/main">
            <a:off x="609600" y="1400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9454F"/>
                </a:solidFill>
                <a:latin typeface="Roboto"/>
                <a:ea typeface="Roboto"/>
                <a:cs typeface="Roboto"/>
              </a:defRPr>
            </a:defPPr>
            <a:lvl1pPr algn="l">
              <a:defRPr sz="2100" b="0">
                <a:solidFill>
                  <a:srgbClr val="49454F"/>
                </a:solidFill>
                <a:latin typeface="Roboto"/>
                <a:ea typeface="Roboto"/>
                <a:cs typeface="Roboto"/>
              </a:defRPr>
            </a:lvl1pPr>
            <a:lvl2pPr algn="l">
              <a:defRPr sz="2100" b="0">
                <a:solidFill>
                  <a:srgbClr val="49454F"/>
                </a:solidFill>
                <a:latin typeface="Roboto"/>
                <a:ea typeface="Roboto"/>
                <a:cs typeface="Roboto"/>
              </a:defRPr>
            </a:lvl2pPr>
            <a:lvl3pPr algn="l">
              <a:defRPr sz="2100" b="0">
                <a:solidFill>
                  <a:srgbClr val="49454F"/>
                </a:solidFill>
                <a:latin typeface="Roboto"/>
                <a:ea typeface="Roboto"/>
                <a:cs typeface="Roboto"/>
              </a:defRPr>
            </a:lvl3pPr>
            <a:lvl4pPr algn="l">
              <a:defRPr sz="2100" b="0">
                <a:solidFill>
                  <a:srgbClr val="49454F"/>
                </a:solidFill>
                <a:latin typeface="Roboto"/>
                <a:ea typeface="Roboto"/>
                <a:cs typeface="Roboto"/>
              </a:defRPr>
            </a:lvl4pPr>
            <a:lvl5pPr algn="l">
              <a:defRPr sz="2100" b="0">
                <a:solidFill>
                  <a:srgbClr val="49454F"/>
                </a:solidFill>
                <a:latin typeface="Roboto"/>
                <a:ea typeface="Roboto"/>
                <a:cs typeface="Roboto"/>
              </a:defRPr>
            </a:lvl5pPr>
            <a:lvl6pPr algn="l">
              <a:defRPr sz="2100" b="0">
                <a:solidFill>
                  <a:srgbClr val="49454F"/>
                </a:solidFill>
                <a:latin typeface="Roboto"/>
                <a:ea typeface="Roboto"/>
                <a:cs typeface="Roboto"/>
              </a:defRPr>
            </a:lvl6pPr>
            <a:lvl7pPr algn="l">
              <a:defRPr sz="2100" b="0">
                <a:solidFill>
                  <a:srgbClr val="49454F"/>
                </a:solidFill>
                <a:latin typeface="Roboto"/>
                <a:ea typeface="Roboto"/>
                <a:cs typeface="Roboto"/>
              </a:defRPr>
            </a:lvl7pPr>
            <a:lvl8pPr algn="l">
              <a:defRPr sz="2100" b="0">
                <a:solidFill>
                  <a:srgbClr val="49454F"/>
                </a:solidFill>
                <a:latin typeface="Roboto"/>
                <a:ea typeface="Roboto"/>
                <a:cs typeface="Roboto"/>
              </a:defRPr>
            </a:lvl8pPr>
            <a:lvl9pPr algn="l">
              <a:defRPr sz="2100" b="0">
                <a:solidFill>
                  <a:srgbClr val="49454F"/>
                </a:solidFill>
                <a:latin typeface="Roboto"/>
                <a:ea typeface="Roboto"/>
                <a:cs typeface="Roboto"/>
              </a:defRPr>
            </a:lvl9pPr>
          </a:lstStyle>
          <a:p xmlns:a="http://schemas.openxmlformats.org/drawingml/2006/main">
            <a:pPr algn="l">
              <a:defRPr sz="2100" b="0">
                <a:solidFill>
                  <a:srgbClr val="49454F"/>
                </a:solidFill>
                <a:latin typeface="Roboto"/>
                <a:ea typeface="Roboto"/>
                <a:cs typeface="Roboto"/>
              </a:defRPr>
            </a:pPr>
            <a:r>
              <a:rPr sz="2100" b="0">
                <a:solidFill>
                  <a:srgbClr val="49454F"/>
                </a:solidFill>
                <a:latin typeface="Roboto"/>
                <a:ea typeface="Roboto"/>
                <a:cs typeface="Roboto"/>
              </a:rPr>
              <a:t>First customer: Solana teams with recurring agent jobs</a:t>
            </a:r>
          </a:p>
        </p:txBody>
      </p:sp>
      <p:sp>
        <p:nvSpPr>
          <p:cNvPr id="4" name="">
            <a:extLst xmlns:a="http://schemas.openxmlformats.org/drawingml/2006/main">
              <a:ext uri="{FF2B5EF4-FFF2-40B4-BE49-F238E27FC236}">
                <a16:creationId xmlns:a16="http://schemas.microsoft.com/office/drawing/2014/main" id="{5DA85919-531A-489B-B04F-0ECC82D61AE9}"/>
              </a:ext>
            </a:extLst>
          </p:cNvPr>
          <p:cNvSpPr>
            <a:spLocks xmlns:a="http://schemas.openxmlformats.org/drawingml/2006/main" noGrp="1"/>
          </p:cNvSpPr>
          <p:nvPr/>
        </p:nvSpPr>
        <p:spPr>
          <a:xfrm xmlns:a="http://schemas.openxmlformats.org/drawingml/2006/main">
            <a:off x="866775" y="2667000"/>
            <a:ext cx="10248900" cy="0"/>
          </a:xfrm>
          <a:prstGeom xmlns:a="http://schemas.openxmlformats.org/drawingml/2006/main" prst="line">
            <a:avLst/>
          </a:prstGeom>
          <a:noFill xmlns:a="http://schemas.openxmlformats.org/drawingml/2006/main"/>
          <a:ln xmlns:a="http://schemas.openxmlformats.org/drawingml/2006/main" w="38100">
            <a:solidFill>
              <a:srgbClr val="CAC4D0"/>
            </a:solidFill>
            <a:prstDash val="solid"/>
          </a:ln>
        </p:spPr>
      </p:sp>
      <p:sp>
        <p:nvSpPr>
          <p:cNvPr id="5" name="">
            <a:extLst xmlns:a="http://schemas.openxmlformats.org/drawingml/2006/main">
              <a:ext uri="{FF2B5EF4-FFF2-40B4-BE49-F238E27FC236}">
                <a16:creationId xmlns:a16="http://schemas.microsoft.com/office/drawing/2014/main" id="{24231421-C82D-4F2A-8FD5-A208D11B5AC1}"/>
              </a:ext>
            </a:extLst>
          </p:cNvPr>
          <p:cNvSpPr>
            <a:spLocks xmlns:a="http://schemas.openxmlformats.org/drawingml/2006/main" noGrp="1"/>
          </p:cNvSpPr>
          <p:nvPr/>
        </p:nvSpPr>
        <p:spPr>
          <a:xfrm xmlns:a="http://schemas.openxmlformats.org/drawingml/2006/main">
            <a:off x="685800" y="2533650"/>
            <a:ext cx="266700" cy="266700"/>
          </a:xfrm>
          <a:prstGeom xmlns:a="http://schemas.openxmlformats.org/drawingml/2006/main" prst="roundRect">
            <a:avLst>
              <a:gd name="adj" fmla="val 50000"/>
            </a:avLst>
          </a:prstGeom>
          <a:solidFill xmlns:a="http://schemas.openxmlformats.org/drawingml/2006/main">
            <a:srgbClr val="6750A4"/>
          </a:solidFill>
          <a:ln xmlns:a="http://schemas.openxmlformats.org/drawingml/2006/main" w="0">
            <a:noFill/>
          </a:ln>
        </p:spPr>
      </p:sp>
      <p:sp>
        <p:nvSpPr>
          <p:cNvPr id="6" name="APR 2026">
            <a:extLst xmlns:a="http://schemas.openxmlformats.org/drawingml/2006/main">
              <a:ext uri="{FF2B5EF4-FFF2-40B4-BE49-F238E27FC236}">
                <a16:creationId xmlns:a16="http://schemas.microsoft.com/office/drawing/2014/main" id="{5505F53E-9A60-403F-811D-FA2C9DC019E0}"/>
              </a:ext>
            </a:extLst>
          </p:cNvPr>
          <p:cNvSpPr>
            <a:spLocks xmlns:a="http://schemas.openxmlformats.org/drawingml/2006/main" noGrp="1"/>
          </p:cNvSpPr>
          <p:nvPr/>
        </p:nvSpPr>
        <p:spPr>
          <a:xfrm xmlns:a="http://schemas.openxmlformats.org/drawingml/2006/main">
            <a:off x="609600" y="2047875"/>
            <a:ext cx="3409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6750A4"/>
                </a:solidFill>
                <a:latin typeface="Roboto"/>
                <a:ea typeface="Roboto"/>
                <a:cs typeface="Roboto"/>
              </a:defRPr>
            </a:defPPr>
            <a:lvl1pPr algn="l">
              <a:defRPr sz="1725" b="1">
                <a:solidFill>
                  <a:srgbClr val="6750A4"/>
                </a:solidFill>
                <a:latin typeface="Roboto"/>
                <a:ea typeface="Roboto"/>
                <a:cs typeface="Roboto"/>
              </a:defRPr>
            </a:lvl1pPr>
            <a:lvl2pPr algn="l">
              <a:defRPr sz="1725" b="1">
                <a:solidFill>
                  <a:srgbClr val="6750A4"/>
                </a:solidFill>
                <a:latin typeface="Roboto"/>
                <a:ea typeface="Roboto"/>
                <a:cs typeface="Roboto"/>
              </a:defRPr>
            </a:lvl2pPr>
            <a:lvl3pPr algn="l">
              <a:defRPr sz="1725" b="1">
                <a:solidFill>
                  <a:srgbClr val="6750A4"/>
                </a:solidFill>
                <a:latin typeface="Roboto"/>
                <a:ea typeface="Roboto"/>
                <a:cs typeface="Roboto"/>
              </a:defRPr>
            </a:lvl3pPr>
            <a:lvl4pPr algn="l">
              <a:defRPr sz="1725" b="1">
                <a:solidFill>
                  <a:srgbClr val="6750A4"/>
                </a:solidFill>
                <a:latin typeface="Roboto"/>
                <a:ea typeface="Roboto"/>
                <a:cs typeface="Roboto"/>
              </a:defRPr>
            </a:lvl4pPr>
            <a:lvl5pPr algn="l">
              <a:defRPr sz="1725" b="1">
                <a:solidFill>
                  <a:srgbClr val="6750A4"/>
                </a:solidFill>
                <a:latin typeface="Roboto"/>
                <a:ea typeface="Roboto"/>
                <a:cs typeface="Roboto"/>
              </a:defRPr>
            </a:lvl5pPr>
            <a:lvl6pPr algn="l">
              <a:defRPr sz="1725" b="1">
                <a:solidFill>
                  <a:srgbClr val="6750A4"/>
                </a:solidFill>
                <a:latin typeface="Roboto"/>
                <a:ea typeface="Roboto"/>
                <a:cs typeface="Roboto"/>
              </a:defRPr>
            </a:lvl6pPr>
            <a:lvl7pPr algn="l">
              <a:defRPr sz="1725" b="1">
                <a:solidFill>
                  <a:srgbClr val="6750A4"/>
                </a:solidFill>
                <a:latin typeface="Roboto"/>
                <a:ea typeface="Roboto"/>
                <a:cs typeface="Roboto"/>
              </a:defRPr>
            </a:lvl7pPr>
            <a:lvl8pPr algn="l">
              <a:defRPr sz="1725" b="1">
                <a:solidFill>
                  <a:srgbClr val="6750A4"/>
                </a:solidFill>
                <a:latin typeface="Roboto"/>
                <a:ea typeface="Roboto"/>
                <a:cs typeface="Roboto"/>
              </a:defRPr>
            </a:lvl8pPr>
            <a:lvl9pPr algn="l">
              <a:defRPr sz="1725" b="1">
                <a:solidFill>
                  <a:srgbClr val="6750A4"/>
                </a:solidFill>
                <a:latin typeface="Roboto"/>
                <a:ea typeface="Roboto"/>
                <a:cs typeface="Roboto"/>
              </a:defRPr>
            </a:lvl9pPr>
          </a:lstStyle>
          <a:p xmlns:a="http://schemas.openxmlformats.org/drawingml/2006/main">
            <a:pPr algn="l">
              <a:defRPr sz="1725" b="1">
                <a:solidFill>
                  <a:srgbClr val="6750A4"/>
                </a:solidFill>
                <a:latin typeface="Roboto"/>
                <a:ea typeface="Roboto"/>
                <a:cs typeface="Roboto"/>
              </a:defRPr>
            </a:pPr>
            <a:r>
              <a:rPr sz="1725" b="1">
                <a:solidFill>
                  <a:srgbClr val="6750A4"/>
                </a:solidFill>
                <a:latin typeface="Roboto"/>
                <a:ea typeface="Roboto"/>
                <a:cs typeface="Roboto"/>
              </a:rPr>
              <a:t>APR 2026</a:t>
            </a:r>
          </a:p>
        </p:txBody>
      </p:sp>
      <p:sp>
        <p:nvSpPr>
          <p:cNvPr id="7" name="Gateway&#10;+ Sentinel">
            <a:extLst xmlns:a="http://schemas.openxmlformats.org/drawingml/2006/main">
              <a:ext uri="{FF2B5EF4-FFF2-40B4-BE49-F238E27FC236}">
                <a16:creationId xmlns:a16="http://schemas.microsoft.com/office/drawing/2014/main" id="{F5DD12C5-1CF6-47F0-814B-9AD00AC219D7}"/>
              </a:ext>
            </a:extLst>
          </p:cNvPr>
          <p:cNvSpPr>
            <a:spLocks xmlns:a="http://schemas.openxmlformats.org/drawingml/2006/main" noGrp="1"/>
          </p:cNvSpPr>
          <p:nvPr/>
        </p:nvSpPr>
        <p:spPr>
          <a:xfrm xmlns:a="http://schemas.openxmlformats.org/drawingml/2006/main">
            <a:off x="609600" y="3143250"/>
            <a:ext cx="3429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005D"/>
                </a:solidFill>
                <a:latin typeface="Roboto"/>
                <a:ea typeface="Roboto"/>
                <a:cs typeface="Roboto"/>
              </a:defRPr>
            </a:defPPr>
            <a:lvl1pPr algn="l">
              <a:defRPr sz="3000" b="1">
                <a:solidFill>
                  <a:srgbClr val="21005D"/>
                </a:solidFill>
                <a:latin typeface="Roboto"/>
                <a:ea typeface="Roboto"/>
                <a:cs typeface="Roboto"/>
              </a:defRPr>
            </a:lvl1pPr>
            <a:lvl2pPr algn="l">
              <a:defRPr sz="3000" b="1">
                <a:solidFill>
                  <a:srgbClr val="21005D"/>
                </a:solidFill>
                <a:latin typeface="Roboto"/>
                <a:ea typeface="Roboto"/>
                <a:cs typeface="Roboto"/>
              </a:defRPr>
            </a:lvl2pPr>
            <a:lvl3pPr algn="l">
              <a:defRPr sz="3000" b="1">
                <a:solidFill>
                  <a:srgbClr val="21005D"/>
                </a:solidFill>
                <a:latin typeface="Roboto"/>
                <a:ea typeface="Roboto"/>
                <a:cs typeface="Roboto"/>
              </a:defRPr>
            </a:lvl3pPr>
            <a:lvl4pPr algn="l">
              <a:defRPr sz="3000" b="1">
                <a:solidFill>
                  <a:srgbClr val="21005D"/>
                </a:solidFill>
                <a:latin typeface="Roboto"/>
                <a:ea typeface="Roboto"/>
                <a:cs typeface="Roboto"/>
              </a:defRPr>
            </a:lvl4pPr>
            <a:lvl5pPr algn="l">
              <a:defRPr sz="3000" b="1">
                <a:solidFill>
                  <a:srgbClr val="21005D"/>
                </a:solidFill>
                <a:latin typeface="Roboto"/>
                <a:ea typeface="Roboto"/>
                <a:cs typeface="Roboto"/>
              </a:defRPr>
            </a:lvl5pPr>
            <a:lvl6pPr algn="l">
              <a:defRPr sz="3000" b="1">
                <a:solidFill>
                  <a:srgbClr val="21005D"/>
                </a:solidFill>
                <a:latin typeface="Roboto"/>
                <a:ea typeface="Roboto"/>
                <a:cs typeface="Roboto"/>
              </a:defRPr>
            </a:lvl6pPr>
            <a:lvl7pPr algn="l">
              <a:defRPr sz="3000" b="1">
                <a:solidFill>
                  <a:srgbClr val="21005D"/>
                </a:solidFill>
                <a:latin typeface="Roboto"/>
                <a:ea typeface="Roboto"/>
                <a:cs typeface="Roboto"/>
              </a:defRPr>
            </a:lvl7pPr>
            <a:lvl8pPr algn="l">
              <a:defRPr sz="3000" b="1">
                <a:solidFill>
                  <a:srgbClr val="21005D"/>
                </a:solidFill>
                <a:latin typeface="Roboto"/>
                <a:ea typeface="Roboto"/>
                <a:cs typeface="Roboto"/>
              </a:defRPr>
            </a:lvl8pPr>
            <a:lvl9pPr algn="l">
              <a:defRPr sz="3000" b="1">
                <a:solidFill>
                  <a:srgbClr val="21005D"/>
                </a:solidFill>
                <a:latin typeface="Roboto"/>
                <a:ea typeface="Roboto"/>
                <a:cs typeface="Roboto"/>
              </a:defRPr>
            </a:lvl9pPr>
          </a:lstStyle>
          <a:p xmlns:a="http://schemas.openxmlformats.org/drawingml/2006/main">
            <a:pPr algn="l">
              <a:defRPr sz="3000" b="1">
                <a:solidFill>
                  <a:srgbClr val="21005D"/>
                </a:solidFill>
                <a:latin typeface="Roboto"/>
                <a:ea typeface="Roboto"/>
                <a:cs typeface="Roboto"/>
              </a:defRPr>
            </a:pPr>
            <a:r>
              <a:rPr sz="3000" b="1">
                <a:solidFill>
                  <a:srgbClr val="21005D"/>
                </a:solidFill>
                <a:latin typeface="Roboto"/>
                <a:ea typeface="Roboto"/>
                <a:cs typeface="Roboto"/>
              </a:rPr>
              <a:t>Gateway</a:t>
            </a:r>
          </a:p>
          <a:p xmlns:a="http://schemas.openxmlformats.org/drawingml/2006/main">
            <a:pPr algn="l">
              <a:defRPr sz="3000" b="1">
                <a:solidFill>
                  <a:srgbClr val="21005D"/>
                </a:solidFill>
                <a:latin typeface="Roboto"/>
                <a:ea typeface="Roboto"/>
                <a:cs typeface="Roboto"/>
              </a:defRPr>
            </a:pPr>
            <a:r>
              <a:rPr sz="3000" b="1">
                <a:solidFill>
                  <a:srgbClr val="21005D"/>
                </a:solidFill>
                <a:latin typeface="Roboto"/>
                <a:ea typeface="Roboto"/>
                <a:cs typeface="Roboto"/>
              </a:rPr>
              <a:t>+ Sentinel</a:t>
            </a:r>
          </a:p>
        </p:txBody>
      </p:sp>
      <p:sp>
        <p:nvSpPr>
          <p:cNvPr id="8" name="">
            <a:extLst xmlns:a="http://schemas.openxmlformats.org/drawingml/2006/main">
              <a:ext uri="{FF2B5EF4-FFF2-40B4-BE49-F238E27FC236}">
                <a16:creationId xmlns:a16="http://schemas.microsoft.com/office/drawing/2014/main" id="{AD60FCAF-7FCA-48D2-8049-C371F1356987}"/>
              </a:ext>
            </a:extLst>
          </p:cNvPr>
          <p:cNvSpPr>
            <a:spLocks xmlns:a="http://schemas.openxmlformats.org/drawingml/2006/main" noGrp="1"/>
          </p:cNvSpPr>
          <p:nvPr/>
        </p:nvSpPr>
        <p:spPr>
          <a:xfrm xmlns:a="http://schemas.openxmlformats.org/drawingml/2006/main">
            <a:off x="4400550" y="2533650"/>
            <a:ext cx="266700" cy="266700"/>
          </a:xfrm>
          <a:prstGeom xmlns:a="http://schemas.openxmlformats.org/drawingml/2006/main" prst="roundRect">
            <a:avLst>
              <a:gd name="adj" fmla="val 50000"/>
            </a:avLst>
          </a:prstGeom>
          <a:solidFill xmlns:a="http://schemas.openxmlformats.org/drawingml/2006/main">
            <a:srgbClr val="6750A4"/>
          </a:solidFill>
          <a:ln xmlns:a="http://schemas.openxmlformats.org/drawingml/2006/main" w="0">
            <a:noFill/>
          </a:ln>
        </p:spPr>
      </p:sp>
      <p:sp>
        <p:nvSpPr>
          <p:cNvPr id="9" name="OCT 2026">
            <a:extLst xmlns:a="http://schemas.openxmlformats.org/drawingml/2006/main">
              <a:ext uri="{FF2B5EF4-FFF2-40B4-BE49-F238E27FC236}">
                <a16:creationId xmlns:a16="http://schemas.microsoft.com/office/drawing/2014/main" id="{C984C9EE-3847-4EC9-B675-AB20D1DD6F26}"/>
              </a:ext>
            </a:extLst>
          </p:cNvPr>
          <p:cNvSpPr>
            <a:spLocks xmlns:a="http://schemas.openxmlformats.org/drawingml/2006/main" noGrp="1"/>
          </p:cNvSpPr>
          <p:nvPr/>
        </p:nvSpPr>
        <p:spPr>
          <a:xfrm xmlns:a="http://schemas.openxmlformats.org/drawingml/2006/main">
            <a:off x="4324350" y="2047875"/>
            <a:ext cx="3409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6750A4"/>
                </a:solidFill>
                <a:latin typeface="Roboto"/>
                <a:ea typeface="Roboto"/>
                <a:cs typeface="Roboto"/>
              </a:defRPr>
            </a:defPPr>
            <a:lvl1pPr algn="l">
              <a:defRPr sz="1725" b="1">
                <a:solidFill>
                  <a:srgbClr val="6750A4"/>
                </a:solidFill>
                <a:latin typeface="Roboto"/>
                <a:ea typeface="Roboto"/>
                <a:cs typeface="Roboto"/>
              </a:defRPr>
            </a:lvl1pPr>
            <a:lvl2pPr algn="l">
              <a:defRPr sz="1725" b="1">
                <a:solidFill>
                  <a:srgbClr val="6750A4"/>
                </a:solidFill>
                <a:latin typeface="Roboto"/>
                <a:ea typeface="Roboto"/>
                <a:cs typeface="Roboto"/>
              </a:defRPr>
            </a:lvl2pPr>
            <a:lvl3pPr algn="l">
              <a:defRPr sz="1725" b="1">
                <a:solidFill>
                  <a:srgbClr val="6750A4"/>
                </a:solidFill>
                <a:latin typeface="Roboto"/>
                <a:ea typeface="Roboto"/>
                <a:cs typeface="Roboto"/>
              </a:defRPr>
            </a:lvl3pPr>
            <a:lvl4pPr algn="l">
              <a:defRPr sz="1725" b="1">
                <a:solidFill>
                  <a:srgbClr val="6750A4"/>
                </a:solidFill>
                <a:latin typeface="Roboto"/>
                <a:ea typeface="Roboto"/>
                <a:cs typeface="Roboto"/>
              </a:defRPr>
            </a:lvl4pPr>
            <a:lvl5pPr algn="l">
              <a:defRPr sz="1725" b="1">
                <a:solidFill>
                  <a:srgbClr val="6750A4"/>
                </a:solidFill>
                <a:latin typeface="Roboto"/>
                <a:ea typeface="Roboto"/>
                <a:cs typeface="Roboto"/>
              </a:defRPr>
            </a:lvl5pPr>
            <a:lvl6pPr algn="l">
              <a:defRPr sz="1725" b="1">
                <a:solidFill>
                  <a:srgbClr val="6750A4"/>
                </a:solidFill>
                <a:latin typeface="Roboto"/>
                <a:ea typeface="Roboto"/>
                <a:cs typeface="Roboto"/>
              </a:defRPr>
            </a:lvl6pPr>
            <a:lvl7pPr algn="l">
              <a:defRPr sz="1725" b="1">
                <a:solidFill>
                  <a:srgbClr val="6750A4"/>
                </a:solidFill>
                <a:latin typeface="Roboto"/>
                <a:ea typeface="Roboto"/>
                <a:cs typeface="Roboto"/>
              </a:defRPr>
            </a:lvl7pPr>
            <a:lvl8pPr algn="l">
              <a:defRPr sz="1725" b="1">
                <a:solidFill>
                  <a:srgbClr val="6750A4"/>
                </a:solidFill>
                <a:latin typeface="Roboto"/>
                <a:ea typeface="Roboto"/>
                <a:cs typeface="Roboto"/>
              </a:defRPr>
            </a:lvl8pPr>
            <a:lvl9pPr algn="l">
              <a:defRPr sz="1725" b="1">
                <a:solidFill>
                  <a:srgbClr val="6750A4"/>
                </a:solidFill>
                <a:latin typeface="Roboto"/>
                <a:ea typeface="Roboto"/>
                <a:cs typeface="Roboto"/>
              </a:defRPr>
            </a:lvl9pPr>
          </a:lstStyle>
          <a:p xmlns:a="http://schemas.openxmlformats.org/drawingml/2006/main">
            <a:pPr algn="l">
              <a:defRPr sz="1725" b="1">
                <a:solidFill>
                  <a:srgbClr val="6750A4"/>
                </a:solidFill>
                <a:latin typeface="Roboto"/>
                <a:ea typeface="Roboto"/>
                <a:cs typeface="Roboto"/>
              </a:defRPr>
            </a:pPr>
            <a:r>
              <a:rPr sz="1725" b="1">
                <a:solidFill>
                  <a:srgbClr val="6750A4"/>
                </a:solidFill>
                <a:latin typeface="Roboto"/>
                <a:ea typeface="Roboto"/>
                <a:cs typeface="Roboto"/>
              </a:rPr>
              <a:t>OCT 2026</a:t>
            </a:r>
          </a:p>
        </p:txBody>
      </p:sp>
      <p:sp>
        <p:nvSpPr>
          <p:cNvPr id="10" name="Unified&#10;AI + compute">
            <a:extLst xmlns:a="http://schemas.openxmlformats.org/drawingml/2006/main">
              <a:ext uri="{FF2B5EF4-FFF2-40B4-BE49-F238E27FC236}">
                <a16:creationId xmlns:a16="http://schemas.microsoft.com/office/drawing/2014/main" id="{470DFB2F-5159-4788-BC16-BC4F1846EDC0}"/>
              </a:ext>
            </a:extLst>
          </p:cNvPr>
          <p:cNvSpPr>
            <a:spLocks xmlns:a="http://schemas.openxmlformats.org/drawingml/2006/main" noGrp="1"/>
          </p:cNvSpPr>
          <p:nvPr/>
        </p:nvSpPr>
        <p:spPr>
          <a:xfrm xmlns:a="http://schemas.openxmlformats.org/drawingml/2006/main">
            <a:off x="4324350" y="3143250"/>
            <a:ext cx="3429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005D"/>
                </a:solidFill>
                <a:latin typeface="Roboto"/>
                <a:ea typeface="Roboto"/>
                <a:cs typeface="Roboto"/>
              </a:defRPr>
            </a:defPPr>
            <a:lvl1pPr algn="l">
              <a:defRPr sz="3000" b="1">
                <a:solidFill>
                  <a:srgbClr val="21005D"/>
                </a:solidFill>
                <a:latin typeface="Roboto"/>
                <a:ea typeface="Roboto"/>
                <a:cs typeface="Roboto"/>
              </a:defRPr>
            </a:lvl1pPr>
            <a:lvl2pPr algn="l">
              <a:defRPr sz="3000" b="1">
                <a:solidFill>
                  <a:srgbClr val="21005D"/>
                </a:solidFill>
                <a:latin typeface="Roboto"/>
                <a:ea typeface="Roboto"/>
                <a:cs typeface="Roboto"/>
              </a:defRPr>
            </a:lvl2pPr>
            <a:lvl3pPr algn="l">
              <a:defRPr sz="3000" b="1">
                <a:solidFill>
                  <a:srgbClr val="21005D"/>
                </a:solidFill>
                <a:latin typeface="Roboto"/>
                <a:ea typeface="Roboto"/>
                <a:cs typeface="Roboto"/>
              </a:defRPr>
            </a:lvl3pPr>
            <a:lvl4pPr algn="l">
              <a:defRPr sz="3000" b="1">
                <a:solidFill>
                  <a:srgbClr val="21005D"/>
                </a:solidFill>
                <a:latin typeface="Roboto"/>
                <a:ea typeface="Roboto"/>
                <a:cs typeface="Roboto"/>
              </a:defRPr>
            </a:lvl4pPr>
            <a:lvl5pPr algn="l">
              <a:defRPr sz="3000" b="1">
                <a:solidFill>
                  <a:srgbClr val="21005D"/>
                </a:solidFill>
                <a:latin typeface="Roboto"/>
                <a:ea typeface="Roboto"/>
                <a:cs typeface="Roboto"/>
              </a:defRPr>
            </a:lvl5pPr>
            <a:lvl6pPr algn="l">
              <a:defRPr sz="3000" b="1">
                <a:solidFill>
                  <a:srgbClr val="21005D"/>
                </a:solidFill>
                <a:latin typeface="Roboto"/>
                <a:ea typeface="Roboto"/>
                <a:cs typeface="Roboto"/>
              </a:defRPr>
            </a:lvl6pPr>
            <a:lvl7pPr algn="l">
              <a:defRPr sz="3000" b="1">
                <a:solidFill>
                  <a:srgbClr val="21005D"/>
                </a:solidFill>
                <a:latin typeface="Roboto"/>
                <a:ea typeface="Roboto"/>
                <a:cs typeface="Roboto"/>
              </a:defRPr>
            </a:lvl7pPr>
            <a:lvl8pPr algn="l">
              <a:defRPr sz="3000" b="1">
                <a:solidFill>
                  <a:srgbClr val="21005D"/>
                </a:solidFill>
                <a:latin typeface="Roboto"/>
                <a:ea typeface="Roboto"/>
                <a:cs typeface="Roboto"/>
              </a:defRPr>
            </a:lvl8pPr>
            <a:lvl9pPr algn="l">
              <a:defRPr sz="3000" b="1">
                <a:solidFill>
                  <a:srgbClr val="21005D"/>
                </a:solidFill>
                <a:latin typeface="Roboto"/>
                <a:ea typeface="Roboto"/>
                <a:cs typeface="Roboto"/>
              </a:defRPr>
            </a:lvl9pPr>
          </a:lstStyle>
          <a:p xmlns:a="http://schemas.openxmlformats.org/drawingml/2006/main">
            <a:pPr algn="l">
              <a:defRPr sz="3000" b="1">
                <a:solidFill>
                  <a:srgbClr val="21005D"/>
                </a:solidFill>
                <a:latin typeface="Roboto"/>
                <a:ea typeface="Roboto"/>
                <a:cs typeface="Roboto"/>
              </a:defRPr>
            </a:pPr>
            <a:r>
              <a:rPr sz="3000" b="1">
                <a:solidFill>
                  <a:srgbClr val="21005D"/>
                </a:solidFill>
                <a:latin typeface="Roboto"/>
                <a:ea typeface="Roboto"/>
                <a:cs typeface="Roboto"/>
              </a:rPr>
              <a:t>Unified</a:t>
            </a:r>
          </a:p>
          <a:p xmlns:a="http://schemas.openxmlformats.org/drawingml/2006/main">
            <a:pPr algn="l">
              <a:defRPr sz="3000" b="1">
                <a:solidFill>
                  <a:srgbClr val="21005D"/>
                </a:solidFill>
                <a:latin typeface="Roboto"/>
                <a:ea typeface="Roboto"/>
                <a:cs typeface="Roboto"/>
              </a:defRPr>
            </a:pPr>
            <a:r>
              <a:rPr sz="3000" b="1">
                <a:solidFill>
                  <a:srgbClr val="21005D"/>
                </a:solidFill>
                <a:latin typeface="Roboto"/>
                <a:ea typeface="Roboto"/>
                <a:cs typeface="Roboto"/>
              </a:rPr>
              <a:t>AI + compute</a:t>
            </a:r>
          </a:p>
        </p:txBody>
      </p:sp>
      <p:sp>
        <p:nvSpPr>
          <p:cNvPr id="11" name="">
            <a:extLst xmlns:a="http://schemas.openxmlformats.org/drawingml/2006/main">
              <a:ext uri="{FF2B5EF4-FFF2-40B4-BE49-F238E27FC236}">
                <a16:creationId xmlns:a16="http://schemas.microsoft.com/office/drawing/2014/main" id="{273FB5F9-F13B-4592-AA57-1C91C4026B0C}"/>
              </a:ext>
            </a:extLst>
          </p:cNvPr>
          <p:cNvSpPr>
            <a:spLocks xmlns:a="http://schemas.openxmlformats.org/drawingml/2006/main" noGrp="1"/>
          </p:cNvSpPr>
          <p:nvPr/>
        </p:nvSpPr>
        <p:spPr>
          <a:xfrm xmlns:a="http://schemas.openxmlformats.org/drawingml/2006/main">
            <a:off x="8115300" y="2533650"/>
            <a:ext cx="266700" cy="266700"/>
          </a:xfrm>
          <a:prstGeom xmlns:a="http://schemas.openxmlformats.org/drawingml/2006/main" prst="roundRect">
            <a:avLst>
              <a:gd name="adj" fmla="val 50000"/>
            </a:avLst>
          </a:prstGeom>
          <a:solidFill xmlns:a="http://schemas.openxmlformats.org/drawingml/2006/main">
            <a:srgbClr val="006B5F"/>
          </a:solidFill>
          <a:ln xmlns:a="http://schemas.openxmlformats.org/drawingml/2006/main" w="0">
            <a:noFill/>
          </a:ln>
        </p:spPr>
      </p:sp>
      <p:sp>
        <p:nvSpPr>
          <p:cNvPr id="12" name="NEXT · TARGET">
            <a:extLst xmlns:a="http://schemas.openxmlformats.org/drawingml/2006/main">
              <a:ext uri="{FF2B5EF4-FFF2-40B4-BE49-F238E27FC236}">
                <a16:creationId xmlns:a16="http://schemas.microsoft.com/office/drawing/2014/main" id="{00EBBDC8-C95A-4D49-8786-FDB192D1ABAF}"/>
              </a:ext>
            </a:extLst>
          </p:cNvPr>
          <p:cNvSpPr>
            <a:spLocks xmlns:a="http://schemas.openxmlformats.org/drawingml/2006/main" noGrp="1"/>
          </p:cNvSpPr>
          <p:nvPr/>
        </p:nvSpPr>
        <p:spPr>
          <a:xfrm xmlns:a="http://schemas.openxmlformats.org/drawingml/2006/main">
            <a:off x="8039100" y="2047875"/>
            <a:ext cx="3409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6B5F"/>
                </a:solidFill>
                <a:latin typeface="Roboto"/>
                <a:ea typeface="Roboto"/>
                <a:cs typeface="Roboto"/>
              </a:defRPr>
            </a:defPPr>
            <a:lvl1pPr algn="l">
              <a:defRPr sz="1725" b="1">
                <a:solidFill>
                  <a:srgbClr val="006B5F"/>
                </a:solidFill>
                <a:latin typeface="Roboto"/>
                <a:ea typeface="Roboto"/>
                <a:cs typeface="Roboto"/>
              </a:defRPr>
            </a:lvl1pPr>
            <a:lvl2pPr algn="l">
              <a:defRPr sz="1725" b="1">
                <a:solidFill>
                  <a:srgbClr val="006B5F"/>
                </a:solidFill>
                <a:latin typeface="Roboto"/>
                <a:ea typeface="Roboto"/>
                <a:cs typeface="Roboto"/>
              </a:defRPr>
            </a:lvl2pPr>
            <a:lvl3pPr algn="l">
              <a:defRPr sz="1725" b="1">
                <a:solidFill>
                  <a:srgbClr val="006B5F"/>
                </a:solidFill>
                <a:latin typeface="Roboto"/>
                <a:ea typeface="Roboto"/>
                <a:cs typeface="Roboto"/>
              </a:defRPr>
            </a:lvl3pPr>
            <a:lvl4pPr algn="l">
              <a:defRPr sz="1725" b="1">
                <a:solidFill>
                  <a:srgbClr val="006B5F"/>
                </a:solidFill>
                <a:latin typeface="Roboto"/>
                <a:ea typeface="Roboto"/>
                <a:cs typeface="Roboto"/>
              </a:defRPr>
            </a:lvl4pPr>
            <a:lvl5pPr algn="l">
              <a:defRPr sz="1725" b="1">
                <a:solidFill>
                  <a:srgbClr val="006B5F"/>
                </a:solidFill>
                <a:latin typeface="Roboto"/>
                <a:ea typeface="Roboto"/>
                <a:cs typeface="Roboto"/>
              </a:defRPr>
            </a:lvl5pPr>
            <a:lvl6pPr algn="l">
              <a:defRPr sz="1725" b="1">
                <a:solidFill>
                  <a:srgbClr val="006B5F"/>
                </a:solidFill>
                <a:latin typeface="Roboto"/>
                <a:ea typeface="Roboto"/>
                <a:cs typeface="Roboto"/>
              </a:defRPr>
            </a:lvl6pPr>
            <a:lvl7pPr algn="l">
              <a:defRPr sz="1725" b="1">
                <a:solidFill>
                  <a:srgbClr val="006B5F"/>
                </a:solidFill>
                <a:latin typeface="Roboto"/>
                <a:ea typeface="Roboto"/>
                <a:cs typeface="Roboto"/>
              </a:defRPr>
            </a:lvl7pPr>
            <a:lvl8pPr algn="l">
              <a:defRPr sz="1725" b="1">
                <a:solidFill>
                  <a:srgbClr val="006B5F"/>
                </a:solidFill>
                <a:latin typeface="Roboto"/>
                <a:ea typeface="Roboto"/>
                <a:cs typeface="Roboto"/>
              </a:defRPr>
            </a:lvl8pPr>
            <a:lvl9pPr algn="l">
              <a:defRPr sz="1725" b="1">
                <a:solidFill>
                  <a:srgbClr val="006B5F"/>
                </a:solidFill>
                <a:latin typeface="Roboto"/>
                <a:ea typeface="Roboto"/>
                <a:cs typeface="Roboto"/>
              </a:defRPr>
            </a:lvl9pPr>
          </a:lstStyle>
          <a:p xmlns:a="http://schemas.openxmlformats.org/drawingml/2006/main">
            <a:pPr algn="l">
              <a:defRPr sz="1725" b="1">
                <a:solidFill>
                  <a:srgbClr val="006B5F"/>
                </a:solidFill>
                <a:latin typeface="Roboto"/>
                <a:ea typeface="Roboto"/>
                <a:cs typeface="Roboto"/>
              </a:defRPr>
            </a:pPr>
            <a:r>
              <a:rPr sz="1725" b="1">
                <a:solidFill>
                  <a:srgbClr val="006B5F"/>
                </a:solidFill>
                <a:latin typeface="Roboto"/>
                <a:ea typeface="Roboto"/>
                <a:cs typeface="Roboto"/>
              </a:rPr>
              <a:t>NEXT · TARGET</a:t>
            </a:r>
          </a:p>
        </p:txBody>
      </p:sp>
      <p:sp>
        <p:nvSpPr>
          <p:cNvPr id="13" name="3 pilot teams&#10;→ hosted launch">
            <a:extLst xmlns:a="http://schemas.openxmlformats.org/drawingml/2006/main">
              <a:ext uri="{FF2B5EF4-FFF2-40B4-BE49-F238E27FC236}">
                <a16:creationId xmlns:a16="http://schemas.microsoft.com/office/drawing/2014/main" id="{316EF52F-7D03-4F68-BA55-2A35EC2F5029}"/>
              </a:ext>
            </a:extLst>
          </p:cNvPr>
          <p:cNvSpPr>
            <a:spLocks xmlns:a="http://schemas.openxmlformats.org/drawingml/2006/main" noGrp="1"/>
          </p:cNvSpPr>
          <p:nvPr/>
        </p:nvSpPr>
        <p:spPr>
          <a:xfrm xmlns:a="http://schemas.openxmlformats.org/drawingml/2006/main">
            <a:off x="8039100" y="3143250"/>
            <a:ext cx="3429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6B5F"/>
                </a:solidFill>
                <a:latin typeface="Roboto"/>
                <a:ea typeface="Roboto"/>
                <a:cs typeface="Roboto"/>
              </a:defRPr>
            </a:defPPr>
            <a:lvl1pPr algn="l">
              <a:defRPr sz="3000" b="1">
                <a:solidFill>
                  <a:srgbClr val="006B5F"/>
                </a:solidFill>
                <a:latin typeface="Roboto"/>
                <a:ea typeface="Roboto"/>
                <a:cs typeface="Roboto"/>
              </a:defRPr>
            </a:lvl1pPr>
            <a:lvl2pPr algn="l">
              <a:defRPr sz="3000" b="1">
                <a:solidFill>
                  <a:srgbClr val="006B5F"/>
                </a:solidFill>
                <a:latin typeface="Roboto"/>
                <a:ea typeface="Roboto"/>
                <a:cs typeface="Roboto"/>
              </a:defRPr>
            </a:lvl2pPr>
            <a:lvl3pPr algn="l">
              <a:defRPr sz="3000" b="1">
                <a:solidFill>
                  <a:srgbClr val="006B5F"/>
                </a:solidFill>
                <a:latin typeface="Roboto"/>
                <a:ea typeface="Roboto"/>
                <a:cs typeface="Roboto"/>
              </a:defRPr>
            </a:lvl3pPr>
            <a:lvl4pPr algn="l">
              <a:defRPr sz="3000" b="1">
                <a:solidFill>
                  <a:srgbClr val="006B5F"/>
                </a:solidFill>
                <a:latin typeface="Roboto"/>
                <a:ea typeface="Roboto"/>
                <a:cs typeface="Roboto"/>
              </a:defRPr>
            </a:lvl4pPr>
            <a:lvl5pPr algn="l">
              <a:defRPr sz="3000" b="1">
                <a:solidFill>
                  <a:srgbClr val="006B5F"/>
                </a:solidFill>
                <a:latin typeface="Roboto"/>
                <a:ea typeface="Roboto"/>
                <a:cs typeface="Roboto"/>
              </a:defRPr>
            </a:lvl5pPr>
            <a:lvl6pPr algn="l">
              <a:defRPr sz="3000" b="1">
                <a:solidFill>
                  <a:srgbClr val="006B5F"/>
                </a:solidFill>
                <a:latin typeface="Roboto"/>
                <a:ea typeface="Roboto"/>
                <a:cs typeface="Roboto"/>
              </a:defRPr>
            </a:lvl6pPr>
            <a:lvl7pPr algn="l">
              <a:defRPr sz="3000" b="1">
                <a:solidFill>
                  <a:srgbClr val="006B5F"/>
                </a:solidFill>
                <a:latin typeface="Roboto"/>
                <a:ea typeface="Roboto"/>
                <a:cs typeface="Roboto"/>
              </a:defRPr>
            </a:lvl7pPr>
            <a:lvl8pPr algn="l">
              <a:defRPr sz="3000" b="1">
                <a:solidFill>
                  <a:srgbClr val="006B5F"/>
                </a:solidFill>
                <a:latin typeface="Roboto"/>
                <a:ea typeface="Roboto"/>
                <a:cs typeface="Roboto"/>
              </a:defRPr>
            </a:lvl8pPr>
            <a:lvl9pPr algn="l">
              <a:defRPr sz="3000" b="1">
                <a:solidFill>
                  <a:srgbClr val="006B5F"/>
                </a:solidFill>
                <a:latin typeface="Roboto"/>
                <a:ea typeface="Roboto"/>
                <a:cs typeface="Roboto"/>
              </a:defRPr>
            </a:lvl9pPr>
          </a:lstStyle>
          <a:p xmlns:a="http://schemas.openxmlformats.org/drawingml/2006/main">
            <a:pPr algn="l">
              <a:defRPr sz="3000" b="1">
                <a:solidFill>
                  <a:srgbClr val="006B5F"/>
                </a:solidFill>
                <a:latin typeface="Roboto"/>
                <a:ea typeface="Roboto"/>
                <a:cs typeface="Roboto"/>
              </a:defRPr>
            </a:pPr>
            <a:r>
              <a:rPr sz="3000" b="1">
                <a:solidFill>
                  <a:srgbClr val="006B5F"/>
                </a:solidFill>
                <a:latin typeface="Roboto"/>
                <a:ea typeface="Roboto"/>
                <a:cs typeface="Roboto"/>
              </a:rPr>
              <a:t>3 pilot teams</a:t>
            </a:r>
          </a:p>
          <a:p xmlns:a="http://schemas.openxmlformats.org/drawingml/2006/main">
            <a:pPr algn="l">
              <a:defRPr sz="3000" b="1">
                <a:solidFill>
                  <a:srgbClr val="006B5F"/>
                </a:solidFill>
                <a:latin typeface="Roboto"/>
                <a:ea typeface="Roboto"/>
                <a:cs typeface="Roboto"/>
              </a:defRPr>
            </a:pPr>
            <a:r>
              <a:rPr sz="3000" b="1">
                <a:solidFill>
                  <a:srgbClr val="006B5F"/>
                </a:solidFill>
                <a:latin typeface="Roboto"/>
                <a:ea typeface="Roboto"/>
                <a:cs typeface="Roboto"/>
              </a:rPr>
              <a:t>→ hosted launch</a:t>
            </a:r>
          </a:p>
        </p:txBody>
      </p:sp>
      <p:sp>
        <p:nvSpPr>
          <p:cNvPr id="14" name="">
            <a:extLst xmlns:a="http://schemas.openxmlformats.org/drawingml/2006/main">
              <a:ext uri="{FF2B5EF4-FFF2-40B4-BE49-F238E27FC236}">
                <a16:creationId xmlns:a16="http://schemas.microsoft.com/office/drawing/2014/main" id="{EB429E19-7C0D-4D64-83EC-2956457388CD}"/>
              </a:ext>
            </a:extLst>
          </p:cNvPr>
          <p:cNvSpPr>
            <a:spLocks xmlns:a="http://schemas.openxmlformats.org/drawingml/2006/main" noGrp="1"/>
          </p:cNvSpPr>
          <p:nvPr/>
        </p:nvSpPr>
        <p:spPr>
          <a:xfrm xmlns:a="http://schemas.openxmlformats.org/drawingml/2006/main">
            <a:off x="609600" y="5038725"/>
            <a:ext cx="10972800" cy="1066800"/>
          </a:xfrm>
          <a:prstGeom xmlns:a="http://schemas.openxmlformats.org/drawingml/2006/main" prst="roundRect">
            <a:avLst>
              <a:gd name="adj" fmla="val 28571"/>
            </a:avLst>
          </a:prstGeom>
          <a:solidFill xmlns:a="http://schemas.openxmlformats.org/drawingml/2006/main">
            <a:srgbClr val="EADDFF"/>
          </a:solidFill>
          <a:ln xmlns:a="http://schemas.openxmlformats.org/drawingml/2006/main" w="0">
            <a:noFill/>
          </a:ln>
        </p:spPr>
      </p:sp>
      <p:sp>
        <p:nvSpPr>
          <p:cNvPr id="15" name="Pilot goal: repeat use + willingness to pay">
            <a:extLst xmlns:a="http://schemas.openxmlformats.org/drawingml/2006/main">
              <a:ext uri="{FF2B5EF4-FFF2-40B4-BE49-F238E27FC236}">
                <a16:creationId xmlns:a16="http://schemas.microsoft.com/office/drawing/2014/main" id="{0EC7719C-AEDE-433B-91D3-6B132827304B}"/>
              </a:ext>
            </a:extLst>
          </p:cNvPr>
          <p:cNvSpPr>
            <a:spLocks xmlns:a="http://schemas.openxmlformats.org/drawingml/2006/main" noGrp="1"/>
          </p:cNvSpPr>
          <p:nvPr/>
        </p:nvSpPr>
        <p:spPr>
          <a:xfrm xmlns:a="http://schemas.openxmlformats.org/drawingml/2006/main">
            <a:off x="895350" y="5343525"/>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21005D"/>
                </a:solidFill>
                <a:latin typeface="Roboto"/>
                <a:ea typeface="Roboto"/>
                <a:cs typeface="Roboto"/>
              </a:defRPr>
            </a:defPPr>
            <a:lvl1pPr algn="l">
              <a:defRPr sz="2550" b="1">
                <a:solidFill>
                  <a:srgbClr val="21005D"/>
                </a:solidFill>
                <a:latin typeface="Roboto"/>
                <a:ea typeface="Roboto"/>
                <a:cs typeface="Roboto"/>
              </a:defRPr>
            </a:lvl1pPr>
            <a:lvl2pPr algn="l">
              <a:defRPr sz="2550" b="1">
                <a:solidFill>
                  <a:srgbClr val="21005D"/>
                </a:solidFill>
                <a:latin typeface="Roboto"/>
                <a:ea typeface="Roboto"/>
                <a:cs typeface="Roboto"/>
              </a:defRPr>
            </a:lvl2pPr>
            <a:lvl3pPr algn="l">
              <a:defRPr sz="2550" b="1">
                <a:solidFill>
                  <a:srgbClr val="21005D"/>
                </a:solidFill>
                <a:latin typeface="Roboto"/>
                <a:ea typeface="Roboto"/>
                <a:cs typeface="Roboto"/>
              </a:defRPr>
            </a:lvl3pPr>
            <a:lvl4pPr algn="l">
              <a:defRPr sz="2550" b="1">
                <a:solidFill>
                  <a:srgbClr val="21005D"/>
                </a:solidFill>
                <a:latin typeface="Roboto"/>
                <a:ea typeface="Roboto"/>
                <a:cs typeface="Roboto"/>
              </a:defRPr>
            </a:lvl4pPr>
            <a:lvl5pPr algn="l">
              <a:defRPr sz="2550" b="1">
                <a:solidFill>
                  <a:srgbClr val="21005D"/>
                </a:solidFill>
                <a:latin typeface="Roboto"/>
                <a:ea typeface="Roboto"/>
                <a:cs typeface="Roboto"/>
              </a:defRPr>
            </a:lvl5pPr>
            <a:lvl6pPr algn="l">
              <a:defRPr sz="2550" b="1">
                <a:solidFill>
                  <a:srgbClr val="21005D"/>
                </a:solidFill>
                <a:latin typeface="Roboto"/>
                <a:ea typeface="Roboto"/>
                <a:cs typeface="Roboto"/>
              </a:defRPr>
            </a:lvl6pPr>
            <a:lvl7pPr algn="l">
              <a:defRPr sz="2550" b="1">
                <a:solidFill>
                  <a:srgbClr val="21005D"/>
                </a:solidFill>
                <a:latin typeface="Roboto"/>
                <a:ea typeface="Roboto"/>
                <a:cs typeface="Roboto"/>
              </a:defRPr>
            </a:lvl7pPr>
            <a:lvl8pPr algn="l">
              <a:defRPr sz="2550" b="1">
                <a:solidFill>
                  <a:srgbClr val="21005D"/>
                </a:solidFill>
                <a:latin typeface="Roboto"/>
                <a:ea typeface="Roboto"/>
                <a:cs typeface="Roboto"/>
              </a:defRPr>
            </a:lvl8pPr>
            <a:lvl9pPr algn="l">
              <a:defRPr sz="2550" b="1">
                <a:solidFill>
                  <a:srgbClr val="21005D"/>
                </a:solidFill>
                <a:latin typeface="Roboto"/>
                <a:ea typeface="Roboto"/>
                <a:cs typeface="Roboto"/>
              </a:defRPr>
            </a:lvl9pPr>
          </a:lstStyle>
          <a:p xmlns:a="http://schemas.openxmlformats.org/drawingml/2006/main">
            <a:pPr algn="l">
              <a:defRPr sz="2550" b="1">
                <a:solidFill>
                  <a:srgbClr val="21005D"/>
                </a:solidFill>
                <a:latin typeface="Roboto"/>
                <a:ea typeface="Roboto"/>
                <a:cs typeface="Roboto"/>
              </a:defRPr>
            </a:pPr>
            <a:r>
              <a:rPr sz="2550" b="1">
                <a:solidFill>
                  <a:srgbClr val="21005D"/>
                </a:solidFill>
                <a:latin typeface="Roboto"/>
                <a:ea typeface="Roboto"/>
                <a:cs typeface="Roboto"/>
              </a:rPr>
              <a:t>Pilot goal: repeat use + willingness to pay</a:t>
            </a:r>
          </a:p>
        </p:txBody>
      </p:sp>
    </p:spTree>
    <p:extLst>
      <p:ext uri="{BB962C8B-B14F-4D97-AF65-F5344CB8AC3E}">
        <p14:creationId xmlns:p14="http://schemas.microsoft.com/office/powerpoint/2010/main" val="1357126847"/>
      </p:ext>
    </p:extLst>
  </p:cSld>
</p:sld>
</file>

<file path=ppt/slides/slide8.xml><?xml version="1.0" encoding="utf-8"?>
<p:sld xmlns:p="http://schemas.openxmlformats.org/presentationml/2006/main">
  <p:cSld>
    <p:bg>
      <p:bgPr>
        <a:solidFill xmlns:a="http://schemas.openxmlformats.org/drawingml/2006/main">
          <a:srgbClr val="21005D"/>
        </a:solidFill>
      </p:bgPr>
    </p:bg>
    <p:spTree>
      <p:nvGrpSpPr>
        <p:cNvPr id="1" name=""/>
        <p:cNvGrpSpPr/>
        <p:nvPr/>
      </p:nvGrpSpPr>
      <p:grpSpPr>
        <a:xfrm xmlns:a="http://schemas.openxmlformats.org/drawingml/2006/main"/>
      </p:grpSpPr>
      <p:sp>
        <p:nvSpPr>
          <p:cNvPr id="2" name="Build your next&#10;agent job with Aperture">
            <a:extLst xmlns:a="http://schemas.openxmlformats.org/drawingml/2006/main">
              <a:ext uri="{FF2B5EF4-FFF2-40B4-BE49-F238E27FC236}">
                <a16:creationId xmlns:a16="http://schemas.microsoft.com/office/drawing/2014/main" id="{A2625B31-F79F-4B7C-942D-56ACD5B67868}"/>
              </a:ext>
            </a:extLst>
          </p:cNvPr>
          <p:cNvSpPr>
            <a:spLocks xmlns:a="http://schemas.openxmlformats.org/drawingml/2006/main" noGrp="1"/>
          </p:cNvSpPr>
          <p:nvPr/>
        </p:nvSpPr>
        <p:spPr>
          <a:xfrm xmlns:a="http://schemas.openxmlformats.org/drawingml/2006/main">
            <a:off x="609600" y="1019175"/>
            <a:ext cx="10972800" cy="2181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75" b="1">
                <a:solidFill>
                  <a:srgbClr val="FFFFFF"/>
                </a:solidFill>
                <a:latin typeface="Roboto"/>
                <a:ea typeface="Roboto"/>
                <a:cs typeface="Roboto"/>
              </a:defRPr>
            </a:defPPr>
            <a:lvl1pPr algn="l">
              <a:defRPr sz="5775" b="1">
                <a:solidFill>
                  <a:srgbClr val="FFFFFF"/>
                </a:solidFill>
                <a:latin typeface="Roboto"/>
                <a:ea typeface="Roboto"/>
                <a:cs typeface="Roboto"/>
              </a:defRPr>
            </a:lvl1pPr>
            <a:lvl2pPr algn="l">
              <a:defRPr sz="5775" b="1">
                <a:solidFill>
                  <a:srgbClr val="FFFFFF"/>
                </a:solidFill>
                <a:latin typeface="Roboto"/>
                <a:ea typeface="Roboto"/>
                <a:cs typeface="Roboto"/>
              </a:defRPr>
            </a:lvl2pPr>
            <a:lvl3pPr algn="l">
              <a:defRPr sz="5775" b="1">
                <a:solidFill>
                  <a:srgbClr val="FFFFFF"/>
                </a:solidFill>
                <a:latin typeface="Roboto"/>
                <a:ea typeface="Roboto"/>
                <a:cs typeface="Roboto"/>
              </a:defRPr>
            </a:lvl3pPr>
            <a:lvl4pPr algn="l">
              <a:defRPr sz="5775" b="1">
                <a:solidFill>
                  <a:srgbClr val="FFFFFF"/>
                </a:solidFill>
                <a:latin typeface="Roboto"/>
                <a:ea typeface="Roboto"/>
                <a:cs typeface="Roboto"/>
              </a:defRPr>
            </a:lvl4pPr>
            <a:lvl5pPr algn="l">
              <a:defRPr sz="5775" b="1">
                <a:solidFill>
                  <a:srgbClr val="FFFFFF"/>
                </a:solidFill>
                <a:latin typeface="Roboto"/>
                <a:ea typeface="Roboto"/>
                <a:cs typeface="Roboto"/>
              </a:defRPr>
            </a:lvl5pPr>
            <a:lvl6pPr algn="l">
              <a:defRPr sz="5775" b="1">
                <a:solidFill>
                  <a:srgbClr val="FFFFFF"/>
                </a:solidFill>
                <a:latin typeface="Roboto"/>
                <a:ea typeface="Roboto"/>
                <a:cs typeface="Roboto"/>
              </a:defRPr>
            </a:lvl6pPr>
            <a:lvl7pPr algn="l">
              <a:defRPr sz="5775" b="1">
                <a:solidFill>
                  <a:srgbClr val="FFFFFF"/>
                </a:solidFill>
                <a:latin typeface="Roboto"/>
                <a:ea typeface="Roboto"/>
                <a:cs typeface="Roboto"/>
              </a:defRPr>
            </a:lvl7pPr>
            <a:lvl8pPr algn="l">
              <a:defRPr sz="5775" b="1">
                <a:solidFill>
                  <a:srgbClr val="FFFFFF"/>
                </a:solidFill>
                <a:latin typeface="Roboto"/>
                <a:ea typeface="Roboto"/>
                <a:cs typeface="Roboto"/>
              </a:defRPr>
            </a:lvl8pPr>
            <a:lvl9pPr algn="l">
              <a:defRPr sz="5775" b="1">
                <a:solidFill>
                  <a:srgbClr val="FFFFFF"/>
                </a:solidFill>
                <a:latin typeface="Roboto"/>
                <a:ea typeface="Roboto"/>
                <a:cs typeface="Roboto"/>
              </a:defRPr>
            </a:lvl9pPr>
          </a:lstStyle>
          <a:p xmlns:a="http://schemas.openxmlformats.org/drawingml/2006/main">
            <a:pPr algn="l">
              <a:defRPr sz="5775" b="1">
                <a:solidFill>
                  <a:srgbClr val="FFFFFF"/>
                </a:solidFill>
                <a:latin typeface="Roboto"/>
                <a:ea typeface="Roboto"/>
                <a:cs typeface="Roboto"/>
              </a:defRPr>
            </a:pPr>
            <a:r>
              <a:rPr sz="5775" b="1">
                <a:solidFill>
                  <a:srgbClr val="FFFFFF"/>
                </a:solidFill>
                <a:latin typeface="Roboto"/>
                <a:ea typeface="Roboto"/>
                <a:cs typeface="Roboto"/>
              </a:rPr>
              <a:t>Build your next</a:t>
            </a:r>
          </a:p>
          <a:p xmlns:a="http://schemas.openxmlformats.org/drawingml/2006/main">
            <a:pPr algn="l">
              <a:defRPr sz="5775" b="1">
                <a:solidFill>
                  <a:srgbClr val="FFFFFF"/>
                </a:solidFill>
                <a:latin typeface="Roboto"/>
                <a:ea typeface="Roboto"/>
                <a:cs typeface="Roboto"/>
              </a:defRPr>
            </a:pPr>
            <a:r>
              <a:rPr sz="5775" b="1">
                <a:solidFill>
                  <a:srgbClr val="FFFFFF"/>
                </a:solidFill>
                <a:latin typeface="Roboto"/>
                <a:ea typeface="Roboto"/>
                <a:cs typeface="Roboto"/>
              </a:rPr>
              <a:t>agent job with Aperture</a:t>
            </a:r>
          </a:p>
        </p:txBody>
      </p:sp>
      <p:sp>
        <p:nvSpPr>
          <p:cNvPr id="3" name="">
            <a:extLst xmlns:a="http://schemas.openxmlformats.org/drawingml/2006/main">
              <a:ext uri="{FF2B5EF4-FFF2-40B4-BE49-F238E27FC236}">
                <a16:creationId xmlns:a16="http://schemas.microsoft.com/office/drawing/2014/main" id="{1BB74E5E-34D2-4D46-B27D-A05E3B60AE16}"/>
              </a:ext>
            </a:extLst>
          </p:cNvPr>
          <p:cNvSpPr>
            <a:spLocks xmlns:a="http://schemas.openxmlformats.org/drawingml/2006/main" noGrp="1"/>
          </p:cNvSpPr>
          <p:nvPr/>
        </p:nvSpPr>
        <p:spPr>
          <a:xfrm xmlns:a="http://schemas.openxmlformats.org/drawingml/2006/main">
            <a:off x="609600" y="3952875"/>
            <a:ext cx="10972800" cy="1028700"/>
          </a:xfrm>
          <a:prstGeom xmlns:a="http://schemas.openxmlformats.org/drawingml/2006/main" prst="roundRect">
            <a:avLst>
              <a:gd name="adj" fmla="val 33333"/>
            </a:avLst>
          </a:prstGeom>
          <a:solidFill xmlns:a="http://schemas.openxmlformats.org/drawingml/2006/main">
            <a:srgbClr val="BFEDE1"/>
          </a:solidFill>
          <a:ln xmlns:a="http://schemas.openxmlformats.org/drawingml/2006/main" w="0">
            <a:noFill/>
          </a:ln>
        </p:spPr>
      </p:sp>
      <p:sp>
        <p:nvSpPr>
          <p:cNvPr id="4" name="Seeking pilot teams and compute providers">
            <a:extLst xmlns:a="http://schemas.openxmlformats.org/drawingml/2006/main">
              <a:ext uri="{FF2B5EF4-FFF2-40B4-BE49-F238E27FC236}">
                <a16:creationId xmlns:a16="http://schemas.microsoft.com/office/drawing/2014/main" id="{1EE8D9CF-EE26-4C26-9142-A88FE90DF09A}"/>
              </a:ext>
            </a:extLst>
          </p:cNvPr>
          <p:cNvSpPr>
            <a:spLocks xmlns:a="http://schemas.openxmlformats.org/drawingml/2006/main" noGrp="1"/>
          </p:cNvSpPr>
          <p:nvPr/>
        </p:nvSpPr>
        <p:spPr>
          <a:xfrm xmlns:a="http://schemas.openxmlformats.org/drawingml/2006/main">
            <a:off x="895350" y="4248150"/>
            <a:ext cx="10382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201B"/>
                </a:solidFill>
                <a:latin typeface="Roboto"/>
                <a:ea typeface="Roboto"/>
                <a:cs typeface="Roboto"/>
              </a:defRPr>
            </a:defPPr>
            <a:lvl1pPr algn="l">
              <a:defRPr sz="2550" b="1">
                <a:solidFill>
                  <a:srgbClr val="00201B"/>
                </a:solidFill>
                <a:latin typeface="Roboto"/>
                <a:ea typeface="Roboto"/>
                <a:cs typeface="Roboto"/>
              </a:defRPr>
            </a:lvl1pPr>
            <a:lvl2pPr algn="l">
              <a:defRPr sz="2550" b="1">
                <a:solidFill>
                  <a:srgbClr val="00201B"/>
                </a:solidFill>
                <a:latin typeface="Roboto"/>
                <a:ea typeface="Roboto"/>
                <a:cs typeface="Roboto"/>
              </a:defRPr>
            </a:lvl2pPr>
            <a:lvl3pPr algn="l">
              <a:defRPr sz="2550" b="1">
                <a:solidFill>
                  <a:srgbClr val="00201B"/>
                </a:solidFill>
                <a:latin typeface="Roboto"/>
                <a:ea typeface="Roboto"/>
                <a:cs typeface="Roboto"/>
              </a:defRPr>
            </a:lvl3pPr>
            <a:lvl4pPr algn="l">
              <a:defRPr sz="2550" b="1">
                <a:solidFill>
                  <a:srgbClr val="00201B"/>
                </a:solidFill>
                <a:latin typeface="Roboto"/>
                <a:ea typeface="Roboto"/>
                <a:cs typeface="Roboto"/>
              </a:defRPr>
            </a:lvl4pPr>
            <a:lvl5pPr algn="l">
              <a:defRPr sz="2550" b="1">
                <a:solidFill>
                  <a:srgbClr val="00201B"/>
                </a:solidFill>
                <a:latin typeface="Roboto"/>
                <a:ea typeface="Roboto"/>
                <a:cs typeface="Roboto"/>
              </a:defRPr>
            </a:lvl5pPr>
            <a:lvl6pPr algn="l">
              <a:defRPr sz="2550" b="1">
                <a:solidFill>
                  <a:srgbClr val="00201B"/>
                </a:solidFill>
                <a:latin typeface="Roboto"/>
                <a:ea typeface="Roboto"/>
                <a:cs typeface="Roboto"/>
              </a:defRPr>
            </a:lvl6pPr>
            <a:lvl7pPr algn="l">
              <a:defRPr sz="2550" b="1">
                <a:solidFill>
                  <a:srgbClr val="00201B"/>
                </a:solidFill>
                <a:latin typeface="Roboto"/>
                <a:ea typeface="Roboto"/>
                <a:cs typeface="Roboto"/>
              </a:defRPr>
            </a:lvl7pPr>
            <a:lvl8pPr algn="l">
              <a:defRPr sz="2550" b="1">
                <a:solidFill>
                  <a:srgbClr val="00201B"/>
                </a:solidFill>
                <a:latin typeface="Roboto"/>
                <a:ea typeface="Roboto"/>
                <a:cs typeface="Roboto"/>
              </a:defRPr>
            </a:lvl8pPr>
            <a:lvl9pPr algn="l">
              <a:defRPr sz="2550" b="1">
                <a:solidFill>
                  <a:srgbClr val="00201B"/>
                </a:solidFill>
                <a:latin typeface="Roboto"/>
                <a:ea typeface="Roboto"/>
                <a:cs typeface="Roboto"/>
              </a:defRPr>
            </a:lvl9pPr>
          </a:lstStyle>
          <a:p xmlns:a="http://schemas.openxmlformats.org/drawingml/2006/main">
            <a:pPr algn="l">
              <a:defRPr sz="2550" b="1">
                <a:solidFill>
                  <a:srgbClr val="00201B"/>
                </a:solidFill>
                <a:latin typeface="Roboto"/>
                <a:ea typeface="Roboto"/>
                <a:cs typeface="Roboto"/>
              </a:defRPr>
            </a:pPr>
            <a:r>
              <a:rPr sz="2550" b="1">
                <a:solidFill>
                  <a:srgbClr val="00201B"/>
                </a:solidFill>
                <a:latin typeface="Roboto"/>
                <a:ea typeface="Roboto"/>
                <a:cs typeface="Roboto"/>
              </a:rPr>
              <a:t>Seeking pilot teams and compute providers</a:t>
            </a:r>
          </a:p>
        </p:txBody>
      </p:sp>
      <p:sp>
        <p:nvSpPr>
          <p:cNvPr id="5" name="AliNurym">
            <a:extLst xmlns:a="http://schemas.openxmlformats.org/drawingml/2006/main">
              <a:ext uri="{FF2B5EF4-FFF2-40B4-BE49-F238E27FC236}">
                <a16:creationId xmlns:a16="http://schemas.microsoft.com/office/drawing/2014/main" id="{CDFECA07-EE51-4F73-A6D8-C6360B8A0CE5}"/>
              </a:ext>
            </a:extLst>
          </p:cNvPr>
          <p:cNvSpPr>
            <a:spLocks xmlns:a="http://schemas.openxmlformats.org/drawingml/2006/main" noGrp="1"/>
          </p:cNvSpPr>
          <p:nvPr/>
        </p:nvSpPr>
        <p:spPr>
          <a:xfrm xmlns:a="http://schemas.openxmlformats.org/drawingml/2006/main">
            <a:off x="609600" y="57245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EADDFF"/>
                </a:solidFill>
                <a:latin typeface="Roboto"/>
                <a:ea typeface="Roboto"/>
                <a:cs typeface="Roboto"/>
              </a:defRPr>
            </a:defPPr>
            <a:lvl1pPr algn="l">
              <a:defRPr sz="2100" b="1">
                <a:solidFill>
                  <a:srgbClr val="EADDFF"/>
                </a:solidFill>
                <a:latin typeface="Roboto"/>
                <a:ea typeface="Roboto"/>
                <a:cs typeface="Roboto"/>
              </a:defRPr>
            </a:lvl1pPr>
            <a:lvl2pPr algn="l">
              <a:defRPr sz="2100" b="1">
                <a:solidFill>
                  <a:srgbClr val="EADDFF"/>
                </a:solidFill>
                <a:latin typeface="Roboto"/>
                <a:ea typeface="Roboto"/>
                <a:cs typeface="Roboto"/>
              </a:defRPr>
            </a:lvl2pPr>
            <a:lvl3pPr algn="l">
              <a:defRPr sz="2100" b="1">
                <a:solidFill>
                  <a:srgbClr val="EADDFF"/>
                </a:solidFill>
                <a:latin typeface="Roboto"/>
                <a:ea typeface="Roboto"/>
                <a:cs typeface="Roboto"/>
              </a:defRPr>
            </a:lvl3pPr>
            <a:lvl4pPr algn="l">
              <a:defRPr sz="2100" b="1">
                <a:solidFill>
                  <a:srgbClr val="EADDFF"/>
                </a:solidFill>
                <a:latin typeface="Roboto"/>
                <a:ea typeface="Roboto"/>
                <a:cs typeface="Roboto"/>
              </a:defRPr>
            </a:lvl4pPr>
            <a:lvl5pPr algn="l">
              <a:defRPr sz="2100" b="1">
                <a:solidFill>
                  <a:srgbClr val="EADDFF"/>
                </a:solidFill>
                <a:latin typeface="Roboto"/>
                <a:ea typeface="Roboto"/>
                <a:cs typeface="Roboto"/>
              </a:defRPr>
            </a:lvl5pPr>
            <a:lvl6pPr algn="l">
              <a:defRPr sz="2100" b="1">
                <a:solidFill>
                  <a:srgbClr val="EADDFF"/>
                </a:solidFill>
                <a:latin typeface="Roboto"/>
                <a:ea typeface="Roboto"/>
                <a:cs typeface="Roboto"/>
              </a:defRPr>
            </a:lvl6pPr>
            <a:lvl7pPr algn="l">
              <a:defRPr sz="2100" b="1">
                <a:solidFill>
                  <a:srgbClr val="EADDFF"/>
                </a:solidFill>
                <a:latin typeface="Roboto"/>
                <a:ea typeface="Roboto"/>
                <a:cs typeface="Roboto"/>
              </a:defRPr>
            </a:lvl7pPr>
            <a:lvl8pPr algn="l">
              <a:defRPr sz="2100" b="1">
                <a:solidFill>
                  <a:srgbClr val="EADDFF"/>
                </a:solidFill>
                <a:latin typeface="Roboto"/>
                <a:ea typeface="Roboto"/>
                <a:cs typeface="Roboto"/>
              </a:defRPr>
            </a:lvl8pPr>
            <a:lvl9pPr algn="l">
              <a:defRPr sz="2100" b="1">
                <a:solidFill>
                  <a:srgbClr val="EADDFF"/>
                </a:solidFill>
                <a:latin typeface="Roboto"/>
                <a:ea typeface="Roboto"/>
                <a:cs typeface="Roboto"/>
              </a:defRPr>
            </a:lvl9pPr>
          </a:lstStyle>
          <a:p xmlns:a="http://schemas.openxmlformats.org/drawingml/2006/main">
            <a:pPr algn="l">
              <a:defRPr sz="2100" b="1">
                <a:solidFill>
                  <a:srgbClr val="EADDFF"/>
                </a:solidFill>
                <a:latin typeface="Roboto"/>
                <a:ea typeface="Roboto"/>
                <a:cs typeface="Roboto"/>
              </a:defRPr>
            </a:pPr>
            <a:r>
              <a:rPr sz="2100" b="1">
                <a:solidFill>
                  <a:srgbClr val="EADDFF"/>
                </a:solidFill>
                <a:latin typeface="Roboto"/>
                <a:ea typeface="Roboto"/>
                <a:cs typeface="Roboto"/>
              </a:rPr>
              <a:t>AliNurym</a:t>
            </a:r>
          </a:p>
        </p:txBody>
      </p:sp>
      <p:sp>
        <p:nvSpPr>
          <p:cNvPr id="6" name="aperture-ai-gateway.vercel.app">
            <a:extLst xmlns:a="http://schemas.openxmlformats.org/drawingml/2006/main">
              <a:ext uri="{FF2B5EF4-FFF2-40B4-BE49-F238E27FC236}">
                <a16:creationId xmlns:a16="http://schemas.microsoft.com/office/drawing/2014/main" id="{1DB9561E-E85C-4700-AC27-CD3EAAAC55E5}"/>
              </a:ext>
            </a:extLst>
          </p:cNvPr>
          <p:cNvSpPr>
            <a:spLocks xmlns:a="http://schemas.openxmlformats.org/drawingml/2006/main" noGrp="1"/>
          </p:cNvSpPr>
          <p:nvPr/>
        </p:nvSpPr>
        <p:spPr>
          <a:xfrm xmlns:a="http://schemas.openxmlformats.org/drawingml/2006/main">
            <a:off x="609600" y="62579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D0BCFF"/>
                </a:solidFill>
                <a:latin typeface="Roboto"/>
                <a:ea typeface="Roboto"/>
                <a:cs typeface="Roboto"/>
              </a:defRPr>
            </a:defPPr>
            <a:lvl1pPr algn="l">
              <a:defRPr sz="1875" b="0">
                <a:solidFill>
                  <a:srgbClr val="D0BCFF"/>
                </a:solidFill>
                <a:latin typeface="Roboto"/>
                <a:ea typeface="Roboto"/>
                <a:cs typeface="Roboto"/>
              </a:defRPr>
            </a:lvl1pPr>
            <a:lvl2pPr algn="l">
              <a:defRPr sz="1875" b="0">
                <a:solidFill>
                  <a:srgbClr val="D0BCFF"/>
                </a:solidFill>
                <a:latin typeface="Roboto"/>
                <a:ea typeface="Roboto"/>
                <a:cs typeface="Roboto"/>
              </a:defRPr>
            </a:lvl2pPr>
            <a:lvl3pPr algn="l">
              <a:defRPr sz="1875" b="0">
                <a:solidFill>
                  <a:srgbClr val="D0BCFF"/>
                </a:solidFill>
                <a:latin typeface="Roboto"/>
                <a:ea typeface="Roboto"/>
                <a:cs typeface="Roboto"/>
              </a:defRPr>
            </a:lvl3pPr>
            <a:lvl4pPr algn="l">
              <a:defRPr sz="1875" b="0">
                <a:solidFill>
                  <a:srgbClr val="D0BCFF"/>
                </a:solidFill>
                <a:latin typeface="Roboto"/>
                <a:ea typeface="Roboto"/>
                <a:cs typeface="Roboto"/>
              </a:defRPr>
            </a:lvl4pPr>
            <a:lvl5pPr algn="l">
              <a:defRPr sz="1875" b="0">
                <a:solidFill>
                  <a:srgbClr val="D0BCFF"/>
                </a:solidFill>
                <a:latin typeface="Roboto"/>
                <a:ea typeface="Roboto"/>
                <a:cs typeface="Roboto"/>
              </a:defRPr>
            </a:lvl5pPr>
            <a:lvl6pPr algn="l">
              <a:defRPr sz="1875" b="0">
                <a:solidFill>
                  <a:srgbClr val="D0BCFF"/>
                </a:solidFill>
                <a:latin typeface="Roboto"/>
                <a:ea typeface="Roboto"/>
                <a:cs typeface="Roboto"/>
              </a:defRPr>
            </a:lvl6pPr>
            <a:lvl7pPr algn="l">
              <a:defRPr sz="1875" b="0">
                <a:solidFill>
                  <a:srgbClr val="D0BCFF"/>
                </a:solidFill>
                <a:latin typeface="Roboto"/>
                <a:ea typeface="Roboto"/>
                <a:cs typeface="Roboto"/>
              </a:defRPr>
            </a:lvl7pPr>
            <a:lvl8pPr algn="l">
              <a:defRPr sz="1875" b="0">
                <a:solidFill>
                  <a:srgbClr val="D0BCFF"/>
                </a:solidFill>
                <a:latin typeface="Roboto"/>
                <a:ea typeface="Roboto"/>
                <a:cs typeface="Roboto"/>
              </a:defRPr>
            </a:lvl8pPr>
            <a:lvl9pPr algn="l">
              <a:defRPr sz="1875" b="0">
                <a:solidFill>
                  <a:srgbClr val="D0BCFF"/>
                </a:solidFill>
                <a:latin typeface="Roboto"/>
                <a:ea typeface="Roboto"/>
                <a:cs typeface="Roboto"/>
              </a:defRPr>
            </a:lvl9pPr>
          </a:lstStyle>
          <a:p xmlns:a="http://schemas.openxmlformats.org/drawingml/2006/main">
            <a:pPr algn="l">
              <a:defRPr sz="1875" b="0">
                <a:solidFill>
                  <a:srgbClr val="D0BCFF"/>
                </a:solidFill>
                <a:latin typeface="Roboto"/>
                <a:ea typeface="Roboto"/>
                <a:cs typeface="Roboto"/>
              </a:defRPr>
            </a:pPr>
            <a:r>
              <a:rPr sz="1875" b="0">
                <a:solidFill>
                  <a:srgbClr val="D0BCFF"/>
                </a:solidFill>
                <a:latin typeface="Roboto"/>
                <a:ea typeface="Roboto"/>
                <a:cs typeface="Roboto"/>
              </a:rPr>
              <a:t>aperture-ai-gateway.vercel.app</a:t>
            </a:r>
          </a:p>
        </p:txBody>
      </p:sp>
    </p:spTree>
    <p:extLst>
      <p:ext uri="{BB962C8B-B14F-4D97-AF65-F5344CB8AC3E}">
        <p14:creationId xmlns:p14="http://schemas.microsoft.com/office/powerpoint/2010/main" val="16943283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Roboto"/>
        <a:ea typeface=""/>
        <a:cs typeface=""/>
      </a:majorFont>
      <a:minorFont>
        <a:latin typeface="Robot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2026-10-24T07:16:58.4550000Z</dcterms:created>
  <dcterms:modified xsi:type="dcterms:W3CDTF">2026-10-24T07:16:58.4550000Z</dcterms:modified>
</coreProperties>
</file>