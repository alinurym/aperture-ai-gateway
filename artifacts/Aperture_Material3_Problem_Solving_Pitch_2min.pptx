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22798690dc48cd" /><Relationship Type="http://schemas.openxmlformats.org/officeDocument/2006/relationships/extended-properties" Target="/docProps/app.xml" Id="Rbee035f163cc4d6d" /><Relationship Type="http://schemas.openxmlformats.org/officeDocument/2006/relationships/officeDocument" Target="/ppt/presentation.xml" Id="Ra62c5ce500db49fc" /></Relationships>
</file>

<file path=ppt/presentation.xml><?xml version="1.0" encoding="utf-8"?>
<p:presentation xmlns:p="http://schemas.openxmlformats.org/presentationml/2006/main">
  <p:sldMasterIdLst>
    <p:sldMasterId xmlns:r="http://schemas.openxmlformats.org/officeDocument/2006/relationships" id="2147483648" r:id="Re5fca37dc7784b30"/>
  </p:sldMasterIdLst>
  <p:notesMasterIdLst>
    <p:notesMasterId xmlns:r="http://schemas.openxmlformats.org/officeDocument/2006/relationships" r:id="R20e0bf72840043c1"/>
  </p:notesMasterIdLst>
  <p:sldIdLst>
    <p:sldId xmlns:r="http://schemas.openxmlformats.org/officeDocument/2006/relationships" id="256" r:id="R2c88d3a347324f97"/>
    <p:sldId xmlns:r="http://schemas.openxmlformats.org/officeDocument/2006/relationships" id="257" r:id="R024b9ea9e1064ae6"/>
    <p:sldId xmlns:r="http://schemas.openxmlformats.org/officeDocument/2006/relationships" id="258" r:id="R682cdba16af64e96"/>
    <p:sldId xmlns:r="http://schemas.openxmlformats.org/officeDocument/2006/relationships" id="259" r:id="R2eea2e53dc83419b"/>
    <p:sldId xmlns:r="http://schemas.openxmlformats.org/officeDocument/2006/relationships" id="260" r:id="R3b7fefd40cdf4cf9"/>
    <p:sldId xmlns:r="http://schemas.openxmlformats.org/officeDocument/2006/relationships" id="261" r:id="R376fe9fed9654bc2"/>
    <p:sldId xmlns:r="http://schemas.openxmlformats.org/officeDocument/2006/relationships" id="262" r:id="Re6da804e0b164efa"/>
    <p:sldId xmlns:r="http://schemas.openxmlformats.org/officeDocument/2006/relationships" id="263" r:id="Rf772cba8224342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2b42f1662a4b51" /><Relationship Type="http://schemas.openxmlformats.org/officeDocument/2006/relationships/slideMaster" Target="/ppt/slideMasters/slideMaster1.xml" Id="Re5fca37dc7784b30" /><Relationship Type="http://schemas.openxmlformats.org/officeDocument/2006/relationships/notesMaster" Target="/ppt/notesMasters/notesMaster1.xml" Id="R20e0bf72840043c1" /><Relationship Type="http://schemas.openxmlformats.org/officeDocument/2006/relationships/presProps" Target="/ppt/presProps.xml" Id="R701a54163e544c57" /><Relationship Type="http://schemas.openxmlformats.org/officeDocument/2006/relationships/tableStyles" Target="/ppt/tableStyles.xml" Id="R5801eb1ab21d4fc9" /><Relationship Type="http://schemas.openxmlformats.org/officeDocument/2006/relationships/slide" Target="/ppt/slides/slide1.xml" Id="R2c88d3a347324f97" /><Relationship Type="http://schemas.openxmlformats.org/officeDocument/2006/relationships/slide" Target="/ppt/slides/slide2.xml" Id="R024b9ea9e1064ae6" /><Relationship Type="http://schemas.openxmlformats.org/officeDocument/2006/relationships/slide" Target="/ppt/slides/slide3.xml" Id="R682cdba16af64e96" /><Relationship Type="http://schemas.openxmlformats.org/officeDocument/2006/relationships/slide" Target="/ppt/slides/slide4.xml" Id="R2eea2e53dc83419b" /><Relationship Type="http://schemas.openxmlformats.org/officeDocument/2006/relationships/slide" Target="/ppt/slides/slide5.xml" Id="R3b7fefd40cdf4cf9" /><Relationship Type="http://schemas.openxmlformats.org/officeDocument/2006/relationships/slide" Target="/ppt/slides/slide6.xml" Id="R376fe9fed9654bc2" /><Relationship Type="http://schemas.openxmlformats.org/officeDocument/2006/relationships/slide" Target="/ppt/slides/slide7.xml" Id="Re6da804e0b164efa" /><Relationship Type="http://schemas.openxmlformats.org/officeDocument/2006/relationships/slide" Target="/ppt/slides/slide8.xml" Id="Rf772cba8224342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8ca0ebc66749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8afe4f94c54cd7" /><Relationship Type="http://schemas.openxmlformats.org/officeDocument/2006/relationships/notesMaster" Target="/ppt/notesMasters/notesMaster1.xml" Id="R1b068686d0264c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580cc8d3064397" /><Relationship Type="http://schemas.openxmlformats.org/officeDocument/2006/relationships/notesMaster" Target="/ppt/notesMasters/notesMaster1.xml" Id="R57b1a791b4fc42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aa73cdfd154359" /><Relationship Type="http://schemas.openxmlformats.org/officeDocument/2006/relationships/notesMaster" Target="/ppt/notesMasters/notesMaster1.xml" Id="Rc257d1b5facc4d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c4bb99eb1b4be3" /><Relationship Type="http://schemas.openxmlformats.org/officeDocument/2006/relationships/notesMaster" Target="/ppt/notesMasters/notesMaster1.xml" Id="R9fd0d1eb4b8f4d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3bb6e7c607460a" /><Relationship Type="http://schemas.openxmlformats.org/officeDocument/2006/relationships/notesMaster" Target="/ppt/notesMasters/notesMaster1.xml" Id="R0805516cbdcd4e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0fee93077c4e2b" /><Relationship Type="http://schemas.openxmlformats.org/officeDocument/2006/relationships/notesMaster" Target="/ppt/notesMasters/notesMaster1.xml" Id="R5ff9e965fef943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431cc286534f11" /><Relationship Type="http://schemas.openxmlformats.org/officeDocument/2006/relationships/notesMaster" Target="/ppt/notesMasters/notesMaster1.xml" Id="R488c65df36684e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33a66dd8a0482c" /><Relationship Type="http://schemas.openxmlformats.org/officeDocument/2006/relationships/notesMaster" Target="/ppt/notesMasters/notesMaster1.xml" Id="Ra6ad4439799640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0:00-0:14</a:t>
            </a:r>
          </a:p>
          <a:p xmlns:a="http://schemas.openxmlformats.org/drawingml/2006/main">
            <a:r>
              <a:t/>
            </a:r>
          </a:p>
          <a:p xmlns:a="http://schemas.openxmlformats.org/drawingml/2006/main">
            <a:r>
              <a:t>A Solana AI developer wants an agent to call a model, run code and deliver files. Today, those steps cross separate provider and worker services.</a:t>
            </a:r>
          </a:p>
          <a:p xmlns:a="http://schemas.openxmlformats.org/drawingml/2006/main">
            <a:r>
              <a:t/>
            </a:r>
          </a:p>
          <a:p xmlns:a="http://schemas.openxmlformats.org/drawingml/2006/main">
            <a:r>
              <a:t>Sources and boundaries: README.md; docs/competition-positioning.md. The mark is the original project asset in docs/aperture-mark-v3.png.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0:14-0:29</a:t>
            </a:r>
          </a:p>
          <a:p xmlns:a="http://schemas.openxmlformats.org/drawingml/2006/main">
            <a:r>
              <a:t/>
            </a:r>
          </a:p>
          <a:p xmlns:a="http://schemas.openxmlformats.org/drawingml/2006/main">
            <a:r>
              <a:t>Which route ran? Whose permission applied? What could it spend? What evidence came back? Builders piece those answers together across disconnected services.</a:t>
            </a:r>
          </a:p>
          <a:p xmlns:a="http://schemas.openxmlformats.org/drawingml/2006/main">
            <a:r>
              <a:t/>
            </a:r>
          </a:p>
          <a:p xmlns:a="http://schemas.openxmlformats.org/drawingml/2006/main">
            <a:r>
              <a:t>Sources and boundaries: docs/competition-positioning.md; docs/WHITEPAPER.md. This is the product problem for Solana AI developers, not a market-size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0:29-0:43</a:t>
            </a:r>
          </a:p>
          <a:p xmlns:a="http://schemas.openxmlformats.org/drawingml/2006/main">
            <a:r>
              <a:t/>
            </a:r>
          </a:p>
          <a:p xmlns:a="http://schemas.openxmlformats.org/drawingml/2006/main">
            <a:r>
              <a:t>Aperture puts model inference, Python jobs and recoverable data workflows behind one gateway and one owner-approved task record.</a:t>
            </a:r>
          </a:p>
          <a:p xmlns:a="http://schemas.openxmlformats.org/drawingml/2006/main">
            <a:r>
              <a:t/>
            </a:r>
          </a:p>
          <a:p xmlns:a="http://schemas.openxmlformats.org/drawingml/2006/main">
            <a:r>
              <a:t>Sources and boundaries: README.md; docs/inference.md; docs/worker-market.md. Model offers are operator-configured; the current worker market is authenticated CPU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0:43-0:58</a:t>
            </a:r>
          </a:p>
          <a:p xmlns:a="http://schemas.openxmlformats.org/drawingml/2006/main">
            <a:r>
              <a:t/>
            </a:r>
          </a:p>
          <a:p xmlns:a="http://schemas.openxmlformats.org/drawingml/2006/main">
            <a:r>
              <a:t>Before dispatch, the owner signs the route, input hashes, spending cap and runtime. Agents connect through Python SDK or MCP. The journal resumes accepted work after interruption.</a:t>
            </a:r>
          </a:p>
          <a:p xmlns:a="http://schemas.openxmlformats.org/drawingml/2006/main">
            <a:r>
              <a:t/>
            </a:r>
          </a:p>
          <a:p xmlns:a="http://schemas.openxmlformats.org/drawingml/2006/main">
            <a:r>
              <a:t>Sources and boundaries: README.md; docs/agent-workflows.md; docs/python-agent-sdk.md; docs/mcp-agent.md. The quote is task-specific; recovery covers accepted workflow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0:58-1:13</a:t>
            </a:r>
          </a:p>
          <a:p xmlns:a="http://schemas.openxmlformats.org/drawingml/2006/main">
            <a:r>
              <a:t/>
            </a:r>
          </a:p>
          <a:p xmlns:a="http://schemas.openxmlformats.org/drawingml/2006/main">
            <a:r>
              <a:t>This reunites the original AI Sentinel and compute gateway. Sentinel can review the exact Python source and link its signed receipt to the compute manifest. A separate owner signature still authorizes execution.</a:t>
            </a:r>
          </a:p>
          <a:p xmlns:a="http://schemas.openxmlformats.org/drawingml/2006/main">
            <a:r>
              <a:t/>
            </a:r>
          </a:p>
          <a:p xmlns:a="http://schemas.openxmlformats.org/drawingml/2006/main">
            <a:r>
              <a:t>Sources and boundaries: docs/historical-integration.md; docs/inference.md; README.md. Linkage is verified with API regressions and an HTTP fixture, not a live Gemini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1:13-1:29</a:t>
            </a:r>
          </a:p>
          <a:p xmlns:a="http://schemas.openxmlformats.org/drawingml/2006/main">
            <a:r>
              <a:t/>
            </a:r>
          </a:p>
          <a:p xmlns:a="http://schemas.openxmlformats.org/drawingml/2006/main">
            <a:r>
              <a:t>Solana provides the task settlement path: funded channel, cost cap, deadline, worker pinned at start, persistent receipt. Updated source sends the full confirmed charge to that worker. The current preview is OFF_CHAIN, with no SOL; redeployment and live payout verification remain.</a:t>
            </a:r>
          </a:p>
          <a:p xmlns:a="http://schemas.openxmlformats.org/drawingml/2006/main">
            <a:r>
              <a:t/>
            </a:r>
          </a:p>
          <a:p xmlns:a="http://schemas.openxmlformats.org/drawingml/2006/main">
            <a:r>
              <a:t>Sources and boundaries: docs/protocol-v2.md; programs/src/lib.rs; README.md. Full worker routing is source-defined and has not been redeployed or independently verified with a live payout.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1:29-1:45</a:t>
            </a:r>
          </a:p>
          <a:p xmlns:a="http://schemas.openxmlformats.org/drawingml/2006/main">
            <a:r>
              <a:t/>
            </a:r>
          </a:p>
          <a:p xmlns:a="http://schemas.openxmlformats.org/drawingml/2006/main">
            <a:r>
              <a:t>Our local check processed seventeen thousand synthetic rows. After interruption, five tasks completed with no duplicates, and three outputs matched direct Python byte for byte. It used trusted host CPU, without Docker isolation or payment.</a:t>
            </a:r>
          </a:p>
          <a:p xmlns:a="http://schemas.openxmlformats.org/drawingml/2006/main">
            <a:r>
              <a:t/>
            </a:r>
          </a:p>
          <a:p xmlns:a="http://schemas.openxmlformats.org/drawingml/2006/main">
            <a:r>
              <a:t>Sources and boundaries: docs/mvp-evidence.md; docs/presentation-evidence.json. This is a local synthetic workflow run, not a remote provider, secure-container, payment or speed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1:45-2:00</a:t>
            </a:r>
          </a:p>
          <a:p xmlns:a="http://schemas.openxmlformats.org/drawingml/2006/main">
            <a:r>
              <a:t/>
            </a:r>
          </a:p>
          <a:p xmlns:a="http://schemas.openxmlformats.org/drawingml/2006/main">
            <a:r>
              <a:t>Aperture's MVP joins inference, agent permissions and compute. Next we verify live provider and settlement paths, then onboard independent workers. We are seeking pilot teams and compute operators.</a:t>
            </a:r>
          </a:p>
          <a:p xmlns:a="http://schemas.openxmlformats.org/drawingml/2006/main">
            <a:r>
              <a:t/>
            </a:r>
          </a:p>
          <a:p xmlns:a="http://schemas.openxmlformats.org/drawingml/2006/main">
            <a:r>
              <a:t>Sources and boundaries: README.md; docs/historical-integration.md; docs/competition-positioning.md. Provider discovery remains operator-managed; isolation and independent onboarding are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c292492dc54c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ca78edf2fa43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b986fc50d147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44e58441e44b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a127bd9c2f45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e917bda4f046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E89310-A51A-4164-B073-F1EC2B4F3D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C91A95B-734E-498F-8D1E-DFA7685116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B5431E-8096-4D20-9FE5-631DC1D6A7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3B5C93-6174-4C2E-814B-C6139B9F73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F23D0E-C6A8-45F9-84B7-07DE1638FB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BFB3C8-4EE7-4AF7-A0E6-B7BBBA931E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3CB791-4670-4DEB-8C93-EF1DCA6C82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3E9A31-F81A-4C70-855A-A4D4A405C5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CF93C8-F788-4E06-9AE3-CD71CBF52A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734F6-8F75-4CF1-A8D2-463CA537FF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61ac364c464213" /><Relationship Type="http://schemas.openxmlformats.org/officeDocument/2006/relationships/slideLayout" Target="/ppt/slideLayouts/slideLayout1.xml" Id="R21bb003c856e4bd5" /><Relationship Type="http://schemas.openxmlformats.org/officeDocument/2006/relationships/slideLayout" Target="/ppt/slideLayouts/slideLayout2.xml" Id="Rb15f20ebefcb40ac" /><Relationship Type="http://schemas.openxmlformats.org/officeDocument/2006/relationships/slideLayout" Target="/ppt/slideLayouts/slideLayout3.xml" Id="Rb5da339fb7f0452d" /><Relationship Type="http://schemas.openxmlformats.org/officeDocument/2006/relationships/slideLayout" Target="/ppt/slideLayouts/slideLayout4.xml" Id="R33e4f46c7f30486b" /><Relationship Type="http://schemas.openxmlformats.org/officeDocument/2006/relationships/slideLayout" Target="/ppt/slideLayouts/slideLayout5.xml" Id="R164cbf2704ab40c8" /><Relationship Type="http://schemas.openxmlformats.org/officeDocument/2006/relationships/slideLayout" Target="/ppt/slideLayouts/slideLayout6.xml" Id="R00d200fe179d46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bb003c856e4bd5"/>
    <p:sldLayoutId xmlns:r="http://schemas.openxmlformats.org/officeDocument/2006/relationships" id="2147483650" r:id="Rb15f20ebefcb40ac"/>
    <p:sldLayoutId xmlns:r="http://schemas.openxmlformats.org/officeDocument/2006/relationships" id="2147483651" r:id="Rb5da339fb7f0452d"/>
    <p:sldLayoutId xmlns:r="http://schemas.openxmlformats.org/officeDocument/2006/relationships" id="2147483652" r:id="R33e4f46c7f30486b"/>
    <p:sldLayoutId xmlns:r="http://schemas.openxmlformats.org/officeDocument/2006/relationships" id="2147483653" r:id="R164cbf2704ab40c8"/>
    <p:sldLayoutId xmlns:r="http://schemas.openxmlformats.org/officeDocument/2006/relationships" id="2147483654" r:id="R00d200fe179d46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835e26cef6495a" /><Relationship Type="http://schemas.openxmlformats.org/officeDocument/2006/relationships/image" Target="/ppt/media/image.png" Id="R794a1c69dd5f4d7d" /><Relationship Type="http://schemas.openxmlformats.org/officeDocument/2006/relationships/notesSlide" Target="/ppt/notesSlides/notesSlide1.xml" Id="R68ce3c2857b346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0af18d34b984ec0" /><Relationship Type="http://schemas.openxmlformats.org/officeDocument/2006/relationships/notesSlide" Target="/ppt/notesSlides/notesSlide2.xml" Id="Rb001565d78aa46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ef7b58eb584f34" /><Relationship Type="http://schemas.openxmlformats.org/officeDocument/2006/relationships/notesSlide" Target="/ppt/notesSlides/notesSlide3.xml" Id="R82d8198bf1cb46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05354995da47e6" /><Relationship Type="http://schemas.openxmlformats.org/officeDocument/2006/relationships/notesSlide" Target="/ppt/notesSlides/notesSlide4.xml" Id="R05c16f01b44c49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00b10a2fe04a4a" /><Relationship Type="http://schemas.openxmlformats.org/officeDocument/2006/relationships/notesSlide" Target="/ppt/notesSlides/notesSlide5.xml" Id="R686654341aec44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15ebd944dc47c4" /><Relationship Type="http://schemas.openxmlformats.org/officeDocument/2006/relationships/notesSlide" Target="/ppt/notesSlides/notesSlide6.xml" Id="Ra41c4c13757641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82739d6b844d66" /><Relationship Type="http://schemas.openxmlformats.org/officeDocument/2006/relationships/notesSlide" Target="/ppt/notesSlides/notesSlide7.xml" Id="R8b21de9326af4d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c41a4c3ae6644a6" /><Relationship Type="http://schemas.openxmlformats.org/officeDocument/2006/relationships/notesSlide" Target="/ppt/notesSlides/notesSlide8.xml" Id="R9b8ca7b5352e41a2" /></Relationships>
</file>

<file path=ppt/slides/slide1.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14" name="brand-wordmark">
            <a:extLst xmlns:a="http://schemas.openxmlformats.org/drawingml/2006/main">
              <a:ext uri="{FF2B5EF4-FFF2-40B4-BE49-F238E27FC236}">
                <a16:creationId xmlns:a16="http://schemas.microsoft.com/office/drawing/2014/main" id="{3FB789AF-D4A1-4134-A07E-501F2C1802FA}"/>
              </a:ext>
            </a:extLst>
          </p:cNvPr>
          <p:cNvSpPr>
            <a:spLocks xmlns:a="http://schemas.openxmlformats.org/drawingml/2006/main" noGrp="1"/>
          </p:cNvSpPr>
          <p:nvPr/>
        </p:nvSpPr>
        <p:spPr>
          <a:xfrm xmlns:a="http://schemas.openxmlformats.org/drawingml/2006/main">
            <a:off x="685800" y="323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C1B1F"/>
                </a:solidFill>
                <a:latin typeface="Roboto"/>
                <a:ea typeface="Roboto"/>
                <a:cs typeface="Roboto"/>
              </a:defRPr>
            </a:defPPr>
            <a:lvl1pPr algn="l">
              <a:defRPr sz="1350" b="1">
                <a:solidFill>
                  <a:srgbClr val="1C1B1F"/>
                </a:solidFill>
                <a:latin typeface="Roboto"/>
                <a:ea typeface="Roboto"/>
                <a:cs typeface="Roboto"/>
              </a:defRPr>
            </a:lvl1pPr>
            <a:lvl2pPr algn="l">
              <a:defRPr sz="1350" b="1">
                <a:solidFill>
                  <a:srgbClr val="1C1B1F"/>
                </a:solidFill>
                <a:latin typeface="Roboto"/>
                <a:ea typeface="Roboto"/>
                <a:cs typeface="Roboto"/>
              </a:defRPr>
            </a:lvl2pPr>
            <a:lvl3pPr algn="l">
              <a:defRPr sz="1350" b="1">
                <a:solidFill>
                  <a:srgbClr val="1C1B1F"/>
                </a:solidFill>
                <a:latin typeface="Roboto"/>
                <a:ea typeface="Roboto"/>
                <a:cs typeface="Roboto"/>
              </a:defRPr>
            </a:lvl3pPr>
            <a:lvl4pPr algn="l">
              <a:defRPr sz="1350" b="1">
                <a:solidFill>
                  <a:srgbClr val="1C1B1F"/>
                </a:solidFill>
                <a:latin typeface="Roboto"/>
                <a:ea typeface="Roboto"/>
                <a:cs typeface="Roboto"/>
              </a:defRPr>
            </a:lvl4pPr>
            <a:lvl5pPr algn="l">
              <a:defRPr sz="1350" b="1">
                <a:solidFill>
                  <a:srgbClr val="1C1B1F"/>
                </a:solidFill>
                <a:latin typeface="Roboto"/>
                <a:ea typeface="Roboto"/>
                <a:cs typeface="Roboto"/>
              </a:defRPr>
            </a:lvl5pPr>
            <a:lvl6pPr algn="l">
              <a:defRPr sz="1350" b="1">
                <a:solidFill>
                  <a:srgbClr val="1C1B1F"/>
                </a:solidFill>
                <a:latin typeface="Roboto"/>
                <a:ea typeface="Roboto"/>
                <a:cs typeface="Roboto"/>
              </a:defRPr>
            </a:lvl6pPr>
            <a:lvl7pPr algn="l">
              <a:defRPr sz="1350" b="1">
                <a:solidFill>
                  <a:srgbClr val="1C1B1F"/>
                </a:solidFill>
                <a:latin typeface="Roboto"/>
                <a:ea typeface="Roboto"/>
                <a:cs typeface="Roboto"/>
              </a:defRPr>
            </a:lvl7pPr>
            <a:lvl8pPr algn="l">
              <a:defRPr sz="1350" b="1">
                <a:solidFill>
                  <a:srgbClr val="1C1B1F"/>
                </a:solidFill>
                <a:latin typeface="Roboto"/>
                <a:ea typeface="Roboto"/>
                <a:cs typeface="Roboto"/>
              </a:defRPr>
            </a:lvl8pPr>
            <a:lvl9pPr algn="l">
              <a:defRPr sz="1350" b="1">
                <a:solidFill>
                  <a:srgbClr val="1C1B1F"/>
                </a:solidFill>
                <a:latin typeface="Roboto"/>
                <a:ea typeface="Roboto"/>
                <a:cs typeface="Roboto"/>
              </a:defRPr>
            </a:lvl9pPr>
          </a:lstStyle>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APERTURE</a:t>
            </a:r>
          </a:p>
        </p:txBody>
      </p:sp>
      <p:sp>
        <p:nvSpPr>
          <p:cNvPr id="2" name="cover-kicker">
            <a:extLst xmlns:a="http://schemas.openxmlformats.org/drawingml/2006/main">
              <a:ext uri="{FF2B5EF4-FFF2-40B4-BE49-F238E27FC236}">
                <a16:creationId xmlns:a16="http://schemas.microsoft.com/office/drawing/2014/main" id="{E97B76CB-AEDF-48B2-9174-62AEF4BF215E}"/>
              </a:ext>
            </a:extLst>
          </p:cNvPr>
          <p:cNvSpPr>
            <a:spLocks xmlns:a="http://schemas.openxmlformats.org/drawingml/2006/main" noGrp="1"/>
          </p:cNvSpPr>
          <p:nvPr/>
        </p:nvSpPr>
        <p:spPr>
          <a:xfrm xmlns:a="http://schemas.openxmlformats.org/drawingml/2006/main">
            <a:off x="723900" y="11715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750A4"/>
                </a:solidFill>
                <a:latin typeface="Roboto"/>
                <a:ea typeface="Roboto"/>
                <a:cs typeface="Roboto"/>
              </a:defRPr>
            </a:defPPr>
            <a:lvl1pPr algn="l">
              <a:defRPr sz="1125" b="1">
                <a:solidFill>
                  <a:srgbClr val="6750A4"/>
                </a:solidFill>
                <a:latin typeface="Roboto"/>
                <a:ea typeface="Roboto"/>
                <a:cs typeface="Roboto"/>
              </a:defRPr>
            </a:lvl1pPr>
            <a:lvl2pPr algn="l">
              <a:defRPr sz="1125" b="1">
                <a:solidFill>
                  <a:srgbClr val="6750A4"/>
                </a:solidFill>
                <a:latin typeface="Roboto"/>
                <a:ea typeface="Roboto"/>
                <a:cs typeface="Roboto"/>
              </a:defRPr>
            </a:lvl2pPr>
            <a:lvl3pPr algn="l">
              <a:defRPr sz="1125" b="1">
                <a:solidFill>
                  <a:srgbClr val="6750A4"/>
                </a:solidFill>
                <a:latin typeface="Roboto"/>
                <a:ea typeface="Roboto"/>
                <a:cs typeface="Roboto"/>
              </a:defRPr>
            </a:lvl3pPr>
            <a:lvl4pPr algn="l">
              <a:defRPr sz="1125" b="1">
                <a:solidFill>
                  <a:srgbClr val="6750A4"/>
                </a:solidFill>
                <a:latin typeface="Roboto"/>
                <a:ea typeface="Roboto"/>
                <a:cs typeface="Roboto"/>
              </a:defRPr>
            </a:lvl4pPr>
            <a:lvl5pPr algn="l">
              <a:defRPr sz="1125" b="1">
                <a:solidFill>
                  <a:srgbClr val="6750A4"/>
                </a:solidFill>
                <a:latin typeface="Roboto"/>
                <a:ea typeface="Roboto"/>
                <a:cs typeface="Roboto"/>
              </a:defRPr>
            </a:lvl5pPr>
            <a:lvl6pPr algn="l">
              <a:defRPr sz="1125" b="1">
                <a:solidFill>
                  <a:srgbClr val="6750A4"/>
                </a:solidFill>
                <a:latin typeface="Roboto"/>
                <a:ea typeface="Roboto"/>
                <a:cs typeface="Roboto"/>
              </a:defRPr>
            </a:lvl6pPr>
            <a:lvl7pPr algn="l">
              <a:defRPr sz="1125" b="1">
                <a:solidFill>
                  <a:srgbClr val="6750A4"/>
                </a:solidFill>
                <a:latin typeface="Roboto"/>
                <a:ea typeface="Roboto"/>
                <a:cs typeface="Roboto"/>
              </a:defRPr>
            </a:lvl7pPr>
            <a:lvl8pPr algn="l">
              <a:defRPr sz="1125" b="1">
                <a:solidFill>
                  <a:srgbClr val="6750A4"/>
                </a:solidFill>
                <a:latin typeface="Roboto"/>
                <a:ea typeface="Roboto"/>
                <a:cs typeface="Roboto"/>
              </a:defRPr>
            </a:lvl8pPr>
            <a:lvl9pPr algn="l">
              <a:defRPr sz="1125" b="1">
                <a:solidFill>
                  <a:srgbClr val="6750A4"/>
                </a:solidFill>
                <a:latin typeface="Roboto"/>
                <a:ea typeface="Roboto"/>
                <a:cs typeface="Roboto"/>
              </a:defRPr>
            </a:lvl9pPr>
          </a:lstStyle>
          <a:p xmlns:a="http://schemas.openxmlformats.org/drawingml/2006/main">
            <a:pPr algn="l">
              <a:defRPr sz="1125" b="1">
                <a:solidFill>
                  <a:srgbClr val="6750A4"/>
                </a:solidFill>
                <a:latin typeface="Roboto"/>
                <a:ea typeface="Roboto"/>
                <a:cs typeface="Roboto"/>
              </a:defRPr>
            </a:pPr>
            <a:r>
              <a:rPr sz="1125" b="1">
                <a:solidFill>
                  <a:srgbClr val="6750A4"/>
                </a:solidFill>
                <a:latin typeface="Roboto"/>
                <a:ea typeface="Roboto"/>
                <a:cs typeface="Roboto"/>
              </a:rPr>
              <a:t>SOLANA AI GATEWAY</a:t>
            </a:r>
          </a:p>
        </p:txBody>
      </p:sp>
      <p:sp>
        <p:nvSpPr>
          <p:cNvPr id="3" name="cover-title">
            <a:extLst xmlns:a="http://schemas.openxmlformats.org/drawingml/2006/main">
              <a:ext uri="{FF2B5EF4-FFF2-40B4-BE49-F238E27FC236}">
                <a16:creationId xmlns:a16="http://schemas.microsoft.com/office/drawing/2014/main" id="{7DE45C04-AF50-4ACE-B1B7-1FFE32881489}"/>
              </a:ext>
            </a:extLst>
          </p:cNvPr>
          <p:cNvSpPr>
            <a:spLocks xmlns:a="http://schemas.openxmlformats.org/drawingml/2006/main" noGrp="1"/>
          </p:cNvSpPr>
          <p:nvPr/>
        </p:nvSpPr>
        <p:spPr>
          <a:xfrm xmlns:a="http://schemas.openxmlformats.org/drawingml/2006/main">
            <a:off x="685800" y="1790700"/>
            <a:ext cx="56197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350" b="1">
                <a:solidFill>
                  <a:srgbClr val="1C1B1F"/>
                </a:solidFill>
                <a:latin typeface="Roboto"/>
                <a:ea typeface="Roboto"/>
                <a:cs typeface="Roboto"/>
              </a:defRPr>
            </a:defPPr>
            <a:lvl1pPr algn="l">
              <a:defRPr sz="4350" b="1">
                <a:solidFill>
                  <a:srgbClr val="1C1B1F"/>
                </a:solidFill>
                <a:latin typeface="Roboto"/>
                <a:ea typeface="Roboto"/>
                <a:cs typeface="Roboto"/>
              </a:defRPr>
            </a:lvl1pPr>
            <a:lvl2pPr algn="l">
              <a:defRPr sz="4350" b="1">
                <a:solidFill>
                  <a:srgbClr val="1C1B1F"/>
                </a:solidFill>
                <a:latin typeface="Roboto"/>
                <a:ea typeface="Roboto"/>
                <a:cs typeface="Roboto"/>
              </a:defRPr>
            </a:lvl2pPr>
            <a:lvl3pPr algn="l">
              <a:defRPr sz="4350" b="1">
                <a:solidFill>
                  <a:srgbClr val="1C1B1F"/>
                </a:solidFill>
                <a:latin typeface="Roboto"/>
                <a:ea typeface="Roboto"/>
                <a:cs typeface="Roboto"/>
              </a:defRPr>
            </a:lvl3pPr>
            <a:lvl4pPr algn="l">
              <a:defRPr sz="4350" b="1">
                <a:solidFill>
                  <a:srgbClr val="1C1B1F"/>
                </a:solidFill>
                <a:latin typeface="Roboto"/>
                <a:ea typeface="Roboto"/>
                <a:cs typeface="Roboto"/>
              </a:defRPr>
            </a:lvl4pPr>
            <a:lvl5pPr algn="l">
              <a:defRPr sz="4350" b="1">
                <a:solidFill>
                  <a:srgbClr val="1C1B1F"/>
                </a:solidFill>
                <a:latin typeface="Roboto"/>
                <a:ea typeface="Roboto"/>
                <a:cs typeface="Roboto"/>
              </a:defRPr>
            </a:lvl5pPr>
            <a:lvl6pPr algn="l">
              <a:defRPr sz="4350" b="1">
                <a:solidFill>
                  <a:srgbClr val="1C1B1F"/>
                </a:solidFill>
                <a:latin typeface="Roboto"/>
                <a:ea typeface="Roboto"/>
                <a:cs typeface="Roboto"/>
              </a:defRPr>
            </a:lvl6pPr>
            <a:lvl7pPr algn="l">
              <a:defRPr sz="4350" b="1">
                <a:solidFill>
                  <a:srgbClr val="1C1B1F"/>
                </a:solidFill>
                <a:latin typeface="Roboto"/>
                <a:ea typeface="Roboto"/>
                <a:cs typeface="Roboto"/>
              </a:defRPr>
            </a:lvl7pPr>
            <a:lvl8pPr algn="l">
              <a:defRPr sz="4350" b="1">
                <a:solidFill>
                  <a:srgbClr val="1C1B1F"/>
                </a:solidFill>
                <a:latin typeface="Roboto"/>
                <a:ea typeface="Roboto"/>
                <a:cs typeface="Roboto"/>
              </a:defRPr>
            </a:lvl8pPr>
            <a:lvl9pPr algn="l">
              <a:defRPr sz="4350" b="1">
                <a:solidFill>
                  <a:srgbClr val="1C1B1F"/>
                </a:solidFill>
                <a:latin typeface="Roboto"/>
                <a:ea typeface="Roboto"/>
                <a:cs typeface="Roboto"/>
              </a:defRPr>
            </a:lvl9pPr>
          </a:lstStyle>
          <a:p xmlns:a="http://schemas.openxmlformats.org/drawingml/2006/main">
            <a:pPr algn="l">
              <a:defRPr sz="4350" b="1">
                <a:solidFill>
                  <a:srgbClr val="1C1B1F"/>
                </a:solidFill>
                <a:latin typeface="Roboto"/>
                <a:ea typeface="Roboto"/>
                <a:cs typeface="Roboto"/>
              </a:defRPr>
            </a:pPr>
            <a:r>
              <a:rPr sz="4350" b="1">
                <a:solidFill>
                  <a:srgbClr val="1C1B1F"/>
                </a:solidFill>
                <a:latin typeface="Roboto"/>
                <a:ea typeface="Roboto"/>
                <a:cs typeface="Roboto"/>
              </a:rPr>
              <a:t>Bound AI work,</a:t>
            </a:r>
          </a:p>
          <a:p xmlns:a="http://schemas.openxmlformats.org/drawingml/2006/main">
            <a:pPr algn="l">
              <a:defRPr sz="4350" b="1">
                <a:solidFill>
                  <a:srgbClr val="1C1B1F"/>
                </a:solidFill>
                <a:latin typeface="Roboto"/>
                <a:ea typeface="Roboto"/>
                <a:cs typeface="Roboto"/>
              </a:defRPr>
            </a:pPr>
            <a:r>
              <a:rPr sz="4350" b="1">
                <a:solidFill>
                  <a:srgbClr val="1C1B1F"/>
                </a:solidFill>
                <a:latin typeface="Roboto"/>
                <a:ea typeface="Roboto"/>
                <a:cs typeface="Roboto"/>
              </a:rPr>
              <a:t>from model to worker</a:t>
            </a:r>
          </a:p>
        </p:txBody>
      </p:sp>
      <p:sp>
        <p:nvSpPr>
          <p:cNvPr id="4" name="cover-description">
            <a:extLst xmlns:a="http://schemas.openxmlformats.org/drawingml/2006/main">
              <a:ext uri="{FF2B5EF4-FFF2-40B4-BE49-F238E27FC236}">
                <a16:creationId xmlns:a16="http://schemas.microsoft.com/office/drawing/2014/main" id="{DD869459-0BB5-43C9-90C3-5B2B0231D6ED}"/>
              </a:ext>
            </a:extLst>
          </p:cNvPr>
          <p:cNvSpPr>
            <a:spLocks xmlns:a="http://schemas.openxmlformats.org/drawingml/2006/main" noGrp="1"/>
          </p:cNvSpPr>
          <p:nvPr/>
        </p:nvSpPr>
        <p:spPr>
          <a:xfrm xmlns:a="http://schemas.openxmlformats.org/drawingml/2006/main">
            <a:off x="723900" y="3600450"/>
            <a:ext cx="539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9454F"/>
                </a:solidFill>
                <a:latin typeface="Roboto"/>
                <a:ea typeface="Roboto"/>
                <a:cs typeface="Roboto"/>
              </a:defRPr>
            </a:defPPr>
            <a:lvl1pPr algn="l">
              <a:defRPr sz="1725" b="0">
                <a:solidFill>
                  <a:srgbClr val="49454F"/>
                </a:solidFill>
                <a:latin typeface="Roboto"/>
                <a:ea typeface="Roboto"/>
                <a:cs typeface="Roboto"/>
              </a:defRPr>
            </a:lvl1pPr>
            <a:lvl2pPr algn="l">
              <a:defRPr sz="1725" b="0">
                <a:solidFill>
                  <a:srgbClr val="49454F"/>
                </a:solidFill>
                <a:latin typeface="Roboto"/>
                <a:ea typeface="Roboto"/>
                <a:cs typeface="Roboto"/>
              </a:defRPr>
            </a:lvl2pPr>
            <a:lvl3pPr algn="l">
              <a:defRPr sz="1725" b="0">
                <a:solidFill>
                  <a:srgbClr val="49454F"/>
                </a:solidFill>
                <a:latin typeface="Roboto"/>
                <a:ea typeface="Roboto"/>
                <a:cs typeface="Roboto"/>
              </a:defRPr>
            </a:lvl3pPr>
            <a:lvl4pPr algn="l">
              <a:defRPr sz="1725" b="0">
                <a:solidFill>
                  <a:srgbClr val="49454F"/>
                </a:solidFill>
                <a:latin typeface="Roboto"/>
                <a:ea typeface="Roboto"/>
                <a:cs typeface="Roboto"/>
              </a:defRPr>
            </a:lvl4pPr>
            <a:lvl5pPr algn="l">
              <a:defRPr sz="1725" b="0">
                <a:solidFill>
                  <a:srgbClr val="49454F"/>
                </a:solidFill>
                <a:latin typeface="Roboto"/>
                <a:ea typeface="Roboto"/>
                <a:cs typeface="Roboto"/>
              </a:defRPr>
            </a:lvl5pPr>
            <a:lvl6pPr algn="l">
              <a:defRPr sz="1725" b="0">
                <a:solidFill>
                  <a:srgbClr val="49454F"/>
                </a:solidFill>
                <a:latin typeface="Roboto"/>
                <a:ea typeface="Roboto"/>
                <a:cs typeface="Roboto"/>
              </a:defRPr>
            </a:lvl6pPr>
            <a:lvl7pPr algn="l">
              <a:defRPr sz="1725" b="0">
                <a:solidFill>
                  <a:srgbClr val="49454F"/>
                </a:solidFill>
                <a:latin typeface="Roboto"/>
                <a:ea typeface="Roboto"/>
                <a:cs typeface="Roboto"/>
              </a:defRPr>
            </a:lvl7pPr>
            <a:lvl8pPr algn="l">
              <a:defRPr sz="1725" b="0">
                <a:solidFill>
                  <a:srgbClr val="49454F"/>
                </a:solidFill>
                <a:latin typeface="Roboto"/>
                <a:ea typeface="Roboto"/>
                <a:cs typeface="Roboto"/>
              </a:defRPr>
            </a:lvl8pPr>
            <a:lvl9pPr algn="l">
              <a:defRPr sz="1725" b="0">
                <a:solidFill>
                  <a:srgbClr val="49454F"/>
                </a:solidFill>
                <a:latin typeface="Roboto"/>
                <a:ea typeface="Roboto"/>
                <a:cs typeface="Roboto"/>
              </a:defRPr>
            </a:lvl9pPr>
          </a:lstStyle>
          <a:p xmlns:a="http://schemas.openxmlformats.org/drawingml/2006/main">
            <a:pPr algn="l">
              <a:defRPr sz="1725" b="0">
                <a:solidFill>
                  <a:srgbClr val="49454F"/>
                </a:solidFill>
                <a:latin typeface="Roboto"/>
                <a:ea typeface="Roboto"/>
                <a:cs typeface="Roboto"/>
              </a:defRPr>
            </a:pPr>
            <a:r>
              <a:rPr sz="1725" b="0">
                <a:solidFill>
                  <a:srgbClr val="49454F"/>
                </a:solidFill>
                <a:latin typeface="Roboto"/>
                <a:ea typeface="Roboto"/>
                <a:cs typeface="Roboto"/>
              </a:rPr>
              <a:t>One owner-approved task joins model inference, Python compute and data workflows.</a:t>
            </a:r>
          </a:p>
        </p:txBody>
      </p:sp>
      <p:sp>
        <p:nvSpPr>
          <p:cNvPr id="5" name="cover-proofline">
            <a:extLst xmlns:a="http://schemas.openxmlformats.org/drawingml/2006/main">
              <a:ext uri="{FF2B5EF4-FFF2-40B4-BE49-F238E27FC236}">
                <a16:creationId xmlns:a16="http://schemas.microsoft.com/office/drawing/2014/main" id="{9E9C0719-7BC0-4696-B060-B7C16D3EF01D}"/>
              </a:ext>
            </a:extLst>
          </p:cNvPr>
          <p:cNvSpPr>
            <a:spLocks xmlns:a="http://schemas.openxmlformats.org/drawingml/2006/main" noGrp="1"/>
          </p:cNvSpPr>
          <p:nvPr/>
        </p:nvSpPr>
        <p:spPr>
          <a:xfrm xmlns:a="http://schemas.openxmlformats.org/drawingml/2006/main">
            <a:off x="723900" y="54673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49454F"/>
                </a:solidFill>
                <a:latin typeface="Roboto"/>
                <a:ea typeface="Roboto"/>
                <a:cs typeface="Roboto"/>
              </a:defRPr>
            </a:defPPr>
            <a:lvl1pPr algn="l">
              <a:defRPr sz="1050" b="1">
                <a:solidFill>
                  <a:srgbClr val="49454F"/>
                </a:solidFill>
                <a:latin typeface="Roboto"/>
                <a:ea typeface="Roboto"/>
                <a:cs typeface="Roboto"/>
              </a:defRPr>
            </a:lvl1pPr>
            <a:lvl2pPr algn="l">
              <a:defRPr sz="1050" b="1">
                <a:solidFill>
                  <a:srgbClr val="49454F"/>
                </a:solidFill>
                <a:latin typeface="Roboto"/>
                <a:ea typeface="Roboto"/>
                <a:cs typeface="Roboto"/>
              </a:defRPr>
            </a:lvl2pPr>
            <a:lvl3pPr algn="l">
              <a:defRPr sz="1050" b="1">
                <a:solidFill>
                  <a:srgbClr val="49454F"/>
                </a:solidFill>
                <a:latin typeface="Roboto"/>
                <a:ea typeface="Roboto"/>
                <a:cs typeface="Roboto"/>
              </a:defRPr>
            </a:lvl3pPr>
            <a:lvl4pPr algn="l">
              <a:defRPr sz="1050" b="1">
                <a:solidFill>
                  <a:srgbClr val="49454F"/>
                </a:solidFill>
                <a:latin typeface="Roboto"/>
                <a:ea typeface="Roboto"/>
                <a:cs typeface="Roboto"/>
              </a:defRPr>
            </a:lvl4pPr>
            <a:lvl5pPr algn="l">
              <a:defRPr sz="1050" b="1">
                <a:solidFill>
                  <a:srgbClr val="49454F"/>
                </a:solidFill>
                <a:latin typeface="Roboto"/>
                <a:ea typeface="Roboto"/>
                <a:cs typeface="Roboto"/>
              </a:defRPr>
            </a:lvl5pPr>
            <a:lvl6pPr algn="l">
              <a:defRPr sz="1050" b="1">
                <a:solidFill>
                  <a:srgbClr val="49454F"/>
                </a:solidFill>
                <a:latin typeface="Roboto"/>
                <a:ea typeface="Roboto"/>
                <a:cs typeface="Roboto"/>
              </a:defRPr>
            </a:lvl6pPr>
            <a:lvl7pPr algn="l">
              <a:defRPr sz="1050" b="1">
                <a:solidFill>
                  <a:srgbClr val="49454F"/>
                </a:solidFill>
                <a:latin typeface="Roboto"/>
                <a:ea typeface="Roboto"/>
                <a:cs typeface="Roboto"/>
              </a:defRPr>
            </a:lvl7pPr>
            <a:lvl8pPr algn="l">
              <a:defRPr sz="1050" b="1">
                <a:solidFill>
                  <a:srgbClr val="49454F"/>
                </a:solidFill>
                <a:latin typeface="Roboto"/>
                <a:ea typeface="Roboto"/>
                <a:cs typeface="Roboto"/>
              </a:defRPr>
            </a:lvl8pPr>
            <a:lvl9pPr algn="l">
              <a:defRPr sz="1050" b="1">
                <a:solidFill>
                  <a:srgbClr val="49454F"/>
                </a:solidFill>
                <a:latin typeface="Roboto"/>
                <a:ea typeface="Roboto"/>
                <a:cs typeface="Roboto"/>
              </a:defRPr>
            </a:lvl9pPr>
          </a:lstStyle>
          <a:p xmlns:a="http://schemas.openxmlformats.org/drawingml/2006/main">
            <a:pPr algn="l">
              <a:defRPr sz="1050" b="1">
                <a:solidFill>
                  <a:srgbClr val="49454F"/>
                </a:solidFill>
                <a:latin typeface="Roboto"/>
                <a:ea typeface="Roboto"/>
                <a:cs typeface="Roboto"/>
              </a:defRPr>
            </a:pPr>
            <a:r>
              <a:rPr sz="1050" b="1">
                <a:solidFill>
                  <a:srgbClr val="49454F"/>
                </a:solidFill>
                <a:latin typeface="Roboto"/>
                <a:ea typeface="Roboto"/>
                <a:cs typeface="Roboto"/>
              </a:rPr>
              <a:t>OWNER-SET LIMITS  ·  RECOVERABLE TASKS  ·  SOLANA PATH</a:t>
            </a:r>
          </a:p>
        </p:txBody>
      </p:sp>
      <p:sp>
        <p:nvSpPr>
          <p:cNvPr id="6" name="cover-brand-surface">
            <a:extLst xmlns:a="http://schemas.openxmlformats.org/drawingml/2006/main">
              <a:ext uri="{FF2B5EF4-FFF2-40B4-BE49-F238E27FC236}">
                <a16:creationId xmlns:a16="http://schemas.microsoft.com/office/drawing/2014/main" id="{B2E65497-BFB2-42C6-927A-F700811879AA}"/>
              </a:ext>
            </a:extLst>
          </p:cNvPr>
          <p:cNvSpPr>
            <a:spLocks xmlns:a="http://schemas.openxmlformats.org/drawingml/2006/main" noGrp="1"/>
          </p:cNvSpPr>
          <p:nvPr/>
        </p:nvSpPr>
        <p:spPr>
          <a:xfrm xmlns:a="http://schemas.openxmlformats.org/drawingml/2006/main">
            <a:off x="6953250" y="647700"/>
            <a:ext cx="4552950" cy="5410200"/>
          </a:xfrm>
          <a:prstGeom xmlns:a="http://schemas.openxmlformats.org/drawingml/2006/main" prst="roundRect">
            <a:avLst>
              <a:gd name="adj" fmla="val 7531"/>
            </a:avLst>
          </a:prstGeom>
          <a:solidFill xmlns:a="http://schemas.openxmlformats.org/drawingml/2006/main">
            <a:srgbClr val="EADDFF"/>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0C0CB0CF-AAD6-4BA0-9BA2-4A3558D6C416}"/>
              </a:ext>
            </a:extLst>
          </p:cNvPr>
          <p:cNvPicPr>
            <a:picLocks xmlns:a="http://schemas.openxmlformats.org/drawingml/2006/main" noChangeAspect="1"/>
          </p:cNvPicPr>
          <p:nvPr/>
        </p:nvPicPr>
        <p:blipFill>
          <a:blip xmlns:r="http://schemas.openxmlformats.org/officeDocument/2006/relationships" xmlns:a="http://schemas.openxmlformats.org/drawingml/2006/main" r:embed="R794a1c69dd5f4d7d"/>
          <a:stretch xmlns:a="http://schemas.openxmlformats.org/drawingml/2006/main"/>
        </p:blipFill>
        <p:spPr>
          <a:xfrm xmlns:a="http://schemas.openxmlformats.org/drawingml/2006/main">
            <a:off x="8143875" y="1238250"/>
            <a:ext cx="2171700" cy="2171700"/>
          </a:xfrm>
          <a:prstGeom xmlns:a="http://schemas.openxmlformats.org/drawingml/2006/main" prst="rect">
            <a:avLst/>
          </a:prstGeom>
        </p:spPr>
      </p:pic>
      <p:sp>
        <p:nvSpPr>
          <p:cNvPr id="8" name="cover-task-label">
            <a:extLst xmlns:a="http://schemas.openxmlformats.org/drawingml/2006/main">
              <a:ext uri="{FF2B5EF4-FFF2-40B4-BE49-F238E27FC236}">
                <a16:creationId xmlns:a16="http://schemas.microsoft.com/office/drawing/2014/main" id="{93E5B5A5-0977-4AD7-9315-AFE93E174637}"/>
              </a:ext>
            </a:extLst>
          </p:cNvPr>
          <p:cNvSpPr>
            <a:spLocks xmlns:a="http://schemas.openxmlformats.org/drawingml/2006/main" noGrp="1"/>
          </p:cNvSpPr>
          <p:nvPr/>
        </p:nvSpPr>
        <p:spPr>
          <a:xfrm xmlns:a="http://schemas.openxmlformats.org/drawingml/2006/main">
            <a:off x="7353300" y="3829050"/>
            <a:ext cx="3752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21005D"/>
                </a:solidFill>
                <a:latin typeface="Roboto"/>
                <a:ea typeface="Roboto"/>
                <a:cs typeface="Roboto"/>
              </a:defRPr>
            </a:defPPr>
            <a:lvl1pPr algn="ctr">
              <a:defRPr sz="1575" b="1">
                <a:solidFill>
                  <a:srgbClr val="21005D"/>
                </a:solidFill>
                <a:latin typeface="Roboto"/>
                <a:ea typeface="Roboto"/>
                <a:cs typeface="Roboto"/>
              </a:defRPr>
            </a:lvl1pPr>
            <a:lvl2pPr algn="ctr">
              <a:defRPr sz="1575" b="1">
                <a:solidFill>
                  <a:srgbClr val="21005D"/>
                </a:solidFill>
                <a:latin typeface="Roboto"/>
                <a:ea typeface="Roboto"/>
                <a:cs typeface="Roboto"/>
              </a:defRPr>
            </a:lvl2pPr>
            <a:lvl3pPr algn="ctr">
              <a:defRPr sz="1575" b="1">
                <a:solidFill>
                  <a:srgbClr val="21005D"/>
                </a:solidFill>
                <a:latin typeface="Roboto"/>
                <a:ea typeface="Roboto"/>
                <a:cs typeface="Roboto"/>
              </a:defRPr>
            </a:lvl3pPr>
            <a:lvl4pPr algn="ctr">
              <a:defRPr sz="1575" b="1">
                <a:solidFill>
                  <a:srgbClr val="21005D"/>
                </a:solidFill>
                <a:latin typeface="Roboto"/>
                <a:ea typeface="Roboto"/>
                <a:cs typeface="Roboto"/>
              </a:defRPr>
            </a:lvl4pPr>
            <a:lvl5pPr algn="ctr">
              <a:defRPr sz="1575" b="1">
                <a:solidFill>
                  <a:srgbClr val="21005D"/>
                </a:solidFill>
                <a:latin typeface="Roboto"/>
                <a:ea typeface="Roboto"/>
                <a:cs typeface="Roboto"/>
              </a:defRPr>
            </a:lvl5pPr>
            <a:lvl6pPr algn="ctr">
              <a:defRPr sz="1575" b="1">
                <a:solidFill>
                  <a:srgbClr val="21005D"/>
                </a:solidFill>
                <a:latin typeface="Roboto"/>
                <a:ea typeface="Roboto"/>
                <a:cs typeface="Roboto"/>
              </a:defRPr>
            </a:lvl6pPr>
            <a:lvl7pPr algn="ctr">
              <a:defRPr sz="1575" b="1">
                <a:solidFill>
                  <a:srgbClr val="21005D"/>
                </a:solidFill>
                <a:latin typeface="Roboto"/>
                <a:ea typeface="Roboto"/>
                <a:cs typeface="Roboto"/>
              </a:defRPr>
            </a:lvl7pPr>
            <a:lvl8pPr algn="ctr">
              <a:defRPr sz="1575" b="1">
                <a:solidFill>
                  <a:srgbClr val="21005D"/>
                </a:solidFill>
                <a:latin typeface="Roboto"/>
                <a:ea typeface="Roboto"/>
                <a:cs typeface="Roboto"/>
              </a:defRPr>
            </a:lvl8pPr>
            <a:lvl9pPr algn="ctr">
              <a:defRPr sz="1575" b="1">
                <a:solidFill>
                  <a:srgbClr val="21005D"/>
                </a:solidFill>
                <a:latin typeface="Roboto"/>
                <a:ea typeface="Roboto"/>
                <a:cs typeface="Roboto"/>
              </a:defRPr>
            </a:lvl9pPr>
          </a:lstStyle>
          <a:p xmlns:a="http://schemas.openxmlformats.org/drawingml/2006/main">
            <a:pPr algn="ctr">
              <a:defRPr sz="1575" b="1">
                <a:solidFill>
                  <a:srgbClr val="21005D"/>
                </a:solidFill>
                <a:latin typeface="Roboto"/>
                <a:ea typeface="Roboto"/>
                <a:cs typeface="Roboto"/>
              </a:defRPr>
            </a:pPr>
            <a:r>
              <a:rPr sz="1575" b="1">
                <a:solidFill>
                  <a:srgbClr val="21005D"/>
                </a:solidFill>
                <a:latin typeface="Roboto"/>
                <a:ea typeface="Roboto"/>
                <a:cs typeface="Roboto"/>
              </a:rPr>
              <a:t>ONE OWNER-APPROVED TASK</a:t>
            </a:r>
          </a:p>
        </p:txBody>
      </p:sp>
      <p:sp>
        <p:nvSpPr>
          <p:cNvPr id="9" name="cover-panel-divider">
            <a:extLst xmlns:a="http://schemas.openxmlformats.org/drawingml/2006/main">
              <a:ext uri="{FF2B5EF4-FFF2-40B4-BE49-F238E27FC236}">
                <a16:creationId xmlns:a16="http://schemas.microsoft.com/office/drawing/2014/main" id="{0CBD77A1-0639-4356-AD33-CC1156C1DCC2}"/>
              </a:ext>
            </a:extLst>
          </p:cNvPr>
          <p:cNvSpPr>
            <a:spLocks xmlns:a="http://schemas.openxmlformats.org/drawingml/2006/main" noGrp="1"/>
          </p:cNvSpPr>
          <p:nvPr/>
        </p:nvSpPr>
        <p:spPr>
          <a:xfrm xmlns:a="http://schemas.openxmlformats.org/drawingml/2006/main">
            <a:off x="7600950" y="4305300"/>
            <a:ext cx="3257550" cy="0"/>
          </a:xfrm>
          <a:prstGeom xmlns:a="http://schemas.openxmlformats.org/drawingml/2006/main" prst="line">
            <a:avLst/>
          </a:prstGeom>
          <a:noFill xmlns:a="http://schemas.openxmlformats.org/drawingml/2006/main"/>
          <a:ln xmlns:a="http://schemas.openxmlformats.org/drawingml/2006/main" w="9525">
            <a:solidFill>
              <a:srgbClr val="C4B7DE"/>
            </a:solidFill>
            <a:prstDash val="solid"/>
          </a:ln>
        </p:spPr>
      </p:sp>
      <p:sp>
        <p:nvSpPr>
          <p:cNvPr id="10" name="cover-flow">
            <a:extLst xmlns:a="http://schemas.openxmlformats.org/drawingml/2006/main">
              <a:ext uri="{FF2B5EF4-FFF2-40B4-BE49-F238E27FC236}">
                <a16:creationId xmlns:a16="http://schemas.microsoft.com/office/drawing/2014/main" id="{538E4C3F-7BCF-41D0-9BBC-39E6B35524B3}"/>
              </a:ext>
            </a:extLst>
          </p:cNvPr>
          <p:cNvSpPr>
            <a:spLocks xmlns:a="http://schemas.openxmlformats.org/drawingml/2006/main" noGrp="1"/>
          </p:cNvSpPr>
          <p:nvPr/>
        </p:nvSpPr>
        <p:spPr>
          <a:xfrm xmlns:a="http://schemas.openxmlformats.org/drawingml/2006/main">
            <a:off x="7353300" y="4495800"/>
            <a:ext cx="3752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21005D"/>
                </a:solidFill>
                <a:latin typeface="Roboto"/>
                <a:ea typeface="Roboto"/>
                <a:cs typeface="Roboto"/>
              </a:defRPr>
            </a:defPPr>
            <a:lvl1pPr algn="ctr">
              <a:defRPr sz="1275" b="1">
                <a:solidFill>
                  <a:srgbClr val="21005D"/>
                </a:solidFill>
                <a:latin typeface="Roboto"/>
                <a:ea typeface="Roboto"/>
                <a:cs typeface="Roboto"/>
              </a:defRPr>
            </a:lvl1pPr>
            <a:lvl2pPr algn="ctr">
              <a:defRPr sz="1275" b="1">
                <a:solidFill>
                  <a:srgbClr val="21005D"/>
                </a:solidFill>
                <a:latin typeface="Roboto"/>
                <a:ea typeface="Roboto"/>
                <a:cs typeface="Roboto"/>
              </a:defRPr>
            </a:lvl2pPr>
            <a:lvl3pPr algn="ctr">
              <a:defRPr sz="1275" b="1">
                <a:solidFill>
                  <a:srgbClr val="21005D"/>
                </a:solidFill>
                <a:latin typeface="Roboto"/>
                <a:ea typeface="Roboto"/>
                <a:cs typeface="Roboto"/>
              </a:defRPr>
            </a:lvl3pPr>
            <a:lvl4pPr algn="ctr">
              <a:defRPr sz="1275" b="1">
                <a:solidFill>
                  <a:srgbClr val="21005D"/>
                </a:solidFill>
                <a:latin typeface="Roboto"/>
                <a:ea typeface="Roboto"/>
                <a:cs typeface="Roboto"/>
              </a:defRPr>
            </a:lvl4pPr>
            <a:lvl5pPr algn="ctr">
              <a:defRPr sz="1275" b="1">
                <a:solidFill>
                  <a:srgbClr val="21005D"/>
                </a:solidFill>
                <a:latin typeface="Roboto"/>
                <a:ea typeface="Roboto"/>
                <a:cs typeface="Roboto"/>
              </a:defRPr>
            </a:lvl5pPr>
            <a:lvl6pPr algn="ctr">
              <a:defRPr sz="1275" b="1">
                <a:solidFill>
                  <a:srgbClr val="21005D"/>
                </a:solidFill>
                <a:latin typeface="Roboto"/>
                <a:ea typeface="Roboto"/>
                <a:cs typeface="Roboto"/>
              </a:defRPr>
            </a:lvl6pPr>
            <a:lvl7pPr algn="ctr">
              <a:defRPr sz="1275" b="1">
                <a:solidFill>
                  <a:srgbClr val="21005D"/>
                </a:solidFill>
                <a:latin typeface="Roboto"/>
                <a:ea typeface="Roboto"/>
                <a:cs typeface="Roboto"/>
              </a:defRPr>
            </a:lvl7pPr>
            <a:lvl8pPr algn="ctr">
              <a:defRPr sz="1275" b="1">
                <a:solidFill>
                  <a:srgbClr val="21005D"/>
                </a:solidFill>
                <a:latin typeface="Roboto"/>
                <a:ea typeface="Roboto"/>
                <a:cs typeface="Roboto"/>
              </a:defRPr>
            </a:lvl8pPr>
            <a:lvl9pPr algn="ctr">
              <a:defRPr sz="1275" b="1">
                <a:solidFill>
                  <a:srgbClr val="21005D"/>
                </a:solidFill>
                <a:latin typeface="Roboto"/>
                <a:ea typeface="Roboto"/>
                <a:cs typeface="Roboto"/>
              </a:defRPr>
            </a:lvl9pPr>
          </a:lstStyle>
          <a:p xmlns:a="http://schemas.openxmlformats.org/drawingml/2006/main">
            <a:pPr algn="ctr">
              <a:defRPr sz="1275" b="1">
                <a:solidFill>
                  <a:srgbClr val="21005D"/>
                </a:solidFill>
                <a:latin typeface="Roboto"/>
                <a:ea typeface="Roboto"/>
                <a:cs typeface="Roboto"/>
              </a:defRPr>
            </a:pPr>
            <a:r>
              <a:rPr sz="1275" b="1">
                <a:solidFill>
                  <a:srgbClr val="21005D"/>
                </a:solidFill>
                <a:latin typeface="Roboto"/>
                <a:ea typeface="Roboto"/>
                <a:cs typeface="Roboto"/>
              </a:rPr>
              <a:t>MODEL  ·  COMPUTE  ·  RECEIPT</a:t>
            </a:r>
          </a:p>
        </p:txBody>
      </p:sp>
      <p:sp>
        <p:nvSpPr>
          <p:cNvPr id="11" name="cover-status">
            <a:extLst xmlns:a="http://schemas.openxmlformats.org/drawingml/2006/main">
              <a:ext uri="{FF2B5EF4-FFF2-40B4-BE49-F238E27FC236}">
                <a16:creationId xmlns:a16="http://schemas.microsoft.com/office/drawing/2014/main" id="{6D9063A6-0B00-4F85-9A23-975851464F1D}"/>
              </a:ext>
            </a:extLst>
          </p:cNvPr>
          <p:cNvSpPr>
            <a:spLocks xmlns:a="http://schemas.openxmlformats.org/drawingml/2006/main" noGrp="1"/>
          </p:cNvSpPr>
          <p:nvPr/>
        </p:nvSpPr>
        <p:spPr>
          <a:xfrm xmlns:a="http://schemas.openxmlformats.org/drawingml/2006/main">
            <a:off x="7353300" y="5219700"/>
            <a:ext cx="3752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6750A4"/>
                </a:solidFill>
                <a:latin typeface="Roboto"/>
                <a:ea typeface="Roboto"/>
                <a:cs typeface="Roboto"/>
              </a:defRPr>
            </a:defPPr>
            <a:lvl1pPr algn="ctr">
              <a:defRPr sz="1050" b="1">
                <a:solidFill>
                  <a:srgbClr val="6750A4"/>
                </a:solidFill>
                <a:latin typeface="Roboto"/>
                <a:ea typeface="Roboto"/>
                <a:cs typeface="Roboto"/>
              </a:defRPr>
            </a:lvl1pPr>
            <a:lvl2pPr algn="ctr">
              <a:defRPr sz="1050" b="1">
                <a:solidFill>
                  <a:srgbClr val="6750A4"/>
                </a:solidFill>
                <a:latin typeface="Roboto"/>
                <a:ea typeface="Roboto"/>
                <a:cs typeface="Roboto"/>
              </a:defRPr>
            </a:lvl2pPr>
            <a:lvl3pPr algn="ctr">
              <a:defRPr sz="1050" b="1">
                <a:solidFill>
                  <a:srgbClr val="6750A4"/>
                </a:solidFill>
                <a:latin typeface="Roboto"/>
                <a:ea typeface="Roboto"/>
                <a:cs typeface="Roboto"/>
              </a:defRPr>
            </a:lvl3pPr>
            <a:lvl4pPr algn="ctr">
              <a:defRPr sz="1050" b="1">
                <a:solidFill>
                  <a:srgbClr val="6750A4"/>
                </a:solidFill>
                <a:latin typeface="Roboto"/>
                <a:ea typeface="Roboto"/>
                <a:cs typeface="Roboto"/>
              </a:defRPr>
            </a:lvl4pPr>
            <a:lvl5pPr algn="ctr">
              <a:defRPr sz="1050" b="1">
                <a:solidFill>
                  <a:srgbClr val="6750A4"/>
                </a:solidFill>
                <a:latin typeface="Roboto"/>
                <a:ea typeface="Roboto"/>
                <a:cs typeface="Roboto"/>
              </a:defRPr>
            </a:lvl5pPr>
            <a:lvl6pPr algn="ctr">
              <a:defRPr sz="1050" b="1">
                <a:solidFill>
                  <a:srgbClr val="6750A4"/>
                </a:solidFill>
                <a:latin typeface="Roboto"/>
                <a:ea typeface="Roboto"/>
                <a:cs typeface="Roboto"/>
              </a:defRPr>
            </a:lvl6pPr>
            <a:lvl7pPr algn="ctr">
              <a:defRPr sz="1050" b="1">
                <a:solidFill>
                  <a:srgbClr val="6750A4"/>
                </a:solidFill>
                <a:latin typeface="Roboto"/>
                <a:ea typeface="Roboto"/>
                <a:cs typeface="Roboto"/>
              </a:defRPr>
            </a:lvl7pPr>
            <a:lvl8pPr algn="ctr">
              <a:defRPr sz="1050" b="1">
                <a:solidFill>
                  <a:srgbClr val="6750A4"/>
                </a:solidFill>
                <a:latin typeface="Roboto"/>
                <a:ea typeface="Roboto"/>
                <a:cs typeface="Roboto"/>
              </a:defRPr>
            </a:lvl8pPr>
            <a:lvl9pPr algn="ctr">
              <a:defRPr sz="1050" b="1">
                <a:solidFill>
                  <a:srgbClr val="6750A4"/>
                </a:solidFill>
                <a:latin typeface="Roboto"/>
                <a:ea typeface="Roboto"/>
                <a:cs typeface="Roboto"/>
              </a:defRPr>
            </a:lvl9pPr>
          </a:lstStyle>
          <a:p xmlns:a="http://schemas.openxmlformats.org/drawingml/2006/main">
            <a:pPr algn="ctr">
              <a:defRPr sz="1050" b="1">
                <a:solidFill>
                  <a:srgbClr val="6750A4"/>
                </a:solidFill>
                <a:latin typeface="Roboto"/>
                <a:ea typeface="Roboto"/>
                <a:cs typeface="Roboto"/>
              </a:defRPr>
            </a:pPr>
            <a:r>
              <a:rPr sz="1050" b="1">
                <a:solidFill>
                  <a:srgbClr val="6750A4"/>
                </a:solidFill>
                <a:latin typeface="Roboto"/>
                <a:ea typeface="Roboto"/>
                <a:cs typeface="Roboto"/>
              </a:rPr>
              <a:t>MVP  ·  OFF_CHAIN PREVIEW  ·  0 SOL</a:t>
            </a:r>
          </a:p>
        </p:txBody>
      </p:sp>
      <p:sp>
        <p:nvSpPr>
          <p:cNvPr id="12" name="footer-divider">
            <a:extLst xmlns:a="http://schemas.openxmlformats.org/drawingml/2006/main">
              <a:ext uri="{FF2B5EF4-FFF2-40B4-BE49-F238E27FC236}">
                <a16:creationId xmlns:a16="http://schemas.microsoft.com/office/drawing/2014/main" id="{5FD2B05C-DB09-40A2-A75A-76CB20705961}"/>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3" name="slide-number">
            <a:extLst xmlns:a="http://schemas.openxmlformats.org/drawingml/2006/main">
              <a:ext uri="{FF2B5EF4-FFF2-40B4-BE49-F238E27FC236}">
                <a16:creationId xmlns:a16="http://schemas.microsoft.com/office/drawing/2014/main" id="{9E16F87C-00A0-4A0E-BE13-9CED88A326E5}"/>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01 / 08</a:t>
            </a:r>
          </a:p>
        </p:txBody>
      </p:sp>
    </p:spTree>
    <p:extLst>
      <p:ext uri="{BB962C8B-B14F-4D97-AF65-F5344CB8AC3E}">
        <p14:creationId xmlns:p14="http://schemas.microsoft.com/office/powerpoint/2010/main" val="14538883"/>
      </p:ext>
    </p:extLst>
  </p:cSld>
</p:sld>
</file>

<file path=ppt/slides/slide2.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35" name="brand-wordmark">
            <a:extLst xmlns:a="http://schemas.openxmlformats.org/drawingml/2006/main">
              <a:ext uri="{FF2B5EF4-FFF2-40B4-BE49-F238E27FC236}">
                <a16:creationId xmlns:a16="http://schemas.microsoft.com/office/drawing/2014/main" id="{06069DBB-52F0-4BAB-8CCB-56B7E3AE5E6A}"/>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5C8BE378-7B12-4F31-979A-B30D10A1E842}"/>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PROBLEM</a:t>
            </a:r>
          </a:p>
        </p:txBody>
      </p:sp>
      <p:sp>
        <p:nvSpPr>
          <p:cNvPr id="3" name="footer-divider">
            <a:extLst xmlns:a="http://schemas.openxmlformats.org/drawingml/2006/main">
              <a:ext uri="{FF2B5EF4-FFF2-40B4-BE49-F238E27FC236}">
                <a16:creationId xmlns:a16="http://schemas.microsoft.com/office/drawing/2014/main" id="{E0243092-2C9A-4366-93FC-FB50D8879BA8}"/>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AC133EC1-9E41-4B8A-A329-B1FCBC4B2755}"/>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02 / 08</a:t>
            </a:r>
          </a:p>
        </p:txBody>
      </p:sp>
      <p:sp>
        <p:nvSpPr>
          <p:cNvPr id="5" name="slide-title">
            <a:extLst xmlns:a="http://schemas.openxmlformats.org/drawingml/2006/main">
              <a:ext uri="{FF2B5EF4-FFF2-40B4-BE49-F238E27FC236}">
                <a16:creationId xmlns:a16="http://schemas.microsoft.com/office/drawing/2014/main" id="{38E132FD-E06B-4562-B732-4AD48B975387}"/>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One agent workflow, several service boundaries</a:t>
            </a:r>
          </a:p>
        </p:txBody>
      </p:sp>
      <p:sp>
        <p:nvSpPr>
          <p:cNvPr id="6" name="slide-subtitle">
            <a:extLst xmlns:a="http://schemas.openxmlformats.org/drawingml/2006/main">
              <a:ext uri="{FF2B5EF4-FFF2-40B4-BE49-F238E27FC236}">
                <a16:creationId xmlns:a16="http://schemas.microsoft.com/office/drawing/2014/main" id="{46C8FBFA-27DF-4EAE-A63C-BE3C1D8E0190}"/>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Prompts, compute jobs and their evidence live in different places</a:t>
            </a:r>
          </a:p>
        </p:txBody>
      </p:sp>
      <p:sp>
        <p:nvSpPr>
          <p:cNvPr id="7" name="request-panel">
            <a:extLst xmlns:a="http://schemas.openxmlformats.org/drawingml/2006/main">
              <a:ext uri="{FF2B5EF4-FFF2-40B4-BE49-F238E27FC236}">
                <a16:creationId xmlns:a16="http://schemas.microsoft.com/office/drawing/2014/main" id="{4F3E6F9D-4DDD-4CE3-B1DD-E2BBBE5C27D3}"/>
              </a:ext>
            </a:extLst>
          </p:cNvPr>
          <p:cNvSpPr>
            <a:spLocks xmlns:a="http://schemas.openxmlformats.org/drawingml/2006/main" noGrp="1"/>
          </p:cNvSpPr>
          <p:nvPr/>
        </p:nvSpPr>
        <p:spPr>
          <a:xfrm xmlns:a="http://schemas.openxmlformats.org/drawingml/2006/main">
            <a:off x="685800" y="2381250"/>
            <a:ext cx="5181600" cy="3143250"/>
          </a:xfrm>
          <a:prstGeom xmlns:a="http://schemas.openxmlformats.org/drawingml/2006/main" prst="roundRect">
            <a:avLst>
              <a:gd name="adj" fmla="val 8485"/>
            </a:avLst>
          </a:prstGeom>
          <a:solidFill xmlns:a="http://schemas.openxmlformats.org/drawingml/2006/main">
            <a:srgbClr val="F7F2FA"/>
          </a:solidFill>
          <a:ln xmlns:a="http://schemas.openxmlformats.org/drawingml/2006/main" w="0">
            <a:noFill/>
            <a:prstDash val="solid"/>
          </a:ln>
        </p:spPr>
      </p:sp>
      <p:sp>
        <p:nvSpPr>
          <p:cNvPr id="8" name="request-panel-label">
            <a:extLst xmlns:a="http://schemas.openxmlformats.org/drawingml/2006/main">
              <a:ext uri="{FF2B5EF4-FFF2-40B4-BE49-F238E27FC236}">
                <a16:creationId xmlns:a16="http://schemas.microsoft.com/office/drawing/2014/main" id="{F458B31A-3C6F-4972-BBA3-3DE8207F0322}"/>
              </a:ext>
            </a:extLst>
          </p:cNvPr>
          <p:cNvSpPr>
            <a:spLocks xmlns:a="http://schemas.openxmlformats.org/drawingml/2006/main" noGrp="1"/>
          </p:cNvSpPr>
          <p:nvPr/>
        </p:nvSpPr>
        <p:spPr>
          <a:xfrm xmlns:a="http://schemas.openxmlformats.org/drawingml/2006/main">
            <a:off x="952500" y="25717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ONE AGENT TASK</a:t>
            </a:r>
          </a:p>
        </p:txBody>
      </p:sp>
      <p:sp>
        <p:nvSpPr>
          <p:cNvPr id="9" name="request-node">
            <a:extLst xmlns:a="http://schemas.openxmlformats.org/drawingml/2006/main">
              <a:ext uri="{FF2B5EF4-FFF2-40B4-BE49-F238E27FC236}">
                <a16:creationId xmlns:a16="http://schemas.microsoft.com/office/drawing/2014/main" id="{271EC762-8966-4BC6-83B8-0473BF602D7F}"/>
              </a:ext>
            </a:extLst>
          </p:cNvPr>
          <p:cNvSpPr>
            <a:spLocks xmlns:a="http://schemas.openxmlformats.org/drawingml/2006/main" noGrp="1"/>
          </p:cNvSpPr>
          <p:nvPr/>
        </p:nvSpPr>
        <p:spPr>
          <a:xfrm xmlns:a="http://schemas.openxmlformats.org/drawingml/2006/main">
            <a:off x="1000125" y="3581400"/>
            <a:ext cx="495300" cy="495300"/>
          </a:xfrm>
          <a:prstGeom xmlns:a="http://schemas.openxmlformats.org/drawingml/2006/main" prst="ellipse">
            <a:avLst/>
          </a:prstGeom>
          <a:solidFill xmlns:a="http://schemas.openxmlformats.org/drawingml/2006/main">
            <a:srgbClr val="EADDFF"/>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1350" b="1">
                <a:solidFill>
                  <a:srgbClr val="21005D"/>
                </a:solidFill>
                <a:latin typeface="Roboto"/>
                <a:ea typeface="Roboto"/>
                <a:cs typeface="Roboto"/>
              </a:defRPr>
            </a:defPPr>
            <a:lvl1pPr algn="ctr">
              <a:defRPr sz="1350" b="1">
                <a:solidFill>
                  <a:srgbClr val="21005D"/>
                </a:solidFill>
                <a:latin typeface="Roboto"/>
                <a:ea typeface="Roboto"/>
                <a:cs typeface="Roboto"/>
              </a:defRPr>
            </a:lvl1pPr>
            <a:lvl2pPr algn="ctr">
              <a:defRPr sz="1350" b="1">
                <a:solidFill>
                  <a:srgbClr val="21005D"/>
                </a:solidFill>
                <a:latin typeface="Roboto"/>
                <a:ea typeface="Roboto"/>
                <a:cs typeface="Roboto"/>
              </a:defRPr>
            </a:lvl2pPr>
            <a:lvl3pPr algn="ctr">
              <a:defRPr sz="1350" b="1">
                <a:solidFill>
                  <a:srgbClr val="21005D"/>
                </a:solidFill>
                <a:latin typeface="Roboto"/>
                <a:ea typeface="Roboto"/>
                <a:cs typeface="Roboto"/>
              </a:defRPr>
            </a:lvl3pPr>
            <a:lvl4pPr algn="ctr">
              <a:defRPr sz="1350" b="1">
                <a:solidFill>
                  <a:srgbClr val="21005D"/>
                </a:solidFill>
                <a:latin typeface="Roboto"/>
                <a:ea typeface="Roboto"/>
                <a:cs typeface="Roboto"/>
              </a:defRPr>
            </a:lvl4pPr>
            <a:lvl5pPr algn="ctr">
              <a:defRPr sz="1350" b="1">
                <a:solidFill>
                  <a:srgbClr val="21005D"/>
                </a:solidFill>
                <a:latin typeface="Roboto"/>
                <a:ea typeface="Roboto"/>
                <a:cs typeface="Roboto"/>
              </a:defRPr>
            </a:lvl5pPr>
            <a:lvl6pPr algn="ctr">
              <a:defRPr sz="1350" b="1">
                <a:solidFill>
                  <a:srgbClr val="21005D"/>
                </a:solidFill>
                <a:latin typeface="Roboto"/>
                <a:ea typeface="Roboto"/>
                <a:cs typeface="Roboto"/>
              </a:defRPr>
            </a:lvl6pPr>
            <a:lvl7pPr algn="ctr">
              <a:defRPr sz="1350" b="1">
                <a:solidFill>
                  <a:srgbClr val="21005D"/>
                </a:solidFill>
                <a:latin typeface="Roboto"/>
                <a:ea typeface="Roboto"/>
                <a:cs typeface="Roboto"/>
              </a:defRPr>
            </a:lvl7pPr>
            <a:lvl8pPr algn="ctr">
              <a:defRPr sz="1350" b="1">
                <a:solidFill>
                  <a:srgbClr val="21005D"/>
                </a:solidFill>
                <a:latin typeface="Roboto"/>
                <a:ea typeface="Roboto"/>
                <a:cs typeface="Roboto"/>
              </a:defRPr>
            </a:lvl8pPr>
            <a:lvl9pPr algn="ctr">
              <a:defRPr sz="1350" b="1">
                <a:solidFill>
                  <a:srgbClr val="21005D"/>
                </a:solidFill>
                <a:latin typeface="Roboto"/>
                <a:ea typeface="Roboto"/>
                <a:cs typeface="Roboto"/>
              </a:defRPr>
            </a:lvl9pPr>
          </a:lstStyle>
          <a:p xmlns:a="http://schemas.openxmlformats.org/drawingml/2006/main">
            <a:pPr algn="ctr">
              <a:defRPr sz="1350" b="1">
                <a:solidFill>
                  <a:srgbClr val="21005D"/>
                </a:solidFill>
                <a:latin typeface="Roboto"/>
                <a:ea typeface="Roboto"/>
                <a:cs typeface="Roboto"/>
              </a:defRPr>
            </a:pPr>
            <a:r>
              <a:rPr sz="1350" b="1">
                <a:solidFill>
                  <a:srgbClr val="21005D"/>
                </a:solidFill>
                <a:latin typeface="Roboto"/>
                <a:ea typeface="Roboto"/>
                <a:cs typeface="Roboto"/>
              </a:rPr>
              <a:t>A</a:t>
            </a:r>
          </a:p>
        </p:txBody>
      </p:sp>
      <p:sp>
        <p:nvSpPr>
          <p:cNvPr id="10" name="request-node-label">
            <a:extLst xmlns:a="http://schemas.openxmlformats.org/drawingml/2006/main">
              <a:ext uri="{FF2B5EF4-FFF2-40B4-BE49-F238E27FC236}">
                <a16:creationId xmlns:a16="http://schemas.microsoft.com/office/drawing/2014/main" id="{E1B3E9FB-9CD5-4440-BE28-B3A01198BF84}"/>
              </a:ext>
            </a:extLst>
          </p:cNvPr>
          <p:cNvSpPr>
            <a:spLocks xmlns:a="http://schemas.openxmlformats.org/drawingml/2006/main" noGrp="1"/>
          </p:cNvSpPr>
          <p:nvPr/>
        </p:nvSpPr>
        <p:spPr>
          <a:xfrm xmlns:a="http://schemas.openxmlformats.org/drawingml/2006/main">
            <a:off x="876300" y="41433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C1B1F"/>
                </a:solidFill>
                <a:latin typeface="Roboto"/>
                <a:ea typeface="Roboto"/>
                <a:cs typeface="Roboto"/>
              </a:defRPr>
            </a:defPPr>
            <a:lvl1pPr algn="ctr">
              <a:defRPr sz="1050" b="1">
                <a:solidFill>
                  <a:srgbClr val="1C1B1F"/>
                </a:solidFill>
                <a:latin typeface="Roboto"/>
                <a:ea typeface="Roboto"/>
                <a:cs typeface="Roboto"/>
              </a:defRPr>
            </a:lvl1pPr>
            <a:lvl2pPr algn="ctr">
              <a:defRPr sz="1050" b="1">
                <a:solidFill>
                  <a:srgbClr val="1C1B1F"/>
                </a:solidFill>
                <a:latin typeface="Roboto"/>
                <a:ea typeface="Roboto"/>
                <a:cs typeface="Roboto"/>
              </a:defRPr>
            </a:lvl2pPr>
            <a:lvl3pPr algn="ctr">
              <a:defRPr sz="1050" b="1">
                <a:solidFill>
                  <a:srgbClr val="1C1B1F"/>
                </a:solidFill>
                <a:latin typeface="Roboto"/>
                <a:ea typeface="Roboto"/>
                <a:cs typeface="Roboto"/>
              </a:defRPr>
            </a:lvl3pPr>
            <a:lvl4pPr algn="ctr">
              <a:defRPr sz="1050" b="1">
                <a:solidFill>
                  <a:srgbClr val="1C1B1F"/>
                </a:solidFill>
                <a:latin typeface="Roboto"/>
                <a:ea typeface="Roboto"/>
                <a:cs typeface="Roboto"/>
              </a:defRPr>
            </a:lvl4pPr>
            <a:lvl5pPr algn="ctr">
              <a:defRPr sz="1050" b="1">
                <a:solidFill>
                  <a:srgbClr val="1C1B1F"/>
                </a:solidFill>
                <a:latin typeface="Roboto"/>
                <a:ea typeface="Roboto"/>
                <a:cs typeface="Roboto"/>
              </a:defRPr>
            </a:lvl5pPr>
            <a:lvl6pPr algn="ctr">
              <a:defRPr sz="1050" b="1">
                <a:solidFill>
                  <a:srgbClr val="1C1B1F"/>
                </a:solidFill>
                <a:latin typeface="Roboto"/>
                <a:ea typeface="Roboto"/>
                <a:cs typeface="Roboto"/>
              </a:defRPr>
            </a:lvl6pPr>
            <a:lvl7pPr algn="ctr">
              <a:defRPr sz="1050" b="1">
                <a:solidFill>
                  <a:srgbClr val="1C1B1F"/>
                </a:solidFill>
                <a:latin typeface="Roboto"/>
                <a:ea typeface="Roboto"/>
                <a:cs typeface="Roboto"/>
              </a:defRPr>
            </a:lvl7pPr>
            <a:lvl8pPr algn="ctr">
              <a:defRPr sz="1050" b="1">
                <a:solidFill>
                  <a:srgbClr val="1C1B1F"/>
                </a:solidFill>
                <a:latin typeface="Roboto"/>
                <a:ea typeface="Roboto"/>
                <a:cs typeface="Roboto"/>
              </a:defRPr>
            </a:lvl8pPr>
            <a:lvl9pPr algn="ctr">
              <a:defRPr sz="1050" b="1">
                <a:solidFill>
                  <a:srgbClr val="1C1B1F"/>
                </a:solidFill>
                <a:latin typeface="Roboto"/>
                <a:ea typeface="Roboto"/>
                <a:cs typeface="Roboto"/>
              </a:defRPr>
            </a:lvl9pPr>
          </a:lstStyle>
          <a:p xmlns:a="http://schemas.openxmlformats.org/drawingml/2006/main">
            <a:pPr algn="ctr">
              <a:defRPr sz="1050" b="1">
                <a:solidFill>
                  <a:srgbClr val="1C1B1F"/>
                </a:solidFill>
                <a:latin typeface="Roboto"/>
                <a:ea typeface="Roboto"/>
                <a:cs typeface="Roboto"/>
              </a:defRPr>
            </a:pPr>
            <a:r>
              <a:rPr sz="1050" b="1">
                <a:solidFill>
                  <a:srgbClr val="1C1B1F"/>
                </a:solidFill>
                <a:latin typeface="Roboto"/>
                <a:ea typeface="Roboto"/>
                <a:cs typeface="Roboto"/>
              </a:rPr>
              <a:t>REQUEST</a:t>
            </a:r>
          </a:p>
        </p:txBody>
      </p:sp>
      <p:sp>
        <p:nvSpPr>
          <p:cNvPr id="11" name="request-branch-entry">
            <a:extLst xmlns:a="http://schemas.openxmlformats.org/drawingml/2006/main">
              <a:ext uri="{FF2B5EF4-FFF2-40B4-BE49-F238E27FC236}">
                <a16:creationId xmlns:a16="http://schemas.microsoft.com/office/drawing/2014/main" id="{4C92C0F6-ECF4-4EF3-B675-C4C79EEF9B34}"/>
              </a:ext>
            </a:extLst>
          </p:cNvPr>
          <p:cNvSpPr>
            <a:spLocks xmlns:a="http://schemas.openxmlformats.org/drawingml/2006/main" noGrp="1"/>
          </p:cNvSpPr>
          <p:nvPr/>
        </p:nvSpPr>
        <p:spPr>
          <a:xfrm xmlns:a="http://schemas.openxmlformats.org/drawingml/2006/main">
            <a:off x="1495425" y="3829050"/>
            <a:ext cx="628650" cy="0"/>
          </a:xfrm>
          <a:prstGeom xmlns:a="http://schemas.openxmlformats.org/drawingml/2006/main" prst="line">
            <a:avLst/>
          </a:prstGeom>
          <a:noFill xmlns:a="http://schemas.openxmlformats.org/drawingml/2006/main"/>
          <a:ln xmlns:a="http://schemas.openxmlformats.org/drawingml/2006/main" w="19050">
            <a:solidFill>
              <a:srgbClr val="CAC4D0"/>
            </a:solidFill>
            <a:prstDash val="solid"/>
          </a:ln>
        </p:spPr>
      </p:sp>
      <p:sp>
        <p:nvSpPr>
          <p:cNvPr id="12" name="request-branch-spine">
            <a:extLst xmlns:a="http://schemas.openxmlformats.org/drawingml/2006/main">
              <a:ext uri="{FF2B5EF4-FFF2-40B4-BE49-F238E27FC236}">
                <a16:creationId xmlns:a16="http://schemas.microsoft.com/office/drawing/2014/main" id="{D2067E32-3B9C-4553-B7EB-2F94F0B72B23}"/>
              </a:ext>
            </a:extLst>
          </p:cNvPr>
          <p:cNvSpPr>
            <a:spLocks xmlns:a="http://schemas.openxmlformats.org/drawingml/2006/main" noGrp="1"/>
          </p:cNvSpPr>
          <p:nvPr/>
        </p:nvSpPr>
        <p:spPr>
          <a:xfrm xmlns:a="http://schemas.openxmlformats.org/drawingml/2006/main">
            <a:off x="2124075" y="3295650"/>
            <a:ext cx="0" cy="1295400"/>
          </a:xfrm>
          <a:prstGeom xmlns:a="http://schemas.openxmlformats.org/drawingml/2006/main" prst="line">
            <a:avLst/>
          </a:prstGeom>
          <a:noFill xmlns:a="http://schemas.openxmlformats.org/drawingml/2006/main"/>
          <a:ln xmlns:a="http://schemas.openxmlformats.org/drawingml/2006/main" w="19050">
            <a:solidFill>
              <a:srgbClr val="CAC4D0"/>
            </a:solidFill>
            <a:prstDash val="solid"/>
          </a:ln>
        </p:spPr>
      </p:sp>
      <p:sp>
        <p:nvSpPr>
          <p:cNvPr id="13" name="request-branch-model">
            <a:extLst xmlns:a="http://schemas.openxmlformats.org/drawingml/2006/main">
              <a:ext uri="{FF2B5EF4-FFF2-40B4-BE49-F238E27FC236}">
                <a16:creationId xmlns:a16="http://schemas.microsoft.com/office/drawing/2014/main" id="{1659BCA3-D0BA-4444-BE5E-8C3D04517092}"/>
              </a:ext>
            </a:extLst>
          </p:cNvPr>
          <p:cNvSpPr>
            <a:spLocks xmlns:a="http://schemas.openxmlformats.org/drawingml/2006/main" noGrp="1"/>
          </p:cNvSpPr>
          <p:nvPr/>
        </p:nvSpPr>
        <p:spPr>
          <a:xfrm xmlns:a="http://schemas.openxmlformats.org/drawingml/2006/main">
            <a:off x="2124075" y="3295650"/>
            <a:ext cx="419100" cy="0"/>
          </a:xfrm>
          <a:prstGeom xmlns:a="http://schemas.openxmlformats.org/drawingml/2006/main" prst="line">
            <a:avLst/>
          </a:prstGeom>
          <a:noFill xmlns:a="http://schemas.openxmlformats.org/drawingml/2006/main"/>
          <a:ln xmlns:a="http://schemas.openxmlformats.org/drawingml/2006/main" w="19050">
            <a:solidFill>
              <a:srgbClr val="6750A4"/>
            </a:solidFill>
            <a:prstDash val="solid"/>
          </a:ln>
        </p:spPr>
      </p:sp>
      <p:sp>
        <p:nvSpPr>
          <p:cNvPr id="14" name="request-branch-worker">
            <a:extLst xmlns:a="http://schemas.openxmlformats.org/drawingml/2006/main">
              <a:ext uri="{FF2B5EF4-FFF2-40B4-BE49-F238E27FC236}">
                <a16:creationId xmlns:a16="http://schemas.microsoft.com/office/drawing/2014/main" id="{7378A05F-A019-4235-8BF9-3D96058AA0CB}"/>
              </a:ext>
            </a:extLst>
          </p:cNvPr>
          <p:cNvSpPr>
            <a:spLocks xmlns:a="http://schemas.openxmlformats.org/drawingml/2006/main" noGrp="1"/>
          </p:cNvSpPr>
          <p:nvPr/>
        </p:nvSpPr>
        <p:spPr>
          <a:xfrm xmlns:a="http://schemas.openxmlformats.org/drawingml/2006/main">
            <a:off x="2124075" y="4591050"/>
            <a:ext cx="419100" cy="0"/>
          </a:xfrm>
          <a:prstGeom xmlns:a="http://schemas.openxmlformats.org/drawingml/2006/main" prst="line">
            <a:avLst/>
          </a:prstGeom>
          <a:noFill xmlns:a="http://schemas.openxmlformats.org/drawingml/2006/main"/>
          <a:ln xmlns:a="http://schemas.openxmlformats.org/drawingml/2006/main" w="19050">
            <a:solidFill>
              <a:srgbClr val="006B5F"/>
            </a:solidFill>
            <a:prstDash val="solid"/>
          </a:ln>
        </p:spPr>
      </p:sp>
      <p:sp>
        <p:nvSpPr>
          <p:cNvPr id="15" name="model-path">
            <a:extLst xmlns:a="http://schemas.openxmlformats.org/drawingml/2006/main">
              <a:ext uri="{FF2B5EF4-FFF2-40B4-BE49-F238E27FC236}">
                <a16:creationId xmlns:a16="http://schemas.microsoft.com/office/drawing/2014/main" id="{CE295F18-7B0F-4153-8A61-F042E24F9AF1}"/>
              </a:ext>
            </a:extLst>
          </p:cNvPr>
          <p:cNvSpPr>
            <a:spLocks xmlns:a="http://schemas.openxmlformats.org/drawingml/2006/main" noGrp="1"/>
          </p:cNvSpPr>
          <p:nvPr/>
        </p:nvSpPr>
        <p:spPr>
          <a:xfrm xmlns:a="http://schemas.openxmlformats.org/drawingml/2006/main">
            <a:off x="2543175" y="2952750"/>
            <a:ext cx="3048000" cy="876300"/>
          </a:xfrm>
          <a:prstGeom xmlns:a="http://schemas.openxmlformats.org/drawingml/2006/main" prst="roundRect">
            <a:avLst>
              <a:gd name="adj" fmla="val 21739"/>
            </a:avLst>
          </a:prstGeom>
          <a:solidFill xmlns:a="http://schemas.openxmlformats.org/drawingml/2006/main">
            <a:srgbClr val="EADDFF"/>
          </a:solidFill>
          <a:ln xmlns:a="http://schemas.openxmlformats.org/drawingml/2006/main" w="0">
            <a:noFill/>
            <a:prstDash val="solid"/>
          </a:ln>
        </p:spPr>
      </p:sp>
      <p:sp>
        <p:nvSpPr>
          <p:cNvPr id="16" name="model-path-title">
            <a:extLst xmlns:a="http://schemas.openxmlformats.org/drawingml/2006/main">
              <a:ext uri="{FF2B5EF4-FFF2-40B4-BE49-F238E27FC236}">
                <a16:creationId xmlns:a16="http://schemas.microsoft.com/office/drawing/2014/main" id="{DC5F43A1-674D-4D35-851E-48F30552CEF3}"/>
              </a:ext>
            </a:extLst>
          </p:cNvPr>
          <p:cNvSpPr>
            <a:spLocks xmlns:a="http://schemas.openxmlformats.org/drawingml/2006/main" noGrp="1"/>
          </p:cNvSpPr>
          <p:nvPr/>
        </p:nvSpPr>
        <p:spPr>
          <a:xfrm xmlns:a="http://schemas.openxmlformats.org/drawingml/2006/main">
            <a:off x="2762250" y="3086100"/>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1005D"/>
                </a:solidFill>
                <a:latin typeface="Roboto"/>
                <a:ea typeface="Roboto"/>
                <a:cs typeface="Roboto"/>
              </a:defRPr>
            </a:defPPr>
            <a:lvl1pPr algn="l">
              <a:defRPr sz="1125" b="1">
                <a:solidFill>
                  <a:srgbClr val="21005D"/>
                </a:solidFill>
                <a:latin typeface="Roboto"/>
                <a:ea typeface="Roboto"/>
                <a:cs typeface="Roboto"/>
              </a:defRPr>
            </a:lvl1pPr>
            <a:lvl2pPr algn="l">
              <a:defRPr sz="1125" b="1">
                <a:solidFill>
                  <a:srgbClr val="21005D"/>
                </a:solidFill>
                <a:latin typeface="Roboto"/>
                <a:ea typeface="Roboto"/>
                <a:cs typeface="Roboto"/>
              </a:defRPr>
            </a:lvl2pPr>
            <a:lvl3pPr algn="l">
              <a:defRPr sz="1125" b="1">
                <a:solidFill>
                  <a:srgbClr val="21005D"/>
                </a:solidFill>
                <a:latin typeface="Roboto"/>
                <a:ea typeface="Roboto"/>
                <a:cs typeface="Roboto"/>
              </a:defRPr>
            </a:lvl3pPr>
            <a:lvl4pPr algn="l">
              <a:defRPr sz="1125" b="1">
                <a:solidFill>
                  <a:srgbClr val="21005D"/>
                </a:solidFill>
                <a:latin typeface="Roboto"/>
                <a:ea typeface="Roboto"/>
                <a:cs typeface="Roboto"/>
              </a:defRPr>
            </a:lvl4pPr>
            <a:lvl5pPr algn="l">
              <a:defRPr sz="1125" b="1">
                <a:solidFill>
                  <a:srgbClr val="21005D"/>
                </a:solidFill>
                <a:latin typeface="Roboto"/>
                <a:ea typeface="Roboto"/>
                <a:cs typeface="Roboto"/>
              </a:defRPr>
            </a:lvl5pPr>
            <a:lvl6pPr algn="l">
              <a:defRPr sz="1125" b="1">
                <a:solidFill>
                  <a:srgbClr val="21005D"/>
                </a:solidFill>
                <a:latin typeface="Roboto"/>
                <a:ea typeface="Roboto"/>
                <a:cs typeface="Roboto"/>
              </a:defRPr>
            </a:lvl6pPr>
            <a:lvl7pPr algn="l">
              <a:defRPr sz="1125" b="1">
                <a:solidFill>
                  <a:srgbClr val="21005D"/>
                </a:solidFill>
                <a:latin typeface="Roboto"/>
                <a:ea typeface="Roboto"/>
                <a:cs typeface="Roboto"/>
              </a:defRPr>
            </a:lvl7pPr>
            <a:lvl8pPr algn="l">
              <a:defRPr sz="1125" b="1">
                <a:solidFill>
                  <a:srgbClr val="21005D"/>
                </a:solidFill>
                <a:latin typeface="Roboto"/>
                <a:ea typeface="Roboto"/>
                <a:cs typeface="Roboto"/>
              </a:defRPr>
            </a:lvl8pPr>
            <a:lvl9pPr algn="l">
              <a:defRPr sz="1125" b="1">
                <a:solidFill>
                  <a:srgbClr val="21005D"/>
                </a:solidFill>
                <a:latin typeface="Roboto"/>
                <a:ea typeface="Roboto"/>
                <a:cs typeface="Roboto"/>
              </a:defRPr>
            </a:lvl9pPr>
          </a:lstStyle>
          <a:p xmlns:a="http://schemas.openxmlformats.org/drawingml/2006/main">
            <a:pPr algn="l">
              <a:defRPr sz="1125" b="1">
                <a:solidFill>
                  <a:srgbClr val="21005D"/>
                </a:solidFill>
                <a:latin typeface="Roboto"/>
                <a:ea typeface="Roboto"/>
                <a:cs typeface="Roboto"/>
              </a:defRPr>
            </a:pPr>
            <a:r>
              <a:rPr sz="1125" b="1">
                <a:solidFill>
                  <a:srgbClr val="21005D"/>
                </a:solidFill>
                <a:latin typeface="Roboto"/>
                <a:ea typeface="Roboto"/>
                <a:cs typeface="Roboto"/>
              </a:rPr>
              <a:t>MODEL PROVIDER</a:t>
            </a:r>
          </a:p>
        </p:txBody>
      </p:sp>
      <p:sp>
        <p:nvSpPr>
          <p:cNvPr id="17" name="model-path-detail">
            <a:extLst xmlns:a="http://schemas.openxmlformats.org/drawingml/2006/main">
              <a:ext uri="{FF2B5EF4-FFF2-40B4-BE49-F238E27FC236}">
                <a16:creationId xmlns:a16="http://schemas.microsoft.com/office/drawing/2014/main" id="{D6925C76-B24E-443C-9D22-4A22CBCABECA}"/>
              </a:ext>
            </a:extLst>
          </p:cNvPr>
          <p:cNvSpPr>
            <a:spLocks xmlns:a="http://schemas.openxmlformats.org/drawingml/2006/main" noGrp="1"/>
          </p:cNvSpPr>
          <p:nvPr/>
        </p:nvSpPr>
        <p:spPr>
          <a:xfrm xmlns:a="http://schemas.openxmlformats.org/drawingml/2006/main">
            <a:off x="2762250" y="3362325"/>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21005D"/>
                </a:solidFill>
                <a:latin typeface="Roboto"/>
                <a:ea typeface="Roboto"/>
                <a:cs typeface="Roboto"/>
              </a:defRPr>
            </a:defPPr>
            <a:lvl1pPr algn="l">
              <a:defRPr sz="1350" b="0">
                <a:solidFill>
                  <a:srgbClr val="21005D"/>
                </a:solidFill>
                <a:latin typeface="Roboto"/>
                <a:ea typeface="Roboto"/>
                <a:cs typeface="Roboto"/>
              </a:defRPr>
            </a:lvl1pPr>
            <a:lvl2pPr algn="l">
              <a:defRPr sz="1350" b="0">
                <a:solidFill>
                  <a:srgbClr val="21005D"/>
                </a:solidFill>
                <a:latin typeface="Roboto"/>
                <a:ea typeface="Roboto"/>
                <a:cs typeface="Roboto"/>
              </a:defRPr>
            </a:lvl2pPr>
            <a:lvl3pPr algn="l">
              <a:defRPr sz="1350" b="0">
                <a:solidFill>
                  <a:srgbClr val="21005D"/>
                </a:solidFill>
                <a:latin typeface="Roboto"/>
                <a:ea typeface="Roboto"/>
                <a:cs typeface="Roboto"/>
              </a:defRPr>
            </a:lvl3pPr>
            <a:lvl4pPr algn="l">
              <a:defRPr sz="1350" b="0">
                <a:solidFill>
                  <a:srgbClr val="21005D"/>
                </a:solidFill>
                <a:latin typeface="Roboto"/>
                <a:ea typeface="Roboto"/>
                <a:cs typeface="Roboto"/>
              </a:defRPr>
            </a:lvl4pPr>
            <a:lvl5pPr algn="l">
              <a:defRPr sz="1350" b="0">
                <a:solidFill>
                  <a:srgbClr val="21005D"/>
                </a:solidFill>
                <a:latin typeface="Roboto"/>
                <a:ea typeface="Roboto"/>
                <a:cs typeface="Roboto"/>
              </a:defRPr>
            </a:lvl5pPr>
            <a:lvl6pPr algn="l">
              <a:defRPr sz="1350" b="0">
                <a:solidFill>
                  <a:srgbClr val="21005D"/>
                </a:solidFill>
                <a:latin typeface="Roboto"/>
                <a:ea typeface="Roboto"/>
                <a:cs typeface="Roboto"/>
              </a:defRPr>
            </a:lvl6pPr>
            <a:lvl7pPr algn="l">
              <a:defRPr sz="1350" b="0">
                <a:solidFill>
                  <a:srgbClr val="21005D"/>
                </a:solidFill>
                <a:latin typeface="Roboto"/>
                <a:ea typeface="Roboto"/>
                <a:cs typeface="Roboto"/>
              </a:defRPr>
            </a:lvl7pPr>
            <a:lvl8pPr algn="l">
              <a:defRPr sz="1350" b="0">
                <a:solidFill>
                  <a:srgbClr val="21005D"/>
                </a:solidFill>
                <a:latin typeface="Roboto"/>
                <a:ea typeface="Roboto"/>
                <a:cs typeface="Roboto"/>
              </a:defRPr>
            </a:lvl8pPr>
            <a:lvl9pPr algn="l">
              <a:defRPr sz="1350" b="0">
                <a:solidFill>
                  <a:srgbClr val="21005D"/>
                </a:solidFill>
                <a:latin typeface="Roboto"/>
                <a:ea typeface="Roboto"/>
                <a:cs typeface="Roboto"/>
              </a:defRPr>
            </a:lvl9pPr>
          </a:lstStyle>
          <a:p xmlns:a="http://schemas.openxmlformats.org/drawingml/2006/main">
            <a:pPr algn="l">
              <a:defRPr sz="1350" b="0">
                <a:solidFill>
                  <a:srgbClr val="21005D"/>
                </a:solidFill>
                <a:latin typeface="Roboto"/>
                <a:ea typeface="Roboto"/>
                <a:cs typeface="Roboto"/>
              </a:defRPr>
            </a:pPr>
            <a:r>
              <a:rPr sz="1350" b="0">
                <a:solidFill>
                  <a:srgbClr val="21005D"/>
                </a:solidFill>
                <a:latin typeface="Roboto"/>
                <a:ea typeface="Roboto"/>
                <a:cs typeface="Roboto"/>
              </a:rPr>
              <a:t>Prompt → response + charge</a:t>
            </a:r>
          </a:p>
        </p:txBody>
      </p:sp>
      <p:sp>
        <p:nvSpPr>
          <p:cNvPr id="18" name="worker-path">
            <a:extLst xmlns:a="http://schemas.openxmlformats.org/drawingml/2006/main">
              <a:ext uri="{FF2B5EF4-FFF2-40B4-BE49-F238E27FC236}">
                <a16:creationId xmlns:a16="http://schemas.microsoft.com/office/drawing/2014/main" id="{5F190E15-9665-41CB-AEDD-3969A0B4E49C}"/>
              </a:ext>
            </a:extLst>
          </p:cNvPr>
          <p:cNvSpPr>
            <a:spLocks xmlns:a="http://schemas.openxmlformats.org/drawingml/2006/main" noGrp="1"/>
          </p:cNvSpPr>
          <p:nvPr/>
        </p:nvSpPr>
        <p:spPr>
          <a:xfrm xmlns:a="http://schemas.openxmlformats.org/drawingml/2006/main">
            <a:off x="2543175" y="4114800"/>
            <a:ext cx="3048000" cy="876300"/>
          </a:xfrm>
          <a:prstGeom xmlns:a="http://schemas.openxmlformats.org/drawingml/2006/main" prst="roundRect">
            <a:avLst>
              <a:gd name="adj" fmla="val 21739"/>
            </a:avLst>
          </a:prstGeom>
          <a:solidFill xmlns:a="http://schemas.openxmlformats.org/drawingml/2006/main">
            <a:srgbClr val="9CF2E2"/>
          </a:solidFill>
          <a:ln xmlns:a="http://schemas.openxmlformats.org/drawingml/2006/main" w="0">
            <a:noFill/>
            <a:prstDash val="solid"/>
          </a:ln>
        </p:spPr>
      </p:sp>
      <p:sp>
        <p:nvSpPr>
          <p:cNvPr id="19" name="worker-path-title">
            <a:extLst xmlns:a="http://schemas.openxmlformats.org/drawingml/2006/main">
              <a:ext uri="{FF2B5EF4-FFF2-40B4-BE49-F238E27FC236}">
                <a16:creationId xmlns:a16="http://schemas.microsoft.com/office/drawing/2014/main" id="{04E76D59-F2A9-4EA8-B58D-3E2E604308FC}"/>
              </a:ext>
            </a:extLst>
          </p:cNvPr>
          <p:cNvSpPr>
            <a:spLocks xmlns:a="http://schemas.openxmlformats.org/drawingml/2006/main" noGrp="1"/>
          </p:cNvSpPr>
          <p:nvPr/>
        </p:nvSpPr>
        <p:spPr>
          <a:xfrm xmlns:a="http://schemas.openxmlformats.org/drawingml/2006/main">
            <a:off x="2762250" y="4248150"/>
            <a:ext cx="260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0201B"/>
                </a:solidFill>
                <a:latin typeface="Roboto"/>
                <a:ea typeface="Roboto"/>
                <a:cs typeface="Roboto"/>
              </a:defRPr>
            </a:defPPr>
            <a:lvl1pPr algn="l">
              <a:defRPr sz="1125" b="1">
                <a:solidFill>
                  <a:srgbClr val="00201B"/>
                </a:solidFill>
                <a:latin typeface="Roboto"/>
                <a:ea typeface="Roboto"/>
                <a:cs typeface="Roboto"/>
              </a:defRPr>
            </a:lvl1pPr>
            <a:lvl2pPr algn="l">
              <a:defRPr sz="1125" b="1">
                <a:solidFill>
                  <a:srgbClr val="00201B"/>
                </a:solidFill>
                <a:latin typeface="Roboto"/>
                <a:ea typeface="Roboto"/>
                <a:cs typeface="Roboto"/>
              </a:defRPr>
            </a:lvl2pPr>
            <a:lvl3pPr algn="l">
              <a:defRPr sz="1125" b="1">
                <a:solidFill>
                  <a:srgbClr val="00201B"/>
                </a:solidFill>
                <a:latin typeface="Roboto"/>
                <a:ea typeface="Roboto"/>
                <a:cs typeface="Roboto"/>
              </a:defRPr>
            </a:lvl3pPr>
            <a:lvl4pPr algn="l">
              <a:defRPr sz="1125" b="1">
                <a:solidFill>
                  <a:srgbClr val="00201B"/>
                </a:solidFill>
                <a:latin typeface="Roboto"/>
                <a:ea typeface="Roboto"/>
                <a:cs typeface="Roboto"/>
              </a:defRPr>
            </a:lvl4pPr>
            <a:lvl5pPr algn="l">
              <a:defRPr sz="1125" b="1">
                <a:solidFill>
                  <a:srgbClr val="00201B"/>
                </a:solidFill>
                <a:latin typeface="Roboto"/>
                <a:ea typeface="Roboto"/>
                <a:cs typeface="Roboto"/>
              </a:defRPr>
            </a:lvl5pPr>
            <a:lvl6pPr algn="l">
              <a:defRPr sz="1125" b="1">
                <a:solidFill>
                  <a:srgbClr val="00201B"/>
                </a:solidFill>
                <a:latin typeface="Roboto"/>
                <a:ea typeface="Roboto"/>
                <a:cs typeface="Roboto"/>
              </a:defRPr>
            </a:lvl6pPr>
            <a:lvl7pPr algn="l">
              <a:defRPr sz="1125" b="1">
                <a:solidFill>
                  <a:srgbClr val="00201B"/>
                </a:solidFill>
                <a:latin typeface="Roboto"/>
                <a:ea typeface="Roboto"/>
                <a:cs typeface="Roboto"/>
              </a:defRPr>
            </a:lvl7pPr>
            <a:lvl8pPr algn="l">
              <a:defRPr sz="1125" b="1">
                <a:solidFill>
                  <a:srgbClr val="00201B"/>
                </a:solidFill>
                <a:latin typeface="Roboto"/>
                <a:ea typeface="Roboto"/>
                <a:cs typeface="Roboto"/>
              </a:defRPr>
            </a:lvl8pPr>
            <a:lvl9pPr algn="l">
              <a:defRPr sz="1125" b="1">
                <a:solidFill>
                  <a:srgbClr val="00201B"/>
                </a:solidFill>
                <a:latin typeface="Roboto"/>
                <a:ea typeface="Roboto"/>
                <a:cs typeface="Roboto"/>
              </a:defRPr>
            </a:lvl9pPr>
          </a:lstStyle>
          <a:p xmlns:a="http://schemas.openxmlformats.org/drawingml/2006/main">
            <a:pPr algn="l">
              <a:defRPr sz="1125" b="1">
                <a:solidFill>
                  <a:srgbClr val="00201B"/>
                </a:solidFill>
                <a:latin typeface="Roboto"/>
                <a:ea typeface="Roboto"/>
                <a:cs typeface="Roboto"/>
              </a:defRPr>
            </a:pPr>
            <a:r>
              <a:rPr sz="1125" b="1">
                <a:solidFill>
                  <a:srgbClr val="00201B"/>
                </a:solidFill>
                <a:latin typeface="Roboto"/>
                <a:ea typeface="Roboto"/>
                <a:cs typeface="Roboto"/>
              </a:rPr>
              <a:t>COMPUTE WORKER</a:t>
            </a:r>
          </a:p>
        </p:txBody>
      </p:sp>
      <p:sp>
        <p:nvSpPr>
          <p:cNvPr id="20" name="worker-path-detail">
            <a:extLst xmlns:a="http://schemas.openxmlformats.org/drawingml/2006/main">
              <a:ext uri="{FF2B5EF4-FFF2-40B4-BE49-F238E27FC236}">
                <a16:creationId xmlns:a16="http://schemas.microsoft.com/office/drawing/2014/main" id="{1168B752-A325-4D95-A5ED-4208AD8A3A62}"/>
              </a:ext>
            </a:extLst>
          </p:cNvPr>
          <p:cNvSpPr>
            <a:spLocks xmlns:a="http://schemas.openxmlformats.org/drawingml/2006/main" noGrp="1"/>
          </p:cNvSpPr>
          <p:nvPr/>
        </p:nvSpPr>
        <p:spPr>
          <a:xfrm xmlns:a="http://schemas.openxmlformats.org/drawingml/2006/main">
            <a:off x="2762250" y="4524375"/>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00201B"/>
                </a:solidFill>
                <a:latin typeface="Roboto"/>
                <a:ea typeface="Roboto"/>
                <a:cs typeface="Roboto"/>
              </a:defRPr>
            </a:defPPr>
            <a:lvl1pPr algn="l">
              <a:defRPr sz="1275" b="0">
                <a:solidFill>
                  <a:srgbClr val="00201B"/>
                </a:solidFill>
                <a:latin typeface="Roboto"/>
                <a:ea typeface="Roboto"/>
                <a:cs typeface="Roboto"/>
              </a:defRPr>
            </a:lvl1pPr>
            <a:lvl2pPr algn="l">
              <a:defRPr sz="1275" b="0">
                <a:solidFill>
                  <a:srgbClr val="00201B"/>
                </a:solidFill>
                <a:latin typeface="Roboto"/>
                <a:ea typeface="Roboto"/>
                <a:cs typeface="Roboto"/>
              </a:defRPr>
            </a:lvl2pPr>
            <a:lvl3pPr algn="l">
              <a:defRPr sz="1275" b="0">
                <a:solidFill>
                  <a:srgbClr val="00201B"/>
                </a:solidFill>
                <a:latin typeface="Roboto"/>
                <a:ea typeface="Roboto"/>
                <a:cs typeface="Roboto"/>
              </a:defRPr>
            </a:lvl3pPr>
            <a:lvl4pPr algn="l">
              <a:defRPr sz="1275" b="0">
                <a:solidFill>
                  <a:srgbClr val="00201B"/>
                </a:solidFill>
                <a:latin typeface="Roboto"/>
                <a:ea typeface="Roboto"/>
                <a:cs typeface="Roboto"/>
              </a:defRPr>
            </a:lvl4pPr>
            <a:lvl5pPr algn="l">
              <a:defRPr sz="1275" b="0">
                <a:solidFill>
                  <a:srgbClr val="00201B"/>
                </a:solidFill>
                <a:latin typeface="Roboto"/>
                <a:ea typeface="Roboto"/>
                <a:cs typeface="Roboto"/>
              </a:defRPr>
            </a:lvl5pPr>
            <a:lvl6pPr algn="l">
              <a:defRPr sz="1275" b="0">
                <a:solidFill>
                  <a:srgbClr val="00201B"/>
                </a:solidFill>
                <a:latin typeface="Roboto"/>
                <a:ea typeface="Roboto"/>
                <a:cs typeface="Roboto"/>
              </a:defRPr>
            </a:lvl6pPr>
            <a:lvl7pPr algn="l">
              <a:defRPr sz="1275" b="0">
                <a:solidFill>
                  <a:srgbClr val="00201B"/>
                </a:solidFill>
                <a:latin typeface="Roboto"/>
                <a:ea typeface="Roboto"/>
                <a:cs typeface="Roboto"/>
              </a:defRPr>
            </a:lvl7pPr>
            <a:lvl8pPr algn="l">
              <a:defRPr sz="1275" b="0">
                <a:solidFill>
                  <a:srgbClr val="00201B"/>
                </a:solidFill>
                <a:latin typeface="Roboto"/>
                <a:ea typeface="Roboto"/>
                <a:cs typeface="Roboto"/>
              </a:defRPr>
            </a:lvl8pPr>
            <a:lvl9pPr algn="l">
              <a:defRPr sz="1275" b="0">
                <a:solidFill>
                  <a:srgbClr val="00201B"/>
                </a:solidFill>
                <a:latin typeface="Roboto"/>
                <a:ea typeface="Roboto"/>
                <a:cs typeface="Roboto"/>
              </a:defRPr>
            </a:lvl9pPr>
          </a:lstStyle>
          <a:p xmlns:a="http://schemas.openxmlformats.org/drawingml/2006/main">
            <a:pPr algn="l">
              <a:defRPr sz="1275" b="0">
                <a:solidFill>
                  <a:srgbClr val="00201B"/>
                </a:solidFill>
                <a:latin typeface="Roboto"/>
                <a:ea typeface="Roboto"/>
                <a:cs typeface="Roboto"/>
              </a:defRPr>
            </a:pPr>
            <a:r>
              <a:rPr sz="1275" b="0">
                <a:solidFill>
                  <a:srgbClr val="00201B"/>
                </a:solidFill>
                <a:latin typeface="Roboto"/>
                <a:ea typeface="Roboto"/>
                <a:cs typeface="Roboto"/>
              </a:rPr>
              <a:t>Source + data → output files</a:t>
            </a:r>
          </a:p>
        </p:txBody>
      </p:sp>
      <p:sp>
        <p:nvSpPr>
          <p:cNvPr id="21" name="reconcile-panel">
            <a:extLst xmlns:a="http://schemas.openxmlformats.org/drawingml/2006/main">
              <a:ext uri="{FF2B5EF4-FFF2-40B4-BE49-F238E27FC236}">
                <a16:creationId xmlns:a16="http://schemas.microsoft.com/office/drawing/2014/main" id="{83CB5F27-D414-40D4-A23D-94E01887CDEF}"/>
              </a:ext>
            </a:extLst>
          </p:cNvPr>
          <p:cNvSpPr>
            <a:spLocks xmlns:a="http://schemas.openxmlformats.org/drawingml/2006/main" noGrp="1"/>
          </p:cNvSpPr>
          <p:nvPr/>
        </p:nvSpPr>
        <p:spPr>
          <a:xfrm xmlns:a="http://schemas.openxmlformats.org/drawingml/2006/main">
            <a:off x="6134100" y="2381250"/>
            <a:ext cx="5372100" cy="3143250"/>
          </a:xfrm>
          <a:prstGeom xmlns:a="http://schemas.openxmlformats.org/drawingml/2006/main" prst="roundRect">
            <a:avLst>
              <a:gd name="adj" fmla="val 8485"/>
            </a:avLst>
          </a:prstGeom>
          <a:solidFill xmlns:a="http://schemas.openxmlformats.org/drawingml/2006/main">
            <a:srgbClr val="F3EDF7"/>
          </a:solidFill>
          <a:ln xmlns:a="http://schemas.openxmlformats.org/drawingml/2006/main" w="0">
            <a:noFill/>
            <a:prstDash val="solid"/>
          </a:ln>
        </p:spPr>
      </p:sp>
      <p:sp>
        <p:nvSpPr>
          <p:cNvPr id="22" name="reconcile-panel-label">
            <a:extLst xmlns:a="http://schemas.openxmlformats.org/drawingml/2006/main">
              <a:ext uri="{FF2B5EF4-FFF2-40B4-BE49-F238E27FC236}">
                <a16:creationId xmlns:a16="http://schemas.microsoft.com/office/drawing/2014/main" id="{53EC5C64-CF5C-48B5-BE8C-83074A154BBA}"/>
              </a:ext>
            </a:extLst>
          </p:cNvPr>
          <p:cNvSpPr>
            <a:spLocks xmlns:a="http://schemas.openxmlformats.org/drawingml/2006/main" noGrp="1"/>
          </p:cNvSpPr>
          <p:nvPr/>
        </p:nvSpPr>
        <p:spPr>
          <a:xfrm xmlns:a="http://schemas.openxmlformats.org/drawingml/2006/main">
            <a:off x="6419850" y="2571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49454F"/>
                </a:solidFill>
                <a:latin typeface="Roboto"/>
                <a:ea typeface="Roboto"/>
                <a:cs typeface="Roboto"/>
              </a:defRPr>
            </a:defPPr>
            <a:lvl1pPr algn="l">
              <a:defRPr sz="1050" b="1">
                <a:solidFill>
                  <a:srgbClr val="49454F"/>
                </a:solidFill>
                <a:latin typeface="Roboto"/>
                <a:ea typeface="Roboto"/>
                <a:cs typeface="Roboto"/>
              </a:defRPr>
            </a:lvl1pPr>
            <a:lvl2pPr algn="l">
              <a:defRPr sz="1050" b="1">
                <a:solidFill>
                  <a:srgbClr val="49454F"/>
                </a:solidFill>
                <a:latin typeface="Roboto"/>
                <a:ea typeface="Roboto"/>
                <a:cs typeface="Roboto"/>
              </a:defRPr>
            </a:lvl2pPr>
            <a:lvl3pPr algn="l">
              <a:defRPr sz="1050" b="1">
                <a:solidFill>
                  <a:srgbClr val="49454F"/>
                </a:solidFill>
                <a:latin typeface="Roboto"/>
                <a:ea typeface="Roboto"/>
                <a:cs typeface="Roboto"/>
              </a:defRPr>
            </a:lvl3pPr>
            <a:lvl4pPr algn="l">
              <a:defRPr sz="1050" b="1">
                <a:solidFill>
                  <a:srgbClr val="49454F"/>
                </a:solidFill>
                <a:latin typeface="Roboto"/>
                <a:ea typeface="Roboto"/>
                <a:cs typeface="Roboto"/>
              </a:defRPr>
            </a:lvl4pPr>
            <a:lvl5pPr algn="l">
              <a:defRPr sz="1050" b="1">
                <a:solidFill>
                  <a:srgbClr val="49454F"/>
                </a:solidFill>
                <a:latin typeface="Roboto"/>
                <a:ea typeface="Roboto"/>
                <a:cs typeface="Roboto"/>
              </a:defRPr>
            </a:lvl5pPr>
            <a:lvl6pPr algn="l">
              <a:defRPr sz="1050" b="1">
                <a:solidFill>
                  <a:srgbClr val="49454F"/>
                </a:solidFill>
                <a:latin typeface="Roboto"/>
                <a:ea typeface="Roboto"/>
                <a:cs typeface="Roboto"/>
              </a:defRPr>
            </a:lvl6pPr>
            <a:lvl7pPr algn="l">
              <a:defRPr sz="1050" b="1">
                <a:solidFill>
                  <a:srgbClr val="49454F"/>
                </a:solidFill>
                <a:latin typeface="Roboto"/>
                <a:ea typeface="Roboto"/>
                <a:cs typeface="Roboto"/>
              </a:defRPr>
            </a:lvl7pPr>
            <a:lvl8pPr algn="l">
              <a:defRPr sz="1050" b="1">
                <a:solidFill>
                  <a:srgbClr val="49454F"/>
                </a:solidFill>
                <a:latin typeface="Roboto"/>
                <a:ea typeface="Roboto"/>
                <a:cs typeface="Roboto"/>
              </a:defRPr>
            </a:lvl8pPr>
            <a:lvl9pPr algn="l">
              <a:defRPr sz="1050" b="1">
                <a:solidFill>
                  <a:srgbClr val="49454F"/>
                </a:solidFill>
                <a:latin typeface="Roboto"/>
                <a:ea typeface="Roboto"/>
                <a:cs typeface="Roboto"/>
              </a:defRPr>
            </a:lvl9pPr>
          </a:lstStyle>
          <a:p xmlns:a="http://schemas.openxmlformats.org/drawingml/2006/main">
            <a:pPr algn="l">
              <a:defRPr sz="1050" b="1">
                <a:solidFill>
                  <a:srgbClr val="49454F"/>
                </a:solidFill>
                <a:latin typeface="Roboto"/>
                <a:ea typeface="Roboto"/>
                <a:cs typeface="Roboto"/>
              </a:defRPr>
            </a:pPr>
            <a:r>
              <a:rPr sz="1050" b="1">
                <a:solidFill>
                  <a:srgbClr val="49454F"/>
                </a:solidFill>
                <a:latin typeface="Roboto"/>
                <a:ea typeface="Roboto"/>
                <a:cs typeface="Roboto"/>
              </a:rPr>
              <a:t>THE BUILDER MUST RECONCILE</a:t>
            </a:r>
          </a:p>
        </p:txBody>
      </p:sp>
      <p:sp>
        <p:nvSpPr>
          <p:cNvPr id="23" name="question-number-0">
            <a:extLst xmlns:a="http://schemas.openxmlformats.org/drawingml/2006/main">
              <a:ext uri="{FF2B5EF4-FFF2-40B4-BE49-F238E27FC236}">
                <a16:creationId xmlns:a16="http://schemas.microsoft.com/office/drawing/2014/main" id="{2EFD723A-8B21-4A3B-82D5-0A14806CD3CC}"/>
              </a:ext>
            </a:extLst>
          </p:cNvPr>
          <p:cNvSpPr>
            <a:spLocks xmlns:a="http://schemas.openxmlformats.org/drawingml/2006/main" noGrp="1"/>
          </p:cNvSpPr>
          <p:nvPr/>
        </p:nvSpPr>
        <p:spPr>
          <a:xfrm xmlns:a="http://schemas.openxmlformats.org/drawingml/2006/main">
            <a:off x="6448425" y="3086100"/>
            <a:ext cx="285750" cy="2857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01</a:t>
            </a:r>
          </a:p>
        </p:txBody>
      </p:sp>
      <p:sp>
        <p:nvSpPr>
          <p:cNvPr id="24" name="question-text-0">
            <a:extLst xmlns:a="http://schemas.openxmlformats.org/drawingml/2006/main">
              <a:ext uri="{FF2B5EF4-FFF2-40B4-BE49-F238E27FC236}">
                <a16:creationId xmlns:a16="http://schemas.microsoft.com/office/drawing/2014/main" id="{7B8F714A-19A6-421F-BE05-C6A16DC0ACD9}"/>
              </a:ext>
            </a:extLst>
          </p:cNvPr>
          <p:cNvSpPr>
            <a:spLocks xmlns:a="http://schemas.openxmlformats.org/drawingml/2006/main" noGrp="1"/>
          </p:cNvSpPr>
          <p:nvPr/>
        </p:nvSpPr>
        <p:spPr>
          <a:xfrm xmlns:a="http://schemas.openxmlformats.org/drawingml/2006/main">
            <a:off x="6896100" y="30670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C1B1F"/>
                </a:solidFill>
                <a:latin typeface="Roboto"/>
                <a:ea typeface="Roboto"/>
                <a:cs typeface="Roboto"/>
              </a:defRPr>
            </a:defPPr>
            <a:lvl1pPr algn="l">
              <a:defRPr sz="1425" b="0">
                <a:solidFill>
                  <a:srgbClr val="1C1B1F"/>
                </a:solidFill>
                <a:latin typeface="Roboto"/>
                <a:ea typeface="Roboto"/>
                <a:cs typeface="Roboto"/>
              </a:defRPr>
            </a:lvl1pPr>
            <a:lvl2pPr algn="l">
              <a:defRPr sz="1425" b="0">
                <a:solidFill>
                  <a:srgbClr val="1C1B1F"/>
                </a:solidFill>
                <a:latin typeface="Roboto"/>
                <a:ea typeface="Roboto"/>
                <a:cs typeface="Roboto"/>
              </a:defRPr>
            </a:lvl2pPr>
            <a:lvl3pPr algn="l">
              <a:defRPr sz="1425" b="0">
                <a:solidFill>
                  <a:srgbClr val="1C1B1F"/>
                </a:solidFill>
                <a:latin typeface="Roboto"/>
                <a:ea typeface="Roboto"/>
                <a:cs typeface="Roboto"/>
              </a:defRPr>
            </a:lvl3pPr>
            <a:lvl4pPr algn="l">
              <a:defRPr sz="1425" b="0">
                <a:solidFill>
                  <a:srgbClr val="1C1B1F"/>
                </a:solidFill>
                <a:latin typeface="Roboto"/>
                <a:ea typeface="Roboto"/>
                <a:cs typeface="Roboto"/>
              </a:defRPr>
            </a:lvl4pPr>
            <a:lvl5pPr algn="l">
              <a:defRPr sz="1425" b="0">
                <a:solidFill>
                  <a:srgbClr val="1C1B1F"/>
                </a:solidFill>
                <a:latin typeface="Roboto"/>
                <a:ea typeface="Roboto"/>
                <a:cs typeface="Roboto"/>
              </a:defRPr>
            </a:lvl5pPr>
            <a:lvl6pPr algn="l">
              <a:defRPr sz="1425" b="0">
                <a:solidFill>
                  <a:srgbClr val="1C1B1F"/>
                </a:solidFill>
                <a:latin typeface="Roboto"/>
                <a:ea typeface="Roboto"/>
                <a:cs typeface="Roboto"/>
              </a:defRPr>
            </a:lvl6pPr>
            <a:lvl7pPr algn="l">
              <a:defRPr sz="1425" b="0">
                <a:solidFill>
                  <a:srgbClr val="1C1B1F"/>
                </a:solidFill>
                <a:latin typeface="Roboto"/>
                <a:ea typeface="Roboto"/>
                <a:cs typeface="Roboto"/>
              </a:defRPr>
            </a:lvl7pPr>
            <a:lvl8pPr algn="l">
              <a:defRPr sz="1425" b="0">
                <a:solidFill>
                  <a:srgbClr val="1C1B1F"/>
                </a:solidFill>
                <a:latin typeface="Roboto"/>
                <a:ea typeface="Roboto"/>
                <a:cs typeface="Roboto"/>
              </a:defRPr>
            </a:lvl8pPr>
            <a:lvl9pPr algn="l">
              <a:defRPr sz="1425" b="0">
                <a:solidFill>
                  <a:srgbClr val="1C1B1F"/>
                </a:solidFill>
                <a:latin typeface="Roboto"/>
                <a:ea typeface="Roboto"/>
                <a:cs typeface="Roboto"/>
              </a:defRPr>
            </a:lvl9pPr>
          </a:lstStyle>
          <a:p xmlns:a="http://schemas.openxmlformats.org/drawingml/2006/main">
            <a:pPr algn="l">
              <a:defRPr sz="1425" b="0">
                <a:solidFill>
                  <a:srgbClr val="1C1B1F"/>
                </a:solidFill>
                <a:latin typeface="Roboto"/>
                <a:ea typeface="Roboto"/>
                <a:cs typeface="Roboto"/>
              </a:defRPr>
            </a:pPr>
            <a:r>
              <a:rPr sz="1425" b="0">
                <a:solidFill>
                  <a:srgbClr val="1C1B1F"/>
                </a:solidFill>
                <a:latin typeface="Roboto"/>
                <a:ea typeface="Roboto"/>
                <a:cs typeface="Roboto"/>
              </a:rPr>
              <a:t>Which route ran?</a:t>
            </a:r>
          </a:p>
        </p:txBody>
      </p:sp>
      <p:sp>
        <p:nvSpPr>
          <p:cNvPr id="25" name="question-divider-1">
            <a:extLst xmlns:a="http://schemas.openxmlformats.org/drawingml/2006/main">
              <a:ext uri="{FF2B5EF4-FFF2-40B4-BE49-F238E27FC236}">
                <a16:creationId xmlns:a16="http://schemas.microsoft.com/office/drawing/2014/main" id="{C62D111B-1227-4784-98F9-694878B9D6EA}"/>
              </a:ext>
            </a:extLst>
          </p:cNvPr>
          <p:cNvSpPr>
            <a:spLocks xmlns:a="http://schemas.openxmlformats.org/drawingml/2006/main" noGrp="1"/>
          </p:cNvSpPr>
          <p:nvPr/>
        </p:nvSpPr>
        <p:spPr>
          <a:xfrm xmlns:a="http://schemas.openxmlformats.org/drawingml/2006/main">
            <a:off x="6419850" y="3552825"/>
            <a:ext cx="48006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26" name="question-number-1">
            <a:extLst xmlns:a="http://schemas.openxmlformats.org/drawingml/2006/main">
              <a:ext uri="{FF2B5EF4-FFF2-40B4-BE49-F238E27FC236}">
                <a16:creationId xmlns:a16="http://schemas.microsoft.com/office/drawing/2014/main" id="{A59204EC-FFC8-49DF-9533-0D0F71C47F80}"/>
              </a:ext>
            </a:extLst>
          </p:cNvPr>
          <p:cNvSpPr>
            <a:spLocks xmlns:a="http://schemas.openxmlformats.org/drawingml/2006/main" noGrp="1"/>
          </p:cNvSpPr>
          <p:nvPr/>
        </p:nvSpPr>
        <p:spPr>
          <a:xfrm xmlns:a="http://schemas.openxmlformats.org/drawingml/2006/main">
            <a:off x="6448425" y="3638550"/>
            <a:ext cx="285750" cy="2857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02</a:t>
            </a:r>
          </a:p>
        </p:txBody>
      </p:sp>
      <p:sp>
        <p:nvSpPr>
          <p:cNvPr id="27" name="question-text-1">
            <a:extLst xmlns:a="http://schemas.openxmlformats.org/drawingml/2006/main">
              <a:ext uri="{FF2B5EF4-FFF2-40B4-BE49-F238E27FC236}">
                <a16:creationId xmlns:a16="http://schemas.microsoft.com/office/drawing/2014/main" id="{08E8F5D9-EDAD-4BEE-BF78-188E9A667138}"/>
              </a:ext>
            </a:extLst>
          </p:cNvPr>
          <p:cNvSpPr>
            <a:spLocks xmlns:a="http://schemas.openxmlformats.org/drawingml/2006/main" noGrp="1"/>
          </p:cNvSpPr>
          <p:nvPr/>
        </p:nvSpPr>
        <p:spPr>
          <a:xfrm xmlns:a="http://schemas.openxmlformats.org/drawingml/2006/main">
            <a:off x="6896100" y="36195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C1B1F"/>
                </a:solidFill>
                <a:latin typeface="Roboto"/>
                <a:ea typeface="Roboto"/>
                <a:cs typeface="Roboto"/>
              </a:defRPr>
            </a:defPPr>
            <a:lvl1pPr algn="l">
              <a:defRPr sz="1425" b="0">
                <a:solidFill>
                  <a:srgbClr val="1C1B1F"/>
                </a:solidFill>
                <a:latin typeface="Roboto"/>
                <a:ea typeface="Roboto"/>
                <a:cs typeface="Roboto"/>
              </a:defRPr>
            </a:lvl1pPr>
            <a:lvl2pPr algn="l">
              <a:defRPr sz="1425" b="0">
                <a:solidFill>
                  <a:srgbClr val="1C1B1F"/>
                </a:solidFill>
                <a:latin typeface="Roboto"/>
                <a:ea typeface="Roboto"/>
                <a:cs typeface="Roboto"/>
              </a:defRPr>
            </a:lvl2pPr>
            <a:lvl3pPr algn="l">
              <a:defRPr sz="1425" b="0">
                <a:solidFill>
                  <a:srgbClr val="1C1B1F"/>
                </a:solidFill>
                <a:latin typeface="Roboto"/>
                <a:ea typeface="Roboto"/>
                <a:cs typeface="Roboto"/>
              </a:defRPr>
            </a:lvl3pPr>
            <a:lvl4pPr algn="l">
              <a:defRPr sz="1425" b="0">
                <a:solidFill>
                  <a:srgbClr val="1C1B1F"/>
                </a:solidFill>
                <a:latin typeface="Roboto"/>
                <a:ea typeface="Roboto"/>
                <a:cs typeface="Roboto"/>
              </a:defRPr>
            </a:lvl4pPr>
            <a:lvl5pPr algn="l">
              <a:defRPr sz="1425" b="0">
                <a:solidFill>
                  <a:srgbClr val="1C1B1F"/>
                </a:solidFill>
                <a:latin typeface="Roboto"/>
                <a:ea typeface="Roboto"/>
                <a:cs typeface="Roboto"/>
              </a:defRPr>
            </a:lvl5pPr>
            <a:lvl6pPr algn="l">
              <a:defRPr sz="1425" b="0">
                <a:solidFill>
                  <a:srgbClr val="1C1B1F"/>
                </a:solidFill>
                <a:latin typeface="Roboto"/>
                <a:ea typeface="Roboto"/>
                <a:cs typeface="Roboto"/>
              </a:defRPr>
            </a:lvl6pPr>
            <a:lvl7pPr algn="l">
              <a:defRPr sz="1425" b="0">
                <a:solidFill>
                  <a:srgbClr val="1C1B1F"/>
                </a:solidFill>
                <a:latin typeface="Roboto"/>
                <a:ea typeface="Roboto"/>
                <a:cs typeface="Roboto"/>
              </a:defRPr>
            </a:lvl7pPr>
            <a:lvl8pPr algn="l">
              <a:defRPr sz="1425" b="0">
                <a:solidFill>
                  <a:srgbClr val="1C1B1F"/>
                </a:solidFill>
                <a:latin typeface="Roboto"/>
                <a:ea typeface="Roboto"/>
                <a:cs typeface="Roboto"/>
              </a:defRPr>
            </a:lvl8pPr>
            <a:lvl9pPr algn="l">
              <a:defRPr sz="1425" b="0">
                <a:solidFill>
                  <a:srgbClr val="1C1B1F"/>
                </a:solidFill>
                <a:latin typeface="Roboto"/>
                <a:ea typeface="Roboto"/>
                <a:cs typeface="Roboto"/>
              </a:defRPr>
            </a:lvl9pPr>
          </a:lstStyle>
          <a:p xmlns:a="http://schemas.openxmlformats.org/drawingml/2006/main">
            <a:pPr algn="l">
              <a:defRPr sz="1425" b="0">
                <a:solidFill>
                  <a:srgbClr val="1C1B1F"/>
                </a:solidFill>
                <a:latin typeface="Roboto"/>
                <a:ea typeface="Roboto"/>
                <a:cs typeface="Roboto"/>
              </a:defRPr>
            </a:pPr>
            <a:r>
              <a:rPr sz="1425" b="0">
                <a:solidFill>
                  <a:srgbClr val="1C1B1F"/>
                </a:solidFill>
                <a:latin typeface="Roboto"/>
                <a:ea typeface="Roboto"/>
                <a:cs typeface="Roboto"/>
              </a:rPr>
              <a:t>Whose permission applied?</a:t>
            </a:r>
          </a:p>
        </p:txBody>
      </p:sp>
      <p:sp>
        <p:nvSpPr>
          <p:cNvPr id="28" name="question-divider-2">
            <a:extLst xmlns:a="http://schemas.openxmlformats.org/drawingml/2006/main">
              <a:ext uri="{FF2B5EF4-FFF2-40B4-BE49-F238E27FC236}">
                <a16:creationId xmlns:a16="http://schemas.microsoft.com/office/drawing/2014/main" id="{963D5654-ADF3-473A-8C18-5F879748D73F}"/>
              </a:ext>
            </a:extLst>
          </p:cNvPr>
          <p:cNvSpPr>
            <a:spLocks xmlns:a="http://schemas.openxmlformats.org/drawingml/2006/main" noGrp="1"/>
          </p:cNvSpPr>
          <p:nvPr/>
        </p:nvSpPr>
        <p:spPr>
          <a:xfrm xmlns:a="http://schemas.openxmlformats.org/drawingml/2006/main">
            <a:off x="6419850" y="4105275"/>
            <a:ext cx="48006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29" name="question-number-2">
            <a:extLst xmlns:a="http://schemas.openxmlformats.org/drawingml/2006/main">
              <a:ext uri="{FF2B5EF4-FFF2-40B4-BE49-F238E27FC236}">
                <a16:creationId xmlns:a16="http://schemas.microsoft.com/office/drawing/2014/main" id="{FFCAE079-1DFF-433D-84BB-19AF0B95E549}"/>
              </a:ext>
            </a:extLst>
          </p:cNvPr>
          <p:cNvSpPr>
            <a:spLocks xmlns:a="http://schemas.openxmlformats.org/drawingml/2006/main" noGrp="1"/>
          </p:cNvSpPr>
          <p:nvPr/>
        </p:nvSpPr>
        <p:spPr>
          <a:xfrm xmlns:a="http://schemas.openxmlformats.org/drawingml/2006/main">
            <a:off x="6448425" y="4191000"/>
            <a:ext cx="285750" cy="2857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03</a:t>
            </a:r>
          </a:p>
        </p:txBody>
      </p:sp>
      <p:sp>
        <p:nvSpPr>
          <p:cNvPr id="30" name="question-text-2">
            <a:extLst xmlns:a="http://schemas.openxmlformats.org/drawingml/2006/main">
              <a:ext uri="{FF2B5EF4-FFF2-40B4-BE49-F238E27FC236}">
                <a16:creationId xmlns:a16="http://schemas.microsoft.com/office/drawing/2014/main" id="{AC5D1328-5A72-473B-9E92-7F3EA2A7D741}"/>
              </a:ext>
            </a:extLst>
          </p:cNvPr>
          <p:cNvSpPr>
            <a:spLocks xmlns:a="http://schemas.openxmlformats.org/drawingml/2006/main" noGrp="1"/>
          </p:cNvSpPr>
          <p:nvPr/>
        </p:nvSpPr>
        <p:spPr>
          <a:xfrm xmlns:a="http://schemas.openxmlformats.org/drawingml/2006/main">
            <a:off x="6896100" y="41719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C1B1F"/>
                </a:solidFill>
                <a:latin typeface="Roboto"/>
                <a:ea typeface="Roboto"/>
                <a:cs typeface="Roboto"/>
              </a:defRPr>
            </a:defPPr>
            <a:lvl1pPr algn="l">
              <a:defRPr sz="1425" b="0">
                <a:solidFill>
                  <a:srgbClr val="1C1B1F"/>
                </a:solidFill>
                <a:latin typeface="Roboto"/>
                <a:ea typeface="Roboto"/>
                <a:cs typeface="Roboto"/>
              </a:defRPr>
            </a:lvl1pPr>
            <a:lvl2pPr algn="l">
              <a:defRPr sz="1425" b="0">
                <a:solidFill>
                  <a:srgbClr val="1C1B1F"/>
                </a:solidFill>
                <a:latin typeface="Roboto"/>
                <a:ea typeface="Roboto"/>
                <a:cs typeface="Roboto"/>
              </a:defRPr>
            </a:lvl2pPr>
            <a:lvl3pPr algn="l">
              <a:defRPr sz="1425" b="0">
                <a:solidFill>
                  <a:srgbClr val="1C1B1F"/>
                </a:solidFill>
                <a:latin typeface="Roboto"/>
                <a:ea typeface="Roboto"/>
                <a:cs typeface="Roboto"/>
              </a:defRPr>
            </a:lvl3pPr>
            <a:lvl4pPr algn="l">
              <a:defRPr sz="1425" b="0">
                <a:solidFill>
                  <a:srgbClr val="1C1B1F"/>
                </a:solidFill>
                <a:latin typeface="Roboto"/>
                <a:ea typeface="Roboto"/>
                <a:cs typeface="Roboto"/>
              </a:defRPr>
            </a:lvl4pPr>
            <a:lvl5pPr algn="l">
              <a:defRPr sz="1425" b="0">
                <a:solidFill>
                  <a:srgbClr val="1C1B1F"/>
                </a:solidFill>
                <a:latin typeface="Roboto"/>
                <a:ea typeface="Roboto"/>
                <a:cs typeface="Roboto"/>
              </a:defRPr>
            </a:lvl5pPr>
            <a:lvl6pPr algn="l">
              <a:defRPr sz="1425" b="0">
                <a:solidFill>
                  <a:srgbClr val="1C1B1F"/>
                </a:solidFill>
                <a:latin typeface="Roboto"/>
                <a:ea typeface="Roboto"/>
                <a:cs typeface="Roboto"/>
              </a:defRPr>
            </a:lvl6pPr>
            <a:lvl7pPr algn="l">
              <a:defRPr sz="1425" b="0">
                <a:solidFill>
                  <a:srgbClr val="1C1B1F"/>
                </a:solidFill>
                <a:latin typeface="Roboto"/>
                <a:ea typeface="Roboto"/>
                <a:cs typeface="Roboto"/>
              </a:defRPr>
            </a:lvl7pPr>
            <a:lvl8pPr algn="l">
              <a:defRPr sz="1425" b="0">
                <a:solidFill>
                  <a:srgbClr val="1C1B1F"/>
                </a:solidFill>
                <a:latin typeface="Roboto"/>
                <a:ea typeface="Roboto"/>
                <a:cs typeface="Roboto"/>
              </a:defRPr>
            </a:lvl8pPr>
            <a:lvl9pPr algn="l">
              <a:defRPr sz="1425" b="0">
                <a:solidFill>
                  <a:srgbClr val="1C1B1F"/>
                </a:solidFill>
                <a:latin typeface="Roboto"/>
                <a:ea typeface="Roboto"/>
                <a:cs typeface="Roboto"/>
              </a:defRPr>
            </a:lvl9pPr>
          </a:lstStyle>
          <a:p xmlns:a="http://schemas.openxmlformats.org/drawingml/2006/main">
            <a:pPr algn="l">
              <a:defRPr sz="1425" b="0">
                <a:solidFill>
                  <a:srgbClr val="1C1B1F"/>
                </a:solidFill>
                <a:latin typeface="Roboto"/>
                <a:ea typeface="Roboto"/>
                <a:cs typeface="Roboto"/>
              </a:defRPr>
            </a:pPr>
            <a:r>
              <a:rPr sz="1425" b="0">
                <a:solidFill>
                  <a:srgbClr val="1C1B1F"/>
                </a:solidFill>
                <a:latin typeface="Roboto"/>
                <a:ea typeface="Roboto"/>
                <a:cs typeface="Roboto"/>
              </a:rPr>
              <a:t>What was the spending cap?</a:t>
            </a:r>
          </a:p>
        </p:txBody>
      </p:sp>
      <p:sp>
        <p:nvSpPr>
          <p:cNvPr id="31" name="question-divider-3">
            <a:extLst xmlns:a="http://schemas.openxmlformats.org/drawingml/2006/main">
              <a:ext uri="{FF2B5EF4-FFF2-40B4-BE49-F238E27FC236}">
                <a16:creationId xmlns:a16="http://schemas.microsoft.com/office/drawing/2014/main" id="{F2223084-C781-441A-B563-58FEAD65B460}"/>
              </a:ext>
            </a:extLst>
          </p:cNvPr>
          <p:cNvSpPr>
            <a:spLocks xmlns:a="http://schemas.openxmlformats.org/drawingml/2006/main" noGrp="1"/>
          </p:cNvSpPr>
          <p:nvPr/>
        </p:nvSpPr>
        <p:spPr>
          <a:xfrm xmlns:a="http://schemas.openxmlformats.org/drawingml/2006/main">
            <a:off x="6419850" y="4657725"/>
            <a:ext cx="48006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32" name="question-number-3">
            <a:extLst xmlns:a="http://schemas.openxmlformats.org/drawingml/2006/main">
              <a:ext uri="{FF2B5EF4-FFF2-40B4-BE49-F238E27FC236}">
                <a16:creationId xmlns:a16="http://schemas.microsoft.com/office/drawing/2014/main" id="{29074EC4-E168-4C2D-97CA-2DC414D632CD}"/>
              </a:ext>
            </a:extLst>
          </p:cNvPr>
          <p:cNvSpPr>
            <a:spLocks xmlns:a="http://schemas.openxmlformats.org/drawingml/2006/main" noGrp="1"/>
          </p:cNvSpPr>
          <p:nvPr/>
        </p:nvSpPr>
        <p:spPr>
          <a:xfrm xmlns:a="http://schemas.openxmlformats.org/drawingml/2006/main">
            <a:off x="6448425" y="4743450"/>
            <a:ext cx="285750" cy="2857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04</a:t>
            </a:r>
          </a:p>
        </p:txBody>
      </p:sp>
      <p:sp>
        <p:nvSpPr>
          <p:cNvPr id="33" name="question-text-3">
            <a:extLst xmlns:a="http://schemas.openxmlformats.org/drawingml/2006/main">
              <a:ext uri="{FF2B5EF4-FFF2-40B4-BE49-F238E27FC236}">
                <a16:creationId xmlns:a16="http://schemas.microsoft.com/office/drawing/2014/main" id="{15EB7AAA-DC5C-4E2F-8D4C-78CBEEC51559}"/>
              </a:ext>
            </a:extLst>
          </p:cNvPr>
          <p:cNvSpPr>
            <a:spLocks xmlns:a="http://schemas.openxmlformats.org/drawingml/2006/main" noGrp="1"/>
          </p:cNvSpPr>
          <p:nvPr/>
        </p:nvSpPr>
        <p:spPr>
          <a:xfrm xmlns:a="http://schemas.openxmlformats.org/drawingml/2006/main">
            <a:off x="6896100" y="47244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C1B1F"/>
                </a:solidFill>
                <a:latin typeface="Roboto"/>
                <a:ea typeface="Roboto"/>
                <a:cs typeface="Roboto"/>
              </a:defRPr>
            </a:defPPr>
            <a:lvl1pPr algn="l">
              <a:defRPr sz="1425" b="0">
                <a:solidFill>
                  <a:srgbClr val="1C1B1F"/>
                </a:solidFill>
                <a:latin typeface="Roboto"/>
                <a:ea typeface="Roboto"/>
                <a:cs typeface="Roboto"/>
              </a:defRPr>
            </a:lvl1pPr>
            <a:lvl2pPr algn="l">
              <a:defRPr sz="1425" b="0">
                <a:solidFill>
                  <a:srgbClr val="1C1B1F"/>
                </a:solidFill>
                <a:latin typeface="Roboto"/>
                <a:ea typeface="Roboto"/>
                <a:cs typeface="Roboto"/>
              </a:defRPr>
            </a:lvl2pPr>
            <a:lvl3pPr algn="l">
              <a:defRPr sz="1425" b="0">
                <a:solidFill>
                  <a:srgbClr val="1C1B1F"/>
                </a:solidFill>
                <a:latin typeface="Roboto"/>
                <a:ea typeface="Roboto"/>
                <a:cs typeface="Roboto"/>
              </a:defRPr>
            </a:lvl3pPr>
            <a:lvl4pPr algn="l">
              <a:defRPr sz="1425" b="0">
                <a:solidFill>
                  <a:srgbClr val="1C1B1F"/>
                </a:solidFill>
                <a:latin typeface="Roboto"/>
                <a:ea typeface="Roboto"/>
                <a:cs typeface="Roboto"/>
              </a:defRPr>
            </a:lvl4pPr>
            <a:lvl5pPr algn="l">
              <a:defRPr sz="1425" b="0">
                <a:solidFill>
                  <a:srgbClr val="1C1B1F"/>
                </a:solidFill>
                <a:latin typeface="Roboto"/>
                <a:ea typeface="Roboto"/>
                <a:cs typeface="Roboto"/>
              </a:defRPr>
            </a:lvl5pPr>
            <a:lvl6pPr algn="l">
              <a:defRPr sz="1425" b="0">
                <a:solidFill>
                  <a:srgbClr val="1C1B1F"/>
                </a:solidFill>
                <a:latin typeface="Roboto"/>
                <a:ea typeface="Roboto"/>
                <a:cs typeface="Roboto"/>
              </a:defRPr>
            </a:lvl6pPr>
            <a:lvl7pPr algn="l">
              <a:defRPr sz="1425" b="0">
                <a:solidFill>
                  <a:srgbClr val="1C1B1F"/>
                </a:solidFill>
                <a:latin typeface="Roboto"/>
                <a:ea typeface="Roboto"/>
                <a:cs typeface="Roboto"/>
              </a:defRPr>
            </a:lvl7pPr>
            <a:lvl8pPr algn="l">
              <a:defRPr sz="1425" b="0">
                <a:solidFill>
                  <a:srgbClr val="1C1B1F"/>
                </a:solidFill>
                <a:latin typeface="Roboto"/>
                <a:ea typeface="Roboto"/>
                <a:cs typeface="Roboto"/>
              </a:defRPr>
            </a:lvl8pPr>
            <a:lvl9pPr algn="l">
              <a:defRPr sz="1425" b="0">
                <a:solidFill>
                  <a:srgbClr val="1C1B1F"/>
                </a:solidFill>
                <a:latin typeface="Roboto"/>
                <a:ea typeface="Roboto"/>
                <a:cs typeface="Roboto"/>
              </a:defRPr>
            </a:lvl9pPr>
          </a:lstStyle>
          <a:p xmlns:a="http://schemas.openxmlformats.org/drawingml/2006/main">
            <a:pPr algn="l">
              <a:defRPr sz="1425" b="0">
                <a:solidFill>
                  <a:srgbClr val="1C1B1F"/>
                </a:solidFill>
                <a:latin typeface="Roboto"/>
                <a:ea typeface="Roboto"/>
                <a:cs typeface="Roboto"/>
              </a:defRPr>
            </a:pPr>
            <a:r>
              <a:rPr sz="1425" b="0">
                <a:solidFill>
                  <a:srgbClr val="1C1B1F"/>
                </a:solidFill>
                <a:latin typeface="Roboto"/>
                <a:ea typeface="Roboto"/>
                <a:cs typeface="Roboto"/>
              </a:rPr>
              <a:t>What evidence returned?</a:t>
            </a:r>
          </a:p>
        </p:txBody>
      </p:sp>
      <p:sp>
        <p:nvSpPr>
          <p:cNvPr id="34" name="problem-conclusion">
            <a:extLst xmlns:a="http://schemas.openxmlformats.org/drawingml/2006/main">
              <a:ext uri="{FF2B5EF4-FFF2-40B4-BE49-F238E27FC236}">
                <a16:creationId xmlns:a16="http://schemas.microsoft.com/office/drawing/2014/main" id="{4B31850D-E976-44C2-B65F-3478169D83D1}"/>
              </a:ext>
            </a:extLst>
          </p:cNvPr>
          <p:cNvSpPr>
            <a:spLocks xmlns:a="http://schemas.openxmlformats.org/drawingml/2006/main" noGrp="1"/>
          </p:cNvSpPr>
          <p:nvPr/>
        </p:nvSpPr>
        <p:spPr>
          <a:xfrm xmlns:a="http://schemas.openxmlformats.org/drawingml/2006/main">
            <a:off x="723900" y="57531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C1B1F"/>
                </a:solidFill>
                <a:latin typeface="Roboto"/>
                <a:ea typeface="Roboto"/>
                <a:cs typeface="Roboto"/>
              </a:defRPr>
            </a:defPPr>
            <a:lvl1pPr algn="l">
              <a:defRPr sz="1875" b="1">
                <a:solidFill>
                  <a:srgbClr val="1C1B1F"/>
                </a:solidFill>
                <a:latin typeface="Roboto"/>
                <a:ea typeface="Roboto"/>
                <a:cs typeface="Roboto"/>
              </a:defRPr>
            </a:lvl1pPr>
            <a:lvl2pPr algn="l">
              <a:defRPr sz="1875" b="1">
                <a:solidFill>
                  <a:srgbClr val="1C1B1F"/>
                </a:solidFill>
                <a:latin typeface="Roboto"/>
                <a:ea typeface="Roboto"/>
                <a:cs typeface="Roboto"/>
              </a:defRPr>
            </a:lvl2pPr>
            <a:lvl3pPr algn="l">
              <a:defRPr sz="1875" b="1">
                <a:solidFill>
                  <a:srgbClr val="1C1B1F"/>
                </a:solidFill>
                <a:latin typeface="Roboto"/>
                <a:ea typeface="Roboto"/>
                <a:cs typeface="Roboto"/>
              </a:defRPr>
            </a:lvl3pPr>
            <a:lvl4pPr algn="l">
              <a:defRPr sz="1875" b="1">
                <a:solidFill>
                  <a:srgbClr val="1C1B1F"/>
                </a:solidFill>
                <a:latin typeface="Roboto"/>
                <a:ea typeface="Roboto"/>
                <a:cs typeface="Roboto"/>
              </a:defRPr>
            </a:lvl4pPr>
            <a:lvl5pPr algn="l">
              <a:defRPr sz="1875" b="1">
                <a:solidFill>
                  <a:srgbClr val="1C1B1F"/>
                </a:solidFill>
                <a:latin typeface="Roboto"/>
                <a:ea typeface="Roboto"/>
                <a:cs typeface="Roboto"/>
              </a:defRPr>
            </a:lvl5pPr>
            <a:lvl6pPr algn="l">
              <a:defRPr sz="1875" b="1">
                <a:solidFill>
                  <a:srgbClr val="1C1B1F"/>
                </a:solidFill>
                <a:latin typeface="Roboto"/>
                <a:ea typeface="Roboto"/>
                <a:cs typeface="Roboto"/>
              </a:defRPr>
            </a:lvl6pPr>
            <a:lvl7pPr algn="l">
              <a:defRPr sz="1875" b="1">
                <a:solidFill>
                  <a:srgbClr val="1C1B1F"/>
                </a:solidFill>
                <a:latin typeface="Roboto"/>
                <a:ea typeface="Roboto"/>
                <a:cs typeface="Roboto"/>
              </a:defRPr>
            </a:lvl7pPr>
            <a:lvl8pPr algn="l">
              <a:defRPr sz="1875" b="1">
                <a:solidFill>
                  <a:srgbClr val="1C1B1F"/>
                </a:solidFill>
                <a:latin typeface="Roboto"/>
                <a:ea typeface="Roboto"/>
                <a:cs typeface="Roboto"/>
              </a:defRPr>
            </a:lvl8pPr>
            <a:lvl9pPr algn="l">
              <a:defRPr sz="1875" b="1">
                <a:solidFill>
                  <a:srgbClr val="1C1B1F"/>
                </a:solidFill>
                <a:latin typeface="Roboto"/>
                <a:ea typeface="Roboto"/>
                <a:cs typeface="Roboto"/>
              </a:defRPr>
            </a:lvl9pPr>
          </a:lstStyle>
          <a:p xmlns:a="http://schemas.openxmlformats.org/drawingml/2006/main">
            <a:pPr algn="l">
              <a:defRPr sz="1875" b="1">
                <a:solidFill>
                  <a:srgbClr val="1C1B1F"/>
                </a:solidFill>
                <a:latin typeface="Roboto"/>
                <a:ea typeface="Roboto"/>
                <a:cs typeface="Roboto"/>
              </a:defRPr>
            </a:pPr>
            <a:r>
              <a:rPr sz="1875" b="1">
                <a:solidFill>
                  <a:srgbClr val="1C1B1F"/>
                </a:solidFill>
                <a:latin typeface="Roboto"/>
                <a:ea typeface="Roboto"/>
                <a:cs typeface="Roboto"/>
              </a:rPr>
              <a:t>One run needs one place to bind route, permission, cap and proof.</a:t>
            </a:r>
          </a:p>
        </p:txBody>
      </p:sp>
    </p:spTree>
    <p:extLst>
      <p:ext uri="{BB962C8B-B14F-4D97-AF65-F5344CB8AC3E}">
        <p14:creationId xmlns:p14="http://schemas.microsoft.com/office/powerpoint/2010/main" val="2142695776"/>
      </p:ext>
    </p:extLst>
  </p:cSld>
</p:sld>
</file>

<file path=ppt/slides/slide3.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40" name="brand-wordmark">
            <a:extLst xmlns:a="http://schemas.openxmlformats.org/drawingml/2006/main">
              <a:ext uri="{FF2B5EF4-FFF2-40B4-BE49-F238E27FC236}">
                <a16:creationId xmlns:a16="http://schemas.microsoft.com/office/drawing/2014/main" id="{10030D0E-24DF-405B-8E86-ECCDF2BF5F65}"/>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CF93577B-87C4-4C34-A683-25A6650EE645}"/>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SOLUTION</a:t>
            </a:r>
          </a:p>
        </p:txBody>
      </p:sp>
      <p:sp>
        <p:nvSpPr>
          <p:cNvPr id="3" name="footer-divider">
            <a:extLst xmlns:a="http://schemas.openxmlformats.org/drawingml/2006/main">
              <a:ext uri="{FF2B5EF4-FFF2-40B4-BE49-F238E27FC236}">
                <a16:creationId xmlns:a16="http://schemas.microsoft.com/office/drawing/2014/main" id="{9C9D414F-7E40-4BC6-9CD3-AF931DAAF35E}"/>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B7D85E73-8586-45CD-AB3C-1C8F690B420D}"/>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03 / 08</a:t>
            </a:r>
          </a:p>
        </p:txBody>
      </p:sp>
      <p:sp>
        <p:nvSpPr>
          <p:cNvPr id="5" name="slide-title">
            <a:extLst xmlns:a="http://schemas.openxmlformats.org/drawingml/2006/main">
              <a:ext uri="{FF2B5EF4-FFF2-40B4-BE49-F238E27FC236}">
                <a16:creationId xmlns:a16="http://schemas.microsoft.com/office/drawing/2014/main" id="{25CFA00A-2F2A-43D5-82B0-41E9462AD0E2}"/>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One gateway routes model, code and data work</a:t>
            </a:r>
          </a:p>
        </p:txBody>
      </p:sp>
      <p:sp>
        <p:nvSpPr>
          <p:cNvPr id="6" name="slide-subtitle">
            <a:extLst xmlns:a="http://schemas.openxmlformats.org/drawingml/2006/main">
              <a:ext uri="{FF2B5EF4-FFF2-40B4-BE49-F238E27FC236}">
                <a16:creationId xmlns:a16="http://schemas.microsoft.com/office/drawing/2014/main" id="{AE255D93-2E33-4DEB-B4AA-3C5FA78DD206}"/>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Each workflow becomes one owner-approved task with a signed result and recovery path</a:t>
            </a:r>
          </a:p>
        </p:txBody>
      </p:sp>
      <p:sp>
        <p:nvSpPr>
          <p:cNvPr id="7" name="workload-label">
            <a:extLst xmlns:a="http://schemas.openxmlformats.org/drawingml/2006/main">
              <a:ext uri="{FF2B5EF4-FFF2-40B4-BE49-F238E27FC236}">
                <a16:creationId xmlns:a16="http://schemas.microsoft.com/office/drawing/2014/main" id="{927B302A-1BBB-4AE0-8F89-893B938B715A}"/>
              </a:ext>
            </a:extLst>
          </p:cNvPr>
          <p:cNvSpPr>
            <a:spLocks xmlns:a="http://schemas.openxmlformats.org/drawingml/2006/main" noGrp="1"/>
          </p:cNvSpPr>
          <p:nvPr/>
        </p:nvSpPr>
        <p:spPr>
          <a:xfrm xmlns:a="http://schemas.openxmlformats.org/drawingml/2006/main">
            <a:off x="819150" y="24384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49454F"/>
                </a:solidFill>
                <a:latin typeface="Roboto"/>
                <a:ea typeface="Roboto"/>
                <a:cs typeface="Roboto"/>
              </a:defRPr>
            </a:defPPr>
            <a:lvl1pPr algn="l">
              <a:defRPr sz="1050" b="1">
                <a:solidFill>
                  <a:srgbClr val="49454F"/>
                </a:solidFill>
                <a:latin typeface="Roboto"/>
                <a:ea typeface="Roboto"/>
                <a:cs typeface="Roboto"/>
              </a:defRPr>
            </a:lvl1pPr>
            <a:lvl2pPr algn="l">
              <a:defRPr sz="1050" b="1">
                <a:solidFill>
                  <a:srgbClr val="49454F"/>
                </a:solidFill>
                <a:latin typeface="Roboto"/>
                <a:ea typeface="Roboto"/>
                <a:cs typeface="Roboto"/>
              </a:defRPr>
            </a:lvl2pPr>
            <a:lvl3pPr algn="l">
              <a:defRPr sz="1050" b="1">
                <a:solidFill>
                  <a:srgbClr val="49454F"/>
                </a:solidFill>
                <a:latin typeface="Roboto"/>
                <a:ea typeface="Roboto"/>
                <a:cs typeface="Roboto"/>
              </a:defRPr>
            </a:lvl3pPr>
            <a:lvl4pPr algn="l">
              <a:defRPr sz="1050" b="1">
                <a:solidFill>
                  <a:srgbClr val="49454F"/>
                </a:solidFill>
                <a:latin typeface="Roboto"/>
                <a:ea typeface="Roboto"/>
                <a:cs typeface="Roboto"/>
              </a:defRPr>
            </a:lvl4pPr>
            <a:lvl5pPr algn="l">
              <a:defRPr sz="1050" b="1">
                <a:solidFill>
                  <a:srgbClr val="49454F"/>
                </a:solidFill>
                <a:latin typeface="Roboto"/>
                <a:ea typeface="Roboto"/>
                <a:cs typeface="Roboto"/>
              </a:defRPr>
            </a:lvl5pPr>
            <a:lvl6pPr algn="l">
              <a:defRPr sz="1050" b="1">
                <a:solidFill>
                  <a:srgbClr val="49454F"/>
                </a:solidFill>
                <a:latin typeface="Roboto"/>
                <a:ea typeface="Roboto"/>
                <a:cs typeface="Roboto"/>
              </a:defRPr>
            </a:lvl6pPr>
            <a:lvl7pPr algn="l">
              <a:defRPr sz="1050" b="1">
                <a:solidFill>
                  <a:srgbClr val="49454F"/>
                </a:solidFill>
                <a:latin typeface="Roboto"/>
                <a:ea typeface="Roboto"/>
                <a:cs typeface="Roboto"/>
              </a:defRPr>
            </a:lvl7pPr>
            <a:lvl8pPr algn="l">
              <a:defRPr sz="1050" b="1">
                <a:solidFill>
                  <a:srgbClr val="49454F"/>
                </a:solidFill>
                <a:latin typeface="Roboto"/>
                <a:ea typeface="Roboto"/>
                <a:cs typeface="Roboto"/>
              </a:defRPr>
            </a:lvl8pPr>
            <a:lvl9pPr algn="l">
              <a:defRPr sz="1050" b="1">
                <a:solidFill>
                  <a:srgbClr val="49454F"/>
                </a:solidFill>
                <a:latin typeface="Roboto"/>
                <a:ea typeface="Roboto"/>
                <a:cs typeface="Roboto"/>
              </a:defRPr>
            </a:lvl9pPr>
          </a:lstStyle>
          <a:p xmlns:a="http://schemas.openxmlformats.org/drawingml/2006/main">
            <a:pPr algn="l">
              <a:defRPr sz="1050" b="1">
                <a:solidFill>
                  <a:srgbClr val="49454F"/>
                </a:solidFill>
                <a:latin typeface="Roboto"/>
                <a:ea typeface="Roboto"/>
                <a:cs typeface="Roboto"/>
              </a:defRPr>
            </a:pPr>
            <a:r>
              <a:rPr sz="1050" b="1">
                <a:solidFill>
                  <a:srgbClr val="49454F"/>
                </a:solidFill>
                <a:latin typeface="Roboto"/>
                <a:ea typeface="Roboto"/>
                <a:cs typeface="Roboto"/>
              </a:rPr>
              <a:t>WORKLOADS</a:t>
            </a:r>
          </a:p>
        </p:txBody>
      </p:sp>
      <p:sp>
        <p:nvSpPr>
          <p:cNvPr id="8" name="workload-dot-0">
            <a:extLst xmlns:a="http://schemas.openxmlformats.org/drawingml/2006/main">
              <a:ext uri="{FF2B5EF4-FFF2-40B4-BE49-F238E27FC236}">
                <a16:creationId xmlns:a16="http://schemas.microsoft.com/office/drawing/2014/main" id="{0BD4671D-D9D7-4418-9947-7443DEAFEE53}"/>
              </a:ext>
            </a:extLst>
          </p:cNvPr>
          <p:cNvSpPr>
            <a:spLocks xmlns:a="http://schemas.openxmlformats.org/drawingml/2006/main" noGrp="1"/>
          </p:cNvSpPr>
          <p:nvPr/>
        </p:nvSpPr>
        <p:spPr>
          <a:xfrm xmlns:a="http://schemas.openxmlformats.org/drawingml/2006/main">
            <a:off x="876300" y="3095625"/>
            <a:ext cx="133350" cy="133350"/>
          </a:xfrm>
          <a:prstGeom xmlns:a="http://schemas.openxmlformats.org/drawingml/2006/main" prst="ellipse">
            <a:avLst/>
          </a:prstGeom>
          <a:solidFill xmlns:a="http://schemas.openxmlformats.org/drawingml/2006/main">
            <a:srgbClr val="6750A4"/>
          </a:solidFill>
          <a:ln xmlns:a="http://schemas.openxmlformats.org/drawingml/2006/main" w="0">
            <a:noFill/>
            <a:prstDash val="solid"/>
          </a:ln>
        </p:spPr>
      </p:sp>
      <p:sp>
        <p:nvSpPr>
          <p:cNvPr id="9" name="workload-title-0">
            <a:extLst xmlns:a="http://schemas.openxmlformats.org/drawingml/2006/main">
              <a:ext uri="{FF2B5EF4-FFF2-40B4-BE49-F238E27FC236}">
                <a16:creationId xmlns:a16="http://schemas.microsoft.com/office/drawing/2014/main" id="{C3376045-6C98-4D63-AFFE-3414192AECB7}"/>
              </a:ext>
            </a:extLst>
          </p:cNvPr>
          <p:cNvSpPr>
            <a:spLocks xmlns:a="http://schemas.openxmlformats.org/drawingml/2006/main" noGrp="1"/>
          </p:cNvSpPr>
          <p:nvPr/>
        </p:nvSpPr>
        <p:spPr>
          <a:xfrm xmlns:a="http://schemas.openxmlformats.org/drawingml/2006/main">
            <a:off x="1152525" y="2952750"/>
            <a:ext cx="2514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750A4"/>
                </a:solidFill>
                <a:latin typeface="Roboto"/>
                <a:ea typeface="Roboto"/>
                <a:cs typeface="Roboto"/>
              </a:defRPr>
            </a:defPPr>
            <a:lvl1pPr algn="l">
              <a:defRPr sz="1125" b="1">
                <a:solidFill>
                  <a:srgbClr val="6750A4"/>
                </a:solidFill>
                <a:latin typeface="Roboto"/>
                <a:ea typeface="Roboto"/>
                <a:cs typeface="Roboto"/>
              </a:defRPr>
            </a:lvl1pPr>
            <a:lvl2pPr algn="l">
              <a:defRPr sz="1125" b="1">
                <a:solidFill>
                  <a:srgbClr val="6750A4"/>
                </a:solidFill>
                <a:latin typeface="Roboto"/>
                <a:ea typeface="Roboto"/>
                <a:cs typeface="Roboto"/>
              </a:defRPr>
            </a:lvl2pPr>
            <a:lvl3pPr algn="l">
              <a:defRPr sz="1125" b="1">
                <a:solidFill>
                  <a:srgbClr val="6750A4"/>
                </a:solidFill>
                <a:latin typeface="Roboto"/>
                <a:ea typeface="Roboto"/>
                <a:cs typeface="Roboto"/>
              </a:defRPr>
            </a:lvl3pPr>
            <a:lvl4pPr algn="l">
              <a:defRPr sz="1125" b="1">
                <a:solidFill>
                  <a:srgbClr val="6750A4"/>
                </a:solidFill>
                <a:latin typeface="Roboto"/>
                <a:ea typeface="Roboto"/>
                <a:cs typeface="Roboto"/>
              </a:defRPr>
            </a:lvl4pPr>
            <a:lvl5pPr algn="l">
              <a:defRPr sz="1125" b="1">
                <a:solidFill>
                  <a:srgbClr val="6750A4"/>
                </a:solidFill>
                <a:latin typeface="Roboto"/>
                <a:ea typeface="Roboto"/>
                <a:cs typeface="Roboto"/>
              </a:defRPr>
            </a:lvl5pPr>
            <a:lvl6pPr algn="l">
              <a:defRPr sz="1125" b="1">
                <a:solidFill>
                  <a:srgbClr val="6750A4"/>
                </a:solidFill>
                <a:latin typeface="Roboto"/>
                <a:ea typeface="Roboto"/>
                <a:cs typeface="Roboto"/>
              </a:defRPr>
            </a:lvl6pPr>
            <a:lvl7pPr algn="l">
              <a:defRPr sz="1125" b="1">
                <a:solidFill>
                  <a:srgbClr val="6750A4"/>
                </a:solidFill>
                <a:latin typeface="Roboto"/>
                <a:ea typeface="Roboto"/>
                <a:cs typeface="Roboto"/>
              </a:defRPr>
            </a:lvl7pPr>
            <a:lvl8pPr algn="l">
              <a:defRPr sz="1125" b="1">
                <a:solidFill>
                  <a:srgbClr val="6750A4"/>
                </a:solidFill>
                <a:latin typeface="Roboto"/>
                <a:ea typeface="Roboto"/>
                <a:cs typeface="Roboto"/>
              </a:defRPr>
            </a:lvl8pPr>
            <a:lvl9pPr algn="l">
              <a:defRPr sz="1125" b="1">
                <a:solidFill>
                  <a:srgbClr val="6750A4"/>
                </a:solidFill>
                <a:latin typeface="Roboto"/>
                <a:ea typeface="Roboto"/>
                <a:cs typeface="Roboto"/>
              </a:defRPr>
            </a:lvl9pPr>
          </a:lstStyle>
          <a:p xmlns:a="http://schemas.openxmlformats.org/drawingml/2006/main">
            <a:pPr algn="l">
              <a:defRPr sz="1125" b="1">
                <a:solidFill>
                  <a:srgbClr val="6750A4"/>
                </a:solidFill>
                <a:latin typeface="Roboto"/>
                <a:ea typeface="Roboto"/>
                <a:cs typeface="Roboto"/>
              </a:defRPr>
            </a:pPr>
            <a:r>
              <a:rPr sz="1125" b="1">
                <a:solidFill>
                  <a:srgbClr val="6750A4"/>
                </a:solidFill>
                <a:latin typeface="Roboto"/>
                <a:ea typeface="Roboto"/>
                <a:cs typeface="Roboto"/>
              </a:rPr>
              <a:t>MODEL INFERENCE</a:t>
            </a:r>
          </a:p>
        </p:txBody>
      </p:sp>
      <p:sp>
        <p:nvSpPr>
          <p:cNvPr id="10" name="workload-detail-0">
            <a:extLst xmlns:a="http://schemas.openxmlformats.org/drawingml/2006/main">
              <a:ext uri="{FF2B5EF4-FFF2-40B4-BE49-F238E27FC236}">
                <a16:creationId xmlns:a16="http://schemas.microsoft.com/office/drawing/2014/main" id="{41B76F53-A2E6-4A4A-BF62-E85D7A692A39}"/>
              </a:ext>
            </a:extLst>
          </p:cNvPr>
          <p:cNvSpPr>
            <a:spLocks xmlns:a="http://schemas.openxmlformats.org/drawingml/2006/main" noGrp="1"/>
          </p:cNvSpPr>
          <p:nvPr/>
        </p:nvSpPr>
        <p:spPr>
          <a:xfrm xmlns:a="http://schemas.openxmlformats.org/drawingml/2006/main">
            <a:off x="1152525" y="3228975"/>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Streamed provider request</a:t>
            </a:r>
          </a:p>
        </p:txBody>
      </p:sp>
      <p:sp>
        <p:nvSpPr>
          <p:cNvPr id="11" name="workload-line-0">
            <a:extLst xmlns:a="http://schemas.openxmlformats.org/drawingml/2006/main">
              <a:ext uri="{FF2B5EF4-FFF2-40B4-BE49-F238E27FC236}">
                <a16:creationId xmlns:a16="http://schemas.microsoft.com/office/drawing/2014/main" id="{1E6AD45D-CC63-4977-826B-B95F83D7F1F5}"/>
              </a:ext>
            </a:extLst>
          </p:cNvPr>
          <p:cNvSpPr>
            <a:spLocks xmlns:a="http://schemas.openxmlformats.org/drawingml/2006/main" noGrp="1"/>
          </p:cNvSpPr>
          <p:nvPr/>
        </p:nvSpPr>
        <p:spPr>
          <a:xfrm xmlns:a="http://schemas.openxmlformats.org/drawingml/2006/main">
            <a:off x="3714750" y="3162300"/>
            <a:ext cx="457200" cy="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12" name="workload-dot-1">
            <a:extLst xmlns:a="http://schemas.openxmlformats.org/drawingml/2006/main">
              <a:ext uri="{FF2B5EF4-FFF2-40B4-BE49-F238E27FC236}">
                <a16:creationId xmlns:a16="http://schemas.microsoft.com/office/drawing/2014/main" id="{E1F55BF0-88EB-4096-BA02-DDCD0FC4C9D1}"/>
              </a:ext>
            </a:extLst>
          </p:cNvPr>
          <p:cNvSpPr>
            <a:spLocks xmlns:a="http://schemas.openxmlformats.org/drawingml/2006/main" noGrp="1"/>
          </p:cNvSpPr>
          <p:nvPr/>
        </p:nvSpPr>
        <p:spPr>
          <a:xfrm xmlns:a="http://schemas.openxmlformats.org/drawingml/2006/main">
            <a:off x="876300" y="3924300"/>
            <a:ext cx="133350" cy="133350"/>
          </a:xfrm>
          <a:prstGeom xmlns:a="http://schemas.openxmlformats.org/drawingml/2006/main" prst="ellipse">
            <a:avLst/>
          </a:prstGeom>
          <a:solidFill xmlns:a="http://schemas.openxmlformats.org/drawingml/2006/main">
            <a:srgbClr val="625B71"/>
          </a:solidFill>
          <a:ln xmlns:a="http://schemas.openxmlformats.org/drawingml/2006/main" w="0">
            <a:noFill/>
            <a:prstDash val="solid"/>
          </a:ln>
        </p:spPr>
      </p:sp>
      <p:sp>
        <p:nvSpPr>
          <p:cNvPr id="13" name="workload-title-1">
            <a:extLst xmlns:a="http://schemas.openxmlformats.org/drawingml/2006/main">
              <a:ext uri="{FF2B5EF4-FFF2-40B4-BE49-F238E27FC236}">
                <a16:creationId xmlns:a16="http://schemas.microsoft.com/office/drawing/2014/main" id="{D9A138A4-4AC0-4EDE-B003-76CA8D388A96}"/>
              </a:ext>
            </a:extLst>
          </p:cNvPr>
          <p:cNvSpPr>
            <a:spLocks xmlns:a="http://schemas.openxmlformats.org/drawingml/2006/main" noGrp="1"/>
          </p:cNvSpPr>
          <p:nvPr/>
        </p:nvSpPr>
        <p:spPr>
          <a:xfrm xmlns:a="http://schemas.openxmlformats.org/drawingml/2006/main">
            <a:off x="1152525" y="3781425"/>
            <a:ext cx="2514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25B71"/>
                </a:solidFill>
                <a:latin typeface="Roboto"/>
                <a:ea typeface="Roboto"/>
                <a:cs typeface="Roboto"/>
              </a:defRPr>
            </a:defPPr>
            <a:lvl1pPr algn="l">
              <a:defRPr sz="1125" b="1">
                <a:solidFill>
                  <a:srgbClr val="625B71"/>
                </a:solidFill>
                <a:latin typeface="Roboto"/>
                <a:ea typeface="Roboto"/>
                <a:cs typeface="Roboto"/>
              </a:defRPr>
            </a:lvl1pPr>
            <a:lvl2pPr algn="l">
              <a:defRPr sz="1125" b="1">
                <a:solidFill>
                  <a:srgbClr val="625B71"/>
                </a:solidFill>
                <a:latin typeface="Roboto"/>
                <a:ea typeface="Roboto"/>
                <a:cs typeface="Roboto"/>
              </a:defRPr>
            </a:lvl2pPr>
            <a:lvl3pPr algn="l">
              <a:defRPr sz="1125" b="1">
                <a:solidFill>
                  <a:srgbClr val="625B71"/>
                </a:solidFill>
                <a:latin typeface="Roboto"/>
                <a:ea typeface="Roboto"/>
                <a:cs typeface="Roboto"/>
              </a:defRPr>
            </a:lvl3pPr>
            <a:lvl4pPr algn="l">
              <a:defRPr sz="1125" b="1">
                <a:solidFill>
                  <a:srgbClr val="625B71"/>
                </a:solidFill>
                <a:latin typeface="Roboto"/>
                <a:ea typeface="Roboto"/>
                <a:cs typeface="Roboto"/>
              </a:defRPr>
            </a:lvl4pPr>
            <a:lvl5pPr algn="l">
              <a:defRPr sz="1125" b="1">
                <a:solidFill>
                  <a:srgbClr val="625B71"/>
                </a:solidFill>
                <a:latin typeface="Roboto"/>
                <a:ea typeface="Roboto"/>
                <a:cs typeface="Roboto"/>
              </a:defRPr>
            </a:lvl5pPr>
            <a:lvl6pPr algn="l">
              <a:defRPr sz="1125" b="1">
                <a:solidFill>
                  <a:srgbClr val="625B71"/>
                </a:solidFill>
                <a:latin typeface="Roboto"/>
                <a:ea typeface="Roboto"/>
                <a:cs typeface="Roboto"/>
              </a:defRPr>
            </a:lvl6pPr>
            <a:lvl7pPr algn="l">
              <a:defRPr sz="1125" b="1">
                <a:solidFill>
                  <a:srgbClr val="625B71"/>
                </a:solidFill>
                <a:latin typeface="Roboto"/>
                <a:ea typeface="Roboto"/>
                <a:cs typeface="Roboto"/>
              </a:defRPr>
            </a:lvl7pPr>
            <a:lvl8pPr algn="l">
              <a:defRPr sz="1125" b="1">
                <a:solidFill>
                  <a:srgbClr val="625B71"/>
                </a:solidFill>
                <a:latin typeface="Roboto"/>
                <a:ea typeface="Roboto"/>
                <a:cs typeface="Roboto"/>
              </a:defRPr>
            </a:lvl8pPr>
            <a:lvl9pPr algn="l">
              <a:defRPr sz="1125" b="1">
                <a:solidFill>
                  <a:srgbClr val="625B71"/>
                </a:solidFill>
                <a:latin typeface="Roboto"/>
                <a:ea typeface="Roboto"/>
                <a:cs typeface="Roboto"/>
              </a:defRPr>
            </a:lvl9pPr>
          </a:lstStyle>
          <a:p xmlns:a="http://schemas.openxmlformats.org/drawingml/2006/main">
            <a:pPr algn="l">
              <a:defRPr sz="1125" b="1">
                <a:solidFill>
                  <a:srgbClr val="625B71"/>
                </a:solidFill>
                <a:latin typeface="Roboto"/>
                <a:ea typeface="Roboto"/>
                <a:cs typeface="Roboto"/>
              </a:defRPr>
            </a:pPr>
            <a:r>
              <a:rPr sz="1125" b="1">
                <a:solidFill>
                  <a:srgbClr val="625B71"/>
                </a:solidFill>
                <a:latin typeface="Roboto"/>
                <a:ea typeface="Roboto"/>
                <a:cs typeface="Roboto"/>
              </a:rPr>
              <a:t>PYTHON COMPUTE</a:t>
            </a:r>
          </a:p>
        </p:txBody>
      </p:sp>
      <p:sp>
        <p:nvSpPr>
          <p:cNvPr id="14" name="workload-detail-1">
            <a:extLst xmlns:a="http://schemas.openxmlformats.org/drawingml/2006/main">
              <a:ext uri="{FF2B5EF4-FFF2-40B4-BE49-F238E27FC236}">
                <a16:creationId xmlns:a16="http://schemas.microsoft.com/office/drawing/2014/main" id="{FF1A4CAA-D012-4119-855F-7B6EE9F8977C}"/>
              </a:ext>
            </a:extLst>
          </p:cNvPr>
          <p:cNvSpPr>
            <a:spLocks xmlns:a="http://schemas.openxmlformats.org/drawingml/2006/main" noGrp="1"/>
          </p:cNvSpPr>
          <p:nvPr/>
        </p:nvSpPr>
        <p:spPr>
          <a:xfrm xmlns:a="http://schemas.openxmlformats.org/drawingml/2006/main">
            <a:off x="1152525" y="405765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Reviewed CPU workload</a:t>
            </a:r>
          </a:p>
        </p:txBody>
      </p:sp>
      <p:sp>
        <p:nvSpPr>
          <p:cNvPr id="15" name="workload-line-1">
            <a:extLst xmlns:a="http://schemas.openxmlformats.org/drawingml/2006/main">
              <a:ext uri="{FF2B5EF4-FFF2-40B4-BE49-F238E27FC236}">
                <a16:creationId xmlns:a16="http://schemas.microsoft.com/office/drawing/2014/main" id="{0DFA81FE-22FA-4BAD-841E-E2C7859B7876}"/>
              </a:ext>
            </a:extLst>
          </p:cNvPr>
          <p:cNvSpPr>
            <a:spLocks xmlns:a="http://schemas.openxmlformats.org/drawingml/2006/main" noGrp="1"/>
          </p:cNvSpPr>
          <p:nvPr/>
        </p:nvSpPr>
        <p:spPr>
          <a:xfrm xmlns:a="http://schemas.openxmlformats.org/drawingml/2006/main">
            <a:off x="3714750" y="3990975"/>
            <a:ext cx="457200" cy="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16" name="workload-dot-2">
            <a:extLst xmlns:a="http://schemas.openxmlformats.org/drawingml/2006/main">
              <a:ext uri="{FF2B5EF4-FFF2-40B4-BE49-F238E27FC236}">
                <a16:creationId xmlns:a16="http://schemas.microsoft.com/office/drawing/2014/main" id="{1B5893CD-4983-44FA-91C4-E12754E0B4EC}"/>
              </a:ext>
            </a:extLst>
          </p:cNvPr>
          <p:cNvSpPr>
            <a:spLocks xmlns:a="http://schemas.openxmlformats.org/drawingml/2006/main" noGrp="1"/>
          </p:cNvSpPr>
          <p:nvPr/>
        </p:nvSpPr>
        <p:spPr>
          <a:xfrm xmlns:a="http://schemas.openxmlformats.org/drawingml/2006/main">
            <a:off x="876300" y="4752975"/>
            <a:ext cx="133350" cy="133350"/>
          </a:xfrm>
          <a:prstGeom xmlns:a="http://schemas.openxmlformats.org/drawingml/2006/main" prst="ellipse">
            <a:avLst/>
          </a:prstGeom>
          <a:solidFill xmlns:a="http://schemas.openxmlformats.org/drawingml/2006/main">
            <a:srgbClr val="006B5F"/>
          </a:solidFill>
          <a:ln xmlns:a="http://schemas.openxmlformats.org/drawingml/2006/main" w="0">
            <a:noFill/>
            <a:prstDash val="solid"/>
          </a:ln>
        </p:spPr>
      </p:sp>
      <p:sp>
        <p:nvSpPr>
          <p:cNvPr id="17" name="workload-title-2">
            <a:extLst xmlns:a="http://schemas.openxmlformats.org/drawingml/2006/main">
              <a:ext uri="{FF2B5EF4-FFF2-40B4-BE49-F238E27FC236}">
                <a16:creationId xmlns:a16="http://schemas.microsoft.com/office/drawing/2014/main" id="{1B5F0A5A-5006-4142-AEFE-8C60B50D8163}"/>
              </a:ext>
            </a:extLst>
          </p:cNvPr>
          <p:cNvSpPr>
            <a:spLocks xmlns:a="http://schemas.openxmlformats.org/drawingml/2006/main" noGrp="1"/>
          </p:cNvSpPr>
          <p:nvPr/>
        </p:nvSpPr>
        <p:spPr>
          <a:xfrm xmlns:a="http://schemas.openxmlformats.org/drawingml/2006/main">
            <a:off x="1152525" y="4610100"/>
            <a:ext cx="2514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06B5F"/>
                </a:solidFill>
                <a:latin typeface="Roboto"/>
                <a:ea typeface="Roboto"/>
                <a:cs typeface="Roboto"/>
              </a:defRPr>
            </a:defPPr>
            <a:lvl1pPr algn="l">
              <a:defRPr sz="1125" b="1">
                <a:solidFill>
                  <a:srgbClr val="006B5F"/>
                </a:solidFill>
                <a:latin typeface="Roboto"/>
                <a:ea typeface="Roboto"/>
                <a:cs typeface="Roboto"/>
              </a:defRPr>
            </a:lvl1pPr>
            <a:lvl2pPr algn="l">
              <a:defRPr sz="1125" b="1">
                <a:solidFill>
                  <a:srgbClr val="006B5F"/>
                </a:solidFill>
                <a:latin typeface="Roboto"/>
                <a:ea typeface="Roboto"/>
                <a:cs typeface="Roboto"/>
              </a:defRPr>
            </a:lvl2pPr>
            <a:lvl3pPr algn="l">
              <a:defRPr sz="1125" b="1">
                <a:solidFill>
                  <a:srgbClr val="006B5F"/>
                </a:solidFill>
                <a:latin typeface="Roboto"/>
                <a:ea typeface="Roboto"/>
                <a:cs typeface="Roboto"/>
              </a:defRPr>
            </a:lvl3pPr>
            <a:lvl4pPr algn="l">
              <a:defRPr sz="1125" b="1">
                <a:solidFill>
                  <a:srgbClr val="006B5F"/>
                </a:solidFill>
                <a:latin typeface="Roboto"/>
                <a:ea typeface="Roboto"/>
                <a:cs typeface="Roboto"/>
              </a:defRPr>
            </a:lvl4pPr>
            <a:lvl5pPr algn="l">
              <a:defRPr sz="1125" b="1">
                <a:solidFill>
                  <a:srgbClr val="006B5F"/>
                </a:solidFill>
                <a:latin typeface="Roboto"/>
                <a:ea typeface="Roboto"/>
                <a:cs typeface="Roboto"/>
              </a:defRPr>
            </a:lvl5pPr>
            <a:lvl6pPr algn="l">
              <a:defRPr sz="1125" b="1">
                <a:solidFill>
                  <a:srgbClr val="006B5F"/>
                </a:solidFill>
                <a:latin typeface="Roboto"/>
                <a:ea typeface="Roboto"/>
                <a:cs typeface="Roboto"/>
              </a:defRPr>
            </a:lvl6pPr>
            <a:lvl7pPr algn="l">
              <a:defRPr sz="1125" b="1">
                <a:solidFill>
                  <a:srgbClr val="006B5F"/>
                </a:solidFill>
                <a:latin typeface="Roboto"/>
                <a:ea typeface="Roboto"/>
                <a:cs typeface="Roboto"/>
              </a:defRPr>
            </a:lvl7pPr>
            <a:lvl8pPr algn="l">
              <a:defRPr sz="1125" b="1">
                <a:solidFill>
                  <a:srgbClr val="006B5F"/>
                </a:solidFill>
                <a:latin typeface="Roboto"/>
                <a:ea typeface="Roboto"/>
                <a:cs typeface="Roboto"/>
              </a:defRPr>
            </a:lvl8pPr>
            <a:lvl9pPr algn="l">
              <a:defRPr sz="1125" b="1">
                <a:solidFill>
                  <a:srgbClr val="006B5F"/>
                </a:solidFill>
                <a:latin typeface="Roboto"/>
                <a:ea typeface="Roboto"/>
                <a:cs typeface="Roboto"/>
              </a:defRPr>
            </a:lvl9pPr>
          </a:lstStyle>
          <a:p xmlns:a="http://schemas.openxmlformats.org/drawingml/2006/main">
            <a:pPr algn="l">
              <a:defRPr sz="1125" b="1">
                <a:solidFill>
                  <a:srgbClr val="006B5F"/>
                </a:solidFill>
                <a:latin typeface="Roboto"/>
                <a:ea typeface="Roboto"/>
                <a:cs typeface="Roboto"/>
              </a:defRPr>
            </a:pPr>
            <a:r>
              <a:rPr sz="1125" b="1">
                <a:solidFill>
                  <a:srgbClr val="006B5F"/>
                </a:solidFill>
                <a:latin typeface="Roboto"/>
                <a:ea typeface="Roboto"/>
                <a:cs typeface="Roboto"/>
              </a:rPr>
              <a:t>DATA WORKFLOW</a:t>
            </a:r>
          </a:p>
        </p:txBody>
      </p:sp>
      <p:sp>
        <p:nvSpPr>
          <p:cNvPr id="18" name="workload-detail-2">
            <a:extLst xmlns:a="http://schemas.openxmlformats.org/drawingml/2006/main">
              <a:ext uri="{FF2B5EF4-FFF2-40B4-BE49-F238E27FC236}">
                <a16:creationId xmlns:a16="http://schemas.microsoft.com/office/drawing/2014/main" id="{E30AFC0F-F9DF-4C6D-937A-9F197FEF65CD}"/>
              </a:ext>
            </a:extLst>
          </p:cNvPr>
          <p:cNvSpPr>
            <a:spLocks xmlns:a="http://schemas.openxmlformats.org/drawingml/2006/main" noGrp="1"/>
          </p:cNvSpPr>
          <p:nvPr/>
        </p:nvSpPr>
        <p:spPr>
          <a:xfrm xmlns:a="http://schemas.openxmlformats.org/drawingml/2006/main">
            <a:off x="1152525" y="4886325"/>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Recoverable task chain</a:t>
            </a:r>
          </a:p>
        </p:txBody>
      </p:sp>
      <p:sp>
        <p:nvSpPr>
          <p:cNvPr id="19" name="workload-line-2">
            <a:extLst xmlns:a="http://schemas.openxmlformats.org/drawingml/2006/main">
              <a:ext uri="{FF2B5EF4-FFF2-40B4-BE49-F238E27FC236}">
                <a16:creationId xmlns:a16="http://schemas.microsoft.com/office/drawing/2014/main" id="{A8C9EE8B-495D-45C2-A110-049252BB6592}"/>
              </a:ext>
            </a:extLst>
          </p:cNvPr>
          <p:cNvSpPr>
            <a:spLocks xmlns:a="http://schemas.openxmlformats.org/drawingml/2006/main" noGrp="1"/>
          </p:cNvSpPr>
          <p:nvPr/>
        </p:nvSpPr>
        <p:spPr>
          <a:xfrm xmlns:a="http://schemas.openxmlformats.org/drawingml/2006/main">
            <a:off x="3714750" y="4819650"/>
            <a:ext cx="457200" cy="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20" name="workload-spine">
            <a:extLst xmlns:a="http://schemas.openxmlformats.org/drawingml/2006/main">
              <a:ext uri="{FF2B5EF4-FFF2-40B4-BE49-F238E27FC236}">
                <a16:creationId xmlns:a16="http://schemas.microsoft.com/office/drawing/2014/main" id="{74DC9077-1952-4F05-8C36-8C4417A9B15D}"/>
              </a:ext>
            </a:extLst>
          </p:cNvPr>
          <p:cNvSpPr>
            <a:spLocks xmlns:a="http://schemas.openxmlformats.org/drawingml/2006/main" noGrp="1"/>
          </p:cNvSpPr>
          <p:nvPr/>
        </p:nvSpPr>
        <p:spPr>
          <a:xfrm xmlns:a="http://schemas.openxmlformats.org/drawingml/2006/main">
            <a:off x="4171950" y="3162300"/>
            <a:ext cx="0" cy="165735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21" name="workload-to-gateway">
            <a:extLst xmlns:a="http://schemas.openxmlformats.org/drawingml/2006/main">
              <a:ext uri="{FF2B5EF4-FFF2-40B4-BE49-F238E27FC236}">
                <a16:creationId xmlns:a16="http://schemas.microsoft.com/office/drawing/2014/main" id="{5B8E2FAF-36A0-4EFF-BF70-42A0B6E2CEE4}"/>
              </a:ext>
            </a:extLst>
          </p:cNvPr>
          <p:cNvSpPr>
            <a:spLocks xmlns:a="http://schemas.openxmlformats.org/drawingml/2006/main" noGrp="1"/>
          </p:cNvSpPr>
          <p:nvPr/>
        </p:nvSpPr>
        <p:spPr>
          <a:xfrm xmlns:a="http://schemas.openxmlformats.org/drawingml/2006/main">
            <a:off x="4171950" y="3990975"/>
            <a:ext cx="457200" cy="0"/>
          </a:xfrm>
          <a:prstGeom xmlns:a="http://schemas.openxmlformats.org/drawingml/2006/main" prst="line">
            <a:avLst/>
          </a:prstGeom>
          <a:noFill xmlns:a="http://schemas.openxmlformats.org/drawingml/2006/main"/>
          <a:ln xmlns:a="http://schemas.openxmlformats.org/drawingml/2006/main" w="19050">
            <a:solidFill>
              <a:srgbClr val="6750A4"/>
            </a:solidFill>
            <a:prstDash val="solid"/>
          </a:ln>
        </p:spPr>
      </p:sp>
      <p:sp>
        <p:nvSpPr>
          <p:cNvPr id="22" name="gateway-surface">
            <a:extLst xmlns:a="http://schemas.openxmlformats.org/drawingml/2006/main">
              <a:ext uri="{FF2B5EF4-FFF2-40B4-BE49-F238E27FC236}">
                <a16:creationId xmlns:a16="http://schemas.microsoft.com/office/drawing/2014/main" id="{0179D3C1-25D1-44F3-BF2F-D076DFAB1C3E}"/>
              </a:ext>
            </a:extLst>
          </p:cNvPr>
          <p:cNvSpPr>
            <a:spLocks xmlns:a="http://schemas.openxmlformats.org/drawingml/2006/main" noGrp="1"/>
          </p:cNvSpPr>
          <p:nvPr/>
        </p:nvSpPr>
        <p:spPr>
          <a:xfrm xmlns:a="http://schemas.openxmlformats.org/drawingml/2006/main">
            <a:off x="4629150" y="3067050"/>
            <a:ext cx="2914650" cy="1847850"/>
          </a:xfrm>
          <a:prstGeom xmlns:a="http://schemas.openxmlformats.org/drawingml/2006/main" prst="roundRect">
            <a:avLst>
              <a:gd name="adj" fmla="val 15464"/>
            </a:avLst>
          </a:prstGeom>
          <a:solidFill xmlns:a="http://schemas.openxmlformats.org/drawingml/2006/main">
            <a:srgbClr val="EADDFF"/>
          </a:solidFill>
          <a:ln xmlns:a="http://schemas.openxmlformats.org/drawingml/2006/main" w="0">
            <a:noFill/>
            <a:prstDash val="solid"/>
          </a:ln>
        </p:spPr>
      </p:sp>
      <p:sp>
        <p:nvSpPr>
          <p:cNvPr id="23" name="gateway-title">
            <a:extLst xmlns:a="http://schemas.openxmlformats.org/drawingml/2006/main">
              <a:ext uri="{FF2B5EF4-FFF2-40B4-BE49-F238E27FC236}">
                <a16:creationId xmlns:a16="http://schemas.microsoft.com/office/drawing/2014/main" id="{A825C910-3C21-42E0-8912-409CF94998AB}"/>
              </a:ext>
            </a:extLst>
          </p:cNvPr>
          <p:cNvSpPr>
            <a:spLocks xmlns:a="http://schemas.openxmlformats.org/drawingml/2006/main" noGrp="1"/>
          </p:cNvSpPr>
          <p:nvPr/>
        </p:nvSpPr>
        <p:spPr>
          <a:xfrm xmlns:a="http://schemas.openxmlformats.org/drawingml/2006/main">
            <a:off x="4914900" y="3390900"/>
            <a:ext cx="2343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21005D"/>
                </a:solidFill>
                <a:latin typeface="Roboto"/>
                <a:ea typeface="Roboto"/>
                <a:cs typeface="Roboto"/>
              </a:defRPr>
            </a:defPPr>
            <a:lvl1pPr algn="ctr">
              <a:defRPr sz="2250" b="1">
                <a:solidFill>
                  <a:srgbClr val="21005D"/>
                </a:solidFill>
                <a:latin typeface="Roboto"/>
                <a:ea typeface="Roboto"/>
                <a:cs typeface="Roboto"/>
              </a:defRPr>
            </a:lvl1pPr>
            <a:lvl2pPr algn="ctr">
              <a:defRPr sz="2250" b="1">
                <a:solidFill>
                  <a:srgbClr val="21005D"/>
                </a:solidFill>
                <a:latin typeface="Roboto"/>
                <a:ea typeface="Roboto"/>
                <a:cs typeface="Roboto"/>
              </a:defRPr>
            </a:lvl2pPr>
            <a:lvl3pPr algn="ctr">
              <a:defRPr sz="2250" b="1">
                <a:solidFill>
                  <a:srgbClr val="21005D"/>
                </a:solidFill>
                <a:latin typeface="Roboto"/>
                <a:ea typeface="Roboto"/>
                <a:cs typeface="Roboto"/>
              </a:defRPr>
            </a:lvl3pPr>
            <a:lvl4pPr algn="ctr">
              <a:defRPr sz="2250" b="1">
                <a:solidFill>
                  <a:srgbClr val="21005D"/>
                </a:solidFill>
                <a:latin typeface="Roboto"/>
                <a:ea typeface="Roboto"/>
                <a:cs typeface="Roboto"/>
              </a:defRPr>
            </a:lvl4pPr>
            <a:lvl5pPr algn="ctr">
              <a:defRPr sz="2250" b="1">
                <a:solidFill>
                  <a:srgbClr val="21005D"/>
                </a:solidFill>
                <a:latin typeface="Roboto"/>
                <a:ea typeface="Roboto"/>
                <a:cs typeface="Roboto"/>
              </a:defRPr>
            </a:lvl5pPr>
            <a:lvl6pPr algn="ctr">
              <a:defRPr sz="2250" b="1">
                <a:solidFill>
                  <a:srgbClr val="21005D"/>
                </a:solidFill>
                <a:latin typeface="Roboto"/>
                <a:ea typeface="Roboto"/>
                <a:cs typeface="Roboto"/>
              </a:defRPr>
            </a:lvl6pPr>
            <a:lvl7pPr algn="ctr">
              <a:defRPr sz="2250" b="1">
                <a:solidFill>
                  <a:srgbClr val="21005D"/>
                </a:solidFill>
                <a:latin typeface="Roboto"/>
                <a:ea typeface="Roboto"/>
                <a:cs typeface="Roboto"/>
              </a:defRPr>
            </a:lvl7pPr>
            <a:lvl8pPr algn="ctr">
              <a:defRPr sz="2250" b="1">
                <a:solidFill>
                  <a:srgbClr val="21005D"/>
                </a:solidFill>
                <a:latin typeface="Roboto"/>
                <a:ea typeface="Roboto"/>
                <a:cs typeface="Roboto"/>
              </a:defRPr>
            </a:lvl8pPr>
            <a:lvl9pPr algn="ctr">
              <a:defRPr sz="2250" b="1">
                <a:solidFill>
                  <a:srgbClr val="21005D"/>
                </a:solidFill>
                <a:latin typeface="Roboto"/>
                <a:ea typeface="Roboto"/>
                <a:cs typeface="Roboto"/>
              </a:defRPr>
            </a:lvl9pPr>
          </a:lstStyle>
          <a:p xmlns:a="http://schemas.openxmlformats.org/drawingml/2006/main">
            <a:pPr algn="ctr">
              <a:defRPr sz="2250" b="1">
                <a:solidFill>
                  <a:srgbClr val="21005D"/>
                </a:solidFill>
                <a:latin typeface="Roboto"/>
                <a:ea typeface="Roboto"/>
                <a:cs typeface="Roboto"/>
              </a:defRPr>
            </a:pPr>
            <a:r>
              <a:rPr sz="2250" b="1">
                <a:solidFill>
                  <a:srgbClr val="21005D"/>
                </a:solidFill>
                <a:latin typeface="Roboto"/>
                <a:ea typeface="Roboto"/>
                <a:cs typeface="Roboto"/>
              </a:rPr>
              <a:t>APERTURE</a:t>
            </a:r>
          </a:p>
        </p:txBody>
      </p:sp>
      <p:sp>
        <p:nvSpPr>
          <p:cNvPr id="24" name="gateway-actions">
            <a:extLst xmlns:a="http://schemas.openxmlformats.org/drawingml/2006/main">
              <a:ext uri="{FF2B5EF4-FFF2-40B4-BE49-F238E27FC236}">
                <a16:creationId xmlns:a16="http://schemas.microsoft.com/office/drawing/2014/main" id="{9C709FB8-8C44-483E-9F14-03C3F1176B94}"/>
              </a:ext>
            </a:extLst>
          </p:cNvPr>
          <p:cNvSpPr>
            <a:spLocks xmlns:a="http://schemas.openxmlformats.org/drawingml/2006/main" noGrp="1"/>
          </p:cNvSpPr>
          <p:nvPr/>
        </p:nvSpPr>
        <p:spPr>
          <a:xfrm xmlns:a="http://schemas.openxmlformats.org/drawingml/2006/main">
            <a:off x="4876800" y="38957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1005D"/>
                </a:solidFill>
                <a:latin typeface="Roboto"/>
                <a:ea typeface="Roboto"/>
                <a:cs typeface="Roboto"/>
              </a:defRPr>
            </a:defPPr>
            <a:lvl1pPr algn="ctr">
              <a:defRPr sz="1050" b="1">
                <a:solidFill>
                  <a:srgbClr val="21005D"/>
                </a:solidFill>
                <a:latin typeface="Roboto"/>
                <a:ea typeface="Roboto"/>
                <a:cs typeface="Roboto"/>
              </a:defRPr>
            </a:lvl1pPr>
            <a:lvl2pPr algn="ctr">
              <a:defRPr sz="1050" b="1">
                <a:solidFill>
                  <a:srgbClr val="21005D"/>
                </a:solidFill>
                <a:latin typeface="Roboto"/>
                <a:ea typeface="Roboto"/>
                <a:cs typeface="Roboto"/>
              </a:defRPr>
            </a:lvl2pPr>
            <a:lvl3pPr algn="ctr">
              <a:defRPr sz="1050" b="1">
                <a:solidFill>
                  <a:srgbClr val="21005D"/>
                </a:solidFill>
                <a:latin typeface="Roboto"/>
                <a:ea typeface="Roboto"/>
                <a:cs typeface="Roboto"/>
              </a:defRPr>
            </a:lvl3pPr>
            <a:lvl4pPr algn="ctr">
              <a:defRPr sz="1050" b="1">
                <a:solidFill>
                  <a:srgbClr val="21005D"/>
                </a:solidFill>
                <a:latin typeface="Roboto"/>
                <a:ea typeface="Roboto"/>
                <a:cs typeface="Roboto"/>
              </a:defRPr>
            </a:lvl4pPr>
            <a:lvl5pPr algn="ctr">
              <a:defRPr sz="1050" b="1">
                <a:solidFill>
                  <a:srgbClr val="21005D"/>
                </a:solidFill>
                <a:latin typeface="Roboto"/>
                <a:ea typeface="Roboto"/>
                <a:cs typeface="Roboto"/>
              </a:defRPr>
            </a:lvl5pPr>
            <a:lvl6pPr algn="ctr">
              <a:defRPr sz="1050" b="1">
                <a:solidFill>
                  <a:srgbClr val="21005D"/>
                </a:solidFill>
                <a:latin typeface="Roboto"/>
                <a:ea typeface="Roboto"/>
                <a:cs typeface="Roboto"/>
              </a:defRPr>
            </a:lvl6pPr>
            <a:lvl7pPr algn="ctr">
              <a:defRPr sz="1050" b="1">
                <a:solidFill>
                  <a:srgbClr val="21005D"/>
                </a:solidFill>
                <a:latin typeface="Roboto"/>
                <a:ea typeface="Roboto"/>
                <a:cs typeface="Roboto"/>
              </a:defRPr>
            </a:lvl7pPr>
            <a:lvl8pPr algn="ctr">
              <a:defRPr sz="1050" b="1">
                <a:solidFill>
                  <a:srgbClr val="21005D"/>
                </a:solidFill>
                <a:latin typeface="Roboto"/>
                <a:ea typeface="Roboto"/>
                <a:cs typeface="Roboto"/>
              </a:defRPr>
            </a:lvl8pPr>
            <a:lvl9pPr algn="ctr">
              <a:defRPr sz="1050" b="1">
                <a:solidFill>
                  <a:srgbClr val="21005D"/>
                </a:solidFill>
                <a:latin typeface="Roboto"/>
                <a:ea typeface="Roboto"/>
                <a:cs typeface="Roboto"/>
              </a:defRPr>
            </a:lvl9pPr>
          </a:lstStyle>
          <a:p xmlns:a="http://schemas.openxmlformats.org/drawingml/2006/main">
            <a:pPr algn="ctr">
              <a:defRPr sz="1050" b="1">
                <a:solidFill>
                  <a:srgbClr val="21005D"/>
                </a:solidFill>
                <a:latin typeface="Roboto"/>
                <a:ea typeface="Roboto"/>
                <a:cs typeface="Roboto"/>
              </a:defRPr>
            </a:pPr>
            <a:r>
              <a:rPr sz="1050" b="1">
                <a:solidFill>
                  <a:srgbClr val="21005D"/>
                </a:solidFill>
                <a:latin typeface="Roboto"/>
                <a:ea typeface="Roboto"/>
                <a:cs typeface="Roboto"/>
              </a:rPr>
              <a:t>QUOTE  ·  AUTHORIZE  ·  ROUTE</a:t>
            </a:r>
          </a:p>
        </p:txBody>
      </p:sp>
      <p:sp>
        <p:nvSpPr>
          <p:cNvPr id="25" name="gateway-record">
            <a:extLst xmlns:a="http://schemas.openxmlformats.org/drawingml/2006/main">
              <a:ext uri="{FF2B5EF4-FFF2-40B4-BE49-F238E27FC236}">
                <a16:creationId xmlns:a16="http://schemas.microsoft.com/office/drawing/2014/main" id="{124CBDD0-6A44-459A-8C36-1478F8CD9CE5}"/>
              </a:ext>
            </a:extLst>
          </p:cNvPr>
          <p:cNvSpPr>
            <a:spLocks xmlns:a="http://schemas.openxmlformats.org/drawingml/2006/main" noGrp="1"/>
          </p:cNvSpPr>
          <p:nvPr/>
        </p:nvSpPr>
        <p:spPr>
          <a:xfrm xmlns:a="http://schemas.openxmlformats.org/drawingml/2006/main">
            <a:off x="4876800" y="43624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6750A4"/>
                </a:solidFill>
                <a:latin typeface="Roboto"/>
                <a:ea typeface="Roboto"/>
                <a:cs typeface="Roboto"/>
              </a:defRPr>
            </a:defPPr>
            <a:lvl1pPr algn="ctr">
              <a:defRPr sz="1200" b="1">
                <a:solidFill>
                  <a:srgbClr val="6750A4"/>
                </a:solidFill>
                <a:latin typeface="Roboto"/>
                <a:ea typeface="Roboto"/>
                <a:cs typeface="Roboto"/>
              </a:defRPr>
            </a:lvl1pPr>
            <a:lvl2pPr algn="ctr">
              <a:defRPr sz="1200" b="1">
                <a:solidFill>
                  <a:srgbClr val="6750A4"/>
                </a:solidFill>
                <a:latin typeface="Roboto"/>
                <a:ea typeface="Roboto"/>
                <a:cs typeface="Roboto"/>
              </a:defRPr>
            </a:lvl2pPr>
            <a:lvl3pPr algn="ctr">
              <a:defRPr sz="1200" b="1">
                <a:solidFill>
                  <a:srgbClr val="6750A4"/>
                </a:solidFill>
                <a:latin typeface="Roboto"/>
                <a:ea typeface="Roboto"/>
                <a:cs typeface="Roboto"/>
              </a:defRPr>
            </a:lvl3pPr>
            <a:lvl4pPr algn="ctr">
              <a:defRPr sz="1200" b="1">
                <a:solidFill>
                  <a:srgbClr val="6750A4"/>
                </a:solidFill>
                <a:latin typeface="Roboto"/>
                <a:ea typeface="Roboto"/>
                <a:cs typeface="Roboto"/>
              </a:defRPr>
            </a:lvl4pPr>
            <a:lvl5pPr algn="ctr">
              <a:defRPr sz="1200" b="1">
                <a:solidFill>
                  <a:srgbClr val="6750A4"/>
                </a:solidFill>
                <a:latin typeface="Roboto"/>
                <a:ea typeface="Roboto"/>
                <a:cs typeface="Roboto"/>
              </a:defRPr>
            </a:lvl5pPr>
            <a:lvl6pPr algn="ctr">
              <a:defRPr sz="1200" b="1">
                <a:solidFill>
                  <a:srgbClr val="6750A4"/>
                </a:solidFill>
                <a:latin typeface="Roboto"/>
                <a:ea typeface="Roboto"/>
                <a:cs typeface="Roboto"/>
              </a:defRPr>
            </a:lvl6pPr>
            <a:lvl7pPr algn="ctr">
              <a:defRPr sz="1200" b="1">
                <a:solidFill>
                  <a:srgbClr val="6750A4"/>
                </a:solidFill>
                <a:latin typeface="Roboto"/>
                <a:ea typeface="Roboto"/>
                <a:cs typeface="Roboto"/>
              </a:defRPr>
            </a:lvl7pPr>
            <a:lvl8pPr algn="ctr">
              <a:defRPr sz="1200" b="1">
                <a:solidFill>
                  <a:srgbClr val="6750A4"/>
                </a:solidFill>
                <a:latin typeface="Roboto"/>
                <a:ea typeface="Roboto"/>
                <a:cs typeface="Roboto"/>
              </a:defRPr>
            </a:lvl8pPr>
            <a:lvl9pPr algn="ctr">
              <a:defRPr sz="1200" b="1">
                <a:solidFill>
                  <a:srgbClr val="6750A4"/>
                </a:solidFill>
                <a:latin typeface="Roboto"/>
                <a:ea typeface="Roboto"/>
                <a:cs typeface="Roboto"/>
              </a:defRPr>
            </a:lvl9pPr>
          </a:lstStyle>
          <a:p xmlns:a="http://schemas.openxmlformats.org/drawingml/2006/main">
            <a:pPr algn="ctr">
              <a:defRPr sz="1200" b="1">
                <a:solidFill>
                  <a:srgbClr val="6750A4"/>
                </a:solidFill>
                <a:latin typeface="Roboto"/>
                <a:ea typeface="Roboto"/>
                <a:cs typeface="Roboto"/>
              </a:defRPr>
            </a:pPr>
            <a:r>
              <a:rPr sz="1200" b="1">
                <a:solidFill>
                  <a:srgbClr val="6750A4"/>
                </a:solidFill>
                <a:latin typeface="Roboto"/>
                <a:ea typeface="Roboto"/>
                <a:cs typeface="Roboto"/>
              </a:rPr>
              <a:t>ONE TASK RECORD</a:t>
            </a:r>
          </a:p>
        </p:txBody>
      </p:sp>
      <p:sp>
        <p:nvSpPr>
          <p:cNvPr id="26" name="gateway-output-line">
            <a:extLst xmlns:a="http://schemas.openxmlformats.org/drawingml/2006/main">
              <a:ext uri="{FF2B5EF4-FFF2-40B4-BE49-F238E27FC236}">
                <a16:creationId xmlns:a16="http://schemas.microsoft.com/office/drawing/2014/main" id="{E054FDEE-3F97-44BD-9D02-55CAC615C481}"/>
              </a:ext>
            </a:extLst>
          </p:cNvPr>
          <p:cNvSpPr>
            <a:spLocks xmlns:a="http://schemas.openxmlformats.org/drawingml/2006/main" noGrp="1"/>
          </p:cNvSpPr>
          <p:nvPr/>
        </p:nvSpPr>
        <p:spPr>
          <a:xfrm xmlns:a="http://schemas.openxmlformats.org/drawingml/2006/main">
            <a:off x="7543800" y="3990975"/>
            <a:ext cx="495300" cy="0"/>
          </a:xfrm>
          <a:prstGeom xmlns:a="http://schemas.openxmlformats.org/drawingml/2006/main" prst="line">
            <a:avLst/>
          </a:prstGeom>
          <a:noFill xmlns:a="http://schemas.openxmlformats.org/drawingml/2006/main"/>
          <a:ln xmlns:a="http://schemas.openxmlformats.org/drawingml/2006/main" w="19050">
            <a:solidFill>
              <a:srgbClr val="6750A4"/>
            </a:solidFill>
            <a:prstDash val="solid"/>
          </a:ln>
        </p:spPr>
      </p:sp>
      <p:sp>
        <p:nvSpPr>
          <p:cNvPr id="27" name="gateway-output-spine">
            <a:extLst xmlns:a="http://schemas.openxmlformats.org/drawingml/2006/main">
              <a:ext uri="{FF2B5EF4-FFF2-40B4-BE49-F238E27FC236}">
                <a16:creationId xmlns:a16="http://schemas.microsoft.com/office/drawing/2014/main" id="{19B461DC-9769-4CC5-B0BD-CAC8F0C77EEA}"/>
              </a:ext>
            </a:extLst>
          </p:cNvPr>
          <p:cNvSpPr>
            <a:spLocks xmlns:a="http://schemas.openxmlformats.org/drawingml/2006/main" noGrp="1"/>
          </p:cNvSpPr>
          <p:nvPr/>
        </p:nvSpPr>
        <p:spPr>
          <a:xfrm xmlns:a="http://schemas.openxmlformats.org/drawingml/2006/main">
            <a:off x="8039100" y="3305175"/>
            <a:ext cx="0" cy="137160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28" name="gateway-output-model">
            <a:extLst xmlns:a="http://schemas.openxmlformats.org/drawingml/2006/main">
              <a:ext uri="{FF2B5EF4-FFF2-40B4-BE49-F238E27FC236}">
                <a16:creationId xmlns:a16="http://schemas.microsoft.com/office/drawing/2014/main" id="{E5CB2417-251F-4649-BD51-442C3E375A3E}"/>
              </a:ext>
            </a:extLst>
          </p:cNvPr>
          <p:cNvSpPr>
            <a:spLocks xmlns:a="http://schemas.openxmlformats.org/drawingml/2006/main" noGrp="1"/>
          </p:cNvSpPr>
          <p:nvPr/>
        </p:nvSpPr>
        <p:spPr>
          <a:xfrm xmlns:a="http://schemas.openxmlformats.org/drawingml/2006/main">
            <a:off x="8039100" y="3305175"/>
            <a:ext cx="438150" cy="0"/>
          </a:xfrm>
          <a:prstGeom xmlns:a="http://schemas.openxmlformats.org/drawingml/2006/main" prst="line">
            <a:avLst/>
          </a:prstGeom>
          <a:noFill xmlns:a="http://schemas.openxmlformats.org/drawingml/2006/main"/>
          <a:ln xmlns:a="http://schemas.openxmlformats.org/drawingml/2006/main" w="19050">
            <a:solidFill>
              <a:srgbClr val="6750A4"/>
            </a:solidFill>
            <a:prstDash val="solid"/>
          </a:ln>
        </p:spPr>
      </p:sp>
      <p:sp>
        <p:nvSpPr>
          <p:cNvPr id="29" name="gateway-output-worker">
            <a:extLst xmlns:a="http://schemas.openxmlformats.org/drawingml/2006/main">
              <a:ext uri="{FF2B5EF4-FFF2-40B4-BE49-F238E27FC236}">
                <a16:creationId xmlns:a16="http://schemas.microsoft.com/office/drawing/2014/main" id="{C8805A34-90D3-4F24-BB32-EE568DD14F93}"/>
              </a:ext>
            </a:extLst>
          </p:cNvPr>
          <p:cNvSpPr>
            <a:spLocks xmlns:a="http://schemas.openxmlformats.org/drawingml/2006/main" noGrp="1"/>
          </p:cNvSpPr>
          <p:nvPr/>
        </p:nvSpPr>
        <p:spPr>
          <a:xfrm xmlns:a="http://schemas.openxmlformats.org/drawingml/2006/main">
            <a:off x="8039100" y="4676775"/>
            <a:ext cx="438150" cy="0"/>
          </a:xfrm>
          <a:prstGeom xmlns:a="http://schemas.openxmlformats.org/drawingml/2006/main" prst="line">
            <a:avLst/>
          </a:prstGeom>
          <a:noFill xmlns:a="http://schemas.openxmlformats.org/drawingml/2006/main"/>
          <a:ln xmlns:a="http://schemas.openxmlformats.org/drawingml/2006/main" w="19050">
            <a:solidFill>
              <a:srgbClr val="006B5F"/>
            </a:solidFill>
            <a:prstDash val="solid"/>
          </a:ln>
        </p:spPr>
      </p:sp>
      <p:sp>
        <p:nvSpPr>
          <p:cNvPr id="30" name="provider-output-title">
            <a:extLst xmlns:a="http://schemas.openxmlformats.org/drawingml/2006/main">
              <a:ext uri="{FF2B5EF4-FFF2-40B4-BE49-F238E27FC236}">
                <a16:creationId xmlns:a16="http://schemas.microsoft.com/office/drawing/2014/main" id="{F85A7A8A-ACDC-422E-A4FE-F5630B42FF52}"/>
              </a:ext>
            </a:extLst>
          </p:cNvPr>
          <p:cNvSpPr>
            <a:spLocks xmlns:a="http://schemas.openxmlformats.org/drawingml/2006/main" noGrp="1"/>
          </p:cNvSpPr>
          <p:nvPr/>
        </p:nvSpPr>
        <p:spPr>
          <a:xfrm xmlns:a="http://schemas.openxmlformats.org/drawingml/2006/main">
            <a:off x="8629650" y="31242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6750A4"/>
                </a:solidFill>
                <a:latin typeface="Roboto"/>
                <a:ea typeface="Roboto"/>
                <a:cs typeface="Roboto"/>
              </a:defRPr>
            </a:defPPr>
            <a:lvl1pPr algn="l">
              <a:defRPr sz="1125" b="1">
                <a:solidFill>
                  <a:srgbClr val="6750A4"/>
                </a:solidFill>
                <a:latin typeface="Roboto"/>
                <a:ea typeface="Roboto"/>
                <a:cs typeface="Roboto"/>
              </a:defRPr>
            </a:lvl1pPr>
            <a:lvl2pPr algn="l">
              <a:defRPr sz="1125" b="1">
                <a:solidFill>
                  <a:srgbClr val="6750A4"/>
                </a:solidFill>
                <a:latin typeface="Roboto"/>
                <a:ea typeface="Roboto"/>
                <a:cs typeface="Roboto"/>
              </a:defRPr>
            </a:lvl2pPr>
            <a:lvl3pPr algn="l">
              <a:defRPr sz="1125" b="1">
                <a:solidFill>
                  <a:srgbClr val="6750A4"/>
                </a:solidFill>
                <a:latin typeface="Roboto"/>
                <a:ea typeface="Roboto"/>
                <a:cs typeface="Roboto"/>
              </a:defRPr>
            </a:lvl3pPr>
            <a:lvl4pPr algn="l">
              <a:defRPr sz="1125" b="1">
                <a:solidFill>
                  <a:srgbClr val="6750A4"/>
                </a:solidFill>
                <a:latin typeface="Roboto"/>
                <a:ea typeface="Roboto"/>
                <a:cs typeface="Roboto"/>
              </a:defRPr>
            </a:lvl4pPr>
            <a:lvl5pPr algn="l">
              <a:defRPr sz="1125" b="1">
                <a:solidFill>
                  <a:srgbClr val="6750A4"/>
                </a:solidFill>
                <a:latin typeface="Roboto"/>
                <a:ea typeface="Roboto"/>
                <a:cs typeface="Roboto"/>
              </a:defRPr>
            </a:lvl5pPr>
            <a:lvl6pPr algn="l">
              <a:defRPr sz="1125" b="1">
                <a:solidFill>
                  <a:srgbClr val="6750A4"/>
                </a:solidFill>
                <a:latin typeface="Roboto"/>
                <a:ea typeface="Roboto"/>
                <a:cs typeface="Roboto"/>
              </a:defRPr>
            </a:lvl6pPr>
            <a:lvl7pPr algn="l">
              <a:defRPr sz="1125" b="1">
                <a:solidFill>
                  <a:srgbClr val="6750A4"/>
                </a:solidFill>
                <a:latin typeface="Roboto"/>
                <a:ea typeface="Roboto"/>
                <a:cs typeface="Roboto"/>
              </a:defRPr>
            </a:lvl7pPr>
            <a:lvl8pPr algn="l">
              <a:defRPr sz="1125" b="1">
                <a:solidFill>
                  <a:srgbClr val="6750A4"/>
                </a:solidFill>
                <a:latin typeface="Roboto"/>
                <a:ea typeface="Roboto"/>
                <a:cs typeface="Roboto"/>
              </a:defRPr>
            </a:lvl8pPr>
            <a:lvl9pPr algn="l">
              <a:defRPr sz="1125" b="1">
                <a:solidFill>
                  <a:srgbClr val="6750A4"/>
                </a:solidFill>
                <a:latin typeface="Roboto"/>
                <a:ea typeface="Roboto"/>
                <a:cs typeface="Roboto"/>
              </a:defRPr>
            </a:lvl9pPr>
          </a:lstStyle>
          <a:p xmlns:a="http://schemas.openxmlformats.org/drawingml/2006/main">
            <a:pPr algn="l">
              <a:defRPr sz="1125" b="1">
                <a:solidFill>
                  <a:srgbClr val="6750A4"/>
                </a:solidFill>
                <a:latin typeface="Roboto"/>
                <a:ea typeface="Roboto"/>
                <a:cs typeface="Roboto"/>
              </a:defRPr>
            </a:pPr>
            <a:r>
              <a:rPr sz="1125" b="1">
                <a:solidFill>
                  <a:srgbClr val="6750A4"/>
                </a:solidFill>
                <a:latin typeface="Roboto"/>
                <a:ea typeface="Roboto"/>
                <a:cs typeface="Roboto"/>
              </a:rPr>
              <a:t>CONFIGURED MODEL OFFERS</a:t>
            </a:r>
          </a:p>
        </p:txBody>
      </p:sp>
      <p:sp>
        <p:nvSpPr>
          <p:cNvPr id="31" name="provider-output-detail">
            <a:extLst xmlns:a="http://schemas.openxmlformats.org/drawingml/2006/main">
              <a:ext uri="{FF2B5EF4-FFF2-40B4-BE49-F238E27FC236}">
                <a16:creationId xmlns:a16="http://schemas.microsoft.com/office/drawing/2014/main" id="{08B1D5B1-8BE3-42DE-8008-4DDE647B13C9}"/>
              </a:ext>
            </a:extLst>
          </p:cNvPr>
          <p:cNvSpPr>
            <a:spLocks xmlns:a="http://schemas.openxmlformats.org/drawingml/2006/main" noGrp="1"/>
          </p:cNvSpPr>
          <p:nvPr/>
        </p:nvSpPr>
        <p:spPr>
          <a:xfrm xmlns:a="http://schemas.openxmlformats.org/drawingml/2006/main">
            <a:off x="8629650" y="3438525"/>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Operator-managed routing</a:t>
            </a:r>
          </a:p>
        </p:txBody>
      </p:sp>
      <p:sp>
        <p:nvSpPr>
          <p:cNvPr id="32" name="worker-output-title">
            <a:extLst xmlns:a="http://schemas.openxmlformats.org/drawingml/2006/main">
              <a:ext uri="{FF2B5EF4-FFF2-40B4-BE49-F238E27FC236}">
                <a16:creationId xmlns:a16="http://schemas.microsoft.com/office/drawing/2014/main" id="{BB683409-DBD1-4088-A42B-56EA3A6C0FC6}"/>
              </a:ext>
            </a:extLst>
          </p:cNvPr>
          <p:cNvSpPr>
            <a:spLocks xmlns:a="http://schemas.openxmlformats.org/drawingml/2006/main" noGrp="1"/>
          </p:cNvSpPr>
          <p:nvPr/>
        </p:nvSpPr>
        <p:spPr>
          <a:xfrm xmlns:a="http://schemas.openxmlformats.org/drawingml/2006/main">
            <a:off x="8629650" y="4495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06B5F"/>
                </a:solidFill>
                <a:latin typeface="Roboto"/>
                <a:ea typeface="Roboto"/>
                <a:cs typeface="Roboto"/>
              </a:defRPr>
            </a:defPPr>
            <a:lvl1pPr algn="l">
              <a:defRPr sz="1125" b="1">
                <a:solidFill>
                  <a:srgbClr val="006B5F"/>
                </a:solidFill>
                <a:latin typeface="Roboto"/>
                <a:ea typeface="Roboto"/>
                <a:cs typeface="Roboto"/>
              </a:defRPr>
            </a:lvl1pPr>
            <a:lvl2pPr algn="l">
              <a:defRPr sz="1125" b="1">
                <a:solidFill>
                  <a:srgbClr val="006B5F"/>
                </a:solidFill>
                <a:latin typeface="Roboto"/>
                <a:ea typeface="Roboto"/>
                <a:cs typeface="Roboto"/>
              </a:defRPr>
            </a:lvl2pPr>
            <a:lvl3pPr algn="l">
              <a:defRPr sz="1125" b="1">
                <a:solidFill>
                  <a:srgbClr val="006B5F"/>
                </a:solidFill>
                <a:latin typeface="Roboto"/>
                <a:ea typeface="Roboto"/>
                <a:cs typeface="Roboto"/>
              </a:defRPr>
            </a:lvl3pPr>
            <a:lvl4pPr algn="l">
              <a:defRPr sz="1125" b="1">
                <a:solidFill>
                  <a:srgbClr val="006B5F"/>
                </a:solidFill>
                <a:latin typeface="Roboto"/>
                <a:ea typeface="Roboto"/>
                <a:cs typeface="Roboto"/>
              </a:defRPr>
            </a:lvl4pPr>
            <a:lvl5pPr algn="l">
              <a:defRPr sz="1125" b="1">
                <a:solidFill>
                  <a:srgbClr val="006B5F"/>
                </a:solidFill>
                <a:latin typeface="Roboto"/>
                <a:ea typeface="Roboto"/>
                <a:cs typeface="Roboto"/>
              </a:defRPr>
            </a:lvl5pPr>
            <a:lvl6pPr algn="l">
              <a:defRPr sz="1125" b="1">
                <a:solidFill>
                  <a:srgbClr val="006B5F"/>
                </a:solidFill>
                <a:latin typeface="Roboto"/>
                <a:ea typeface="Roboto"/>
                <a:cs typeface="Roboto"/>
              </a:defRPr>
            </a:lvl6pPr>
            <a:lvl7pPr algn="l">
              <a:defRPr sz="1125" b="1">
                <a:solidFill>
                  <a:srgbClr val="006B5F"/>
                </a:solidFill>
                <a:latin typeface="Roboto"/>
                <a:ea typeface="Roboto"/>
                <a:cs typeface="Roboto"/>
              </a:defRPr>
            </a:lvl7pPr>
            <a:lvl8pPr algn="l">
              <a:defRPr sz="1125" b="1">
                <a:solidFill>
                  <a:srgbClr val="006B5F"/>
                </a:solidFill>
                <a:latin typeface="Roboto"/>
                <a:ea typeface="Roboto"/>
                <a:cs typeface="Roboto"/>
              </a:defRPr>
            </a:lvl8pPr>
            <a:lvl9pPr algn="l">
              <a:defRPr sz="1125" b="1">
                <a:solidFill>
                  <a:srgbClr val="006B5F"/>
                </a:solidFill>
                <a:latin typeface="Roboto"/>
                <a:ea typeface="Roboto"/>
                <a:cs typeface="Roboto"/>
              </a:defRPr>
            </a:lvl9pPr>
          </a:lstStyle>
          <a:p xmlns:a="http://schemas.openxmlformats.org/drawingml/2006/main">
            <a:pPr algn="l">
              <a:defRPr sz="1125" b="1">
                <a:solidFill>
                  <a:srgbClr val="006B5F"/>
                </a:solidFill>
                <a:latin typeface="Roboto"/>
                <a:ea typeface="Roboto"/>
                <a:cs typeface="Roboto"/>
              </a:defRPr>
            </a:pPr>
            <a:r>
              <a:rPr sz="1125" b="1">
                <a:solidFill>
                  <a:srgbClr val="006B5F"/>
                </a:solidFill>
                <a:latin typeface="Roboto"/>
                <a:ea typeface="Roboto"/>
                <a:cs typeface="Roboto"/>
              </a:rPr>
              <a:t>AUTHENTICATED CPU WORKERS</a:t>
            </a:r>
          </a:p>
        </p:txBody>
      </p:sp>
      <p:sp>
        <p:nvSpPr>
          <p:cNvPr id="33" name="worker-output-detail">
            <a:extLst xmlns:a="http://schemas.openxmlformats.org/drawingml/2006/main">
              <a:ext uri="{FF2B5EF4-FFF2-40B4-BE49-F238E27FC236}">
                <a16:creationId xmlns:a16="http://schemas.microsoft.com/office/drawing/2014/main" id="{E39E554A-3A0A-40E8-89A5-03096A9A4701}"/>
              </a:ext>
            </a:extLst>
          </p:cNvPr>
          <p:cNvSpPr>
            <a:spLocks xmlns:a="http://schemas.openxmlformats.org/drawingml/2006/main" noGrp="1"/>
          </p:cNvSpPr>
          <p:nvPr/>
        </p:nvSpPr>
        <p:spPr>
          <a:xfrm xmlns:a="http://schemas.openxmlformats.org/drawingml/2006/main">
            <a:off x="8629650" y="4810125"/>
            <a:ext cx="2686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Current compute capacity</a:t>
            </a:r>
          </a:p>
        </p:txBody>
      </p:sp>
      <p:sp>
        <p:nvSpPr>
          <p:cNvPr id="34" name="unified-proof-strip">
            <a:extLst xmlns:a="http://schemas.openxmlformats.org/drawingml/2006/main">
              <a:ext uri="{FF2B5EF4-FFF2-40B4-BE49-F238E27FC236}">
                <a16:creationId xmlns:a16="http://schemas.microsoft.com/office/drawing/2014/main" id="{0DC9A7E5-EB61-4CDE-A6CA-4AF6EFA6405E}"/>
              </a:ext>
            </a:extLst>
          </p:cNvPr>
          <p:cNvSpPr>
            <a:spLocks xmlns:a="http://schemas.openxmlformats.org/drawingml/2006/main" noGrp="1"/>
          </p:cNvSpPr>
          <p:nvPr/>
        </p:nvSpPr>
        <p:spPr>
          <a:xfrm xmlns:a="http://schemas.openxmlformats.org/drawingml/2006/main">
            <a:off x="685800" y="5467350"/>
            <a:ext cx="10820400" cy="609600"/>
          </a:xfrm>
          <a:prstGeom xmlns:a="http://schemas.openxmlformats.org/drawingml/2006/main" prst="roundRect">
            <a:avLst>
              <a:gd name="adj" fmla="val 31250"/>
            </a:avLst>
          </a:prstGeom>
          <a:solidFill xmlns:a="http://schemas.openxmlformats.org/drawingml/2006/main">
            <a:srgbClr val="ECE6F0"/>
          </a:solidFill>
          <a:ln xmlns:a="http://schemas.openxmlformats.org/drawingml/2006/main" w="0">
            <a:noFill/>
            <a:prstDash val="solid"/>
          </a:ln>
        </p:spPr>
      </p:sp>
      <p:sp>
        <p:nvSpPr>
          <p:cNvPr id="35" name="proof-one">
            <a:extLst xmlns:a="http://schemas.openxmlformats.org/drawingml/2006/main">
              <a:ext uri="{FF2B5EF4-FFF2-40B4-BE49-F238E27FC236}">
                <a16:creationId xmlns:a16="http://schemas.microsoft.com/office/drawing/2014/main" id="{0C644A83-7DF0-4049-86AA-DFA4899061BD}"/>
              </a:ext>
            </a:extLst>
          </p:cNvPr>
          <p:cNvSpPr>
            <a:spLocks xmlns:a="http://schemas.openxmlformats.org/drawingml/2006/main" noGrp="1"/>
          </p:cNvSpPr>
          <p:nvPr/>
        </p:nvSpPr>
        <p:spPr>
          <a:xfrm xmlns:a="http://schemas.openxmlformats.org/drawingml/2006/main">
            <a:off x="933450" y="56102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C1B1F"/>
                </a:solidFill>
                <a:latin typeface="Roboto"/>
                <a:ea typeface="Roboto"/>
                <a:cs typeface="Roboto"/>
              </a:defRPr>
            </a:defPPr>
            <a:lvl1pPr algn="ctr">
              <a:defRPr sz="1200" b="1">
                <a:solidFill>
                  <a:srgbClr val="1C1B1F"/>
                </a:solidFill>
                <a:latin typeface="Roboto"/>
                <a:ea typeface="Roboto"/>
                <a:cs typeface="Roboto"/>
              </a:defRPr>
            </a:lvl1pPr>
            <a:lvl2pPr algn="ctr">
              <a:defRPr sz="1200" b="1">
                <a:solidFill>
                  <a:srgbClr val="1C1B1F"/>
                </a:solidFill>
                <a:latin typeface="Roboto"/>
                <a:ea typeface="Roboto"/>
                <a:cs typeface="Roboto"/>
              </a:defRPr>
            </a:lvl2pPr>
            <a:lvl3pPr algn="ctr">
              <a:defRPr sz="1200" b="1">
                <a:solidFill>
                  <a:srgbClr val="1C1B1F"/>
                </a:solidFill>
                <a:latin typeface="Roboto"/>
                <a:ea typeface="Roboto"/>
                <a:cs typeface="Roboto"/>
              </a:defRPr>
            </a:lvl3pPr>
            <a:lvl4pPr algn="ctr">
              <a:defRPr sz="1200" b="1">
                <a:solidFill>
                  <a:srgbClr val="1C1B1F"/>
                </a:solidFill>
                <a:latin typeface="Roboto"/>
                <a:ea typeface="Roboto"/>
                <a:cs typeface="Roboto"/>
              </a:defRPr>
            </a:lvl4pPr>
            <a:lvl5pPr algn="ctr">
              <a:defRPr sz="1200" b="1">
                <a:solidFill>
                  <a:srgbClr val="1C1B1F"/>
                </a:solidFill>
                <a:latin typeface="Roboto"/>
                <a:ea typeface="Roboto"/>
                <a:cs typeface="Roboto"/>
              </a:defRPr>
            </a:lvl5pPr>
            <a:lvl6pPr algn="ctr">
              <a:defRPr sz="1200" b="1">
                <a:solidFill>
                  <a:srgbClr val="1C1B1F"/>
                </a:solidFill>
                <a:latin typeface="Roboto"/>
                <a:ea typeface="Roboto"/>
                <a:cs typeface="Roboto"/>
              </a:defRPr>
            </a:lvl6pPr>
            <a:lvl7pPr algn="ctr">
              <a:defRPr sz="1200" b="1">
                <a:solidFill>
                  <a:srgbClr val="1C1B1F"/>
                </a:solidFill>
                <a:latin typeface="Roboto"/>
                <a:ea typeface="Roboto"/>
                <a:cs typeface="Roboto"/>
              </a:defRPr>
            </a:lvl7pPr>
            <a:lvl8pPr algn="ctr">
              <a:defRPr sz="1200" b="1">
                <a:solidFill>
                  <a:srgbClr val="1C1B1F"/>
                </a:solidFill>
                <a:latin typeface="Roboto"/>
                <a:ea typeface="Roboto"/>
                <a:cs typeface="Roboto"/>
              </a:defRPr>
            </a:lvl8pPr>
            <a:lvl9pPr algn="ctr">
              <a:defRPr sz="1200" b="1">
                <a:solidFill>
                  <a:srgbClr val="1C1B1F"/>
                </a:solidFill>
                <a:latin typeface="Roboto"/>
                <a:ea typeface="Roboto"/>
                <a:cs typeface="Roboto"/>
              </a:defRPr>
            </a:lvl9pPr>
          </a:lstStyle>
          <a:p xmlns:a="http://schemas.openxmlformats.org/drawingml/2006/main">
            <a:pPr algn="ctr">
              <a:defRPr sz="1200" b="1">
                <a:solidFill>
                  <a:srgbClr val="1C1B1F"/>
                </a:solidFill>
                <a:latin typeface="Roboto"/>
                <a:ea typeface="Roboto"/>
                <a:cs typeface="Roboto"/>
              </a:defRPr>
            </a:pPr>
            <a:r>
              <a:rPr sz="1200" b="1">
                <a:solidFill>
                  <a:srgbClr val="1C1B1F"/>
                </a:solidFill>
                <a:latin typeface="Roboto"/>
                <a:ea typeface="Roboto"/>
                <a:cs typeface="Roboto"/>
              </a:rPr>
              <a:t>ONE TASK RECORD</a:t>
            </a:r>
          </a:p>
        </p:txBody>
      </p:sp>
      <p:sp>
        <p:nvSpPr>
          <p:cNvPr id="36" name="proof-divider-one">
            <a:extLst xmlns:a="http://schemas.openxmlformats.org/drawingml/2006/main">
              <a:ext uri="{FF2B5EF4-FFF2-40B4-BE49-F238E27FC236}">
                <a16:creationId xmlns:a16="http://schemas.microsoft.com/office/drawing/2014/main" id="{C47068DC-E599-40D2-B541-306070BBCBEC}"/>
              </a:ext>
            </a:extLst>
          </p:cNvPr>
          <p:cNvSpPr>
            <a:spLocks xmlns:a="http://schemas.openxmlformats.org/drawingml/2006/main" noGrp="1"/>
          </p:cNvSpPr>
          <p:nvPr/>
        </p:nvSpPr>
        <p:spPr>
          <a:xfrm xmlns:a="http://schemas.openxmlformats.org/drawingml/2006/main">
            <a:off x="4314825" y="5610225"/>
            <a:ext cx="0" cy="32385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37" name="proof-two">
            <a:extLst xmlns:a="http://schemas.openxmlformats.org/drawingml/2006/main">
              <a:ext uri="{FF2B5EF4-FFF2-40B4-BE49-F238E27FC236}">
                <a16:creationId xmlns:a16="http://schemas.microsoft.com/office/drawing/2014/main" id="{1B03B8E3-C7F3-4CD9-A183-025B98347109}"/>
              </a:ext>
            </a:extLst>
          </p:cNvPr>
          <p:cNvSpPr>
            <a:spLocks xmlns:a="http://schemas.openxmlformats.org/drawingml/2006/main" noGrp="1"/>
          </p:cNvSpPr>
          <p:nvPr/>
        </p:nvSpPr>
        <p:spPr>
          <a:xfrm xmlns:a="http://schemas.openxmlformats.org/drawingml/2006/main">
            <a:off x="4476750" y="5610225"/>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C1B1F"/>
                </a:solidFill>
                <a:latin typeface="Roboto"/>
                <a:ea typeface="Roboto"/>
                <a:cs typeface="Roboto"/>
              </a:defRPr>
            </a:defPPr>
            <a:lvl1pPr algn="ctr">
              <a:defRPr sz="1200" b="1">
                <a:solidFill>
                  <a:srgbClr val="1C1B1F"/>
                </a:solidFill>
                <a:latin typeface="Roboto"/>
                <a:ea typeface="Roboto"/>
                <a:cs typeface="Roboto"/>
              </a:defRPr>
            </a:lvl1pPr>
            <a:lvl2pPr algn="ctr">
              <a:defRPr sz="1200" b="1">
                <a:solidFill>
                  <a:srgbClr val="1C1B1F"/>
                </a:solidFill>
                <a:latin typeface="Roboto"/>
                <a:ea typeface="Roboto"/>
                <a:cs typeface="Roboto"/>
              </a:defRPr>
            </a:lvl2pPr>
            <a:lvl3pPr algn="ctr">
              <a:defRPr sz="1200" b="1">
                <a:solidFill>
                  <a:srgbClr val="1C1B1F"/>
                </a:solidFill>
                <a:latin typeface="Roboto"/>
                <a:ea typeface="Roboto"/>
                <a:cs typeface="Roboto"/>
              </a:defRPr>
            </a:lvl3pPr>
            <a:lvl4pPr algn="ctr">
              <a:defRPr sz="1200" b="1">
                <a:solidFill>
                  <a:srgbClr val="1C1B1F"/>
                </a:solidFill>
                <a:latin typeface="Roboto"/>
                <a:ea typeface="Roboto"/>
                <a:cs typeface="Roboto"/>
              </a:defRPr>
            </a:lvl4pPr>
            <a:lvl5pPr algn="ctr">
              <a:defRPr sz="1200" b="1">
                <a:solidFill>
                  <a:srgbClr val="1C1B1F"/>
                </a:solidFill>
                <a:latin typeface="Roboto"/>
                <a:ea typeface="Roboto"/>
                <a:cs typeface="Roboto"/>
              </a:defRPr>
            </a:lvl5pPr>
            <a:lvl6pPr algn="ctr">
              <a:defRPr sz="1200" b="1">
                <a:solidFill>
                  <a:srgbClr val="1C1B1F"/>
                </a:solidFill>
                <a:latin typeface="Roboto"/>
                <a:ea typeface="Roboto"/>
                <a:cs typeface="Roboto"/>
              </a:defRPr>
            </a:lvl6pPr>
            <a:lvl7pPr algn="ctr">
              <a:defRPr sz="1200" b="1">
                <a:solidFill>
                  <a:srgbClr val="1C1B1F"/>
                </a:solidFill>
                <a:latin typeface="Roboto"/>
                <a:ea typeface="Roboto"/>
                <a:cs typeface="Roboto"/>
              </a:defRPr>
            </a:lvl7pPr>
            <a:lvl8pPr algn="ctr">
              <a:defRPr sz="1200" b="1">
                <a:solidFill>
                  <a:srgbClr val="1C1B1F"/>
                </a:solidFill>
                <a:latin typeface="Roboto"/>
                <a:ea typeface="Roboto"/>
                <a:cs typeface="Roboto"/>
              </a:defRPr>
            </a:lvl8pPr>
            <a:lvl9pPr algn="ctr">
              <a:defRPr sz="1200" b="1">
                <a:solidFill>
                  <a:srgbClr val="1C1B1F"/>
                </a:solidFill>
                <a:latin typeface="Roboto"/>
                <a:ea typeface="Roboto"/>
                <a:cs typeface="Roboto"/>
              </a:defRPr>
            </a:lvl9pPr>
          </a:lstStyle>
          <a:p xmlns:a="http://schemas.openxmlformats.org/drawingml/2006/main">
            <a:pPr algn="ctr">
              <a:defRPr sz="1200" b="1">
                <a:solidFill>
                  <a:srgbClr val="1C1B1F"/>
                </a:solidFill>
                <a:latin typeface="Roboto"/>
                <a:ea typeface="Roboto"/>
                <a:cs typeface="Roboto"/>
              </a:defRPr>
            </a:pPr>
            <a:r>
              <a:rPr sz="1200" b="1">
                <a:solidFill>
                  <a:srgbClr val="1C1B1F"/>
                </a:solidFill>
                <a:latin typeface="Roboto"/>
                <a:ea typeface="Roboto"/>
                <a:cs typeface="Roboto"/>
              </a:rPr>
              <a:t>ONE SIGNED RESULT</a:t>
            </a:r>
          </a:p>
        </p:txBody>
      </p:sp>
      <p:sp>
        <p:nvSpPr>
          <p:cNvPr id="38" name="proof-divider-two">
            <a:extLst xmlns:a="http://schemas.openxmlformats.org/drawingml/2006/main">
              <a:ext uri="{FF2B5EF4-FFF2-40B4-BE49-F238E27FC236}">
                <a16:creationId xmlns:a16="http://schemas.microsoft.com/office/drawing/2014/main" id="{A073274A-CB69-457A-96C3-2438A9BB5176}"/>
              </a:ext>
            </a:extLst>
          </p:cNvPr>
          <p:cNvSpPr>
            <a:spLocks xmlns:a="http://schemas.openxmlformats.org/drawingml/2006/main" noGrp="1"/>
          </p:cNvSpPr>
          <p:nvPr/>
        </p:nvSpPr>
        <p:spPr>
          <a:xfrm xmlns:a="http://schemas.openxmlformats.org/drawingml/2006/main">
            <a:off x="7877175" y="5610225"/>
            <a:ext cx="0" cy="32385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39" name="proof-three">
            <a:extLst xmlns:a="http://schemas.openxmlformats.org/drawingml/2006/main">
              <a:ext uri="{FF2B5EF4-FFF2-40B4-BE49-F238E27FC236}">
                <a16:creationId xmlns:a16="http://schemas.microsoft.com/office/drawing/2014/main" id="{7F88A2E7-D106-46D6-AE64-37FB08D7C050}"/>
              </a:ext>
            </a:extLst>
          </p:cNvPr>
          <p:cNvSpPr>
            <a:spLocks xmlns:a="http://schemas.openxmlformats.org/drawingml/2006/main" noGrp="1"/>
          </p:cNvSpPr>
          <p:nvPr/>
        </p:nvSpPr>
        <p:spPr>
          <a:xfrm xmlns:a="http://schemas.openxmlformats.org/drawingml/2006/main">
            <a:off x="8039100" y="5610225"/>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C1B1F"/>
                </a:solidFill>
                <a:latin typeface="Roboto"/>
                <a:ea typeface="Roboto"/>
                <a:cs typeface="Roboto"/>
              </a:defRPr>
            </a:defPPr>
            <a:lvl1pPr algn="ctr">
              <a:defRPr sz="1200" b="1">
                <a:solidFill>
                  <a:srgbClr val="1C1B1F"/>
                </a:solidFill>
                <a:latin typeface="Roboto"/>
                <a:ea typeface="Roboto"/>
                <a:cs typeface="Roboto"/>
              </a:defRPr>
            </a:lvl1pPr>
            <a:lvl2pPr algn="ctr">
              <a:defRPr sz="1200" b="1">
                <a:solidFill>
                  <a:srgbClr val="1C1B1F"/>
                </a:solidFill>
                <a:latin typeface="Roboto"/>
                <a:ea typeface="Roboto"/>
                <a:cs typeface="Roboto"/>
              </a:defRPr>
            </a:lvl2pPr>
            <a:lvl3pPr algn="ctr">
              <a:defRPr sz="1200" b="1">
                <a:solidFill>
                  <a:srgbClr val="1C1B1F"/>
                </a:solidFill>
                <a:latin typeface="Roboto"/>
                <a:ea typeface="Roboto"/>
                <a:cs typeface="Roboto"/>
              </a:defRPr>
            </a:lvl3pPr>
            <a:lvl4pPr algn="ctr">
              <a:defRPr sz="1200" b="1">
                <a:solidFill>
                  <a:srgbClr val="1C1B1F"/>
                </a:solidFill>
                <a:latin typeface="Roboto"/>
                <a:ea typeface="Roboto"/>
                <a:cs typeface="Roboto"/>
              </a:defRPr>
            </a:lvl4pPr>
            <a:lvl5pPr algn="ctr">
              <a:defRPr sz="1200" b="1">
                <a:solidFill>
                  <a:srgbClr val="1C1B1F"/>
                </a:solidFill>
                <a:latin typeface="Roboto"/>
                <a:ea typeface="Roboto"/>
                <a:cs typeface="Roboto"/>
              </a:defRPr>
            </a:lvl5pPr>
            <a:lvl6pPr algn="ctr">
              <a:defRPr sz="1200" b="1">
                <a:solidFill>
                  <a:srgbClr val="1C1B1F"/>
                </a:solidFill>
                <a:latin typeface="Roboto"/>
                <a:ea typeface="Roboto"/>
                <a:cs typeface="Roboto"/>
              </a:defRPr>
            </a:lvl6pPr>
            <a:lvl7pPr algn="ctr">
              <a:defRPr sz="1200" b="1">
                <a:solidFill>
                  <a:srgbClr val="1C1B1F"/>
                </a:solidFill>
                <a:latin typeface="Roboto"/>
                <a:ea typeface="Roboto"/>
                <a:cs typeface="Roboto"/>
              </a:defRPr>
            </a:lvl7pPr>
            <a:lvl8pPr algn="ctr">
              <a:defRPr sz="1200" b="1">
                <a:solidFill>
                  <a:srgbClr val="1C1B1F"/>
                </a:solidFill>
                <a:latin typeface="Roboto"/>
                <a:ea typeface="Roboto"/>
                <a:cs typeface="Roboto"/>
              </a:defRPr>
            </a:lvl8pPr>
            <a:lvl9pPr algn="ctr">
              <a:defRPr sz="1200" b="1">
                <a:solidFill>
                  <a:srgbClr val="1C1B1F"/>
                </a:solidFill>
                <a:latin typeface="Roboto"/>
                <a:ea typeface="Roboto"/>
                <a:cs typeface="Roboto"/>
              </a:defRPr>
            </a:lvl9pPr>
          </a:lstStyle>
          <a:p xmlns:a="http://schemas.openxmlformats.org/drawingml/2006/main">
            <a:pPr algn="ctr">
              <a:defRPr sz="1200" b="1">
                <a:solidFill>
                  <a:srgbClr val="1C1B1F"/>
                </a:solidFill>
                <a:latin typeface="Roboto"/>
                <a:ea typeface="Roboto"/>
                <a:cs typeface="Roboto"/>
              </a:defRPr>
            </a:pPr>
            <a:r>
              <a:rPr sz="1200" b="1">
                <a:solidFill>
                  <a:srgbClr val="1C1B1F"/>
                </a:solidFill>
                <a:latin typeface="Roboto"/>
                <a:ea typeface="Roboto"/>
                <a:cs typeface="Roboto"/>
              </a:rPr>
              <a:t>ONE RECOVERY PATH</a:t>
            </a:r>
          </a:p>
        </p:txBody>
      </p:sp>
    </p:spTree>
    <p:extLst>
      <p:ext uri="{BB962C8B-B14F-4D97-AF65-F5344CB8AC3E}">
        <p14:creationId xmlns:p14="http://schemas.microsoft.com/office/powerpoint/2010/main" val="1751878701"/>
      </p:ext>
    </p:extLst>
  </p:cSld>
</p:sld>
</file>

<file path=ppt/slides/slide4.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9" name="brand-wordmark">
            <a:extLst xmlns:a="http://schemas.openxmlformats.org/drawingml/2006/main">
              <a:ext uri="{FF2B5EF4-FFF2-40B4-BE49-F238E27FC236}">
                <a16:creationId xmlns:a16="http://schemas.microsoft.com/office/drawing/2014/main" id="{5C0680AE-1E7B-4F84-80CD-761E81CD035D}"/>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EF45DEA4-2789-497D-A78F-7704C347C294}"/>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AUTHORIZATION</a:t>
            </a:r>
          </a:p>
        </p:txBody>
      </p:sp>
      <p:sp>
        <p:nvSpPr>
          <p:cNvPr id="3" name="footer-divider">
            <a:extLst xmlns:a="http://schemas.openxmlformats.org/drawingml/2006/main">
              <a:ext uri="{FF2B5EF4-FFF2-40B4-BE49-F238E27FC236}">
                <a16:creationId xmlns:a16="http://schemas.microsoft.com/office/drawing/2014/main" id="{C5CDC8A5-E261-4515-A134-35800EFC3F05}"/>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87333B92-052C-4B02-85F5-E2232EA3A076}"/>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04 / 08</a:t>
            </a:r>
          </a:p>
        </p:txBody>
      </p:sp>
      <p:sp>
        <p:nvSpPr>
          <p:cNvPr id="5" name="slide-title">
            <a:extLst xmlns:a="http://schemas.openxmlformats.org/drawingml/2006/main">
              <a:ext uri="{FF2B5EF4-FFF2-40B4-BE49-F238E27FC236}">
                <a16:creationId xmlns:a16="http://schemas.microsoft.com/office/drawing/2014/main" id="{A8FBE8FC-756A-41FA-8FB9-E7CB89DED1A4}"/>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The owner signs the task boundary</a:t>
            </a:r>
          </a:p>
        </p:txBody>
      </p:sp>
      <p:sp>
        <p:nvSpPr>
          <p:cNvPr id="6" name="slide-subtitle">
            <a:extLst xmlns:a="http://schemas.openxmlformats.org/drawingml/2006/main">
              <a:ext uri="{FF2B5EF4-FFF2-40B4-BE49-F238E27FC236}">
                <a16:creationId xmlns:a16="http://schemas.microsoft.com/office/drawing/2014/main" id="{A9F52C7F-E2D4-4757-BDA5-BC1912930F1F}"/>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A workload-bound quote fixes the request before any worker runs it</a:t>
            </a:r>
          </a:p>
        </p:txBody>
      </p:sp>
      <p:sp>
        <p:nvSpPr>
          <p:cNvPr id="7" name="signed-quote-surface">
            <a:extLst xmlns:a="http://schemas.openxmlformats.org/drawingml/2006/main">
              <a:ext uri="{FF2B5EF4-FFF2-40B4-BE49-F238E27FC236}">
                <a16:creationId xmlns:a16="http://schemas.microsoft.com/office/drawing/2014/main" id="{347013C1-6B30-4BCB-BECA-D1D7CF48B241}"/>
              </a:ext>
            </a:extLst>
          </p:cNvPr>
          <p:cNvSpPr>
            <a:spLocks xmlns:a="http://schemas.openxmlformats.org/drawingml/2006/main" noGrp="1"/>
          </p:cNvSpPr>
          <p:nvPr/>
        </p:nvSpPr>
        <p:spPr>
          <a:xfrm xmlns:a="http://schemas.openxmlformats.org/drawingml/2006/main">
            <a:off x="685800" y="2381250"/>
            <a:ext cx="10820400" cy="2609850"/>
          </a:xfrm>
          <a:prstGeom xmlns:a="http://schemas.openxmlformats.org/drawingml/2006/main" prst="roundRect">
            <a:avLst>
              <a:gd name="adj" fmla="val 10949"/>
            </a:avLst>
          </a:prstGeom>
          <a:solidFill xmlns:a="http://schemas.openxmlformats.org/drawingml/2006/main">
            <a:srgbClr val="F7F2FA"/>
          </a:solidFill>
          <a:ln xmlns:a="http://schemas.openxmlformats.org/drawingml/2006/main" w="0">
            <a:noFill/>
            <a:prstDash val="solid"/>
          </a:ln>
        </p:spPr>
      </p:sp>
      <p:sp>
        <p:nvSpPr>
          <p:cNvPr id="8" name="signed-quote-label">
            <a:extLst xmlns:a="http://schemas.openxmlformats.org/drawingml/2006/main">
              <a:ext uri="{FF2B5EF4-FFF2-40B4-BE49-F238E27FC236}">
                <a16:creationId xmlns:a16="http://schemas.microsoft.com/office/drawing/2014/main" id="{2F15A8C8-81EF-4B28-87A0-75F256D7747E}"/>
              </a:ext>
            </a:extLst>
          </p:cNvPr>
          <p:cNvSpPr>
            <a:spLocks xmlns:a="http://schemas.openxmlformats.org/drawingml/2006/main" noGrp="1"/>
          </p:cNvSpPr>
          <p:nvPr/>
        </p:nvSpPr>
        <p:spPr>
          <a:xfrm xmlns:a="http://schemas.openxmlformats.org/drawingml/2006/main">
            <a:off x="952500" y="26003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SIGNED QUOTE</a:t>
            </a:r>
          </a:p>
        </p:txBody>
      </p:sp>
      <p:sp>
        <p:nvSpPr>
          <p:cNvPr id="9" name="quote-number-0">
            <a:extLst xmlns:a="http://schemas.openxmlformats.org/drawingml/2006/main">
              <a:ext uri="{FF2B5EF4-FFF2-40B4-BE49-F238E27FC236}">
                <a16:creationId xmlns:a16="http://schemas.microsoft.com/office/drawing/2014/main" id="{26B07E91-2C8C-4CBC-9247-171D063AD9A5}"/>
              </a:ext>
            </a:extLst>
          </p:cNvPr>
          <p:cNvSpPr>
            <a:spLocks xmlns:a="http://schemas.openxmlformats.org/drawingml/2006/main" noGrp="1"/>
          </p:cNvSpPr>
          <p:nvPr/>
        </p:nvSpPr>
        <p:spPr>
          <a:xfrm xmlns:a="http://schemas.openxmlformats.org/drawingml/2006/main">
            <a:off x="933450" y="3067050"/>
            <a:ext cx="323850" cy="323850"/>
          </a:xfrm>
          <a:prstGeom xmlns:a="http://schemas.openxmlformats.org/drawingml/2006/main" prst="ellipse">
            <a:avLst/>
          </a:prstGeom>
          <a:solidFill xmlns:a="http://schemas.openxmlformats.org/drawingml/2006/main">
            <a:srgbClr val="6750A4"/>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1050" b="1">
                <a:solidFill>
                  <a:srgbClr val="FFFFFF"/>
                </a:solidFill>
                <a:latin typeface="Roboto"/>
                <a:ea typeface="Roboto"/>
                <a:cs typeface="Roboto"/>
              </a:defRPr>
            </a:defPPr>
            <a:lvl1pPr algn="ctr">
              <a:defRPr sz="1050" b="1">
                <a:solidFill>
                  <a:srgbClr val="FFFFFF"/>
                </a:solidFill>
                <a:latin typeface="Roboto"/>
                <a:ea typeface="Roboto"/>
                <a:cs typeface="Roboto"/>
              </a:defRPr>
            </a:lvl1pPr>
            <a:lvl2pPr algn="ctr">
              <a:defRPr sz="1050" b="1">
                <a:solidFill>
                  <a:srgbClr val="FFFFFF"/>
                </a:solidFill>
                <a:latin typeface="Roboto"/>
                <a:ea typeface="Roboto"/>
                <a:cs typeface="Roboto"/>
              </a:defRPr>
            </a:lvl2pPr>
            <a:lvl3pPr algn="ctr">
              <a:defRPr sz="1050" b="1">
                <a:solidFill>
                  <a:srgbClr val="FFFFFF"/>
                </a:solidFill>
                <a:latin typeface="Roboto"/>
                <a:ea typeface="Roboto"/>
                <a:cs typeface="Roboto"/>
              </a:defRPr>
            </a:lvl3pPr>
            <a:lvl4pPr algn="ctr">
              <a:defRPr sz="1050" b="1">
                <a:solidFill>
                  <a:srgbClr val="FFFFFF"/>
                </a:solidFill>
                <a:latin typeface="Roboto"/>
                <a:ea typeface="Roboto"/>
                <a:cs typeface="Roboto"/>
              </a:defRPr>
            </a:lvl4pPr>
            <a:lvl5pPr algn="ctr">
              <a:defRPr sz="1050" b="1">
                <a:solidFill>
                  <a:srgbClr val="FFFFFF"/>
                </a:solidFill>
                <a:latin typeface="Roboto"/>
                <a:ea typeface="Roboto"/>
                <a:cs typeface="Roboto"/>
              </a:defRPr>
            </a:lvl5pPr>
            <a:lvl6pPr algn="ctr">
              <a:defRPr sz="1050" b="1">
                <a:solidFill>
                  <a:srgbClr val="FFFFFF"/>
                </a:solidFill>
                <a:latin typeface="Roboto"/>
                <a:ea typeface="Roboto"/>
                <a:cs typeface="Roboto"/>
              </a:defRPr>
            </a:lvl6pPr>
            <a:lvl7pPr algn="ctr">
              <a:defRPr sz="1050" b="1">
                <a:solidFill>
                  <a:srgbClr val="FFFFFF"/>
                </a:solidFill>
                <a:latin typeface="Roboto"/>
                <a:ea typeface="Roboto"/>
                <a:cs typeface="Roboto"/>
              </a:defRPr>
            </a:lvl7pPr>
            <a:lvl8pPr algn="ctr">
              <a:defRPr sz="1050" b="1">
                <a:solidFill>
                  <a:srgbClr val="FFFFFF"/>
                </a:solidFill>
                <a:latin typeface="Roboto"/>
                <a:ea typeface="Roboto"/>
                <a:cs typeface="Roboto"/>
              </a:defRPr>
            </a:lvl8pPr>
            <a:lvl9pPr algn="ctr">
              <a:defRPr sz="1050" b="1">
                <a:solidFill>
                  <a:srgbClr val="FFFFFF"/>
                </a:solidFill>
                <a:latin typeface="Roboto"/>
                <a:ea typeface="Roboto"/>
                <a:cs typeface="Roboto"/>
              </a:defRPr>
            </a:lvl9pPr>
          </a:lstStyle>
          <a:p xmlns:a="http://schemas.openxmlformats.org/drawingml/2006/main">
            <a:pPr algn="ctr">
              <a:defRPr sz="1050" b="1">
                <a:solidFill>
                  <a:srgbClr val="FFFFFF"/>
                </a:solidFill>
                <a:latin typeface="Roboto"/>
                <a:ea typeface="Roboto"/>
                <a:cs typeface="Roboto"/>
              </a:defRPr>
            </a:pPr>
            <a:r>
              <a:rPr sz="1050" b="1">
                <a:solidFill>
                  <a:srgbClr val="FFFFFF"/>
                </a:solidFill>
                <a:latin typeface="Roboto"/>
                <a:ea typeface="Roboto"/>
                <a:cs typeface="Roboto"/>
              </a:rPr>
              <a:t>1</a:t>
            </a:r>
          </a:p>
        </p:txBody>
      </p:sp>
      <p:sp>
        <p:nvSpPr>
          <p:cNvPr id="10" name="quote-term-0">
            <a:extLst xmlns:a="http://schemas.openxmlformats.org/drawingml/2006/main">
              <a:ext uri="{FF2B5EF4-FFF2-40B4-BE49-F238E27FC236}">
                <a16:creationId xmlns:a16="http://schemas.microsoft.com/office/drawing/2014/main" id="{A155F501-BC9A-4D4D-9E70-E888EC1ACF9D}"/>
              </a:ext>
            </a:extLst>
          </p:cNvPr>
          <p:cNvSpPr>
            <a:spLocks xmlns:a="http://schemas.openxmlformats.org/drawingml/2006/main" noGrp="1"/>
          </p:cNvSpPr>
          <p:nvPr/>
        </p:nvSpPr>
        <p:spPr>
          <a:xfrm xmlns:a="http://schemas.openxmlformats.org/drawingml/2006/main">
            <a:off x="933450" y="35337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C1B1F"/>
                </a:solidFill>
                <a:latin typeface="Roboto"/>
                <a:ea typeface="Roboto"/>
                <a:cs typeface="Roboto"/>
              </a:defRPr>
            </a:defPPr>
            <a:lvl1pPr algn="l">
              <a:defRPr sz="1650" b="1">
                <a:solidFill>
                  <a:srgbClr val="1C1B1F"/>
                </a:solidFill>
                <a:latin typeface="Roboto"/>
                <a:ea typeface="Roboto"/>
                <a:cs typeface="Roboto"/>
              </a:defRPr>
            </a:lvl1pPr>
            <a:lvl2pPr algn="l">
              <a:defRPr sz="1650" b="1">
                <a:solidFill>
                  <a:srgbClr val="1C1B1F"/>
                </a:solidFill>
                <a:latin typeface="Roboto"/>
                <a:ea typeface="Roboto"/>
                <a:cs typeface="Roboto"/>
              </a:defRPr>
            </a:lvl2pPr>
            <a:lvl3pPr algn="l">
              <a:defRPr sz="1650" b="1">
                <a:solidFill>
                  <a:srgbClr val="1C1B1F"/>
                </a:solidFill>
                <a:latin typeface="Roboto"/>
                <a:ea typeface="Roboto"/>
                <a:cs typeface="Roboto"/>
              </a:defRPr>
            </a:lvl3pPr>
            <a:lvl4pPr algn="l">
              <a:defRPr sz="1650" b="1">
                <a:solidFill>
                  <a:srgbClr val="1C1B1F"/>
                </a:solidFill>
                <a:latin typeface="Roboto"/>
                <a:ea typeface="Roboto"/>
                <a:cs typeface="Roboto"/>
              </a:defRPr>
            </a:lvl4pPr>
            <a:lvl5pPr algn="l">
              <a:defRPr sz="1650" b="1">
                <a:solidFill>
                  <a:srgbClr val="1C1B1F"/>
                </a:solidFill>
                <a:latin typeface="Roboto"/>
                <a:ea typeface="Roboto"/>
                <a:cs typeface="Roboto"/>
              </a:defRPr>
            </a:lvl5pPr>
            <a:lvl6pPr algn="l">
              <a:defRPr sz="1650" b="1">
                <a:solidFill>
                  <a:srgbClr val="1C1B1F"/>
                </a:solidFill>
                <a:latin typeface="Roboto"/>
                <a:ea typeface="Roboto"/>
                <a:cs typeface="Roboto"/>
              </a:defRPr>
            </a:lvl6pPr>
            <a:lvl7pPr algn="l">
              <a:defRPr sz="1650" b="1">
                <a:solidFill>
                  <a:srgbClr val="1C1B1F"/>
                </a:solidFill>
                <a:latin typeface="Roboto"/>
                <a:ea typeface="Roboto"/>
                <a:cs typeface="Roboto"/>
              </a:defRPr>
            </a:lvl7pPr>
            <a:lvl8pPr algn="l">
              <a:defRPr sz="1650" b="1">
                <a:solidFill>
                  <a:srgbClr val="1C1B1F"/>
                </a:solidFill>
                <a:latin typeface="Roboto"/>
                <a:ea typeface="Roboto"/>
                <a:cs typeface="Roboto"/>
              </a:defRPr>
            </a:lvl8pPr>
            <a:lvl9pPr algn="l">
              <a:defRPr sz="1650" b="1">
                <a:solidFill>
                  <a:srgbClr val="1C1B1F"/>
                </a:solidFill>
                <a:latin typeface="Roboto"/>
                <a:ea typeface="Roboto"/>
                <a:cs typeface="Roboto"/>
              </a:defRPr>
            </a:lvl9pPr>
          </a:lstStyle>
          <a:p xmlns:a="http://schemas.openxmlformats.org/drawingml/2006/main">
            <a:pPr algn="l">
              <a:defRPr sz="1650" b="1">
                <a:solidFill>
                  <a:srgbClr val="1C1B1F"/>
                </a:solidFill>
                <a:latin typeface="Roboto"/>
                <a:ea typeface="Roboto"/>
                <a:cs typeface="Roboto"/>
              </a:defRPr>
            </a:pPr>
            <a:r>
              <a:rPr sz="1650" b="1">
                <a:solidFill>
                  <a:srgbClr val="1C1B1F"/>
                </a:solidFill>
                <a:latin typeface="Roboto"/>
                <a:ea typeface="Roboto"/>
                <a:cs typeface="Roboto"/>
              </a:rPr>
              <a:t>ROUTE</a:t>
            </a:r>
          </a:p>
        </p:txBody>
      </p:sp>
      <p:sp>
        <p:nvSpPr>
          <p:cNvPr id="11" name="quote-detail-0">
            <a:extLst xmlns:a="http://schemas.openxmlformats.org/drawingml/2006/main">
              <a:ext uri="{FF2B5EF4-FFF2-40B4-BE49-F238E27FC236}">
                <a16:creationId xmlns:a16="http://schemas.microsoft.com/office/drawing/2014/main" id="{62244452-FF1E-41D9-9B0E-4EA6E9582599}"/>
              </a:ext>
            </a:extLst>
          </p:cNvPr>
          <p:cNvSpPr>
            <a:spLocks xmlns:a="http://schemas.openxmlformats.org/drawingml/2006/main" noGrp="1"/>
          </p:cNvSpPr>
          <p:nvPr/>
        </p:nvSpPr>
        <p:spPr>
          <a:xfrm xmlns:a="http://schemas.openxmlformats.org/drawingml/2006/main">
            <a:off x="933450" y="3952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9454F"/>
                </a:solidFill>
                <a:latin typeface="Roboto"/>
                <a:ea typeface="Roboto"/>
                <a:cs typeface="Roboto"/>
              </a:defRPr>
            </a:defPPr>
            <a:lvl1pPr algn="l">
              <a:defRPr sz="1350" b="0">
                <a:solidFill>
                  <a:srgbClr val="49454F"/>
                </a:solidFill>
                <a:latin typeface="Roboto"/>
                <a:ea typeface="Roboto"/>
                <a:cs typeface="Roboto"/>
              </a:defRPr>
            </a:lvl1pPr>
            <a:lvl2pPr algn="l">
              <a:defRPr sz="1350" b="0">
                <a:solidFill>
                  <a:srgbClr val="49454F"/>
                </a:solidFill>
                <a:latin typeface="Roboto"/>
                <a:ea typeface="Roboto"/>
                <a:cs typeface="Roboto"/>
              </a:defRPr>
            </a:lvl2pPr>
            <a:lvl3pPr algn="l">
              <a:defRPr sz="1350" b="0">
                <a:solidFill>
                  <a:srgbClr val="49454F"/>
                </a:solidFill>
                <a:latin typeface="Roboto"/>
                <a:ea typeface="Roboto"/>
                <a:cs typeface="Roboto"/>
              </a:defRPr>
            </a:lvl3pPr>
            <a:lvl4pPr algn="l">
              <a:defRPr sz="1350" b="0">
                <a:solidFill>
                  <a:srgbClr val="49454F"/>
                </a:solidFill>
                <a:latin typeface="Roboto"/>
                <a:ea typeface="Roboto"/>
                <a:cs typeface="Roboto"/>
              </a:defRPr>
            </a:lvl4pPr>
            <a:lvl5pPr algn="l">
              <a:defRPr sz="1350" b="0">
                <a:solidFill>
                  <a:srgbClr val="49454F"/>
                </a:solidFill>
                <a:latin typeface="Roboto"/>
                <a:ea typeface="Roboto"/>
                <a:cs typeface="Roboto"/>
              </a:defRPr>
            </a:lvl5pPr>
            <a:lvl6pPr algn="l">
              <a:defRPr sz="1350" b="0">
                <a:solidFill>
                  <a:srgbClr val="49454F"/>
                </a:solidFill>
                <a:latin typeface="Roboto"/>
                <a:ea typeface="Roboto"/>
                <a:cs typeface="Roboto"/>
              </a:defRPr>
            </a:lvl6pPr>
            <a:lvl7pPr algn="l">
              <a:defRPr sz="1350" b="0">
                <a:solidFill>
                  <a:srgbClr val="49454F"/>
                </a:solidFill>
                <a:latin typeface="Roboto"/>
                <a:ea typeface="Roboto"/>
                <a:cs typeface="Roboto"/>
              </a:defRPr>
            </a:lvl7pPr>
            <a:lvl8pPr algn="l">
              <a:defRPr sz="1350" b="0">
                <a:solidFill>
                  <a:srgbClr val="49454F"/>
                </a:solidFill>
                <a:latin typeface="Roboto"/>
                <a:ea typeface="Roboto"/>
                <a:cs typeface="Roboto"/>
              </a:defRPr>
            </a:lvl8pPr>
            <a:lvl9pPr algn="l">
              <a:defRPr sz="1350" b="0">
                <a:solidFill>
                  <a:srgbClr val="49454F"/>
                </a:solidFill>
                <a:latin typeface="Roboto"/>
                <a:ea typeface="Roboto"/>
                <a:cs typeface="Roboto"/>
              </a:defRPr>
            </a:lvl9pPr>
          </a:lstStyle>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Model offer or</a:t>
            </a:r>
          </a:p>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worker ID</a:t>
            </a:r>
          </a:p>
        </p:txBody>
      </p:sp>
      <p:sp>
        <p:nvSpPr>
          <p:cNvPr id="12" name="quote-divider-1">
            <a:extLst xmlns:a="http://schemas.openxmlformats.org/drawingml/2006/main">
              <a:ext uri="{FF2B5EF4-FFF2-40B4-BE49-F238E27FC236}">
                <a16:creationId xmlns:a16="http://schemas.microsoft.com/office/drawing/2014/main" id="{BA2F90A9-0F3A-4F6D-A5BC-4F33DA3731DF}"/>
              </a:ext>
            </a:extLst>
          </p:cNvPr>
          <p:cNvSpPr>
            <a:spLocks xmlns:a="http://schemas.openxmlformats.org/drawingml/2006/main" noGrp="1"/>
          </p:cNvSpPr>
          <p:nvPr/>
        </p:nvSpPr>
        <p:spPr>
          <a:xfrm xmlns:a="http://schemas.openxmlformats.org/drawingml/2006/main">
            <a:off x="3390900" y="3076575"/>
            <a:ext cx="0" cy="158115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3" name="quote-number-1">
            <a:extLst xmlns:a="http://schemas.openxmlformats.org/drawingml/2006/main">
              <a:ext uri="{FF2B5EF4-FFF2-40B4-BE49-F238E27FC236}">
                <a16:creationId xmlns:a16="http://schemas.microsoft.com/office/drawing/2014/main" id="{C43B7D3F-E3BA-40D6-AA0E-0BD0DB90F993}"/>
              </a:ext>
            </a:extLst>
          </p:cNvPr>
          <p:cNvSpPr>
            <a:spLocks xmlns:a="http://schemas.openxmlformats.org/drawingml/2006/main" noGrp="1"/>
          </p:cNvSpPr>
          <p:nvPr/>
        </p:nvSpPr>
        <p:spPr>
          <a:xfrm xmlns:a="http://schemas.openxmlformats.org/drawingml/2006/main">
            <a:off x="3581400" y="3067050"/>
            <a:ext cx="323850" cy="3238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1050" b="1">
                <a:solidFill>
                  <a:srgbClr val="1D192B"/>
                </a:solidFill>
                <a:latin typeface="Roboto"/>
                <a:ea typeface="Roboto"/>
                <a:cs typeface="Roboto"/>
              </a:defRPr>
            </a:defPPr>
            <a:lvl1pPr algn="ctr">
              <a:defRPr sz="1050" b="1">
                <a:solidFill>
                  <a:srgbClr val="1D192B"/>
                </a:solidFill>
                <a:latin typeface="Roboto"/>
                <a:ea typeface="Roboto"/>
                <a:cs typeface="Roboto"/>
              </a:defRPr>
            </a:lvl1pPr>
            <a:lvl2pPr algn="ctr">
              <a:defRPr sz="1050" b="1">
                <a:solidFill>
                  <a:srgbClr val="1D192B"/>
                </a:solidFill>
                <a:latin typeface="Roboto"/>
                <a:ea typeface="Roboto"/>
                <a:cs typeface="Roboto"/>
              </a:defRPr>
            </a:lvl2pPr>
            <a:lvl3pPr algn="ctr">
              <a:defRPr sz="1050" b="1">
                <a:solidFill>
                  <a:srgbClr val="1D192B"/>
                </a:solidFill>
                <a:latin typeface="Roboto"/>
                <a:ea typeface="Roboto"/>
                <a:cs typeface="Roboto"/>
              </a:defRPr>
            </a:lvl3pPr>
            <a:lvl4pPr algn="ctr">
              <a:defRPr sz="1050" b="1">
                <a:solidFill>
                  <a:srgbClr val="1D192B"/>
                </a:solidFill>
                <a:latin typeface="Roboto"/>
                <a:ea typeface="Roboto"/>
                <a:cs typeface="Roboto"/>
              </a:defRPr>
            </a:lvl4pPr>
            <a:lvl5pPr algn="ctr">
              <a:defRPr sz="1050" b="1">
                <a:solidFill>
                  <a:srgbClr val="1D192B"/>
                </a:solidFill>
                <a:latin typeface="Roboto"/>
                <a:ea typeface="Roboto"/>
                <a:cs typeface="Roboto"/>
              </a:defRPr>
            </a:lvl5pPr>
            <a:lvl6pPr algn="ctr">
              <a:defRPr sz="1050" b="1">
                <a:solidFill>
                  <a:srgbClr val="1D192B"/>
                </a:solidFill>
                <a:latin typeface="Roboto"/>
                <a:ea typeface="Roboto"/>
                <a:cs typeface="Roboto"/>
              </a:defRPr>
            </a:lvl6pPr>
            <a:lvl7pPr algn="ctr">
              <a:defRPr sz="1050" b="1">
                <a:solidFill>
                  <a:srgbClr val="1D192B"/>
                </a:solidFill>
                <a:latin typeface="Roboto"/>
                <a:ea typeface="Roboto"/>
                <a:cs typeface="Roboto"/>
              </a:defRPr>
            </a:lvl7pPr>
            <a:lvl8pPr algn="ctr">
              <a:defRPr sz="1050" b="1">
                <a:solidFill>
                  <a:srgbClr val="1D192B"/>
                </a:solidFill>
                <a:latin typeface="Roboto"/>
                <a:ea typeface="Roboto"/>
                <a:cs typeface="Roboto"/>
              </a:defRPr>
            </a:lvl8pPr>
            <a:lvl9pPr algn="ctr">
              <a:defRPr sz="1050" b="1">
                <a:solidFill>
                  <a:srgbClr val="1D192B"/>
                </a:solidFill>
                <a:latin typeface="Roboto"/>
                <a:ea typeface="Roboto"/>
                <a:cs typeface="Roboto"/>
              </a:defRPr>
            </a:lvl9pPr>
          </a:lstStyle>
          <a:p xmlns:a="http://schemas.openxmlformats.org/drawingml/2006/main">
            <a:pPr algn="ctr">
              <a:defRPr sz="1050" b="1">
                <a:solidFill>
                  <a:srgbClr val="1D192B"/>
                </a:solidFill>
                <a:latin typeface="Roboto"/>
                <a:ea typeface="Roboto"/>
                <a:cs typeface="Roboto"/>
              </a:defRPr>
            </a:pPr>
            <a:r>
              <a:rPr sz="1050" b="1">
                <a:solidFill>
                  <a:srgbClr val="1D192B"/>
                </a:solidFill>
                <a:latin typeface="Roboto"/>
                <a:ea typeface="Roboto"/>
                <a:cs typeface="Roboto"/>
              </a:rPr>
              <a:t>2</a:t>
            </a:r>
          </a:p>
        </p:txBody>
      </p:sp>
      <p:sp>
        <p:nvSpPr>
          <p:cNvPr id="14" name="quote-term-1">
            <a:extLst xmlns:a="http://schemas.openxmlformats.org/drawingml/2006/main">
              <a:ext uri="{FF2B5EF4-FFF2-40B4-BE49-F238E27FC236}">
                <a16:creationId xmlns:a16="http://schemas.microsoft.com/office/drawing/2014/main" id="{30B0E9CA-AD83-4AEA-BB77-909F32D2C9A3}"/>
              </a:ext>
            </a:extLst>
          </p:cNvPr>
          <p:cNvSpPr>
            <a:spLocks xmlns:a="http://schemas.openxmlformats.org/drawingml/2006/main" noGrp="1"/>
          </p:cNvSpPr>
          <p:nvPr/>
        </p:nvSpPr>
        <p:spPr>
          <a:xfrm xmlns:a="http://schemas.openxmlformats.org/drawingml/2006/main">
            <a:off x="3581400" y="35337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C1B1F"/>
                </a:solidFill>
                <a:latin typeface="Roboto"/>
                <a:ea typeface="Roboto"/>
                <a:cs typeface="Roboto"/>
              </a:defRPr>
            </a:defPPr>
            <a:lvl1pPr algn="l">
              <a:defRPr sz="1650" b="1">
                <a:solidFill>
                  <a:srgbClr val="1C1B1F"/>
                </a:solidFill>
                <a:latin typeface="Roboto"/>
                <a:ea typeface="Roboto"/>
                <a:cs typeface="Roboto"/>
              </a:defRPr>
            </a:lvl1pPr>
            <a:lvl2pPr algn="l">
              <a:defRPr sz="1650" b="1">
                <a:solidFill>
                  <a:srgbClr val="1C1B1F"/>
                </a:solidFill>
                <a:latin typeface="Roboto"/>
                <a:ea typeface="Roboto"/>
                <a:cs typeface="Roboto"/>
              </a:defRPr>
            </a:lvl2pPr>
            <a:lvl3pPr algn="l">
              <a:defRPr sz="1650" b="1">
                <a:solidFill>
                  <a:srgbClr val="1C1B1F"/>
                </a:solidFill>
                <a:latin typeface="Roboto"/>
                <a:ea typeface="Roboto"/>
                <a:cs typeface="Roboto"/>
              </a:defRPr>
            </a:lvl3pPr>
            <a:lvl4pPr algn="l">
              <a:defRPr sz="1650" b="1">
                <a:solidFill>
                  <a:srgbClr val="1C1B1F"/>
                </a:solidFill>
                <a:latin typeface="Roboto"/>
                <a:ea typeface="Roboto"/>
                <a:cs typeface="Roboto"/>
              </a:defRPr>
            </a:lvl4pPr>
            <a:lvl5pPr algn="l">
              <a:defRPr sz="1650" b="1">
                <a:solidFill>
                  <a:srgbClr val="1C1B1F"/>
                </a:solidFill>
                <a:latin typeface="Roboto"/>
                <a:ea typeface="Roboto"/>
                <a:cs typeface="Roboto"/>
              </a:defRPr>
            </a:lvl5pPr>
            <a:lvl6pPr algn="l">
              <a:defRPr sz="1650" b="1">
                <a:solidFill>
                  <a:srgbClr val="1C1B1F"/>
                </a:solidFill>
                <a:latin typeface="Roboto"/>
                <a:ea typeface="Roboto"/>
                <a:cs typeface="Roboto"/>
              </a:defRPr>
            </a:lvl6pPr>
            <a:lvl7pPr algn="l">
              <a:defRPr sz="1650" b="1">
                <a:solidFill>
                  <a:srgbClr val="1C1B1F"/>
                </a:solidFill>
                <a:latin typeface="Roboto"/>
                <a:ea typeface="Roboto"/>
                <a:cs typeface="Roboto"/>
              </a:defRPr>
            </a:lvl7pPr>
            <a:lvl8pPr algn="l">
              <a:defRPr sz="1650" b="1">
                <a:solidFill>
                  <a:srgbClr val="1C1B1F"/>
                </a:solidFill>
                <a:latin typeface="Roboto"/>
                <a:ea typeface="Roboto"/>
                <a:cs typeface="Roboto"/>
              </a:defRPr>
            </a:lvl8pPr>
            <a:lvl9pPr algn="l">
              <a:defRPr sz="1650" b="1">
                <a:solidFill>
                  <a:srgbClr val="1C1B1F"/>
                </a:solidFill>
                <a:latin typeface="Roboto"/>
                <a:ea typeface="Roboto"/>
                <a:cs typeface="Roboto"/>
              </a:defRPr>
            </a:lvl9pPr>
          </a:lstStyle>
          <a:p xmlns:a="http://schemas.openxmlformats.org/drawingml/2006/main">
            <a:pPr algn="l">
              <a:defRPr sz="1650" b="1">
                <a:solidFill>
                  <a:srgbClr val="1C1B1F"/>
                </a:solidFill>
                <a:latin typeface="Roboto"/>
                <a:ea typeface="Roboto"/>
                <a:cs typeface="Roboto"/>
              </a:defRPr>
            </a:pPr>
            <a:r>
              <a:rPr sz="1650" b="1">
                <a:solidFill>
                  <a:srgbClr val="1C1B1F"/>
                </a:solidFill>
                <a:latin typeface="Roboto"/>
                <a:ea typeface="Roboto"/>
                <a:cs typeface="Roboto"/>
              </a:rPr>
              <a:t>INPUT</a:t>
            </a:r>
          </a:p>
        </p:txBody>
      </p:sp>
      <p:sp>
        <p:nvSpPr>
          <p:cNvPr id="15" name="quote-detail-1">
            <a:extLst xmlns:a="http://schemas.openxmlformats.org/drawingml/2006/main">
              <a:ext uri="{FF2B5EF4-FFF2-40B4-BE49-F238E27FC236}">
                <a16:creationId xmlns:a16="http://schemas.microsoft.com/office/drawing/2014/main" id="{52372BAD-935D-4947-A3F6-09202C1F9D79}"/>
              </a:ext>
            </a:extLst>
          </p:cNvPr>
          <p:cNvSpPr>
            <a:spLocks xmlns:a="http://schemas.openxmlformats.org/drawingml/2006/main" noGrp="1"/>
          </p:cNvSpPr>
          <p:nvPr/>
        </p:nvSpPr>
        <p:spPr>
          <a:xfrm xmlns:a="http://schemas.openxmlformats.org/drawingml/2006/main">
            <a:off x="3581400" y="3952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9454F"/>
                </a:solidFill>
                <a:latin typeface="Roboto"/>
                <a:ea typeface="Roboto"/>
                <a:cs typeface="Roboto"/>
              </a:defRPr>
            </a:defPPr>
            <a:lvl1pPr algn="l">
              <a:defRPr sz="1350" b="0">
                <a:solidFill>
                  <a:srgbClr val="49454F"/>
                </a:solidFill>
                <a:latin typeface="Roboto"/>
                <a:ea typeface="Roboto"/>
                <a:cs typeface="Roboto"/>
              </a:defRPr>
            </a:lvl1pPr>
            <a:lvl2pPr algn="l">
              <a:defRPr sz="1350" b="0">
                <a:solidFill>
                  <a:srgbClr val="49454F"/>
                </a:solidFill>
                <a:latin typeface="Roboto"/>
                <a:ea typeface="Roboto"/>
                <a:cs typeface="Roboto"/>
              </a:defRPr>
            </a:lvl2pPr>
            <a:lvl3pPr algn="l">
              <a:defRPr sz="1350" b="0">
                <a:solidFill>
                  <a:srgbClr val="49454F"/>
                </a:solidFill>
                <a:latin typeface="Roboto"/>
                <a:ea typeface="Roboto"/>
                <a:cs typeface="Roboto"/>
              </a:defRPr>
            </a:lvl3pPr>
            <a:lvl4pPr algn="l">
              <a:defRPr sz="1350" b="0">
                <a:solidFill>
                  <a:srgbClr val="49454F"/>
                </a:solidFill>
                <a:latin typeface="Roboto"/>
                <a:ea typeface="Roboto"/>
                <a:cs typeface="Roboto"/>
              </a:defRPr>
            </a:lvl4pPr>
            <a:lvl5pPr algn="l">
              <a:defRPr sz="1350" b="0">
                <a:solidFill>
                  <a:srgbClr val="49454F"/>
                </a:solidFill>
                <a:latin typeface="Roboto"/>
                <a:ea typeface="Roboto"/>
                <a:cs typeface="Roboto"/>
              </a:defRPr>
            </a:lvl5pPr>
            <a:lvl6pPr algn="l">
              <a:defRPr sz="1350" b="0">
                <a:solidFill>
                  <a:srgbClr val="49454F"/>
                </a:solidFill>
                <a:latin typeface="Roboto"/>
                <a:ea typeface="Roboto"/>
                <a:cs typeface="Roboto"/>
              </a:defRPr>
            </a:lvl6pPr>
            <a:lvl7pPr algn="l">
              <a:defRPr sz="1350" b="0">
                <a:solidFill>
                  <a:srgbClr val="49454F"/>
                </a:solidFill>
                <a:latin typeface="Roboto"/>
                <a:ea typeface="Roboto"/>
                <a:cs typeface="Roboto"/>
              </a:defRPr>
            </a:lvl7pPr>
            <a:lvl8pPr algn="l">
              <a:defRPr sz="1350" b="0">
                <a:solidFill>
                  <a:srgbClr val="49454F"/>
                </a:solidFill>
                <a:latin typeface="Roboto"/>
                <a:ea typeface="Roboto"/>
                <a:cs typeface="Roboto"/>
              </a:defRPr>
            </a:lvl8pPr>
            <a:lvl9pPr algn="l">
              <a:defRPr sz="1350" b="0">
                <a:solidFill>
                  <a:srgbClr val="49454F"/>
                </a:solidFill>
                <a:latin typeface="Roboto"/>
                <a:ea typeface="Roboto"/>
                <a:cs typeface="Roboto"/>
              </a:defRPr>
            </a:lvl9pPr>
          </a:lstStyle>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Source and</a:t>
            </a:r>
          </a:p>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input hashes</a:t>
            </a:r>
          </a:p>
        </p:txBody>
      </p:sp>
      <p:sp>
        <p:nvSpPr>
          <p:cNvPr id="16" name="quote-divider-2">
            <a:extLst xmlns:a="http://schemas.openxmlformats.org/drawingml/2006/main">
              <a:ext uri="{FF2B5EF4-FFF2-40B4-BE49-F238E27FC236}">
                <a16:creationId xmlns:a16="http://schemas.microsoft.com/office/drawing/2014/main" id="{B964EF9C-B808-4A36-A673-4A001295EA94}"/>
              </a:ext>
            </a:extLst>
          </p:cNvPr>
          <p:cNvSpPr>
            <a:spLocks xmlns:a="http://schemas.openxmlformats.org/drawingml/2006/main" noGrp="1"/>
          </p:cNvSpPr>
          <p:nvPr/>
        </p:nvSpPr>
        <p:spPr>
          <a:xfrm xmlns:a="http://schemas.openxmlformats.org/drawingml/2006/main">
            <a:off x="6038850" y="3076575"/>
            <a:ext cx="0" cy="158115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7" name="quote-number-2">
            <a:extLst xmlns:a="http://schemas.openxmlformats.org/drawingml/2006/main">
              <a:ext uri="{FF2B5EF4-FFF2-40B4-BE49-F238E27FC236}">
                <a16:creationId xmlns:a16="http://schemas.microsoft.com/office/drawing/2014/main" id="{F28F67C6-62DF-4D51-BA66-D7EF850CFD85}"/>
              </a:ext>
            </a:extLst>
          </p:cNvPr>
          <p:cNvSpPr>
            <a:spLocks xmlns:a="http://schemas.openxmlformats.org/drawingml/2006/main" noGrp="1"/>
          </p:cNvSpPr>
          <p:nvPr/>
        </p:nvSpPr>
        <p:spPr>
          <a:xfrm xmlns:a="http://schemas.openxmlformats.org/drawingml/2006/main">
            <a:off x="6229350" y="3067050"/>
            <a:ext cx="323850" cy="3238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1050" b="1">
                <a:solidFill>
                  <a:srgbClr val="1D192B"/>
                </a:solidFill>
                <a:latin typeface="Roboto"/>
                <a:ea typeface="Roboto"/>
                <a:cs typeface="Roboto"/>
              </a:defRPr>
            </a:defPPr>
            <a:lvl1pPr algn="ctr">
              <a:defRPr sz="1050" b="1">
                <a:solidFill>
                  <a:srgbClr val="1D192B"/>
                </a:solidFill>
                <a:latin typeface="Roboto"/>
                <a:ea typeface="Roboto"/>
                <a:cs typeface="Roboto"/>
              </a:defRPr>
            </a:lvl1pPr>
            <a:lvl2pPr algn="ctr">
              <a:defRPr sz="1050" b="1">
                <a:solidFill>
                  <a:srgbClr val="1D192B"/>
                </a:solidFill>
                <a:latin typeface="Roboto"/>
                <a:ea typeface="Roboto"/>
                <a:cs typeface="Roboto"/>
              </a:defRPr>
            </a:lvl2pPr>
            <a:lvl3pPr algn="ctr">
              <a:defRPr sz="1050" b="1">
                <a:solidFill>
                  <a:srgbClr val="1D192B"/>
                </a:solidFill>
                <a:latin typeface="Roboto"/>
                <a:ea typeface="Roboto"/>
                <a:cs typeface="Roboto"/>
              </a:defRPr>
            </a:lvl3pPr>
            <a:lvl4pPr algn="ctr">
              <a:defRPr sz="1050" b="1">
                <a:solidFill>
                  <a:srgbClr val="1D192B"/>
                </a:solidFill>
                <a:latin typeface="Roboto"/>
                <a:ea typeface="Roboto"/>
                <a:cs typeface="Roboto"/>
              </a:defRPr>
            </a:lvl4pPr>
            <a:lvl5pPr algn="ctr">
              <a:defRPr sz="1050" b="1">
                <a:solidFill>
                  <a:srgbClr val="1D192B"/>
                </a:solidFill>
                <a:latin typeface="Roboto"/>
                <a:ea typeface="Roboto"/>
                <a:cs typeface="Roboto"/>
              </a:defRPr>
            </a:lvl5pPr>
            <a:lvl6pPr algn="ctr">
              <a:defRPr sz="1050" b="1">
                <a:solidFill>
                  <a:srgbClr val="1D192B"/>
                </a:solidFill>
                <a:latin typeface="Roboto"/>
                <a:ea typeface="Roboto"/>
                <a:cs typeface="Roboto"/>
              </a:defRPr>
            </a:lvl6pPr>
            <a:lvl7pPr algn="ctr">
              <a:defRPr sz="1050" b="1">
                <a:solidFill>
                  <a:srgbClr val="1D192B"/>
                </a:solidFill>
                <a:latin typeface="Roboto"/>
                <a:ea typeface="Roboto"/>
                <a:cs typeface="Roboto"/>
              </a:defRPr>
            </a:lvl7pPr>
            <a:lvl8pPr algn="ctr">
              <a:defRPr sz="1050" b="1">
                <a:solidFill>
                  <a:srgbClr val="1D192B"/>
                </a:solidFill>
                <a:latin typeface="Roboto"/>
                <a:ea typeface="Roboto"/>
                <a:cs typeface="Roboto"/>
              </a:defRPr>
            </a:lvl8pPr>
            <a:lvl9pPr algn="ctr">
              <a:defRPr sz="1050" b="1">
                <a:solidFill>
                  <a:srgbClr val="1D192B"/>
                </a:solidFill>
                <a:latin typeface="Roboto"/>
                <a:ea typeface="Roboto"/>
                <a:cs typeface="Roboto"/>
              </a:defRPr>
            </a:lvl9pPr>
          </a:lstStyle>
          <a:p xmlns:a="http://schemas.openxmlformats.org/drawingml/2006/main">
            <a:pPr algn="ctr">
              <a:defRPr sz="1050" b="1">
                <a:solidFill>
                  <a:srgbClr val="1D192B"/>
                </a:solidFill>
                <a:latin typeface="Roboto"/>
                <a:ea typeface="Roboto"/>
                <a:cs typeface="Roboto"/>
              </a:defRPr>
            </a:pPr>
            <a:r>
              <a:rPr sz="1050" b="1">
                <a:solidFill>
                  <a:srgbClr val="1D192B"/>
                </a:solidFill>
                <a:latin typeface="Roboto"/>
                <a:ea typeface="Roboto"/>
                <a:cs typeface="Roboto"/>
              </a:rPr>
              <a:t>3</a:t>
            </a:r>
          </a:p>
        </p:txBody>
      </p:sp>
      <p:sp>
        <p:nvSpPr>
          <p:cNvPr id="18" name="quote-term-2">
            <a:extLst xmlns:a="http://schemas.openxmlformats.org/drawingml/2006/main">
              <a:ext uri="{FF2B5EF4-FFF2-40B4-BE49-F238E27FC236}">
                <a16:creationId xmlns:a16="http://schemas.microsoft.com/office/drawing/2014/main" id="{5C3BC840-04D2-4AA9-B90D-B241B1A1AECF}"/>
              </a:ext>
            </a:extLst>
          </p:cNvPr>
          <p:cNvSpPr>
            <a:spLocks xmlns:a="http://schemas.openxmlformats.org/drawingml/2006/main" noGrp="1"/>
          </p:cNvSpPr>
          <p:nvPr/>
        </p:nvSpPr>
        <p:spPr>
          <a:xfrm xmlns:a="http://schemas.openxmlformats.org/drawingml/2006/main">
            <a:off x="6229350" y="35337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C1B1F"/>
                </a:solidFill>
                <a:latin typeface="Roboto"/>
                <a:ea typeface="Roboto"/>
                <a:cs typeface="Roboto"/>
              </a:defRPr>
            </a:defPPr>
            <a:lvl1pPr algn="l">
              <a:defRPr sz="1650" b="1">
                <a:solidFill>
                  <a:srgbClr val="1C1B1F"/>
                </a:solidFill>
                <a:latin typeface="Roboto"/>
                <a:ea typeface="Roboto"/>
                <a:cs typeface="Roboto"/>
              </a:defRPr>
            </a:lvl1pPr>
            <a:lvl2pPr algn="l">
              <a:defRPr sz="1650" b="1">
                <a:solidFill>
                  <a:srgbClr val="1C1B1F"/>
                </a:solidFill>
                <a:latin typeface="Roboto"/>
                <a:ea typeface="Roboto"/>
                <a:cs typeface="Roboto"/>
              </a:defRPr>
            </a:lvl2pPr>
            <a:lvl3pPr algn="l">
              <a:defRPr sz="1650" b="1">
                <a:solidFill>
                  <a:srgbClr val="1C1B1F"/>
                </a:solidFill>
                <a:latin typeface="Roboto"/>
                <a:ea typeface="Roboto"/>
                <a:cs typeface="Roboto"/>
              </a:defRPr>
            </a:lvl3pPr>
            <a:lvl4pPr algn="l">
              <a:defRPr sz="1650" b="1">
                <a:solidFill>
                  <a:srgbClr val="1C1B1F"/>
                </a:solidFill>
                <a:latin typeface="Roboto"/>
                <a:ea typeface="Roboto"/>
                <a:cs typeface="Roboto"/>
              </a:defRPr>
            </a:lvl4pPr>
            <a:lvl5pPr algn="l">
              <a:defRPr sz="1650" b="1">
                <a:solidFill>
                  <a:srgbClr val="1C1B1F"/>
                </a:solidFill>
                <a:latin typeface="Roboto"/>
                <a:ea typeface="Roboto"/>
                <a:cs typeface="Roboto"/>
              </a:defRPr>
            </a:lvl5pPr>
            <a:lvl6pPr algn="l">
              <a:defRPr sz="1650" b="1">
                <a:solidFill>
                  <a:srgbClr val="1C1B1F"/>
                </a:solidFill>
                <a:latin typeface="Roboto"/>
                <a:ea typeface="Roboto"/>
                <a:cs typeface="Roboto"/>
              </a:defRPr>
            </a:lvl6pPr>
            <a:lvl7pPr algn="l">
              <a:defRPr sz="1650" b="1">
                <a:solidFill>
                  <a:srgbClr val="1C1B1F"/>
                </a:solidFill>
                <a:latin typeface="Roboto"/>
                <a:ea typeface="Roboto"/>
                <a:cs typeface="Roboto"/>
              </a:defRPr>
            </a:lvl7pPr>
            <a:lvl8pPr algn="l">
              <a:defRPr sz="1650" b="1">
                <a:solidFill>
                  <a:srgbClr val="1C1B1F"/>
                </a:solidFill>
                <a:latin typeface="Roboto"/>
                <a:ea typeface="Roboto"/>
                <a:cs typeface="Roboto"/>
              </a:defRPr>
            </a:lvl8pPr>
            <a:lvl9pPr algn="l">
              <a:defRPr sz="1650" b="1">
                <a:solidFill>
                  <a:srgbClr val="1C1B1F"/>
                </a:solidFill>
                <a:latin typeface="Roboto"/>
                <a:ea typeface="Roboto"/>
                <a:cs typeface="Roboto"/>
              </a:defRPr>
            </a:lvl9pPr>
          </a:lstStyle>
          <a:p xmlns:a="http://schemas.openxmlformats.org/drawingml/2006/main">
            <a:pPr algn="l">
              <a:defRPr sz="1650" b="1">
                <a:solidFill>
                  <a:srgbClr val="1C1B1F"/>
                </a:solidFill>
                <a:latin typeface="Roboto"/>
                <a:ea typeface="Roboto"/>
                <a:cs typeface="Roboto"/>
              </a:defRPr>
            </a:pPr>
            <a:r>
              <a:rPr sz="1650" b="1">
                <a:solidFill>
                  <a:srgbClr val="1C1B1F"/>
                </a:solidFill>
                <a:latin typeface="Roboto"/>
                <a:ea typeface="Roboto"/>
                <a:cs typeface="Roboto"/>
              </a:rPr>
              <a:t>SPEND</a:t>
            </a:r>
          </a:p>
        </p:txBody>
      </p:sp>
      <p:sp>
        <p:nvSpPr>
          <p:cNvPr id="19" name="quote-detail-2">
            <a:extLst xmlns:a="http://schemas.openxmlformats.org/drawingml/2006/main">
              <a:ext uri="{FF2B5EF4-FFF2-40B4-BE49-F238E27FC236}">
                <a16:creationId xmlns:a16="http://schemas.microsoft.com/office/drawing/2014/main" id="{1379BF53-4052-4B62-A9BD-BEC536E48715}"/>
              </a:ext>
            </a:extLst>
          </p:cNvPr>
          <p:cNvSpPr>
            <a:spLocks xmlns:a="http://schemas.openxmlformats.org/drawingml/2006/main" noGrp="1"/>
          </p:cNvSpPr>
          <p:nvPr/>
        </p:nvSpPr>
        <p:spPr>
          <a:xfrm xmlns:a="http://schemas.openxmlformats.org/drawingml/2006/main">
            <a:off x="6229350" y="3952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9454F"/>
                </a:solidFill>
                <a:latin typeface="Roboto"/>
                <a:ea typeface="Roboto"/>
                <a:cs typeface="Roboto"/>
              </a:defRPr>
            </a:defPPr>
            <a:lvl1pPr algn="l">
              <a:defRPr sz="1350" b="0">
                <a:solidFill>
                  <a:srgbClr val="49454F"/>
                </a:solidFill>
                <a:latin typeface="Roboto"/>
                <a:ea typeface="Roboto"/>
                <a:cs typeface="Roboto"/>
              </a:defRPr>
            </a:lvl1pPr>
            <a:lvl2pPr algn="l">
              <a:defRPr sz="1350" b="0">
                <a:solidFill>
                  <a:srgbClr val="49454F"/>
                </a:solidFill>
                <a:latin typeface="Roboto"/>
                <a:ea typeface="Roboto"/>
                <a:cs typeface="Roboto"/>
              </a:defRPr>
            </a:lvl2pPr>
            <a:lvl3pPr algn="l">
              <a:defRPr sz="1350" b="0">
                <a:solidFill>
                  <a:srgbClr val="49454F"/>
                </a:solidFill>
                <a:latin typeface="Roboto"/>
                <a:ea typeface="Roboto"/>
                <a:cs typeface="Roboto"/>
              </a:defRPr>
            </a:lvl3pPr>
            <a:lvl4pPr algn="l">
              <a:defRPr sz="1350" b="0">
                <a:solidFill>
                  <a:srgbClr val="49454F"/>
                </a:solidFill>
                <a:latin typeface="Roboto"/>
                <a:ea typeface="Roboto"/>
                <a:cs typeface="Roboto"/>
              </a:defRPr>
            </a:lvl4pPr>
            <a:lvl5pPr algn="l">
              <a:defRPr sz="1350" b="0">
                <a:solidFill>
                  <a:srgbClr val="49454F"/>
                </a:solidFill>
                <a:latin typeface="Roboto"/>
                <a:ea typeface="Roboto"/>
                <a:cs typeface="Roboto"/>
              </a:defRPr>
            </a:lvl5pPr>
            <a:lvl6pPr algn="l">
              <a:defRPr sz="1350" b="0">
                <a:solidFill>
                  <a:srgbClr val="49454F"/>
                </a:solidFill>
                <a:latin typeface="Roboto"/>
                <a:ea typeface="Roboto"/>
                <a:cs typeface="Roboto"/>
              </a:defRPr>
            </a:lvl6pPr>
            <a:lvl7pPr algn="l">
              <a:defRPr sz="1350" b="0">
                <a:solidFill>
                  <a:srgbClr val="49454F"/>
                </a:solidFill>
                <a:latin typeface="Roboto"/>
                <a:ea typeface="Roboto"/>
                <a:cs typeface="Roboto"/>
              </a:defRPr>
            </a:lvl7pPr>
            <a:lvl8pPr algn="l">
              <a:defRPr sz="1350" b="0">
                <a:solidFill>
                  <a:srgbClr val="49454F"/>
                </a:solidFill>
                <a:latin typeface="Roboto"/>
                <a:ea typeface="Roboto"/>
                <a:cs typeface="Roboto"/>
              </a:defRPr>
            </a:lvl8pPr>
            <a:lvl9pPr algn="l">
              <a:defRPr sz="1350" b="0">
                <a:solidFill>
                  <a:srgbClr val="49454F"/>
                </a:solidFill>
                <a:latin typeface="Roboto"/>
                <a:ea typeface="Roboto"/>
                <a:cs typeface="Roboto"/>
              </a:defRPr>
            </a:lvl9pPr>
          </a:lstStyle>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Maximum</a:t>
            </a:r>
          </a:p>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charge</a:t>
            </a:r>
          </a:p>
        </p:txBody>
      </p:sp>
      <p:sp>
        <p:nvSpPr>
          <p:cNvPr id="20" name="quote-divider-3">
            <a:extLst xmlns:a="http://schemas.openxmlformats.org/drawingml/2006/main">
              <a:ext uri="{FF2B5EF4-FFF2-40B4-BE49-F238E27FC236}">
                <a16:creationId xmlns:a16="http://schemas.microsoft.com/office/drawing/2014/main" id="{6B6B0B04-8E96-4457-8F34-A9F7B47B3E8C}"/>
              </a:ext>
            </a:extLst>
          </p:cNvPr>
          <p:cNvSpPr>
            <a:spLocks xmlns:a="http://schemas.openxmlformats.org/drawingml/2006/main" noGrp="1"/>
          </p:cNvSpPr>
          <p:nvPr/>
        </p:nvSpPr>
        <p:spPr>
          <a:xfrm xmlns:a="http://schemas.openxmlformats.org/drawingml/2006/main">
            <a:off x="8686800" y="3076575"/>
            <a:ext cx="0" cy="158115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21" name="quote-number-3">
            <a:extLst xmlns:a="http://schemas.openxmlformats.org/drawingml/2006/main">
              <a:ext uri="{FF2B5EF4-FFF2-40B4-BE49-F238E27FC236}">
                <a16:creationId xmlns:a16="http://schemas.microsoft.com/office/drawing/2014/main" id="{69503974-CDC7-4306-BE25-A129C0D0C776}"/>
              </a:ext>
            </a:extLst>
          </p:cNvPr>
          <p:cNvSpPr>
            <a:spLocks xmlns:a="http://schemas.openxmlformats.org/drawingml/2006/main" noGrp="1"/>
          </p:cNvSpPr>
          <p:nvPr/>
        </p:nvSpPr>
        <p:spPr>
          <a:xfrm xmlns:a="http://schemas.openxmlformats.org/drawingml/2006/main">
            <a:off x="8877300" y="3067050"/>
            <a:ext cx="323850" cy="32385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1050" b="1">
                <a:solidFill>
                  <a:srgbClr val="1D192B"/>
                </a:solidFill>
                <a:latin typeface="Roboto"/>
                <a:ea typeface="Roboto"/>
                <a:cs typeface="Roboto"/>
              </a:defRPr>
            </a:defPPr>
            <a:lvl1pPr algn="ctr">
              <a:defRPr sz="1050" b="1">
                <a:solidFill>
                  <a:srgbClr val="1D192B"/>
                </a:solidFill>
                <a:latin typeface="Roboto"/>
                <a:ea typeface="Roboto"/>
                <a:cs typeface="Roboto"/>
              </a:defRPr>
            </a:lvl1pPr>
            <a:lvl2pPr algn="ctr">
              <a:defRPr sz="1050" b="1">
                <a:solidFill>
                  <a:srgbClr val="1D192B"/>
                </a:solidFill>
                <a:latin typeface="Roboto"/>
                <a:ea typeface="Roboto"/>
                <a:cs typeface="Roboto"/>
              </a:defRPr>
            </a:lvl2pPr>
            <a:lvl3pPr algn="ctr">
              <a:defRPr sz="1050" b="1">
                <a:solidFill>
                  <a:srgbClr val="1D192B"/>
                </a:solidFill>
                <a:latin typeface="Roboto"/>
                <a:ea typeface="Roboto"/>
                <a:cs typeface="Roboto"/>
              </a:defRPr>
            </a:lvl3pPr>
            <a:lvl4pPr algn="ctr">
              <a:defRPr sz="1050" b="1">
                <a:solidFill>
                  <a:srgbClr val="1D192B"/>
                </a:solidFill>
                <a:latin typeface="Roboto"/>
                <a:ea typeface="Roboto"/>
                <a:cs typeface="Roboto"/>
              </a:defRPr>
            </a:lvl4pPr>
            <a:lvl5pPr algn="ctr">
              <a:defRPr sz="1050" b="1">
                <a:solidFill>
                  <a:srgbClr val="1D192B"/>
                </a:solidFill>
                <a:latin typeface="Roboto"/>
                <a:ea typeface="Roboto"/>
                <a:cs typeface="Roboto"/>
              </a:defRPr>
            </a:lvl5pPr>
            <a:lvl6pPr algn="ctr">
              <a:defRPr sz="1050" b="1">
                <a:solidFill>
                  <a:srgbClr val="1D192B"/>
                </a:solidFill>
                <a:latin typeface="Roboto"/>
                <a:ea typeface="Roboto"/>
                <a:cs typeface="Roboto"/>
              </a:defRPr>
            </a:lvl6pPr>
            <a:lvl7pPr algn="ctr">
              <a:defRPr sz="1050" b="1">
                <a:solidFill>
                  <a:srgbClr val="1D192B"/>
                </a:solidFill>
                <a:latin typeface="Roboto"/>
                <a:ea typeface="Roboto"/>
                <a:cs typeface="Roboto"/>
              </a:defRPr>
            </a:lvl7pPr>
            <a:lvl8pPr algn="ctr">
              <a:defRPr sz="1050" b="1">
                <a:solidFill>
                  <a:srgbClr val="1D192B"/>
                </a:solidFill>
                <a:latin typeface="Roboto"/>
                <a:ea typeface="Roboto"/>
                <a:cs typeface="Roboto"/>
              </a:defRPr>
            </a:lvl8pPr>
            <a:lvl9pPr algn="ctr">
              <a:defRPr sz="1050" b="1">
                <a:solidFill>
                  <a:srgbClr val="1D192B"/>
                </a:solidFill>
                <a:latin typeface="Roboto"/>
                <a:ea typeface="Roboto"/>
                <a:cs typeface="Roboto"/>
              </a:defRPr>
            </a:lvl9pPr>
          </a:lstStyle>
          <a:p xmlns:a="http://schemas.openxmlformats.org/drawingml/2006/main">
            <a:pPr algn="ctr">
              <a:defRPr sz="1050" b="1">
                <a:solidFill>
                  <a:srgbClr val="1D192B"/>
                </a:solidFill>
                <a:latin typeface="Roboto"/>
                <a:ea typeface="Roboto"/>
                <a:cs typeface="Roboto"/>
              </a:defRPr>
            </a:pPr>
            <a:r>
              <a:rPr sz="1050" b="1">
                <a:solidFill>
                  <a:srgbClr val="1D192B"/>
                </a:solidFill>
                <a:latin typeface="Roboto"/>
                <a:ea typeface="Roboto"/>
                <a:cs typeface="Roboto"/>
              </a:rPr>
              <a:t>4</a:t>
            </a:r>
          </a:p>
        </p:txBody>
      </p:sp>
      <p:sp>
        <p:nvSpPr>
          <p:cNvPr id="22" name="quote-term-3">
            <a:extLst xmlns:a="http://schemas.openxmlformats.org/drawingml/2006/main">
              <a:ext uri="{FF2B5EF4-FFF2-40B4-BE49-F238E27FC236}">
                <a16:creationId xmlns:a16="http://schemas.microsoft.com/office/drawing/2014/main" id="{F83A8AE0-FC2D-435A-8E5A-205A3AFB09F2}"/>
              </a:ext>
            </a:extLst>
          </p:cNvPr>
          <p:cNvSpPr>
            <a:spLocks xmlns:a="http://schemas.openxmlformats.org/drawingml/2006/main" noGrp="1"/>
          </p:cNvSpPr>
          <p:nvPr/>
        </p:nvSpPr>
        <p:spPr>
          <a:xfrm xmlns:a="http://schemas.openxmlformats.org/drawingml/2006/main">
            <a:off x="8877300" y="3533775"/>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C1B1F"/>
                </a:solidFill>
                <a:latin typeface="Roboto"/>
                <a:ea typeface="Roboto"/>
                <a:cs typeface="Roboto"/>
              </a:defRPr>
            </a:defPPr>
            <a:lvl1pPr algn="l">
              <a:defRPr sz="1650" b="1">
                <a:solidFill>
                  <a:srgbClr val="1C1B1F"/>
                </a:solidFill>
                <a:latin typeface="Roboto"/>
                <a:ea typeface="Roboto"/>
                <a:cs typeface="Roboto"/>
              </a:defRPr>
            </a:lvl1pPr>
            <a:lvl2pPr algn="l">
              <a:defRPr sz="1650" b="1">
                <a:solidFill>
                  <a:srgbClr val="1C1B1F"/>
                </a:solidFill>
                <a:latin typeface="Roboto"/>
                <a:ea typeface="Roboto"/>
                <a:cs typeface="Roboto"/>
              </a:defRPr>
            </a:lvl2pPr>
            <a:lvl3pPr algn="l">
              <a:defRPr sz="1650" b="1">
                <a:solidFill>
                  <a:srgbClr val="1C1B1F"/>
                </a:solidFill>
                <a:latin typeface="Roboto"/>
                <a:ea typeface="Roboto"/>
                <a:cs typeface="Roboto"/>
              </a:defRPr>
            </a:lvl3pPr>
            <a:lvl4pPr algn="l">
              <a:defRPr sz="1650" b="1">
                <a:solidFill>
                  <a:srgbClr val="1C1B1F"/>
                </a:solidFill>
                <a:latin typeface="Roboto"/>
                <a:ea typeface="Roboto"/>
                <a:cs typeface="Roboto"/>
              </a:defRPr>
            </a:lvl4pPr>
            <a:lvl5pPr algn="l">
              <a:defRPr sz="1650" b="1">
                <a:solidFill>
                  <a:srgbClr val="1C1B1F"/>
                </a:solidFill>
                <a:latin typeface="Roboto"/>
                <a:ea typeface="Roboto"/>
                <a:cs typeface="Roboto"/>
              </a:defRPr>
            </a:lvl5pPr>
            <a:lvl6pPr algn="l">
              <a:defRPr sz="1650" b="1">
                <a:solidFill>
                  <a:srgbClr val="1C1B1F"/>
                </a:solidFill>
                <a:latin typeface="Roboto"/>
                <a:ea typeface="Roboto"/>
                <a:cs typeface="Roboto"/>
              </a:defRPr>
            </a:lvl6pPr>
            <a:lvl7pPr algn="l">
              <a:defRPr sz="1650" b="1">
                <a:solidFill>
                  <a:srgbClr val="1C1B1F"/>
                </a:solidFill>
                <a:latin typeface="Roboto"/>
                <a:ea typeface="Roboto"/>
                <a:cs typeface="Roboto"/>
              </a:defRPr>
            </a:lvl7pPr>
            <a:lvl8pPr algn="l">
              <a:defRPr sz="1650" b="1">
                <a:solidFill>
                  <a:srgbClr val="1C1B1F"/>
                </a:solidFill>
                <a:latin typeface="Roboto"/>
                <a:ea typeface="Roboto"/>
                <a:cs typeface="Roboto"/>
              </a:defRPr>
            </a:lvl8pPr>
            <a:lvl9pPr algn="l">
              <a:defRPr sz="1650" b="1">
                <a:solidFill>
                  <a:srgbClr val="1C1B1F"/>
                </a:solidFill>
                <a:latin typeface="Roboto"/>
                <a:ea typeface="Roboto"/>
                <a:cs typeface="Roboto"/>
              </a:defRPr>
            </a:lvl9pPr>
          </a:lstStyle>
          <a:p xmlns:a="http://schemas.openxmlformats.org/drawingml/2006/main">
            <a:pPr algn="l">
              <a:defRPr sz="1650" b="1">
                <a:solidFill>
                  <a:srgbClr val="1C1B1F"/>
                </a:solidFill>
                <a:latin typeface="Roboto"/>
                <a:ea typeface="Roboto"/>
                <a:cs typeface="Roboto"/>
              </a:defRPr>
            </a:pPr>
            <a:r>
              <a:rPr sz="1650" b="1">
                <a:solidFill>
                  <a:srgbClr val="1C1B1F"/>
                </a:solidFill>
                <a:latin typeface="Roboto"/>
                <a:ea typeface="Roboto"/>
                <a:cs typeface="Roboto"/>
              </a:rPr>
              <a:t>RUNTIME</a:t>
            </a:r>
          </a:p>
        </p:txBody>
      </p:sp>
      <p:sp>
        <p:nvSpPr>
          <p:cNvPr id="23" name="quote-detail-3">
            <a:extLst xmlns:a="http://schemas.openxmlformats.org/drawingml/2006/main">
              <a:ext uri="{FF2B5EF4-FFF2-40B4-BE49-F238E27FC236}">
                <a16:creationId xmlns:a16="http://schemas.microsoft.com/office/drawing/2014/main" id="{C3511718-5280-4507-98B5-C6DEF7240AA1}"/>
              </a:ext>
            </a:extLst>
          </p:cNvPr>
          <p:cNvSpPr>
            <a:spLocks xmlns:a="http://schemas.openxmlformats.org/drawingml/2006/main" noGrp="1"/>
          </p:cNvSpPr>
          <p:nvPr/>
        </p:nvSpPr>
        <p:spPr>
          <a:xfrm xmlns:a="http://schemas.openxmlformats.org/drawingml/2006/main">
            <a:off x="8877300" y="39528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49454F"/>
                </a:solidFill>
                <a:latin typeface="Roboto"/>
                <a:ea typeface="Roboto"/>
                <a:cs typeface="Roboto"/>
              </a:defRPr>
            </a:defPPr>
            <a:lvl1pPr algn="l">
              <a:defRPr sz="1350" b="0">
                <a:solidFill>
                  <a:srgbClr val="49454F"/>
                </a:solidFill>
                <a:latin typeface="Roboto"/>
                <a:ea typeface="Roboto"/>
                <a:cs typeface="Roboto"/>
              </a:defRPr>
            </a:lvl1pPr>
            <a:lvl2pPr algn="l">
              <a:defRPr sz="1350" b="0">
                <a:solidFill>
                  <a:srgbClr val="49454F"/>
                </a:solidFill>
                <a:latin typeface="Roboto"/>
                <a:ea typeface="Roboto"/>
                <a:cs typeface="Roboto"/>
              </a:defRPr>
            </a:lvl2pPr>
            <a:lvl3pPr algn="l">
              <a:defRPr sz="1350" b="0">
                <a:solidFill>
                  <a:srgbClr val="49454F"/>
                </a:solidFill>
                <a:latin typeface="Roboto"/>
                <a:ea typeface="Roboto"/>
                <a:cs typeface="Roboto"/>
              </a:defRPr>
            </a:lvl3pPr>
            <a:lvl4pPr algn="l">
              <a:defRPr sz="1350" b="0">
                <a:solidFill>
                  <a:srgbClr val="49454F"/>
                </a:solidFill>
                <a:latin typeface="Roboto"/>
                <a:ea typeface="Roboto"/>
                <a:cs typeface="Roboto"/>
              </a:defRPr>
            </a:lvl4pPr>
            <a:lvl5pPr algn="l">
              <a:defRPr sz="1350" b="0">
                <a:solidFill>
                  <a:srgbClr val="49454F"/>
                </a:solidFill>
                <a:latin typeface="Roboto"/>
                <a:ea typeface="Roboto"/>
                <a:cs typeface="Roboto"/>
              </a:defRPr>
            </a:lvl5pPr>
            <a:lvl6pPr algn="l">
              <a:defRPr sz="1350" b="0">
                <a:solidFill>
                  <a:srgbClr val="49454F"/>
                </a:solidFill>
                <a:latin typeface="Roboto"/>
                <a:ea typeface="Roboto"/>
                <a:cs typeface="Roboto"/>
              </a:defRPr>
            </a:lvl6pPr>
            <a:lvl7pPr algn="l">
              <a:defRPr sz="1350" b="0">
                <a:solidFill>
                  <a:srgbClr val="49454F"/>
                </a:solidFill>
                <a:latin typeface="Roboto"/>
                <a:ea typeface="Roboto"/>
                <a:cs typeface="Roboto"/>
              </a:defRPr>
            </a:lvl7pPr>
            <a:lvl8pPr algn="l">
              <a:defRPr sz="1350" b="0">
                <a:solidFill>
                  <a:srgbClr val="49454F"/>
                </a:solidFill>
                <a:latin typeface="Roboto"/>
                <a:ea typeface="Roboto"/>
                <a:cs typeface="Roboto"/>
              </a:defRPr>
            </a:lvl8pPr>
            <a:lvl9pPr algn="l">
              <a:defRPr sz="1350" b="0">
                <a:solidFill>
                  <a:srgbClr val="49454F"/>
                </a:solidFill>
                <a:latin typeface="Roboto"/>
                <a:ea typeface="Roboto"/>
                <a:cs typeface="Roboto"/>
              </a:defRPr>
            </a:lvl9pPr>
          </a:lstStyle>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Execution</a:t>
            </a:r>
          </a:p>
          <a:p xmlns:a="http://schemas.openxmlformats.org/drawingml/2006/main">
            <a:pPr algn="l">
              <a:defRPr sz="1350" b="0">
                <a:solidFill>
                  <a:srgbClr val="49454F"/>
                </a:solidFill>
                <a:latin typeface="Roboto"/>
                <a:ea typeface="Roboto"/>
                <a:cs typeface="Roboto"/>
              </a:defRPr>
            </a:pPr>
            <a:r>
              <a:rPr sz="1350" b="0">
                <a:solidFill>
                  <a:srgbClr val="49454F"/>
                </a:solidFill>
                <a:latin typeface="Roboto"/>
                <a:ea typeface="Roboto"/>
                <a:cs typeface="Roboto"/>
              </a:rPr>
              <a:t>time ceiling</a:t>
            </a:r>
          </a:p>
        </p:txBody>
      </p:sp>
      <p:sp>
        <p:nvSpPr>
          <p:cNvPr id="24" name="agent-connection-label">
            <a:extLst xmlns:a="http://schemas.openxmlformats.org/drawingml/2006/main">
              <a:ext uri="{FF2B5EF4-FFF2-40B4-BE49-F238E27FC236}">
                <a16:creationId xmlns:a16="http://schemas.microsoft.com/office/drawing/2014/main" id="{240BF45E-BA98-4D68-8360-410BEA27E574}"/>
              </a:ext>
            </a:extLst>
          </p:cNvPr>
          <p:cNvSpPr>
            <a:spLocks xmlns:a="http://schemas.openxmlformats.org/drawingml/2006/main" noGrp="1"/>
          </p:cNvSpPr>
          <p:nvPr/>
        </p:nvSpPr>
        <p:spPr>
          <a:xfrm xmlns:a="http://schemas.openxmlformats.org/drawingml/2006/main">
            <a:off x="781050" y="5257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49454F"/>
                </a:solidFill>
                <a:latin typeface="Roboto"/>
                <a:ea typeface="Roboto"/>
                <a:cs typeface="Roboto"/>
              </a:defRPr>
            </a:defPPr>
            <a:lvl1pPr algn="l">
              <a:defRPr sz="975" b="1">
                <a:solidFill>
                  <a:srgbClr val="49454F"/>
                </a:solidFill>
                <a:latin typeface="Roboto"/>
                <a:ea typeface="Roboto"/>
                <a:cs typeface="Roboto"/>
              </a:defRPr>
            </a:lvl1pPr>
            <a:lvl2pPr algn="l">
              <a:defRPr sz="975" b="1">
                <a:solidFill>
                  <a:srgbClr val="49454F"/>
                </a:solidFill>
                <a:latin typeface="Roboto"/>
                <a:ea typeface="Roboto"/>
                <a:cs typeface="Roboto"/>
              </a:defRPr>
            </a:lvl2pPr>
            <a:lvl3pPr algn="l">
              <a:defRPr sz="975" b="1">
                <a:solidFill>
                  <a:srgbClr val="49454F"/>
                </a:solidFill>
                <a:latin typeface="Roboto"/>
                <a:ea typeface="Roboto"/>
                <a:cs typeface="Roboto"/>
              </a:defRPr>
            </a:lvl3pPr>
            <a:lvl4pPr algn="l">
              <a:defRPr sz="975" b="1">
                <a:solidFill>
                  <a:srgbClr val="49454F"/>
                </a:solidFill>
                <a:latin typeface="Roboto"/>
                <a:ea typeface="Roboto"/>
                <a:cs typeface="Roboto"/>
              </a:defRPr>
            </a:lvl4pPr>
            <a:lvl5pPr algn="l">
              <a:defRPr sz="975" b="1">
                <a:solidFill>
                  <a:srgbClr val="49454F"/>
                </a:solidFill>
                <a:latin typeface="Roboto"/>
                <a:ea typeface="Roboto"/>
                <a:cs typeface="Roboto"/>
              </a:defRPr>
            </a:lvl5pPr>
            <a:lvl6pPr algn="l">
              <a:defRPr sz="975" b="1">
                <a:solidFill>
                  <a:srgbClr val="49454F"/>
                </a:solidFill>
                <a:latin typeface="Roboto"/>
                <a:ea typeface="Roboto"/>
                <a:cs typeface="Roboto"/>
              </a:defRPr>
            </a:lvl6pPr>
            <a:lvl7pPr algn="l">
              <a:defRPr sz="975" b="1">
                <a:solidFill>
                  <a:srgbClr val="49454F"/>
                </a:solidFill>
                <a:latin typeface="Roboto"/>
                <a:ea typeface="Roboto"/>
                <a:cs typeface="Roboto"/>
              </a:defRPr>
            </a:lvl7pPr>
            <a:lvl8pPr algn="l">
              <a:defRPr sz="975" b="1">
                <a:solidFill>
                  <a:srgbClr val="49454F"/>
                </a:solidFill>
                <a:latin typeface="Roboto"/>
                <a:ea typeface="Roboto"/>
                <a:cs typeface="Roboto"/>
              </a:defRPr>
            </a:lvl8pPr>
            <a:lvl9pPr algn="l">
              <a:defRPr sz="975" b="1">
                <a:solidFill>
                  <a:srgbClr val="49454F"/>
                </a:solidFill>
                <a:latin typeface="Roboto"/>
                <a:ea typeface="Roboto"/>
                <a:cs typeface="Roboto"/>
              </a:defRPr>
            </a:lvl9pPr>
          </a:lstStyle>
          <a:p xmlns:a="http://schemas.openxmlformats.org/drawingml/2006/main">
            <a:pPr algn="l">
              <a:defRPr sz="975" b="1">
                <a:solidFill>
                  <a:srgbClr val="49454F"/>
                </a:solidFill>
                <a:latin typeface="Roboto"/>
                <a:ea typeface="Roboto"/>
                <a:cs typeface="Roboto"/>
              </a:defRPr>
            </a:pPr>
            <a:r>
              <a:rPr sz="975" b="1">
                <a:solidFill>
                  <a:srgbClr val="49454F"/>
                </a:solidFill>
                <a:latin typeface="Roboto"/>
                <a:ea typeface="Roboto"/>
                <a:cs typeface="Roboto"/>
              </a:rPr>
              <a:t>AGENT CONNECTION</a:t>
            </a:r>
          </a:p>
        </p:txBody>
      </p:sp>
      <p:sp>
        <p:nvSpPr>
          <p:cNvPr id="25" name="agent-connection-value">
            <a:extLst xmlns:a="http://schemas.openxmlformats.org/drawingml/2006/main">
              <a:ext uri="{FF2B5EF4-FFF2-40B4-BE49-F238E27FC236}">
                <a16:creationId xmlns:a16="http://schemas.microsoft.com/office/drawing/2014/main" id="{B6564EC9-5996-4F54-BDF4-CE2F60F8A62B}"/>
              </a:ext>
            </a:extLst>
          </p:cNvPr>
          <p:cNvSpPr>
            <a:spLocks xmlns:a="http://schemas.openxmlformats.org/drawingml/2006/main" noGrp="1"/>
          </p:cNvSpPr>
          <p:nvPr/>
        </p:nvSpPr>
        <p:spPr>
          <a:xfrm xmlns:a="http://schemas.openxmlformats.org/drawingml/2006/main">
            <a:off x="781050" y="551497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C1B1F"/>
                </a:solidFill>
                <a:latin typeface="Roboto"/>
                <a:ea typeface="Roboto"/>
                <a:cs typeface="Roboto"/>
              </a:defRPr>
            </a:defPPr>
            <a:lvl1pPr algn="l">
              <a:defRPr sz="1650" b="1">
                <a:solidFill>
                  <a:srgbClr val="1C1B1F"/>
                </a:solidFill>
                <a:latin typeface="Roboto"/>
                <a:ea typeface="Roboto"/>
                <a:cs typeface="Roboto"/>
              </a:defRPr>
            </a:lvl1pPr>
            <a:lvl2pPr algn="l">
              <a:defRPr sz="1650" b="1">
                <a:solidFill>
                  <a:srgbClr val="1C1B1F"/>
                </a:solidFill>
                <a:latin typeface="Roboto"/>
                <a:ea typeface="Roboto"/>
                <a:cs typeface="Roboto"/>
              </a:defRPr>
            </a:lvl2pPr>
            <a:lvl3pPr algn="l">
              <a:defRPr sz="1650" b="1">
                <a:solidFill>
                  <a:srgbClr val="1C1B1F"/>
                </a:solidFill>
                <a:latin typeface="Roboto"/>
                <a:ea typeface="Roboto"/>
                <a:cs typeface="Roboto"/>
              </a:defRPr>
            </a:lvl3pPr>
            <a:lvl4pPr algn="l">
              <a:defRPr sz="1650" b="1">
                <a:solidFill>
                  <a:srgbClr val="1C1B1F"/>
                </a:solidFill>
                <a:latin typeface="Roboto"/>
                <a:ea typeface="Roboto"/>
                <a:cs typeface="Roboto"/>
              </a:defRPr>
            </a:lvl4pPr>
            <a:lvl5pPr algn="l">
              <a:defRPr sz="1650" b="1">
                <a:solidFill>
                  <a:srgbClr val="1C1B1F"/>
                </a:solidFill>
                <a:latin typeface="Roboto"/>
                <a:ea typeface="Roboto"/>
                <a:cs typeface="Roboto"/>
              </a:defRPr>
            </a:lvl5pPr>
            <a:lvl6pPr algn="l">
              <a:defRPr sz="1650" b="1">
                <a:solidFill>
                  <a:srgbClr val="1C1B1F"/>
                </a:solidFill>
                <a:latin typeface="Roboto"/>
                <a:ea typeface="Roboto"/>
                <a:cs typeface="Roboto"/>
              </a:defRPr>
            </a:lvl6pPr>
            <a:lvl7pPr algn="l">
              <a:defRPr sz="1650" b="1">
                <a:solidFill>
                  <a:srgbClr val="1C1B1F"/>
                </a:solidFill>
                <a:latin typeface="Roboto"/>
                <a:ea typeface="Roboto"/>
                <a:cs typeface="Roboto"/>
              </a:defRPr>
            </a:lvl7pPr>
            <a:lvl8pPr algn="l">
              <a:defRPr sz="1650" b="1">
                <a:solidFill>
                  <a:srgbClr val="1C1B1F"/>
                </a:solidFill>
                <a:latin typeface="Roboto"/>
                <a:ea typeface="Roboto"/>
                <a:cs typeface="Roboto"/>
              </a:defRPr>
            </a:lvl8pPr>
            <a:lvl9pPr algn="l">
              <a:defRPr sz="1650" b="1">
                <a:solidFill>
                  <a:srgbClr val="1C1B1F"/>
                </a:solidFill>
                <a:latin typeface="Roboto"/>
                <a:ea typeface="Roboto"/>
                <a:cs typeface="Roboto"/>
              </a:defRPr>
            </a:lvl9pPr>
          </a:lstStyle>
          <a:p xmlns:a="http://schemas.openxmlformats.org/drawingml/2006/main">
            <a:pPr algn="l">
              <a:defRPr sz="1650" b="1">
                <a:solidFill>
                  <a:srgbClr val="1C1B1F"/>
                </a:solidFill>
                <a:latin typeface="Roboto"/>
                <a:ea typeface="Roboto"/>
                <a:cs typeface="Roboto"/>
              </a:defRPr>
            </a:pPr>
            <a:r>
              <a:rPr sz="1650" b="1">
                <a:solidFill>
                  <a:srgbClr val="1C1B1F"/>
                </a:solidFill>
                <a:latin typeface="Roboto"/>
                <a:ea typeface="Roboto"/>
                <a:cs typeface="Roboto"/>
              </a:rPr>
              <a:t>Python SDK  ·  MCP</a:t>
            </a:r>
          </a:p>
        </p:txBody>
      </p:sp>
      <p:sp>
        <p:nvSpPr>
          <p:cNvPr id="26" name="bottom-info-divider">
            <a:extLst xmlns:a="http://schemas.openxmlformats.org/drawingml/2006/main">
              <a:ext uri="{FF2B5EF4-FFF2-40B4-BE49-F238E27FC236}">
                <a16:creationId xmlns:a16="http://schemas.microsoft.com/office/drawing/2014/main" id="{E4CBA1C3-4D43-4026-A2D1-98D2C6997B5E}"/>
              </a:ext>
            </a:extLst>
          </p:cNvPr>
          <p:cNvSpPr>
            <a:spLocks xmlns:a="http://schemas.openxmlformats.org/drawingml/2006/main" noGrp="1"/>
          </p:cNvSpPr>
          <p:nvPr/>
        </p:nvSpPr>
        <p:spPr>
          <a:xfrm xmlns:a="http://schemas.openxmlformats.org/drawingml/2006/main">
            <a:off x="4324350" y="5219700"/>
            <a:ext cx="0" cy="80010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27" name="journal-label">
            <a:extLst xmlns:a="http://schemas.openxmlformats.org/drawingml/2006/main">
              <a:ext uri="{FF2B5EF4-FFF2-40B4-BE49-F238E27FC236}">
                <a16:creationId xmlns:a16="http://schemas.microsoft.com/office/drawing/2014/main" id="{005B203E-790B-43A4-8948-E71D8BCBBBE0}"/>
              </a:ext>
            </a:extLst>
          </p:cNvPr>
          <p:cNvSpPr>
            <a:spLocks xmlns:a="http://schemas.openxmlformats.org/drawingml/2006/main" noGrp="1"/>
          </p:cNvSpPr>
          <p:nvPr/>
        </p:nvSpPr>
        <p:spPr>
          <a:xfrm xmlns:a="http://schemas.openxmlformats.org/drawingml/2006/main">
            <a:off x="4705350" y="52578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49454F"/>
                </a:solidFill>
                <a:latin typeface="Roboto"/>
                <a:ea typeface="Roboto"/>
                <a:cs typeface="Roboto"/>
              </a:defRPr>
            </a:defPPr>
            <a:lvl1pPr algn="l">
              <a:defRPr sz="975" b="1">
                <a:solidFill>
                  <a:srgbClr val="49454F"/>
                </a:solidFill>
                <a:latin typeface="Roboto"/>
                <a:ea typeface="Roboto"/>
                <a:cs typeface="Roboto"/>
              </a:defRPr>
            </a:lvl1pPr>
            <a:lvl2pPr algn="l">
              <a:defRPr sz="975" b="1">
                <a:solidFill>
                  <a:srgbClr val="49454F"/>
                </a:solidFill>
                <a:latin typeface="Roboto"/>
                <a:ea typeface="Roboto"/>
                <a:cs typeface="Roboto"/>
              </a:defRPr>
            </a:lvl2pPr>
            <a:lvl3pPr algn="l">
              <a:defRPr sz="975" b="1">
                <a:solidFill>
                  <a:srgbClr val="49454F"/>
                </a:solidFill>
                <a:latin typeface="Roboto"/>
                <a:ea typeface="Roboto"/>
                <a:cs typeface="Roboto"/>
              </a:defRPr>
            </a:lvl3pPr>
            <a:lvl4pPr algn="l">
              <a:defRPr sz="975" b="1">
                <a:solidFill>
                  <a:srgbClr val="49454F"/>
                </a:solidFill>
                <a:latin typeface="Roboto"/>
                <a:ea typeface="Roboto"/>
                <a:cs typeface="Roboto"/>
              </a:defRPr>
            </a:lvl4pPr>
            <a:lvl5pPr algn="l">
              <a:defRPr sz="975" b="1">
                <a:solidFill>
                  <a:srgbClr val="49454F"/>
                </a:solidFill>
                <a:latin typeface="Roboto"/>
                <a:ea typeface="Roboto"/>
                <a:cs typeface="Roboto"/>
              </a:defRPr>
            </a:lvl5pPr>
            <a:lvl6pPr algn="l">
              <a:defRPr sz="975" b="1">
                <a:solidFill>
                  <a:srgbClr val="49454F"/>
                </a:solidFill>
                <a:latin typeface="Roboto"/>
                <a:ea typeface="Roboto"/>
                <a:cs typeface="Roboto"/>
              </a:defRPr>
            </a:lvl6pPr>
            <a:lvl7pPr algn="l">
              <a:defRPr sz="975" b="1">
                <a:solidFill>
                  <a:srgbClr val="49454F"/>
                </a:solidFill>
                <a:latin typeface="Roboto"/>
                <a:ea typeface="Roboto"/>
                <a:cs typeface="Roboto"/>
              </a:defRPr>
            </a:lvl7pPr>
            <a:lvl8pPr algn="l">
              <a:defRPr sz="975" b="1">
                <a:solidFill>
                  <a:srgbClr val="49454F"/>
                </a:solidFill>
                <a:latin typeface="Roboto"/>
                <a:ea typeface="Roboto"/>
                <a:cs typeface="Roboto"/>
              </a:defRPr>
            </a:lvl8pPr>
            <a:lvl9pPr algn="l">
              <a:defRPr sz="975" b="1">
                <a:solidFill>
                  <a:srgbClr val="49454F"/>
                </a:solidFill>
                <a:latin typeface="Roboto"/>
                <a:ea typeface="Roboto"/>
                <a:cs typeface="Roboto"/>
              </a:defRPr>
            </a:lvl9pPr>
          </a:lstStyle>
          <a:p xmlns:a="http://schemas.openxmlformats.org/drawingml/2006/main">
            <a:pPr algn="l">
              <a:defRPr sz="975" b="1">
                <a:solidFill>
                  <a:srgbClr val="49454F"/>
                </a:solidFill>
                <a:latin typeface="Roboto"/>
                <a:ea typeface="Roboto"/>
                <a:cs typeface="Roboto"/>
              </a:defRPr>
            </a:pPr>
            <a:r>
              <a:rPr sz="975" b="1">
                <a:solidFill>
                  <a:srgbClr val="49454F"/>
                </a:solidFill>
                <a:latin typeface="Roboto"/>
                <a:ea typeface="Roboto"/>
                <a:cs typeface="Roboto"/>
              </a:rPr>
              <a:t>RECOVERY JOURNAL</a:t>
            </a:r>
          </a:p>
        </p:txBody>
      </p:sp>
      <p:sp>
        <p:nvSpPr>
          <p:cNvPr id="28" name="journal-value">
            <a:extLst xmlns:a="http://schemas.openxmlformats.org/drawingml/2006/main">
              <a:ext uri="{FF2B5EF4-FFF2-40B4-BE49-F238E27FC236}">
                <a16:creationId xmlns:a16="http://schemas.microsoft.com/office/drawing/2014/main" id="{DF9172FC-06DC-4A71-812D-4C7704A848B2}"/>
              </a:ext>
            </a:extLst>
          </p:cNvPr>
          <p:cNvSpPr>
            <a:spLocks xmlns:a="http://schemas.openxmlformats.org/drawingml/2006/main" noGrp="1"/>
          </p:cNvSpPr>
          <p:nvPr/>
        </p:nvSpPr>
        <p:spPr>
          <a:xfrm xmlns:a="http://schemas.openxmlformats.org/drawingml/2006/main">
            <a:off x="4705350" y="5514975"/>
            <a:ext cx="647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1C1B1F"/>
                </a:solidFill>
                <a:latin typeface="Roboto"/>
                <a:ea typeface="Roboto"/>
                <a:cs typeface="Roboto"/>
              </a:defRPr>
            </a:defPPr>
            <a:lvl1pPr algn="l">
              <a:defRPr sz="1500" b="0">
                <a:solidFill>
                  <a:srgbClr val="1C1B1F"/>
                </a:solidFill>
                <a:latin typeface="Roboto"/>
                <a:ea typeface="Roboto"/>
                <a:cs typeface="Roboto"/>
              </a:defRPr>
            </a:lvl1pPr>
            <a:lvl2pPr algn="l">
              <a:defRPr sz="1500" b="0">
                <a:solidFill>
                  <a:srgbClr val="1C1B1F"/>
                </a:solidFill>
                <a:latin typeface="Roboto"/>
                <a:ea typeface="Roboto"/>
                <a:cs typeface="Roboto"/>
              </a:defRPr>
            </a:lvl2pPr>
            <a:lvl3pPr algn="l">
              <a:defRPr sz="1500" b="0">
                <a:solidFill>
                  <a:srgbClr val="1C1B1F"/>
                </a:solidFill>
                <a:latin typeface="Roboto"/>
                <a:ea typeface="Roboto"/>
                <a:cs typeface="Roboto"/>
              </a:defRPr>
            </a:lvl3pPr>
            <a:lvl4pPr algn="l">
              <a:defRPr sz="1500" b="0">
                <a:solidFill>
                  <a:srgbClr val="1C1B1F"/>
                </a:solidFill>
                <a:latin typeface="Roboto"/>
                <a:ea typeface="Roboto"/>
                <a:cs typeface="Roboto"/>
              </a:defRPr>
            </a:lvl4pPr>
            <a:lvl5pPr algn="l">
              <a:defRPr sz="1500" b="0">
                <a:solidFill>
                  <a:srgbClr val="1C1B1F"/>
                </a:solidFill>
                <a:latin typeface="Roboto"/>
                <a:ea typeface="Roboto"/>
                <a:cs typeface="Roboto"/>
              </a:defRPr>
            </a:lvl5pPr>
            <a:lvl6pPr algn="l">
              <a:defRPr sz="1500" b="0">
                <a:solidFill>
                  <a:srgbClr val="1C1B1F"/>
                </a:solidFill>
                <a:latin typeface="Roboto"/>
                <a:ea typeface="Roboto"/>
                <a:cs typeface="Roboto"/>
              </a:defRPr>
            </a:lvl6pPr>
            <a:lvl7pPr algn="l">
              <a:defRPr sz="1500" b="0">
                <a:solidFill>
                  <a:srgbClr val="1C1B1F"/>
                </a:solidFill>
                <a:latin typeface="Roboto"/>
                <a:ea typeface="Roboto"/>
                <a:cs typeface="Roboto"/>
              </a:defRPr>
            </a:lvl7pPr>
            <a:lvl8pPr algn="l">
              <a:defRPr sz="1500" b="0">
                <a:solidFill>
                  <a:srgbClr val="1C1B1F"/>
                </a:solidFill>
                <a:latin typeface="Roboto"/>
                <a:ea typeface="Roboto"/>
                <a:cs typeface="Roboto"/>
              </a:defRPr>
            </a:lvl8pPr>
            <a:lvl9pPr algn="l">
              <a:defRPr sz="1500" b="0">
                <a:solidFill>
                  <a:srgbClr val="1C1B1F"/>
                </a:solidFill>
                <a:latin typeface="Roboto"/>
                <a:ea typeface="Roboto"/>
                <a:cs typeface="Roboto"/>
              </a:defRPr>
            </a:lvl9pPr>
          </a:lstStyle>
          <a:p xmlns:a="http://schemas.openxmlformats.org/drawingml/2006/main">
            <a:pPr algn="l">
              <a:defRPr sz="1500" b="0">
                <a:solidFill>
                  <a:srgbClr val="1C1B1F"/>
                </a:solidFill>
                <a:latin typeface="Roboto"/>
                <a:ea typeface="Roboto"/>
                <a:cs typeface="Roboto"/>
              </a:defRPr>
            </a:pPr>
            <a:r>
              <a:rPr sz="1500" b="0">
                <a:solidFill>
                  <a:srgbClr val="1C1B1F"/>
                </a:solidFill>
                <a:latin typeface="Roboto"/>
                <a:ea typeface="Roboto"/>
                <a:cs typeface="Roboto"/>
              </a:rPr>
              <a:t>Accepted steps resume after interruption.</a:t>
            </a:r>
          </a:p>
        </p:txBody>
      </p:sp>
    </p:spTree>
    <p:extLst>
      <p:ext uri="{BB962C8B-B14F-4D97-AF65-F5344CB8AC3E}">
        <p14:creationId xmlns:p14="http://schemas.microsoft.com/office/powerpoint/2010/main" val="1912228043"/>
      </p:ext>
    </p:extLst>
  </p:cSld>
</p:sld>
</file>

<file path=ppt/slides/slide5.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8" name="brand-wordmark">
            <a:extLst xmlns:a="http://schemas.openxmlformats.org/drawingml/2006/main">
              <a:ext uri="{FF2B5EF4-FFF2-40B4-BE49-F238E27FC236}">
                <a16:creationId xmlns:a16="http://schemas.microsoft.com/office/drawing/2014/main" id="{21075915-6FE8-4B36-B874-2E66ABA1A66C}"/>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5191D608-2153-4CA6-A15B-90D0DBD6A807}"/>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SENTINEL + COMPUTE</a:t>
            </a:r>
          </a:p>
        </p:txBody>
      </p:sp>
      <p:sp>
        <p:nvSpPr>
          <p:cNvPr id="3" name="footer-divider">
            <a:extLst xmlns:a="http://schemas.openxmlformats.org/drawingml/2006/main">
              <a:ext uri="{FF2B5EF4-FFF2-40B4-BE49-F238E27FC236}">
                <a16:creationId xmlns:a16="http://schemas.microsoft.com/office/drawing/2014/main" id="{1F688B31-9EC1-473A-97C4-91374CAE274F}"/>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D2463651-0548-4014-9B7C-F3518716137D}"/>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05 / 08</a:t>
            </a:r>
          </a:p>
        </p:txBody>
      </p:sp>
      <p:sp>
        <p:nvSpPr>
          <p:cNvPr id="5" name="slide-title">
            <a:extLst xmlns:a="http://schemas.openxmlformats.org/drawingml/2006/main">
              <a:ext uri="{FF2B5EF4-FFF2-40B4-BE49-F238E27FC236}">
                <a16:creationId xmlns:a16="http://schemas.microsoft.com/office/drawing/2014/main" id="{5D38849B-53B6-4ECD-B0A6-167632D55383}"/>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Sentinel evidence joins the compute record</a:t>
            </a:r>
          </a:p>
        </p:txBody>
      </p:sp>
      <p:sp>
        <p:nvSpPr>
          <p:cNvPr id="6" name="slide-subtitle">
            <a:extLst xmlns:a="http://schemas.openxmlformats.org/drawingml/2006/main">
              <a:ext uri="{FF2B5EF4-FFF2-40B4-BE49-F238E27FC236}">
                <a16:creationId xmlns:a16="http://schemas.microsoft.com/office/drawing/2014/main" id="{8DBEC8AE-CE81-401E-A878-4021EEA74CDC}"/>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Review can inform the run; the owner’s signature still authorizes execution</a:t>
            </a:r>
          </a:p>
        </p:txBody>
      </p:sp>
      <p:sp>
        <p:nvSpPr>
          <p:cNvPr id="7" name="review-lane">
            <a:extLst xmlns:a="http://schemas.openxmlformats.org/drawingml/2006/main">
              <a:ext uri="{FF2B5EF4-FFF2-40B4-BE49-F238E27FC236}">
                <a16:creationId xmlns:a16="http://schemas.microsoft.com/office/drawing/2014/main" id="{628EE935-405F-4F7C-83EF-A487FBB87EFF}"/>
              </a:ext>
            </a:extLst>
          </p:cNvPr>
          <p:cNvSpPr>
            <a:spLocks xmlns:a="http://schemas.openxmlformats.org/drawingml/2006/main" noGrp="1"/>
          </p:cNvSpPr>
          <p:nvPr/>
        </p:nvSpPr>
        <p:spPr>
          <a:xfrm xmlns:a="http://schemas.openxmlformats.org/drawingml/2006/main">
            <a:off x="685800" y="2343150"/>
            <a:ext cx="10820400" cy="2095500"/>
          </a:xfrm>
          <a:prstGeom xmlns:a="http://schemas.openxmlformats.org/drawingml/2006/main" prst="roundRect">
            <a:avLst>
              <a:gd name="adj" fmla="val 13636"/>
            </a:avLst>
          </a:prstGeom>
          <a:solidFill xmlns:a="http://schemas.openxmlformats.org/drawingml/2006/main">
            <a:srgbClr val="F7F2FA"/>
          </a:solidFill>
          <a:ln xmlns:a="http://schemas.openxmlformats.org/drawingml/2006/main" w="0">
            <a:noFill/>
            <a:prstDash val="solid"/>
          </a:ln>
        </p:spPr>
      </p:sp>
      <p:sp>
        <p:nvSpPr>
          <p:cNvPr id="8" name="review-lane-label">
            <a:extLst xmlns:a="http://schemas.openxmlformats.org/drawingml/2006/main">
              <a:ext uri="{FF2B5EF4-FFF2-40B4-BE49-F238E27FC236}">
                <a16:creationId xmlns:a16="http://schemas.microsoft.com/office/drawing/2014/main" id="{AFA8B60C-BBA8-4F6C-A5B7-1EEB00DB24CC}"/>
              </a:ext>
            </a:extLst>
          </p:cNvPr>
          <p:cNvSpPr>
            <a:spLocks xmlns:a="http://schemas.openxmlformats.org/drawingml/2006/main" noGrp="1"/>
          </p:cNvSpPr>
          <p:nvPr/>
        </p:nvSpPr>
        <p:spPr>
          <a:xfrm xmlns:a="http://schemas.openxmlformats.org/drawingml/2006/main">
            <a:off x="933450" y="25241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AI SENTINEL  ·  REVIEW LANE</a:t>
            </a:r>
          </a:p>
        </p:txBody>
      </p:sp>
      <p:sp>
        <p:nvSpPr>
          <p:cNvPr id="9" name="review-stage-0">
            <a:extLst xmlns:a="http://schemas.openxmlformats.org/drawingml/2006/main">
              <a:ext uri="{FF2B5EF4-FFF2-40B4-BE49-F238E27FC236}">
                <a16:creationId xmlns:a16="http://schemas.microsoft.com/office/drawing/2014/main" id="{90B5E853-CFF2-4A46-AC31-A7161BE307E3}"/>
              </a:ext>
            </a:extLst>
          </p:cNvPr>
          <p:cNvSpPr>
            <a:spLocks xmlns:a="http://schemas.openxmlformats.org/drawingml/2006/main" noGrp="1"/>
          </p:cNvSpPr>
          <p:nvPr/>
        </p:nvSpPr>
        <p:spPr>
          <a:xfrm xmlns:a="http://schemas.openxmlformats.org/drawingml/2006/main">
            <a:off x="933450" y="2962275"/>
            <a:ext cx="2305050" cy="1104900"/>
          </a:xfrm>
          <a:prstGeom xmlns:a="http://schemas.openxmlformats.org/drawingml/2006/main" prst="roundRect">
            <a:avLst>
              <a:gd name="adj" fmla="val 17241"/>
            </a:avLst>
          </a:prstGeom>
          <a:solidFill xmlns:a="http://schemas.openxmlformats.org/drawingml/2006/main">
            <a:srgbClr val="FEF7FF"/>
          </a:solidFill>
          <a:ln xmlns:a="http://schemas.openxmlformats.org/drawingml/2006/main" w="0">
            <a:noFill/>
            <a:prstDash val="solid"/>
          </a:ln>
        </p:spPr>
      </p:sp>
      <p:sp>
        <p:nvSpPr>
          <p:cNvPr id="10" name="review-stage-title-0">
            <a:extLst xmlns:a="http://schemas.openxmlformats.org/drawingml/2006/main">
              <a:ext uri="{FF2B5EF4-FFF2-40B4-BE49-F238E27FC236}">
                <a16:creationId xmlns:a16="http://schemas.microsoft.com/office/drawing/2014/main" id="{6A7E0CDB-6BBD-460A-BBBF-1602E2FAC11B}"/>
              </a:ext>
            </a:extLst>
          </p:cNvPr>
          <p:cNvSpPr>
            <a:spLocks xmlns:a="http://schemas.openxmlformats.org/drawingml/2006/main" noGrp="1"/>
          </p:cNvSpPr>
          <p:nvPr/>
        </p:nvSpPr>
        <p:spPr>
          <a:xfrm xmlns:a="http://schemas.openxmlformats.org/drawingml/2006/main">
            <a:off x="1104900" y="3105150"/>
            <a:ext cx="1962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SOURCE</a:t>
            </a:r>
          </a:p>
        </p:txBody>
      </p:sp>
      <p:sp>
        <p:nvSpPr>
          <p:cNvPr id="11" name="review-stage-body-0">
            <a:extLst xmlns:a="http://schemas.openxmlformats.org/drawingml/2006/main">
              <a:ext uri="{FF2B5EF4-FFF2-40B4-BE49-F238E27FC236}">
                <a16:creationId xmlns:a16="http://schemas.microsoft.com/office/drawing/2014/main" id="{B8F87760-5209-4972-ADFF-BF03B44B1584}"/>
              </a:ext>
            </a:extLst>
          </p:cNvPr>
          <p:cNvSpPr>
            <a:spLocks xmlns:a="http://schemas.openxmlformats.org/drawingml/2006/main" noGrp="1"/>
          </p:cNvSpPr>
          <p:nvPr/>
        </p:nvSpPr>
        <p:spPr>
          <a:xfrm xmlns:a="http://schemas.openxmlformats.org/drawingml/2006/main">
            <a:off x="1104900" y="3419475"/>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C1B1F"/>
                </a:solidFill>
                <a:latin typeface="Roboto"/>
                <a:ea typeface="Roboto"/>
                <a:cs typeface="Roboto"/>
              </a:defRPr>
            </a:defPPr>
            <a:lvl1pPr algn="l">
              <a:defRPr sz="1275" b="0">
                <a:solidFill>
                  <a:srgbClr val="1C1B1F"/>
                </a:solidFill>
                <a:latin typeface="Roboto"/>
                <a:ea typeface="Roboto"/>
                <a:cs typeface="Roboto"/>
              </a:defRPr>
            </a:lvl1pPr>
            <a:lvl2pPr algn="l">
              <a:defRPr sz="1275" b="0">
                <a:solidFill>
                  <a:srgbClr val="1C1B1F"/>
                </a:solidFill>
                <a:latin typeface="Roboto"/>
                <a:ea typeface="Roboto"/>
                <a:cs typeface="Roboto"/>
              </a:defRPr>
            </a:lvl2pPr>
            <a:lvl3pPr algn="l">
              <a:defRPr sz="1275" b="0">
                <a:solidFill>
                  <a:srgbClr val="1C1B1F"/>
                </a:solidFill>
                <a:latin typeface="Roboto"/>
                <a:ea typeface="Roboto"/>
                <a:cs typeface="Roboto"/>
              </a:defRPr>
            </a:lvl3pPr>
            <a:lvl4pPr algn="l">
              <a:defRPr sz="1275" b="0">
                <a:solidFill>
                  <a:srgbClr val="1C1B1F"/>
                </a:solidFill>
                <a:latin typeface="Roboto"/>
                <a:ea typeface="Roboto"/>
                <a:cs typeface="Roboto"/>
              </a:defRPr>
            </a:lvl4pPr>
            <a:lvl5pPr algn="l">
              <a:defRPr sz="1275" b="0">
                <a:solidFill>
                  <a:srgbClr val="1C1B1F"/>
                </a:solidFill>
                <a:latin typeface="Roboto"/>
                <a:ea typeface="Roboto"/>
                <a:cs typeface="Roboto"/>
              </a:defRPr>
            </a:lvl5pPr>
            <a:lvl6pPr algn="l">
              <a:defRPr sz="1275" b="0">
                <a:solidFill>
                  <a:srgbClr val="1C1B1F"/>
                </a:solidFill>
                <a:latin typeface="Roboto"/>
                <a:ea typeface="Roboto"/>
                <a:cs typeface="Roboto"/>
              </a:defRPr>
            </a:lvl6pPr>
            <a:lvl7pPr algn="l">
              <a:defRPr sz="1275" b="0">
                <a:solidFill>
                  <a:srgbClr val="1C1B1F"/>
                </a:solidFill>
                <a:latin typeface="Roboto"/>
                <a:ea typeface="Roboto"/>
                <a:cs typeface="Roboto"/>
              </a:defRPr>
            </a:lvl7pPr>
            <a:lvl8pPr algn="l">
              <a:defRPr sz="1275" b="0">
                <a:solidFill>
                  <a:srgbClr val="1C1B1F"/>
                </a:solidFill>
                <a:latin typeface="Roboto"/>
                <a:ea typeface="Roboto"/>
                <a:cs typeface="Roboto"/>
              </a:defRPr>
            </a:lvl8pPr>
            <a:lvl9pPr algn="l">
              <a:defRPr sz="1275" b="0">
                <a:solidFill>
                  <a:srgbClr val="1C1B1F"/>
                </a:solidFill>
                <a:latin typeface="Roboto"/>
                <a:ea typeface="Roboto"/>
                <a:cs typeface="Roboto"/>
              </a:defRPr>
            </a:lvl9pPr>
          </a:lstStyle>
          <a:p xmlns:a="http://schemas.openxmlformats.org/drawingml/2006/main">
            <a:pPr algn="l">
              <a:defRPr sz="1275" b="0">
                <a:solidFill>
                  <a:srgbClr val="1C1B1F"/>
                </a:solidFill>
                <a:latin typeface="Roboto"/>
                <a:ea typeface="Roboto"/>
                <a:cs typeface="Roboto"/>
              </a:defRPr>
            </a:pPr>
            <a:r>
              <a:rPr sz="1275" b="0">
                <a:solidFill>
                  <a:srgbClr val="1C1B1F"/>
                </a:solidFill>
                <a:latin typeface="Roboto"/>
                <a:ea typeface="Roboto"/>
                <a:cs typeface="Roboto"/>
              </a:rPr>
              <a:t>Exact Python</a:t>
            </a:r>
          </a:p>
          <a:p xmlns:a="http://schemas.openxmlformats.org/drawingml/2006/main">
            <a:pPr algn="l">
              <a:defRPr sz="1275" b="0">
                <a:solidFill>
                  <a:srgbClr val="1C1B1F"/>
                </a:solidFill>
                <a:latin typeface="Roboto"/>
                <a:ea typeface="Roboto"/>
                <a:cs typeface="Roboto"/>
              </a:defRPr>
            </a:pPr>
            <a:r>
              <a:rPr sz="1275" b="0">
                <a:solidFill>
                  <a:srgbClr val="1C1B1F"/>
                </a:solidFill>
                <a:latin typeface="Roboto"/>
                <a:ea typeface="Roboto"/>
                <a:cs typeface="Roboto"/>
              </a:rPr>
              <a:t>source hash</a:t>
            </a:r>
          </a:p>
        </p:txBody>
      </p:sp>
      <p:sp>
        <p:nvSpPr>
          <p:cNvPr id="12" name="review-link-0">
            <a:extLst xmlns:a="http://schemas.openxmlformats.org/drawingml/2006/main">
              <a:ext uri="{FF2B5EF4-FFF2-40B4-BE49-F238E27FC236}">
                <a16:creationId xmlns:a16="http://schemas.microsoft.com/office/drawing/2014/main" id="{C7551321-CB9D-4C91-AC9A-0C1A369AD440}"/>
              </a:ext>
            </a:extLst>
          </p:cNvPr>
          <p:cNvSpPr>
            <a:spLocks xmlns:a="http://schemas.openxmlformats.org/drawingml/2006/main" noGrp="1"/>
          </p:cNvSpPr>
          <p:nvPr/>
        </p:nvSpPr>
        <p:spPr>
          <a:xfrm xmlns:a="http://schemas.openxmlformats.org/drawingml/2006/main">
            <a:off x="3238500" y="3514725"/>
            <a:ext cx="304800" cy="0"/>
          </a:xfrm>
          <a:prstGeom xmlns:a="http://schemas.openxmlformats.org/drawingml/2006/main" prst="line">
            <a:avLst/>
          </a:prstGeom>
          <a:noFill xmlns:a="http://schemas.openxmlformats.org/drawingml/2006/main"/>
          <a:ln xmlns:a="http://schemas.openxmlformats.org/drawingml/2006/main" w="14288">
            <a:solidFill>
              <a:srgbClr val="79747E"/>
            </a:solidFill>
            <a:prstDash val="solid"/>
          </a:ln>
        </p:spPr>
      </p:sp>
      <p:sp>
        <p:nvSpPr>
          <p:cNvPr id="13" name="review-stage-1">
            <a:extLst xmlns:a="http://schemas.openxmlformats.org/drawingml/2006/main">
              <a:ext uri="{FF2B5EF4-FFF2-40B4-BE49-F238E27FC236}">
                <a16:creationId xmlns:a16="http://schemas.microsoft.com/office/drawing/2014/main" id="{CDBF5D17-1B98-440E-83E7-049EEC721AD8}"/>
              </a:ext>
            </a:extLst>
          </p:cNvPr>
          <p:cNvSpPr>
            <a:spLocks xmlns:a="http://schemas.openxmlformats.org/drawingml/2006/main" noGrp="1"/>
          </p:cNvSpPr>
          <p:nvPr/>
        </p:nvSpPr>
        <p:spPr>
          <a:xfrm xmlns:a="http://schemas.openxmlformats.org/drawingml/2006/main">
            <a:off x="3543300" y="2962275"/>
            <a:ext cx="2305050" cy="1104900"/>
          </a:xfrm>
          <a:prstGeom xmlns:a="http://schemas.openxmlformats.org/drawingml/2006/main" prst="roundRect">
            <a:avLst>
              <a:gd name="adj" fmla="val 17241"/>
            </a:avLst>
          </a:prstGeom>
          <a:solidFill xmlns:a="http://schemas.openxmlformats.org/drawingml/2006/main">
            <a:srgbClr val="EADDFF"/>
          </a:solidFill>
          <a:ln xmlns:a="http://schemas.openxmlformats.org/drawingml/2006/main" w="0">
            <a:noFill/>
            <a:prstDash val="solid"/>
          </a:ln>
        </p:spPr>
      </p:sp>
      <p:sp>
        <p:nvSpPr>
          <p:cNvPr id="14" name="review-stage-title-1">
            <a:extLst xmlns:a="http://schemas.openxmlformats.org/drawingml/2006/main">
              <a:ext uri="{FF2B5EF4-FFF2-40B4-BE49-F238E27FC236}">
                <a16:creationId xmlns:a16="http://schemas.microsoft.com/office/drawing/2014/main" id="{7ADA3EB6-4CFE-4FBF-9EC8-9B68F703CC6C}"/>
              </a:ext>
            </a:extLst>
          </p:cNvPr>
          <p:cNvSpPr>
            <a:spLocks xmlns:a="http://schemas.openxmlformats.org/drawingml/2006/main" noGrp="1"/>
          </p:cNvSpPr>
          <p:nvPr/>
        </p:nvSpPr>
        <p:spPr>
          <a:xfrm xmlns:a="http://schemas.openxmlformats.org/drawingml/2006/main">
            <a:off x="3714750" y="3105150"/>
            <a:ext cx="1962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AI SENTINEL</a:t>
            </a:r>
          </a:p>
        </p:txBody>
      </p:sp>
      <p:sp>
        <p:nvSpPr>
          <p:cNvPr id="15" name="review-stage-body-1">
            <a:extLst xmlns:a="http://schemas.openxmlformats.org/drawingml/2006/main">
              <a:ext uri="{FF2B5EF4-FFF2-40B4-BE49-F238E27FC236}">
                <a16:creationId xmlns:a16="http://schemas.microsoft.com/office/drawing/2014/main" id="{01A1F979-5BC2-4AAF-B42C-ABC16E8A3938}"/>
              </a:ext>
            </a:extLst>
          </p:cNvPr>
          <p:cNvSpPr>
            <a:spLocks xmlns:a="http://schemas.openxmlformats.org/drawingml/2006/main" noGrp="1"/>
          </p:cNvSpPr>
          <p:nvPr/>
        </p:nvSpPr>
        <p:spPr>
          <a:xfrm xmlns:a="http://schemas.openxmlformats.org/drawingml/2006/main">
            <a:off x="3714750" y="3419475"/>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21005D"/>
                </a:solidFill>
                <a:latin typeface="Roboto"/>
                <a:ea typeface="Roboto"/>
                <a:cs typeface="Roboto"/>
              </a:defRPr>
            </a:defPPr>
            <a:lvl1pPr algn="l">
              <a:defRPr sz="1275" b="0">
                <a:solidFill>
                  <a:srgbClr val="21005D"/>
                </a:solidFill>
                <a:latin typeface="Roboto"/>
                <a:ea typeface="Roboto"/>
                <a:cs typeface="Roboto"/>
              </a:defRPr>
            </a:lvl1pPr>
            <a:lvl2pPr algn="l">
              <a:defRPr sz="1275" b="0">
                <a:solidFill>
                  <a:srgbClr val="21005D"/>
                </a:solidFill>
                <a:latin typeface="Roboto"/>
                <a:ea typeface="Roboto"/>
                <a:cs typeface="Roboto"/>
              </a:defRPr>
            </a:lvl2pPr>
            <a:lvl3pPr algn="l">
              <a:defRPr sz="1275" b="0">
                <a:solidFill>
                  <a:srgbClr val="21005D"/>
                </a:solidFill>
                <a:latin typeface="Roboto"/>
                <a:ea typeface="Roboto"/>
                <a:cs typeface="Roboto"/>
              </a:defRPr>
            </a:lvl3pPr>
            <a:lvl4pPr algn="l">
              <a:defRPr sz="1275" b="0">
                <a:solidFill>
                  <a:srgbClr val="21005D"/>
                </a:solidFill>
                <a:latin typeface="Roboto"/>
                <a:ea typeface="Roboto"/>
                <a:cs typeface="Roboto"/>
              </a:defRPr>
            </a:lvl4pPr>
            <a:lvl5pPr algn="l">
              <a:defRPr sz="1275" b="0">
                <a:solidFill>
                  <a:srgbClr val="21005D"/>
                </a:solidFill>
                <a:latin typeface="Roboto"/>
                <a:ea typeface="Roboto"/>
                <a:cs typeface="Roboto"/>
              </a:defRPr>
            </a:lvl5pPr>
            <a:lvl6pPr algn="l">
              <a:defRPr sz="1275" b="0">
                <a:solidFill>
                  <a:srgbClr val="21005D"/>
                </a:solidFill>
                <a:latin typeface="Roboto"/>
                <a:ea typeface="Roboto"/>
                <a:cs typeface="Roboto"/>
              </a:defRPr>
            </a:lvl6pPr>
            <a:lvl7pPr algn="l">
              <a:defRPr sz="1275" b="0">
                <a:solidFill>
                  <a:srgbClr val="21005D"/>
                </a:solidFill>
                <a:latin typeface="Roboto"/>
                <a:ea typeface="Roboto"/>
                <a:cs typeface="Roboto"/>
              </a:defRPr>
            </a:lvl7pPr>
            <a:lvl8pPr algn="l">
              <a:defRPr sz="1275" b="0">
                <a:solidFill>
                  <a:srgbClr val="21005D"/>
                </a:solidFill>
                <a:latin typeface="Roboto"/>
                <a:ea typeface="Roboto"/>
                <a:cs typeface="Roboto"/>
              </a:defRPr>
            </a:lvl8pPr>
            <a:lvl9pPr algn="l">
              <a:defRPr sz="1275" b="0">
                <a:solidFill>
                  <a:srgbClr val="21005D"/>
                </a:solidFill>
                <a:latin typeface="Roboto"/>
                <a:ea typeface="Roboto"/>
                <a:cs typeface="Roboto"/>
              </a:defRPr>
            </a:lvl9pPr>
          </a:lstStyle>
          <a:p xmlns:a="http://schemas.openxmlformats.org/drawingml/2006/main">
            <a:pPr algn="l">
              <a:defRPr sz="1275" b="0">
                <a:solidFill>
                  <a:srgbClr val="21005D"/>
                </a:solidFill>
                <a:latin typeface="Roboto"/>
                <a:ea typeface="Roboto"/>
                <a:cs typeface="Roboto"/>
              </a:defRPr>
            </a:pPr>
            <a:r>
              <a:rPr sz="1275" b="0">
                <a:solidFill>
                  <a:srgbClr val="21005D"/>
                </a:solidFill>
                <a:latin typeface="Roboto"/>
                <a:ea typeface="Roboto"/>
                <a:cs typeface="Roboto"/>
              </a:rPr>
              <a:t>Optional Gemini</a:t>
            </a:r>
          </a:p>
          <a:p xmlns:a="http://schemas.openxmlformats.org/drawingml/2006/main">
            <a:pPr algn="l">
              <a:defRPr sz="1275" b="0">
                <a:solidFill>
                  <a:srgbClr val="21005D"/>
                </a:solidFill>
                <a:latin typeface="Roboto"/>
                <a:ea typeface="Roboto"/>
                <a:cs typeface="Roboto"/>
              </a:defRPr>
            </a:pPr>
            <a:r>
              <a:rPr sz="1275" b="0">
                <a:solidFill>
                  <a:srgbClr val="21005D"/>
                </a:solidFill>
                <a:latin typeface="Roboto"/>
                <a:ea typeface="Roboto"/>
                <a:cs typeface="Roboto"/>
              </a:rPr>
              <a:t>source review</a:t>
            </a:r>
          </a:p>
        </p:txBody>
      </p:sp>
      <p:sp>
        <p:nvSpPr>
          <p:cNvPr id="16" name="review-link-1">
            <a:extLst xmlns:a="http://schemas.openxmlformats.org/drawingml/2006/main">
              <a:ext uri="{FF2B5EF4-FFF2-40B4-BE49-F238E27FC236}">
                <a16:creationId xmlns:a16="http://schemas.microsoft.com/office/drawing/2014/main" id="{2A29EAFF-26DD-48D5-89A6-4083DE88CD10}"/>
              </a:ext>
            </a:extLst>
          </p:cNvPr>
          <p:cNvSpPr>
            <a:spLocks xmlns:a="http://schemas.openxmlformats.org/drawingml/2006/main" noGrp="1"/>
          </p:cNvSpPr>
          <p:nvPr/>
        </p:nvSpPr>
        <p:spPr>
          <a:xfrm xmlns:a="http://schemas.openxmlformats.org/drawingml/2006/main">
            <a:off x="5848350" y="3514725"/>
            <a:ext cx="304800" cy="0"/>
          </a:xfrm>
          <a:prstGeom xmlns:a="http://schemas.openxmlformats.org/drawingml/2006/main" prst="line">
            <a:avLst/>
          </a:prstGeom>
          <a:noFill xmlns:a="http://schemas.openxmlformats.org/drawingml/2006/main"/>
          <a:ln xmlns:a="http://schemas.openxmlformats.org/drawingml/2006/main" w="14288">
            <a:solidFill>
              <a:srgbClr val="79747E"/>
            </a:solidFill>
            <a:prstDash val="solid"/>
          </a:ln>
        </p:spPr>
      </p:sp>
      <p:sp>
        <p:nvSpPr>
          <p:cNvPr id="17" name="review-stage-2">
            <a:extLst xmlns:a="http://schemas.openxmlformats.org/drawingml/2006/main">
              <a:ext uri="{FF2B5EF4-FFF2-40B4-BE49-F238E27FC236}">
                <a16:creationId xmlns:a16="http://schemas.microsoft.com/office/drawing/2014/main" id="{88712AC8-9034-4623-B32E-FCDCC4F87FD8}"/>
              </a:ext>
            </a:extLst>
          </p:cNvPr>
          <p:cNvSpPr>
            <a:spLocks xmlns:a="http://schemas.openxmlformats.org/drawingml/2006/main" noGrp="1"/>
          </p:cNvSpPr>
          <p:nvPr/>
        </p:nvSpPr>
        <p:spPr>
          <a:xfrm xmlns:a="http://schemas.openxmlformats.org/drawingml/2006/main">
            <a:off x="6153150" y="2962275"/>
            <a:ext cx="2305050" cy="1104900"/>
          </a:xfrm>
          <a:prstGeom xmlns:a="http://schemas.openxmlformats.org/drawingml/2006/main" prst="roundRect">
            <a:avLst>
              <a:gd name="adj" fmla="val 17241"/>
            </a:avLst>
          </a:prstGeom>
          <a:solidFill xmlns:a="http://schemas.openxmlformats.org/drawingml/2006/main">
            <a:srgbClr val="9CF2E2"/>
          </a:solidFill>
          <a:ln xmlns:a="http://schemas.openxmlformats.org/drawingml/2006/main" w="0">
            <a:noFill/>
            <a:prstDash val="solid"/>
          </a:ln>
        </p:spPr>
      </p:sp>
      <p:sp>
        <p:nvSpPr>
          <p:cNvPr id="18" name="review-stage-title-2">
            <a:extLst xmlns:a="http://schemas.openxmlformats.org/drawingml/2006/main">
              <a:ext uri="{FF2B5EF4-FFF2-40B4-BE49-F238E27FC236}">
                <a16:creationId xmlns:a16="http://schemas.microsoft.com/office/drawing/2014/main" id="{FAB84CD2-5107-4438-BC66-8A4A770B289C}"/>
              </a:ext>
            </a:extLst>
          </p:cNvPr>
          <p:cNvSpPr>
            <a:spLocks xmlns:a="http://schemas.openxmlformats.org/drawingml/2006/main" noGrp="1"/>
          </p:cNvSpPr>
          <p:nvPr/>
        </p:nvSpPr>
        <p:spPr>
          <a:xfrm xmlns:a="http://schemas.openxmlformats.org/drawingml/2006/main">
            <a:off x="6324600" y="3105150"/>
            <a:ext cx="1962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006B5F"/>
                </a:solidFill>
                <a:latin typeface="Roboto"/>
                <a:ea typeface="Roboto"/>
                <a:cs typeface="Roboto"/>
              </a:defRPr>
            </a:defPPr>
            <a:lvl1pPr algn="l">
              <a:defRPr sz="1050" b="1">
                <a:solidFill>
                  <a:srgbClr val="006B5F"/>
                </a:solidFill>
                <a:latin typeface="Roboto"/>
                <a:ea typeface="Roboto"/>
                <a:cs typeface="Roboto"/>
              </a:defRPr>
            </a:lvl1pPr>
            <a:lvl2pPr algn="l">
              <a:defRPr sz="1050" b="1">
                <a:solidFill>
                  <a:srgbClr val="006B5F"/>
                </a:solidFill>
                <a:latin typeface="Roboto"/>
                <a:ea typeface="Roboto"/>
                <a:cs typeface="Roboto"/>
              </a:defRPr>
            </a:lvl2pPr>
            <a:lvl3pPr algn="l">
              <a:defRPr sz="1050" b="1">
                <a:solidFill>
                  <a:srgbClr val="006B5F"/>
                </a:solidFill>
                <a:latin typeface="Roboto"/>
                <a:ea typeface="Roboto"/>
                <a:cs typeface="Roboto"/>
              </a:defRPr>
            </a:lvl3pPr>
            <a:lvl4pPr algn="l">
              <a:defRPr sz="1050" b="1">
                <a:solidFill>
                  <a:srgbClr val="006B5F"/>
                </a:solidFill>
                <a:latin typeface="Roboto"/>
                <a:ea typeface="Roboto"/>
                <a:cs typeface="Roboto"/>
              </a:defRPr>
            </a:lvl4pPr>
            <a:lvl5pPr algn="l">
              <a:defRPr sz="1050" b="1">
                <a:solidFill>
                  <a:srgbClr val="006B5F"/>
                </a:solidFill>
                <a:latin typeface="Roboto"/>
                <a:ea typeface="Roboto"/>
                <a:cs typeface="Roboto"/>
              </a:defRPr>
            </a:lvl5pPr>
            <a:lvl6pPr algn="l">
              <a:defRPr sz="1050" b="1">
                <a:solidFill>
                  <a:srgbClr val="006B5F"/>
                </a:solidFill>
                <a:latin typeface="Roboto"/>
                <a:ea typeface="Roboto"/>
                <a:cs typeface="Roboto"/>
              </a:defRPr>
            </a:lvl6pPr>
            <a:lvl7pPr algn="l">
              <a:defRPr sz="1050" b="1">
                <a:solidFill>
                  <a:srgbClr val="006B5F"/>
                </a:solidFill>
                <a:latin typeface="Roboto"/>
                <a:ea typeface="Roboto"/>
                <a:cs typeface="Roboto"/>
              </a:defRPr>
            </a:lvl7pPr>
            <a:lvl8pPr algn="l">
              <a:defRPr sz="1050" b="1">
                <a:solidFill>
                  <a:srgbClr val="006B5F"/>
                </a:solidFill>
                <a:latin typeface="Roboto"/>
                <a:ea typeface="Roboto"/>
                <a:cs typeface="Roboto"/>
              </a:defRPr>
            </a:lvl8pPr>
            <a:lvl9pPr algn="l">
              <a:defRPr sz="1050" b="1">
                <a:solidFill>
                  <a:srgbClr val="006B5F"/>
                </a:solidFill>
                <a:latin typeface="Roboto"/>
                <a:ea typeface="Roboto"/>
                <a:cs typeface="Roboto"/>
              </a:defRPr>
            </a:lvl9pPr>
          </a:lstStyle>
          <a:p xmlns:a="http://schemas.openxmlformats.org/drawingml/2006/main">
            <a:pPr algn="l">
              <a:defRPr sz="1050" b="1">
                <a:solidFill>
                  <a:srgbClr val="006B5F"/>
                </a:solidFill>
                <a:latin typeface="Roboto"/>
                <a:ea typeface="Roboto"/>
                <a:cs typeface="Roboto"/>
              </a:defRPr>
            </a:pPr>
            <a:r>
              <a:rPr sz="1050" b="1">
                <a:solidFill>
                  <a:srgbClr val="006B5F"/>
                </a:solidFill>
                <a:latin typeface="Roboto"/>
                <a:ea typeface="Roboto"/>
                <a:cs typeface="Roboto"/>
              </a:rPr>
              <a:t>MANIFEST</a:t>
            </a:r>
          </a:p>
        </p:txBody>
      </p:sp>
      <p:sp>
        <p:nvSpPr>
          <p:cNvPr id="19" name="review-stage-body-2">
            <a:extLst xmlns:a="http://schemas.openxmlformats.org/drawingml/2006/main">
              <a:ext uri="{FF2B5EF4-FFF2-40B4-BE49-F238E27FC236}">
                <a16:creationId xmlns:a16="http://schemas.microsoft.com/office/drawing/2014/main" id="{554D8F93-F234-494D-A238-AE169AAA6769}"/>
              </a:ext>
            </a:extLst>
          </p:cNvPr>
          <p:cNvSpPr>
            <a:spLocks xmlns:a="http://schemas.openxmlformats.org/drawingml/2006/main" noGrp="1"/>
          </p:cNvSpPr>
          <p:nvPr/>
        </p:nvSpPr>
        <p:spPr>
          <a:xfrm xmlns:a="http://schemas.openxmlformats.org/drawingml/2006/main">
            <a:off x="6324600" y="3419475"/>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00201B"/>
                </a:solidFill>
                <a:latin typeface="Roboto"/>
                <a:ea typeface="Roboto"/>
                <a:cs typeface="Roboto"/>
              </a:defRPr>
            </a:defPPr>
            <a:lvl1pPr algn="l">
              <a:defRPr sz="1275" b="0">
                <a:solidFill>
                  <a:srgbClr val="00201B"/>
                </a:solidFill>
                <a:latin typeface="Roboto"/>
                <a:ea typeface="Roboto"/>
                <a:cs typeface="Roboto"/>
              </a:defRPr>
            </a:lvl1pPr>
            <a:lvl2pPr algn="l">
              <a:defRPr sz="1275" b="0">
                <a:solidFill>
                  <a:srgbClr val="00201B"/>
                </a:solidFill>
                <a:latin typeface="Roboto"/>
                <a:ea typeface="Roboto"/>
                <a:cs typeface="Roboto"/>
              </a:defRPr>
            </a:lvl2pPr>
            <a:lvl3pPr algn="l">
              <a:defRPr sz="1275" b="0">
                <a:solidFill>
                  <a:srgbClr val="00201B"/>
                </a:solidFill>
                <a:latin typeface="Roboto"/>
                <a:ea typeface="Roboto"/>
                <a:cs typeface="Roboto"/>
              </a:defRPr>
            </a:lvl3pPr>
            <a:lvl4pPr algn="l">
              <a:defRPr sz="1275" b="0">
                <a:solidFill>
                  <a:srgbClr val="00201B"/>
                </a:solidFill>
                <a:latin typeface="Roboto"/>
                <a:ea typeface="Roboto"/>
                <a:cs typeface="Roboto"/>
              </a:defRPr>
            </a:lvl4pPr>
            <a:lvl5pPr algn="l">
              <a:defRPr sz="1275" b="0">
                <a:solidFill>
                  <a:srgbClr val="00201B"/>
                </a:solidFill>
                <a:latin typeface="Roboto"/>
                <a:ea typeface="Roboto"/>
                <a:cs typeface="Roboto"/>
              </a:defRPr>
            </a:lvl5pPr>
            <a:lvl6pPr algn="l">
              <a:defRPr sz="1275" b="0">
                <a:solidFill>
                  <a:srgbClr val="00201B"/>
                </a:solidFill>
                <a:latin typeface="Roboto"/>
                <a:ea typeface="Roboto"/>
                <a:cs typeface="Roboto"/>
              </a:defRPr>
            </a:lvl6pPr>
            <a:lvl7pPr algn="l">
              <a:defRPr sz="1275" b="0">
                <a:solidFill>
                  <a:srgbClr val="00201B"/>
                </a:solidFill>
                <a:latin typeface="Roboto"/>
                <a:ea typeface="Roboto"/>
                <a:cs typeface="Roboto"/>
              </a:defRPr>
            </a:lvl7pPr>
            <a:lvl8pPr algn="l">
              <a:defRPr sz="1275" b="0">
                <a:solidFill>
                  <a:srgbClr val="00201B"/>
                </a:solidFill>
                <a:latin typeface="Roboto"/>
                <a:ea typeface="Roboto"/>
                <a:cs typeface="Roboto"/>
              </a:defRPr>
            </a:lvl8pPr>
            <a:lvl9pPr algn="l">
              <a:defRPr sz="1275" b="0">
                <a:solidFill>
                  <a:srgbClr val="00201B"/>
                </a:solidFill>
                <a:latin typeface="Roboto"/>
                <a:ea typeface="Roboto"/>
                <a:cs typeface="Roboto"/>
              </a:defRPr>
            </a:lvl9pPr>
          </a:lstStyle>
          <a:p xmlns:a="http://schemas.openxmlformats.org/drawingml/2006/main">
            <a:pPr algn="l">
              <a:defRPr sz="1275" b="0">
                <a:solidFill>
                  <a:srgbClr val="00201B"/>
                </a:solidFill>
                <a:latin typeface="Roboto"/>
                <a:ea typeface="Roboto"/>
                <a:cs typeface="Roboto"/>
              </a:defRPr>
            </a:pPr>
            <a:r>
              <a:rPr sz="1275" b="0">
                <a:solidFill>
                  <a:srgbClr val="00201B"/>
                </a:solidFill>
                <a:latin typeface="Roboto"/>
                <a:ea typeface="Roboto"/>
                <a:cs typeface="Roboto"/>
              </a:rPr>
              <a:t>Signed receipt</a:t>
            </a:r>
          </a:p>
          <a:p xmlns:a="http://schemas.openxmlformats.org/drawingml/2006/main">
            <a:pPr algn="l">
              <a:defRPr sz="1275" b="0">
                <a:solidFill>
                  <a:srgbClr val="00201B"/>
                </a:solidFill>
                <a:latin typeface="Roboto"/>
                <a:ea typeface="Roboto"/>
                <a:cs typeface="Roboto"/>
              </a:defRPr>
            </a:pPr>
            <a:r>
              <a:rPr sz="1275" b="0">
                <a:solidFill>
                  <a:srgbClr val="00201B"/>
                </a:solidFill>
                <a:latin typeface="Roboto"/>
                <a:ea typeface="Roboto"/>
                <a:cs typeface="Roboto"/>
              </a:rPr>
              <a:t>linked to task</a:t>
            </a:r>
          </a:p>
        </p:txBody>
      </p:sp>
      <p:sp>
        <p:nvSpPr>
          <p:cNvPr id="20" name="review-link-2">
            <a:extLst xmlns:a="http://schemas.openxmlformats.org/drawingml/2006/main">
              <a:ext uri="{FF2B5EF4-FFF2-40B4-BE49-F238E27FC236}">
                <a16:creationId xmlns:a16="http://schemas.microsoft.com/office/drawing/2014/main" id="{0113E277-68BC-4B5A-B15B-CE4E0B1D483D}"/>
              </a:ext>
            </a:extLst>
          </p:cNvPr>
          <p:cNvSpPr>
            <a:spLocks xmlns:a="http://schemas.openxmlformats.org/drawingml/2006/main" noGrp="1"/>
          </p:cNvSpPr>
          <p:nvPr/>
        </p:nvSpPr>
        <p:spPr>
          <a:xfrm xmlns:a="http://schemas.openxmlformats.org/drawingml/2006/main">
            <a:off x="8458200" y="3514725"/>
            <a:ext cx="304800" cy="0"/>
          </a:xfrm>
          <a:prstGeom xmlns:a="http://schemas.openxmlformats.org/drawingml/2006/main" prst="line">
            <a:avLst/>
          </a:prstGeom>
          <a:noFill xmlns:a="http://schemas.openxmlformats.org/drawingml/2006/main"/>
          <a:ln xmlns:a="http://schemas.openxmlformats.org/drawingml/2006/main" w="14288">
            <a:solidFill>
              <a:srgbClr val="79747E"/>
            </a:solidFill>
            <a:prstDash val="solid"/>
          </a:ln>
        </p:spPr>
      </p:sp>
      <p:sp>
        <p:nvSpPr>
          <p:cNvPr id="21" name="review-stage-3">
            <a:extLst xmlns:a="http://schemas.openxmlformats.org/drawingml/2006/main">
              <a:ext uri="{FF2B5EF4-FFF2-40B4-BE49-F238E27FC236}">
                <a16:creationId xmlns:a16="http://schemas.microsoft.com/office/drawing/2014/main" id="{FE96732E-6BBA-4814-B911-40BD797579B3}"/>
              </a:ext>
            </a:extLst>
          </p:cNvPr>
          <p:cNvSpPr>
            <a:spLocks xmlns:a="http://schemas.openxmlformats.org/drawingml/2006/main" noGrp="1"/>
          </p:cNvSpPr>
          <p:nvPr/>
        </p:nvSpPr>
        <p:spPr>
          <a:xfrm xmlns:a="http://schemas.openxmlformats.org/drawingml/2006/main">
            <a:off x="8763000" y="2962275"/>
            <a:ext cx="2305050" cy="1104900"/>
          </a:xfrm>
          <a:prstGeom xmlns:a="http://schemas.openxmlformats.org/drawingml/2006/main" prst="roundRect">
            <a:avLst>
              <a:gd name="adj" fmla="val 17241"/>
            </a:avLst>
          </a:prstGeom>
          <a:solidFill xmlns:a="http://schemas.openxmlformats.org/drawingml/2006/main">
            <a:srgbClr val="FEF7FF"/>
          </a:solidFill>
          <a:ln xmlns:a="http://schemas.openxmlformats.org/drawingml/2006/main" w="0">
            <a:noFill/>
            <a:prstDash val="solid"/>
          </a:ln>
        </p:spPr>
      </p:sp>
      <p:sp>
        <p:nvSpPr>
          <p:cNvPr id="22" name="review-stage-title-3">
            <a:extLst xmlns:a="http://schemas.openxmlformats.org/drawingml/2006/main">
              <a:ext uri="{FF2B5EF4-FFF2-40B4-BE49-F238E27FC236}">
                <a16:creationId xmlns:a16="http://schemas.microsoft.com/office/drawing/2014/main" id="{D7F26A1A-3575-4E45-B54C-3DD315D0E3B2}"/>
              </a:ext>
            </a:extLst>
          </p:cNvPr>
          <p:cNvSpPr>
            <a:spLocks xmlns:a="http://schemas.openxmlformats.org/drawingml/2006/main" noGrp="1"/>
          </p:cNvSpPr>
          <p:nvPr/>
        </p:nvSpPr>
        <p:spPr>
          <a:xfrm xmlns:a="http://schemas.openxmlformats.org/drawingml/2006/main">
            <a:off x="8934450" y="3105150"/>
            <a:ext cx="1962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COMPUTE</a:t>
            </a:r>
          </a:p>
        </p:txBody>
      </p:sp>
      <p:sp>
        <p:nvSpPr>
          <p:cNvPr id="23" name="review-stage-body-3">
            <a:extLst xmlns:a="http://schemas.openxmlformats.org/drawingml/2006/main">
              <a:ext uri="{FF2B5EF4-FFF2-40B4-BE49-F238E27FC236}">
                <a16:creationId xmlns:a16="http://schemas.microsoft.com/office/drawing/2014/main" id="{F21C1996-D8FB-4F5C-83C0-0A3E6B5CDFD2}"/>
              </a:ext>
            </a:extLst>
          </p:cNvPr>
          <p:cNvSpPr>
            <a:spLocks xmlns:a="http://schemas.openxmlformats.org/drawingml/2006/main" noGrp="1"/>
          </p:cNvSpPr>
          <p:nvPr/>
        </p:nvSpPr>
        <p:spPr>
          <a:xfrm xmlns:a="http://schemas.openxmlformats.org/drawingml/2006/main">
            <a:off x="8934450" y="3419475"/>
            <a:ext cx="1962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C1B1F"/>
                </a:solidFill>
                <a:latin typeface="Roboto"/>
                <a:ea typeface="Roboto"/>
                <a:cs typeface="Roboto"/>
              </a:defRPr>
            </a:defPPr>
            <a:lvl1pPr algn="l">
              <a:defRPr sz="1275" b="0">
                <a:solidFill>
                  <a:srgbClr val="1C1B1F"/>
                </a:solidFill>
                <a:latin typeface="Roboto"/>
                <a:ea typeface="Roboto"/>
                <a:cs typeface="Roboto"/>
              </a:defRPr>
            </a:lvl1pPr>
            <a:lvl2pPr algn="l">
              <a:defRPr sz="1275" b="0">
                <a:solidFill>
                  <a:srgbClr val="1C1B1F"/>
                </a:solidFill>
                <a:latin typeface="Roboto"/>
                <a:ea typeface="Roboto"/>
                <a:cs typeface="Roboto"/>
              </a:defRPr>
            </a:lvl2pPr>
            <a:lvl3pPr algn="l">
              <a:defRPr sz="1275" b="0">
                <a:solidFill>
                  <a:srgbClr val="1C1B1F"/>
                </a:solidFill>
                <a:latin typeface="Roboto"/>
                <a:ea typeface="Roboto"/>
                <a:cs typeface="Roboto"/>
              </a:defRPr>
            </a:lvl3pPr>
            <a:lvl4pPr algn="l">
              <a:defRPr sz="1275" b="0">
                <a:solidFill>
                  <a:srgbClr val="1C1B1F"/>
                </a:solidFill>
                <a:latin typeface="Roboto"/>
                <a:ea typeface="Roboto"/>
                <a:cs typeface="Roboto"/>
              </a:defRPr>
            </a:lvl4pPr>
            <a:lvl5pPr algn="l">
              <a:defRPr sz="1275" b="0">
                <a:solidFill>
                  <a:srgbClr val="1C1B1F"/>
                </a:solidFill>
                <a:latin typeface="Roboto"/>
                <a:ea typeface="Roboto"/>
                <a:cs typeface="Roboto"/>
              </a:defRPr>
            </a:lvl5pPr>
            <a:lvl6pPr algn="l">
              <a:defRPr sz="1275" b="0">
                <a:solidFill>
                  <a:srgbClr val="1C1B1F"/>
                </a:solidFill>
                <a:latin typeface="Roboto"/>
                <a:ea typeface="Roboto"/>
                <a:cs typeface="Roboto"/>
              </a:defRPr>
            </a:lvl6pPr>
            <a:lvl7pPr algn="l">
              <a:defRPr sz="1275" b="0">
                <a:solidFill>
                  <a:srgbClr val="1C1B1F"/>
                </a:solidFill>
                <a:latin typeface="Roboto"/>
                <a:ea typeface="Roboto"/>
                <a:cs typeface="Roboto"/>
              </a:defRPr>
            </a:lvl7pPr>
            <a:lvl8pPr algn="l">
              <a:defRPr sz="1275" b="0">
                <a:solidFill>
                  <a:srgbClr val="1C1B1F"/>
                </a:solidFill>
                <a:latin typeface="Roboto"/>
                <a:ea typeface="Roboto"/>
                <a:cs typeface="Roboto"/>
              </a:defRPr>
            </a:lvl8pPr>
            <a:lvl9pPr algn="l">
              <a:defRPr sz="1275" b="0">
                <a:solidFill>
                  <a:srgbClr val="1C1B1F"/>
                </a:solidFill>
                <a:latin typeface="Roboto"/>
                <a:ea typeface="Roboto"/>
                <a:cs typeface="Roboto"/>
              </a:defRPr>
            </a:lvl9pPr>
          </a:lstStyle>
          <a:p xmlns:a="http://schemas.openxmlformats.org/drawingml/2006/main">
            <a:pPr algn="l">
              <a:defRPr sz="1275" b="0">
                <a:solidFill>
                  <a:srgbClr val="1C1B1F"/>
                </a:solidFill>
                <a:latin typeface="Roboto"/>
                <a:ea typeface="Roboto"/>
                <a:cs typeface="Roboto"/>
              </a:defRPr>
            </a:pPr>
            <a:r>
              <a:rPr sz="1275" b="0">
                <a:solidFill>
                  <a:srgbClr val="1C1B1F"/>
                </a:solidFill>
                <a:latin typeface="Roboto"/>
                <a:ea typeface="Roboto"/>
                <a:cs typeface="Roboto"/>
              </a:rPr>
              <a:t>Separate owner-</a:t>
            </a:r>
          </a:p>
          <a:p xmlns:a="http://schemas.openxmlformats.org/drawingml/2006/main">
            <a:pPr algn="l">
              <a:defRPr sz="1275" b="0">
                <a:solidFill>
                  <a:srgbClr val="1C1B1F"/>
                </a:solidFill>
                <a:latin typeface="Roboto"/>
                <a:ea typeface="Roboto"/>
                <a:cs typeface="Roboto"/>
              </a:defRPr>
            </a:pPr>
            <a:r>
              <a:rPr sz="1275" b="0">
                <a:solidFill>
                  <a:srgbClr val="1C1B1F"/>
                </a:solidFill>
                <a:latin typeface="Roboto"/>
                <a:ea typeface="Roboto"/>
                <a:cs typeface="Roboto"/>
              </a:rPr>
              <a:t>signed quote</a:t>
            </a:r>
          </a:p>
        </p:txBody>
      </p:sp>
      <p:sp>
        <p:nvSpPr>
          <p:cNvPr id="24" name="authority-lane">
            <a:extLst xmlns:a="http://schemas.openxmlformats.org/drawingml/2006/main">
              <a:ext uri="{FF2B5EF4-FFF2-40B4-BE49-F238E27FC236}">
                <a16:creationId xmlns:a16="http://schemas.microsoft.com/office/drawing/2014/main" id="{3785BCC9-96ED-4DC8-939A-947578067F40}"/>
              </a:ext>
            </a:extLst>
          </p:cNvPr>
          <p:cNvSpPr>
            <a:spLocks xmlns:a="http://schemas.openxmlformats.org/drawingml/2006/main" noGrp="1"/>
          </p:cNvSpPr>
          <p:nvPr/>
        </p:nvSpPr>
        <p:spPr>
          <a:xfrm xmlns:a="http://schemas.openxmlformats.org/drawingml/2006/main">
            <a:off x="685800" y="4619625"/>
            <a:ext cx="10820400" cy="952500"/>
          </a:xfrm>
          <a:prstGeom xmlns:a="http://schemas.openxmlformats.org/drawingml/2006/main" prst="roundRect">
            <a:avLst>
              <a:gd name="adj" fmla="val 24000"/>
            </a:avLst>
          </a:prstGeom>
          <a:solidFill xmlns:a="http://schemas.openxmlformats.org/drawingml/2006/main">
            <a:srgbClr val="E8DEF8"/>
          </a:solidFill>
          <a:ln xmlns:a="http://schemas.openxmlformats.org/drawingml/2006/main" w="0">
            <a:noFill/>
            <a:prstDash val="solid"/>
          </a:ln>
        </p:spPr>
      </p:sp>
      <p:sp>
        <p:nvSpPr>
          <p:cNvPr id="25" name="authority-label">
            <a:extLst xmlns:a="http://schemas.openxmlformats.org/drawingml/2006/main">
              <a:ext uri="{FF2B5EF4-FFF2-40B4-BE49-F238E27FC236}">
                <a16:creationId xmlns:a16="http://schemas.microsoft.com/office/drawing/2014/main" id="{CAF024F6-5CCD-4674-AA9E-EF9BAABCC1A2}"/>
              </a:ext>
            </a:extLst>
          </p:cNvPr>
          <p:cNvSpPr>
            <a:spLocks xmlns:a="http://schemas.openxmlformats.org/drawingml/2006/main" noGrp="1"/>
          </p:cNvSpPr>
          <p:nvPr/>
        </p:nvSpPr>
        <p:spPr>
          <a:xfrm xmlns:a="http://schemas.openxmlformats.org/drawingml/2006/main">
            <a:off x="952500" y="4781550"/>
            <a:ext cx="1752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D192B"/>
                </a:solidFill>
                <a:latin typeface="Roboto"/>
                <a:ea typeface="Roboto"/>
                <a:cs typeface="Roboto"/>
              </a:defRPr>
            </a:defPPr>
            <a:lvl1pPr algn="l">
              <a:defRPr sz="975" b="1">
                <a:solidFill>
                  <a:srgbClr val="1D192B"/>
                </a:solidFill>
                <a:latin typeface="Roboto"/>
                <a:ea typeface="Roboto"/>
                <a:cs typeface="Roboto"/>
              </a:defRPr>
            </a:lvl1pPr>
            <a:lvl2pPr algn="l">
              <a:defRPr sz="975" b="1">
                <a:solidFill>
                  <a:srgbClr val="1D192B"/>
                </a:solidFill>
                <a:latin typeface="Roboto"/>
                <a:ea typeface="Roboto"/>
                <a:cs typeface="Roboto"/>
              </a:defRPr>
            </a:lvl2pPr>
            <a:lvl3pPr algn="l">
              <a:defRPr sz="975" b="1">
                <a:solidFill>
                  <a:srgbClr val="1D192B"/>
                </a:solidFill>
                <a:latin typeface="Roboto"/>
                <a:ea typeface="Roboto"/>
                <a:cs typeface="Roboto"/>
              </a:defRPr>
            </a:lvl3pPr>
            <a:lvl4pPr algn="l">
              <a:defRPr sz="975" b="1">
                <a:solidFill>
                  <a:srgbClr val="1D192B"/>
                </a:solidFill>
                <a:latin typeface="Roboto"/>
                <a:ea typeface="Roboto"/>
                <a:cs typeface="Roboto"/>
              </a:defRPr>
            </a:lvl4pPr>
            <a:lvl5pPr algn="l">
              <a:defRPr sz="975" b="1">
                <a:solidFill>
                  <a:srgbClr val="1D192B"/>
                </a:solidFill>
                <a:latin typeface="Roboto"/>
                <a:ea typeface="Roboto"/>
                <a:cs typeface="Roboto"/>
              </a:defRPr>
            </a:lvl5pPr>
            <a:lvl6pPr algn="l">
              <a:defRPr sz="975" b="1">
                <a:solidFill>
                  <a:srgbClr val="1D192B"/>
                </a:solidFill>
                <a:latin typeface="Roboto"/>
                <a:ea typeface="Roboto"/>
                <a:cs typeface="Roboto"/>
              </a:defRPr>
            </a:lvl6pPr>
            <a:lvl7pPr algn="l">
              <a:defRPr sz="975" b="1">
                <a:solidFill>
                  <a:srgbClr val="1D192B"/>
                </a:solidFill>
                <a:latin typeface="Roboto"/>
                <a:ea typeface="Roboto"/>
                <a:cs typeface="Roboto"/>
              </a:defRPr>
            </a:lvl7pPr>
            <a:lvl8pPr algn="l">
              <a:defRPr sz="975" b="1">
                <a:solidFill>
                  <a:srgbClr val="1D192B"/>
                </a:solidFill>
                <a:latin typeface="Roboto"/>
                <a:ea typeface="Roboto"/>
                <a:cs typeface="Roboto"/>
              </a:defRPr>
            </a:lvl8pPr>
            <a:lvl9pPr algn="l">
              <a:defRPr sz="975" b="1">
                <a:solidFill>
                  <a:srgbClr val="1D192B"/>
                </a:solidFill>
                <a:latin typeface="Roboto"/>
                <a:ea typeface="Roboto"/>
                <a:cs typeface="Roboto"/>
              </a:defRPr>
            </a:lvl9pPr>
          </a:lstStyle>
          <a:p xmlns:a="http://schemas.openxmlformats.org/drawingml/2006/main">
            <a:pPr algn="l">
              <a:defRPr sz="975" b="1">
                <a:solidFill>
                  <a:srgbClr val="1D192B"/>
                </a:solidFill>
                <a:latin typeface="Roboto"/>
                <a:ea typeface="Roboto"/>
                <a:cs typeface="Roboto"/>
              </a:defRPr>
            </a:pPr>
            <a:r>
              <a:rPr sz="975" b="1">
                <a:solidFill>
                  <a:srgbClr val="1D192B"/>
                </a:solidFill>
                <a:latin typeface="Roboto"/>
                <a:ea typeface="Roboto"/>
                <a:cs typeface="Roboto"/>
              </a:rPr>
              <a:t>AUTHORITY LANE</a:t>
            </a:r>
          </a:p>
        </p:txBody>
      </p:sp>
      <p:sp>
        <p:nvSpPr>
          <p:cNvPr id="26" name="authority-flow">
            <a:extLst xmlns:a="http://schemas.openxmlformats.org/drawingml/2006/main">
              <a:ext uri="{FF2B5EF4-FFF2-40B4-BE49-F238E27FC236}">
                <a16:creationId xmlns:a16="http://schemas.microsoft.com/office/drawing/2014/main" id="{3448B227-5EE9-4775-BD61-590F2462A1EA}"/>
              </a:ext>
            </a:extLst>
          </p:cNvPr>
          <p:cNvSpPr>
            <a:spLocks xmlns:a="http://schemas.openxmlformats.org/drawingml/2006/main" noGrp="1"/>
          </p:cNvSpPr>
          <p:nvPr/>
        </p:nvSpPr>
        <p:spPr>
          <a:xfrm xmlns:a="http://schemas.openxmlformats.org/drawingml/2006/main">
            <a:off x="952500" y="5057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D192B"/>
                </a:solidFill>
                <a:latin typeface="Roboto"/>
                <a:ea typeface="Roboto"/>
                <a:cs typeface="Roboto"/>
              </a:defRPr>
            </a:defPPr>
            <a:lvl1pPr algn="l">
              <a:defRPr sz="1725" b="1">
                <a:solidFill>
                  <a:srgbClr val="1D192B"/>
                </a:solidFill>
                <a:latin typeface="Roboto"/>
                <a:ea typeface="Roboto"/>
                <a:cs typeface="Roboto"/>
              </a:defRPr>
            </a:lvl1pPr>
            <a:lvl2pPr algn="l">
              <a:defRPr sz="1725" b="1">
                <a:solidFill>
                  <a:srgbClr val="1D192B"/>
                </a:solidFill>
                <a:latin typeface="Roboto"/>
                <a:ea typeface="Roboto"/>
                <a:cs typeface="Roboto"/>
              </a:defRPr>
            </a:lvl2pPr>
            <a:lvl3pPr algn="l">
              <a:defRPr sz="1725" b="1">
                <a:solidFill>
                  <a:srgbClr val="1D192B"/>
                </a:solidFill>
                <a:latin typeface="Roboto"/>
                <a:ea typeface="Roboto"/>
                <a:cs typeface="Roboto"/>
              </a:defRPr>
            </a:lvl3pPr>
            <a:lvl4pPr algn="l">
              <a:defRPr sz="1725" b="1">
                <a:solidFill>
                  <a:srgbClr val="1D192B"/>
                </a:solidFill>
                <a:latin typeface="Roboto"/>
                <a:ea typeface="Roboto"/>
                <a:cs typeface="Roboto"/>
              </a:defRPr>
            </a:lvl4pPr>
            <a:lvl5pPr algn="l">
              <a:defRPr sz="1725" b="1">
                <a:solidFill>
                  <a:srgbClr val="1D192B"/>
                </a:solidFill>
                <a:latin typeface="Roboto"/>
                <a:ea typeface="Roboto"/>
                <a:cs typeface="Roboto"/>
              </a:defRPr>
            </a:lvl5pPr>
            <a:lvl6pPr algn="l">
              <a:defRPr sz="1725" b="1">
                <a:solidFill>
                  <a:srgbClr val="1D192B"/>
                </a:solidFill>
                <a:latin typeface="Roboto"/>
                <a:ea typeface="Roboto"/>
                <a:cs typeface="Roboto"/>
              </a:defRPr>
            </a:lvl6pPr>
            <a:lvl7pPr algn="l">
              <a:defRPr sz="1725" b="1">
                <a:solidFill>
                  <a:srgbClr val="1D192B"/>
                </a:solidFill>
                <a:latin typeface="Roboto"/>
                <a:ea typeface="Roboto"/>
                <a:cs typeface="Roboto"/>
              </a:defRPr>
            </a:lvl7pPr>
            <a:lvl8pPr algn="l">
              <a:defRPr sz="1725" b="1">
                <a:solidFill>
                  <a:srgbClr val="1D192B"/>
                </a:solidFill>
                <a:latin typeface="Roboto"/>
                <a:ea typeface="Roboto"/>
                <a:cs typeface="Roboto"/>
              </a:defRPr>
            </a:lvl8pPr>
            <a:lvl9pPr algn="l">
              <a:defRPr sz="1725" b="1">
                <a:solidFill>
                  <a:srgbClr val="1D192B"/>
                </a:solidFill>
                <a:latin typeface="Roboto"/>
                <a:ea typeface="Roboto"/>
                <a:cs typeface="Roboto"/>
              </a:defRPr>
            </a:lvl9pPr>
          </a:lstStyle>
          <a:p xmlns:a="http://schemas.openxmlformats.org/drawingml/2006/main">
            <a:pPr algn="l">
              <a:defRPr sz="1725" b="1">
                <a:solidFill>
                  <a:srgbClr val="1D192B"/>
                </a:solidFill>
                <a:latin typeface="Roboto"/>
                <a:ea typeface="Roboto"/>
                <a:cs typeface="Roboto"/>
              </a:defRPr>
            </a:pPr>
            <a:r>
              <a:rPr sz="1725" b="1">
                <a:solidFill>
                  <a:srgbClr val="1D192B"/>
                </a:solidFill>
                <a:latin typeface="Roboto"/>
                <a:ea typeface="Roboto"/>
                <a:cs typeface="Roboto"/>
              </a:rPr>
              <a:t>Owner signature  →  authenticated CPU worker</a:t>
            </a:r>
          </a:p>
        </p:txBody>
      </p:sp>
      <p:sp>
        <p:nvSpPr>
          <p:cNvPr id="27" name="sentinel-evidence-caveat">
            <a:extLst xmlns:a="http://schemas.openxmlformats.org/drawingml/2006/main">
              <a:ext uri="{FF2B5EF4-FFF2-40B4-BE49-F238E27FC236}">
                <a16:creationId xmlns:a16="http://schemas.microsoft.com/office/drawing/2014/main" id="{9D04DBC3-2DFD-403F-A18E-7691F96C08C5}"/>
              </a:ext>
            </a:extLst>
          </p:cNvPr>
          <p:cNvSpPr>
            <a:spLocks xmlns:a="http://schemas.openxmlformats.org/drawingml/2006/main" noGrp="1"/>
          </p:cNvSpPr>
          <p:nvPr/>
        </p:nvSpPr>
        <p:spPr>
          <a:xfrm xmlns:a="http://schemas.openxmlformats.org/drawingml/2006/main">
            <a:off x="762000" y="5762625"/>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49454F"/>
                </a:solidFill>
                <a:latin typeface="Roboto"/>
                <a:ea typeface="Roboto"/>
                <a:cs typeface="Roboto"/>
              </a:defRPr>
            </a:defPPr>
            <a:lvl1pPr algn="l">
              <a:defRPr sz="1125" b="0">
                <a:solidFill>
                  <a:srgbClr val="49454F"/>
                </a:solidFill>
                <a:latin typeface="Roboto"/>
                <a:ea typeface="Roboto"/>
                <a:cs typeface="Roboto"/>
              </a:defRPr>
            </a:lvl1pPr>
            <a:lvl2pPr algn="l">
              <a:defRPr sz="1125" b="0">
                <a:solidFill>
                  <a:srgbClr val="49454F"/>
                </a:solidFill>
                <a:latin typeface="Roboto"/>
                <a:ea typeface="Roboto"/>
                <a:cs typeface="Roboto"/>
              </a:defRPr>
            </a:lvl2pPr>
            <a:lvl3pPr algn="l">
              <a:defRPr sz="1125" b="0">
                <a:solidFill>
                  <a:srgbClr val="49454F"/>
                </a:solidFill>
                <a:latin typeface="Roboto"/>
                <a:ea typeface="Roboto"/>
                <a:cs typeface="Roboto"/>
              </a:defRPr>
            </a:lvl3pPr>
            <a:lvl4pPr algn="l">
              <a:defRPr sz="1125" b="0">
                <a:solidFill>
                  <a:srgbClr val="49454F"/>
                </a:solidFill>
                <a:latin typeface="Roboto"/>
                <a:ea typeface="Roboto"/>
                <a:cs typeface="Roboto"/>
              </a:defRPr>
            </a:lvl4pPr>
            <a:lvl5pPr algn="l">
              <a:defRPr sz="1125" b="0">
                <a:solidFill>
                  <a:srgbClr val="49454F"/>
                </a:solidFill>
                <a:latin typeface="Roboto"/>
                <a:ea typeface="Roboto"/>
                <a:cs typeface="Roboto"/>
              </a:defRPr>
            </a:lvl5pPr>
            <a:lvl6pPr algn="l">
              <a:defRPr sz="1125" b="0">
                <a:solidFill>
                  <a:srgbClr val="49454F"/>
                </a:solidFill>
                <a:latin typeface="Roboto"/>
                <a:ea typeface="Roboto"/>
                <a:cs typeface="Roboto"/>
              </a:defRPr>
            </a:lvl6pPr>
            <a:lvl7pPr algn="l">
              <a:defRPr sz="1125" b="0">
                <a:solidFill>
                  <a:srgbClr val="49454F"/>
                </a:solidFill>
                <a:latin typeface="Roboto"/>
                <a:ea typeface="Roboto"/>
                <a:cs typeface="Roboto"/>
              </a:defRPr>
            </a:lvl7pPr>
            <a:lvl8pPr algn="l">
              <a:defRPr sz="1125" b="0">
                <a:solidFill>
                  <a:srgbClr val="49454F"/>
                </a:solidFill>
                <a:latin typeface="Roboto"/>
                <a:ea typeface="Roboto"/>
                <a:cs typeface="Roboto"/>
              </a:defRPr>
            </a:lvl8pPr>
            <a:lvl9pPr algn="l">
              <a:defRPr sz="1125" b="0">
                <a:solidFill>
                  <a:srgbClr val="49454F"/>
                </a:solidFill>
                <a:latin typeface="Roboto"/>
                <a:ea typeface="Roboto"/>
                <a:cs typeface="Roboto"/>
              </a:defRPr>
            </a:lvl9pPr>
          </a:lstStyle>
          <a:p xmlns:a="http://schemas.openxmlformats.org/drawingml/2006/main">
            <a:pPr algn="l">
              <a:defRPr sz="1125" b="0">
                <a:solidFill>
                  <a:srgbClr val="49454F"/>
                </a:solidFill>
                <a:latin typeface="Roboto"/>
                <a:ea typeface="Roboto"/>
                <a:cs typeface="Roboto"/>
              </a:defRPr>
            </a:pPr>
            <a:r>
              <a:rPr sz="1125" b="0">
                <a:solidFill>
                  <a:srgbClr val="49454F"/>
                </a:solidFill>
                <a:latin typeface="Roboto"/>
                <a:ea typeface="Roboto"/>
                <a:cs typeface="Roboto"/>
              </a:rPr>
              <a:t>Optional Gemini review · API regressions + HTTP fixture checked · live Gemini call pending</a:t>
            </a:r>
          </a:p>
        </p:txBody>
      </p:sp>
    </p:spTree>
    <p:extLst>
      <p:ext uri="{BB962C8B-B14F-4D97-AF65-F5344CB8AC3E}">
        <p14:creationId xmlns:p14="http://schemas.microsoft.com/office/powerpoint/2010/main" val="1544030346"/>
      </p:ext>
    </p:extLst>
  </p:cSld>
</p:sld>
</file>

<file path=ppt/slides/slide6.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8" name="brand-wordmark">
            <a:extLst xmlns:a="http://schemas.openxmlformats.org/drawingml/2006/main">
              <a:ext uri="{FF2B5EF4-FFF2-40B4-BE49-F238E27FC236}">
                <a16:creationId xmlns:a16="http://schemas.microsoft.com/office/drawing/2014/main" id="{1A11508D-21E4-41E3-B132-34D28717EDFA}"/>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51854F26-1D39-4D4B-8180-77828D49D3AD}"/>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SOLANA SETTLEMENT</a:t>
            </a:r>
          </a:p>
        </p:txBody>
      </p:sp>
      <p:sp>
        <p:nvSpPr>
          <p:cNvPr id="3" name="footer-divider">
            <a:extLst xmlns:a="http://schemas.openxmlformats.org/drawingml/2006/main">
              <a:ext uri="{FF2B5EF4-FFF2-40B4-BE49-F238E27FC236}">
                <a16:creationId xmlns:a16="http://schemas.microsoft.com/office/drawing/2014/main" id="{F28090DB-1F8E-4CBA-A5B0-45EA95182664}"/>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0243A514-F16A-4EA3-A291-361C48A222CC}"/>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06 / 08</a:t>
            </a:r>
          </a:p>
        </p:txBody>
      </p:sp>
      <p:sp>
        <p:nvSpPr>
          <p:cNvPr id="5" name="slide-title">
            <a:extLst xmlns:a="http://schemas.openxmlformats.org/drawingml/2006/main">
              <a:ext uri="{FF2B5EF4-FFF2-40B4-BE49-F238E27FC236}">
                <a16:creationId xmlns:a16="http://schemas.microsoft.com/office/drawing/2014/main" id="{DF61C04E-F695-410A-BE0D-F9DE3AEA8D1A}"/>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Solana source routes task charge to its worker</a:t>
            </a:r>
          </a:p>
        </p:txBody>
      </p:sp>
      <p:sp>
        <p:nvSpPr>
          <p:cNvPr id="6" name="slide-subtitle">
            <a:extLst xmlns:a="http://schemas.openxmlformats.org/drawingml/2006/main">
              <a:ext uri="{FF2B5EF4-FFF2-40B4-BE49-F238E27FC236}">
                <a16:creationId xmlns:a16="http://schemas.microsoft.com/office/drawing/2014/main" id="{E76CBB0C-4231-4CD0-A803-2D3B78D50C6E}"/>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The updated contract binds funds, task limits, worker identity and receipt</a:t>
            </a:r>
          </a:p>
        </p:txBody>
      </p:sp>
      <p:sp>
        <p:nvSpPr>
          <p:cNvPr id="7" name="settlement-timeline">
            <a:extLst xmlns:a="http://schemas.openxmlformats.org/drawingml/2006/main">
              <a:ext uri="{FF2B5EF4-FFF2-40B4-BE49-F238E27FC236}">
                <a16:creationId xmlns:a16="http://schemas.microsoft.com/office/drawing/2014/main" id="{8FEE51C2-5C91-428B-BFFB-377D9C0E876C}"/>
              </a:ext>
            </a:extLst>
          </p:cNvPr>
          <p:cNvSpPr>
            <a:spLocks xmlns:a="http://schemas.openxmlformats.org/drawingml/2006/main" noGrp="1"/>
          </p:cNvSpPr>
          <p:nvPr/>
        </p:nvSpPr>
        <p:spPr>
          <a:xfrm xmlns:a="http://schemas.openxmlformats.org/drawingml/2006/main">
            <a:off x="685800" y="2362200"/>
            <a:ext cx="10820400" cy="2038350"/>
          </a:xfrm>
          <a:prstGeom xmlns:a="http://schemas.openxmlformats.org/drawingml/2006/main" prst="roundRect">
            <a:avLst>
              <a:gd name="adj" fmla="val 14019"/>
            </a:avLst>
          </a:prstGeom>
          <a:solidFill xmlns:a="http://schemas.openxmlformats.org/drawingml/2006/main">
            <a:srgbClr val="F7F2FA"/>
          </a:solidFill>
          <a:ln xmlns:a="http://schemas.openxmlformats.org/drawingml/2006/main" w="0">
            <a:noFill/>
            <a:prstDash val="solid"/>
          </a:ln>
        </p:spPr>
      </p:sp>
      <p:sp>
        <p:nvSpPr>
          <p:cNvPr id="8" name="settlement-axis">
            <a:extLst xmlns:a="http://schemas.openxmlformats.org/drawingml/2006/main">
              <a:ext uri="{FF2B5EF4-FFF2-40B4-BE49-F238E27FC236}">
                <a16:creationId xmlns:a16="http://schemas.microsoft.com/office/drawing/2014/main" id="{BF0B3513-59C0-4583-8E26-4D9355707782}"/>
              </a:ext>
            </a:extLst>
          </p:cNvPr>
          <p:cNvSpPr>
            <a:spLocks xmlns:a="http://schemas.openxmlformats.org/drawingml/2006/main" noGrp="1"/>
          </p:cNvSpPr>
          <p:nvPr/>
        </p:nvSpPr>
        <p:spPr>
          <a:xfrm xmlns:a="http://schemas.openxmlformats.org/drawingml/2006/main">
            <a:off x="1352550" y="3038475"/>
            <a:ext cx="9486900" cy="0"/>
          </a:xfrm>
          <a:prstGeom xmlns:a="http://schemas.openxmlformats.org/drawingml/2006/main" prst="line">
            <a:avLst/>
          </a:prstGeom>
          <a:noFill xmlns:a="http://schemas.openxmlformats.org/drawingml/2006/main"/>
          <a:ln xmlns:a="http://schemas.openxmlformats.org/drawingml/2006/main" w="14288">
            <a:solidFill>
              <a:srgbClr val="CAC4D0"/>
            </a:solidFill>
            <a:prstDash val="solid"/>
          </a:ln>
        </p:spPr>
      </p:sp>
      <p:sp>
        <p:nvSpPr>
          <p:cNvPr id="9" name="settlement-step-0">
            <a:extLst xmlns:a="http://schemas.openxmlformats.org/drawingml/2006/main">
              <a:ext uri="{FF2B5EF4-FFF2-40B4-BE49-F238E27FC236}">
                <a16:creationId xmlns:a16="http://schemas.microsoft.com/office/drawing/2014/main" id="{27743FF9-413C-4BEB-9B1A-2A066D0A8D4D}"/>
              </a:ext>
            </a:extLst>
          </p:cNvPr>
          <p:cNvSpPr>
            <a:spLocks xmlns:a="http://schemas.openxmlformats.org/drawingml/2006/main" noGrp="1"/>
          </p:cNvSpPr>
          <p:nvPr/>
        </p:nvSpPr>
        <p:spPr>
          <a:xfrm xmlns:a="http://schemas.openxmlformats.org/drawingml/2006/main">
            <a:off x="1066800" y="2867025"/>
            <a:ext cx="342900" cy="34290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01</a:t>
            </a:r>
          </a:p>
        </p:txBody>
      </p:sp>
      <p:sp>
        <p:nvSpPr>
          <p:cNvPr id="10" name="settlement-title-0">
            <a:extLst xmlns:a="http://schemas.openxmlformats.org/drawingml/2006/main">
              <a:ext uri="{FF2B5EF4-FFF2-40B4-BE49-F238E27FC236}">
                <a16:creationId xmlns:a16="http://schemas.microsoft.com/office/drawing/2014/main" id="{314962BB-CAFE-437B-8312-DE1CDA7C113D}"/>
              </a:ext>
            </a:extLst>
          </p:cNvPr>
          <p:cNvSpPr>
            <a:spLocks xmlns:a="http://schemas.openxmlformats.org/drawingml/2006/main" noGrp="1"/>
          </p:cNvSpPr>
          <p:nvPr/>
        </p:nvSpPr>
        <p:spPr>
          <a:xfrm xmlns:a="http://schemas.openxmlformats.org/drawingml/2006/main">
            <a:off x="1066800" y="33337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FUNDED CHANNEL</a:t>
            </a:r>
          </a:p>
        </p:txBody>
      </p:sp>
      <p:sp>
        <p:nvSpPr>
          <p:cNvPr id="11" name="settlement-detail-0">
            <a:extLst xmlns:a="http://schemas.openxmlformats.org/drawingml/2006/main">
              <a:ext uri="{FF2B5EF4-FFF2-40B4-BE49-F238E27FC236}">
                <a16:creationId xmlns:a16="http://schemas.microsoft.com/office/drawing/2014/main" id="{D805F720-BDD1-46CD-BFE1-368058BAEB5D}"/>
              </a:ext>
            </a:extLst>
          </p:cNvPr>
          <p:cNvSpPr>
            <a:spLocks xmlns:a="http://schemas.openxmlformats.org/drawingml/2006/main" noGrp="1"/>
          </p:cNvSpPr>
          <p:nvPr/>
        </p:nvSpPr>
        <p:spPr>
          <a:xfrm xmlns:a="http://schemas.openxmlformats.org/drawingml/2006/main">
            <a:off x="1066800" y="3705225"/>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Owner balance</a:t>
            </a:r>
          </a:p>
        </p:txBody>
      </p:sp>
      <p:sp>
        <p:nvSpPr>
          <p:cNvPr id="12" name="settlement-step-1">
            <a:extLst xmlns:a="http://schemas.openxmlformats.org/drawingml/2006/main">
              <a:ext uri="{FF2B5EF4-FFF2-40B4-BE49-F238E27FC236}">
                <a16:creationId xmlns:a16="http://schemas.microsoft.com/office/drawing/2014/main" id="{D02AF615-E2B0-469E-AB8F-FCD1C646DDB7}"/>
              </a:ext>
            </a:extLst>
          </p:cNvPr>
          <p:cNvSpPr>
            <a:spLocks xmlns:a="http://schemas.openxmlformats.org/drawingml/2006/main" noGrp="1"/>
          </p:cNvSpPr>
          <p:nvPr/>
        </p:nvSpPr>
        <p:spPr>
          <a:xfrm xmlns:a="http://schemas.openxmlformats.org/drawingml/2006/main">
            <a:off x="3714750" y="2867025"/>
            <a:ext cx="342900" cy="34290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02</a:t>
            </a:r>
          </a:p>
        </p:txBody>
      </p:sp>
      <p:sp>
        <p:nvSpPr>
          <p:cNvPr id="13" name="settlement-title-1">
            <a:extLst xmlns:a="http://schemas.openxmlformats.org/drawingml/2006/main">
              <a:ext uri="{FF2B5EF4-FFF2-40B4-BE49-F238E27FC236}">
                <a16:creationId xmlns:a16="http://schemas.microsoft.com/office/drawing/2014/main" id="{83F28874-C857-43D1-B181-F09260D82973}"/>
              </a:ext>
            </a:extLst>
          </p:cNvPr>
          <p:cNvSpPr>
            <a:spLocks xmlns:a="http://schemas.openxmlformats.org/drawingml/2006/main" noGrp="1"/>
          </p:cNvSpPr>
          <p:nvPr/>
        </p:nvSpPr>
        <p:spPr>
          <a:xfrm xmlns:a="http://schemas.openxmlformats.org/drawingml/2006/main">
            <a:off x="3714750" y="33337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TASK CAP</a:t>
            </a:r>
          </a:p>
        </p:txBody>
      </p:sp>
      <p:sp>
        <p:nvSpPr>
          <p:cNvPr id="14" name="settlement-detail-1">
            <a:extLst xmlns:a="http://schemas.openxmlformats.org/drawingml/2006/main">
              <a:ext uri="{FF2B5EF4-FFF2-40B4-BE49-F238E27FC236}">
                <a16:creationId xmlns:a16="http://schemas.microsoft.com/office/drawing/2014/main" id="{68F73043-86CA-4A69-912E-4879A963CA11}"/>
              </a:ext>
            </a:extLst>
          </p:cNvPr>
          <p:cNvSpPr>
            <a:spLocks xmlns:a="http://schemas.openxmlformats.org/drawingml/2006/main" noGrp="1"/>
          </p:cNvSpPr>
          <p:nvPr/>
        </p:nvSpPr>
        <p:spPr>
          <a:xfrm xmlns:a="http://schemas.openxmlformats.org/drawingml/2006/main">
            <a:off x="3714750" y="3705225"/>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Rate × time + deadline</a:t>
            </a:r>
          </a:p>
        </p:txBody>
      </p:sp>
      <p:sp>
        <p:nvSpPr>
          <p:cNvPr id="15" name="settlement-step-2">
            <a:extLst xmlns:a="http://schemas.openxmlformats.org/drawingml/2006/main">
              <a:ext uri="{FF2B5EF4-FFF2-40B4-BE49-F238E27FC236}">
                <a16:creationId xmlns:a16="http://schemas.microsoft.com/office/drawing/2014/main" id="{943DE061-1E97-4352-9022-8056C5CAEE92}"/>
              </a:ext>
            </a:extLst>
          </p:cNvPr>
          <p:cNvSpPr>
            <a:spLocks xmlns:a="http://schemas.openxmlformats.org/drawingml/2006/main" noGrp="1"/>
          </p:cNvSpPr>
          <p:nvPr/>
        </p:nvSpPr>
        <p:spPr>
          <a:xfrm xmlns:a="http://schemas.openxmlformats.org/drawingml/2006/main">
            <a:off x="6362700" y="2867025"/>
            <a:ext cx="342900" cy="342900"/>
          </a:xfrm>
          <a:prstGeom xmlns:a="http://schemas.openxmlformats.org/drawingml/2006/main" prst="ellipse">
            <a:avLst/>
          </a:prstGeom>
          <a:solidFill xmlns:a="http://schemas.openxmlformats.org/drawingml/2006/main">
            <a:srgbClr val="E8DEF8"/>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1D192B"/>
                </a:solidFill>
                <a:latin typeface="Roboto"/>
                <a:ea typeface="Roboto"/>
                <a:cs typeface="Roboto"/>
              </a:defRPr>
            </a:defPPr>
            <a:lvl1pPr algn="ctr">
              <a:defRPr sz="900" b="1">
                <a:solidFill>
                  <a:srgbClr val="1D192B"/>
                </a:solidFill>
                <a:latin typeface="Roboto"/>
                <a:ea typeface="Roboto"/>
                <a:cs typeface="Roboto"/>
              </a:defRPr>
            </a:lvl1pPr>
            <a:lvl2pPr algn="ctr">
              <a:defRPr sz="900" b="1">
                <a:solidFill>
                  <a:srgbClr val="1D192B"/>
                </a:solidFill>
                <a:latin typeface="Roboto"/>
                <a:ea typeface="Roboto"/>
                <a:cs typeface="Roboto"/>
              </a:defRPr>
            </a:lvl2pPr>
            <a:lvl3pPr algn="ctr">
              <a:defRPr sz="900" b="1">
                <a:solidFill>
                  <a:srgbClr val="1D192B"/>
                </a:solidFill>
                <a:latin typeface="Roboto"/>
                <a:ea typeface="Roboto"/>
                <a:cs typeface="Roboto"/>
              </a:defRPr>
            </a:lvl3pPr>
            <a:lvl4pPr algn="ctr">
              <a:defRPr sz="900" b="1">
                <a:solidFill>
                  <a:srgbClr val="1D192B"/>
                </a:solidFill>
                <a:latin typeface="Roboto"/>
                <a:ea typeface="Roboto"/>
                <a:cs typeface="Roboto"/>
              </a:defRPr>
            </a:lvl4pPr>
            <a:lvl5pPr algn="ctr">
              <a:defRPr sz="900" b="1">
                <a:solidFill>
                  <a:srgbClr val="1D192B"/>
                </a:solidFill>
                <a:latin typeface="Roboto"/>
                <a:ea typeface="Roboto"/>
                <a:cs typeface="Roboto"/>
              </a:defRPr>
            </a:lvl5pPr>
            <a:lvl6pPr algn="ctr">
              <a:defRPr sz="900" b="1">
                <a:solidFill>
                  <a:srgbClr val="1D192B"/>
                </a:solidFill>
                <a:latin typeface="Roboto"/>
                <a:ea typeface="Roboto"/>
                <a:cs typeface="Roboto"/>
              </a:defRPr>
            </a:lvl6pPr>
            <a:lvl7pPr algn="ctr">
              <a:defRPr sz="900" b="1">
                <a:solidFill>
                  <a:srgbClr val="1D192B"/>
                </a:solidFill>
                <a:latin typeface="Roboto"/>
                <a:ea typeface="Roboto"/>
                <a:cs typeface="Roboto"/>
              </a:defRPr>
            </a:lvl7pPr>
            <a:lvl8pPr algn="ctr">
              <a:defRPr sz="900" b="1">
                <a:solidFill>
                  <a:srgbClr val="1D192B"/>
                </a:solidFill>
                <a:latin typeface="Roboto"/>
                <a:ea typeface="Roboto"/>
                <a:cs typeface="Roboto"/>
              </a:defRPr>
            </a:lvl8pPr>
            <a:lvl9pPr algn="ctr">
              <a:defRPr sz="900" b="1">
                <a:solidFill>
                  <a:srgbClr val="1D192B"/>
                </a:solidFill>
                <a:latin typeface="Roboto"/>
                <a:ea typeface="Roboto"/>
                <a:cs typeface="Roboto"/>
              </a:defRPr>
            </a:lvl9pPr>
          </a:lstStyle>
          <a:p xmlns:a="http://schemas.openxmlformats.org/drawingml/2006/main">
            <a:pPr algn="ctr">
              <a:defRPr sz="900" b="1">
                <a:solidFill>
                  <a:srgbClr val="1D192B"/>
                </a:solidFill>
                <a:latin typeface="Roboto"/>
                <a:ea typeface="Roboto"/>
                <a:cs typeface="Roboto"/>
              </a:defRPr>
            </a:pPr>
            <a:r>
              <a:rPr sz="900" b="1">
                <a:solidFill>
                  <a:srgbClr val="1D192B"/>
                </a:solidFill>
                <a:latin typeface="Roboto"/>
                <a:ea typeface="Roboto"/>
                <a:cs typeface="Roboto"/>
              </a:rPr>
              <a:t>03</a:t>
            </a:r>
          </a:p>
        </p:txBody>
      </p:sp>
      <p:sp>
        <p:nvSpPr>
          <p:cNvPr id="16" name="settlement-title-2">
            <a:extLst xmlns:a="http://schemas.openxmlformats.org/drawingml/2006/main">
              <a:ext uri="{FF2B5EF4-FFF2-40B4-BE49-F238E27FC236}">
                <a16:creationId xmlns:a16="http://schemas.microsoft.com/office/drawing/2014/main" id="{E0CBBC6B-8307-49E8-99D0-516D012AABE7}"/>
              </a:ext>
            </a:extLst>
          </p:cNvPr>
          <p:cNvSpPr>
            <a:spLocks xmlns:a="http://schemas.openxmlformats.org/drawingml/2006/main" noGrp="1"/>
          </p:cNvSpPr>
          <p:nvPr/>
        </p:nvSpPr>
        <p:spPr>
          <a:xfrm xmlns:a="http://schemas.openxmlformats.org/drawingml/2006/main">
            <a:off x="6362700" y="33337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WORKER KEY</a:t>
            </a:r>
          </a:p>
        </p:txBody>
      </p:sp>
      <p:sp>
        <p:nvSpPr>
          <p:cNvPr id="17" name="settlement-detail-2">
            <a:extLst xmlns:a="http://schemas.openxmlformats.org/drawingml/2006/main">
              <a:ext uri="{FF2B5EF4-FFF2-40B4-BE49-F238E27FC236}">
                <a16:creationId xmlns:a16="http://schemas.microsoft.com/office/drawing/2014/main" id="{FED54553-4F5C-475F-A2AB-43540BB7A1C3}"/>
              </a:ext>
            </a:extLst>
          </p:cNvPr>
          <p:cNvSpPr>
            <a:spLocks xmlns:a="http://schemas.openxmlformats.org/drawingml/2006/main" noGrp="1"/>
          </p:cNvSpPr>
          <p:nvPr/>
        </p:nvSpPr>
        <p:spPr>
          <a:xfrm xmlns:a="http://schemas.openxmlformats.org/drawingml/2006/main">
            <a:off x="6362700" y="3705225"/>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Recipient pinned at start</a:t>
            </a:r>
          </a:p>
        </p:txBody>
      </p:sp>
      <p:sp>
        <p:nvSpPr>
          <p:cNvPr id="18" name="settlement-step-3">
            <a:extLst xmlns:a="http://schemas.openxmlformats.org/drawingml/2006/main">
              <a:ext uri="{FF2B5EF4-FFF2-40B4-BE49-F238E27FC236}">
                <a16:creationId xmlns:a16="http://schemas.microsoft.com/office/drawing/2014/main" id="{7ED82ECB-18F4-4467-B8F8-348CBF7BF37B}"/>
              </a:ext>
            </a:extLst>
          </p:cNvPr>
          <p:cNvSpPr>
            <a:spLocks xmlns:a="http://schemas.openxmlformats.org/drawingml/2006/main" noGrp="1"/>
          </p:cNvSpPr>
          <p:nvPr/>
        </p:nvSpPr>
        <p:spPr>
          <a:xfrm xmlns:a="http://schemas.openxmlformats.org/drawingml/2006/main">
            <a:off x="9010650" y="2867025"/>
            <a:ext cx="342900" cy="342900"/>
          </a:xfrm>
          <a:prstGeom xmlns:a="http://schemas.openxmlformats.org/drawingml/2006/main" prst="ellipse">
            <a:avLst/>
          </a:prstGeom>
          <a:solidFill xmlns:a="http://schemas.openxmlformats.org/drawingml/2006/main">
            <a:srgbClr val="6750A4"/>
          </a:solidFill>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defPPr algn="ctr">
              <a:defRPr sz="900" b="1">
                <a:solidFill>
                  <a:srgbClr val="FFFFFF"/>
                </a:solidFill>
                <a:latin typeface="Roboto"/>
                <a:ea typeface="Roboto"/>
                <a:cs typeface="Roboto"/>
              </a:defRPr>
            </a:defPPr>
            <a:lvl1pPr algn="ctr">
              <a:defRPr sz="900" b="1">
                <a:solidFill>
                  <a:srgbClr val="FFFFFF"/>
                </a:solidFill>
                <a:latin typeface="Roboto"/>
                <a:ea typeface="Roboto"/>
                <a:cs typeface="Roboto"/>
              </a:defRPr>
            </a:lvl1pPr>
            <a:lvl2pPr algn="ctr">
              <a:defRPr sz="900" b="1">
                <a:solidFill>
                  <a:srgbClr val="FFFFFF"/>
                </a:solidFill>
                <a:latin typeface="Roboto"/>
                <a:ea typeface="Roboto"/>
                <a:cs typeface="Roboto"/>
              </a:defRPr>
            </a:lvl2pPr>
            <a:lvl3pPr algn="ctr">
              <a:defRPr sz="900" b="1">
                <a:solidFill>
                  <a:srgbClr val="FFFFFF"/>
                </a:solidFill>
                <a:latin typeface="Roboto"/>
                <a:ea typeface="Roboto"/>
                <a:cs typeface="Roboto"/>
              </a:defRPr>
            </a:lvl3pPr>
            <a:lvl4pPr algn="ctr">
              <a:defRPr sz="900" b="1">
                <a:solidFill>
                  <a:srgbClr val="FFFFFF"/>
                </a:solidFill>
                <a:latin typeface="Roboto"/>
                <a:ea typeface="Roboto"/>
                <a:cs typeface="Roboto"/>
              </a:defRPr>
            </a:lvl4pPr>
            <a:lvl5pPr algn="ctr">
              <a:defRPr sz="900" b="1">
                <a:solidFill>
                  <a:srgbClr val="FFFFFF"/>
                </a:solidFill>
                <a:latin typeface="Roboto"/>
                <a:ea typeface="Roboto"/>
                <a:cs typeface="Roboto"/>
              </a:defRPr>
            </a:lvl5pPr>
            <a:lvl6pPr algn="ctr">
              <a:defRPr sz="900" b="1">
                <a:solidFill>
                  <a:srgbClr val="FFFFFF"/>
                </a:solidFill>
                <a:latin typeface="Roboto"/>
                <a:ea typeface="Roboto"/>
                <a:cs typeface="Roboto"/>
              </a:defRPr>
            </a:lvl6pPr>
            <a:lvl7pPr algn="ctr">
              <a:defRPr sz="900" b="1">
                <a:solidFill>
                  <a:srgbClr val="FFFFFF"/>
                </a:solidFill>
                <a:latin typeface="Roboto"/>
                <a:ea typeface="Roboto"/>
                <a:cs typeface="Roboto"/>
              </a:defRPr>
            </a:lvl7pPr>
            <a:lvl8pPr algn="ctr">
              <a:defRPr sz="900" b="1">
                <a:solidFill>
                  <a:srgbClr val="FFFFFF"/>
                </a:solidFill>
                <a:latin typeface="Roboto"/>
                <a:ea typeface="Roboto"/>
                <a:cs typeface="Roboto"/>
              </a:defRPr>
            </a:lvl8pPr>
            <a:lvl9pPr algn="ctr">
              <a:defRPr sz="900" b="1">
                <a:solidFill>
                  <a:srgbClr val="FFFFFF"/>
                </a:solidFill>
                <a:latin typeface="Roboto"/>
                <a:ea typeface="Roboto"/>
                <a:cs typeface="Roboto"/>
              </a:defRPr>
            </a:lvl9pPr>
          </a:lstStyle>
          <a:p xmlns:a="http://schemas.openxmlformats.org/drawingml/2006/main">
            <a:pPr algn="ctr">
              <a:defRPr sz="900" b="1">
                <a:solidFill>
                  <a:srgbClr val="FFFFFF"/>
                </a:solidFill>
                <a:latin typeface="Roboto"/>
                <a:ea typeface="Roboto"/>
                <a:cs typeface="Roboto"/>
              </a:defRPr>
            </a:pPr>
            <a:r>
              <a:rPr sz="900" b="1">
                <a:solidFill>
                  <a:srgbClr val="FFFFFF"/>
                </a:solidFill>
                <a:latin typeface="Roboto"/>
                <a:ea typeface="Roboto"/>
                <a:cs typeface="Roboto"/>
              </a:rPr>
              <a:t>04</a:t>
            </a:r>
          </a:p>
        </p:txBody>
      </p:sp>
      <p:sp>
        <p:nvSpPr>
          <p:cNvPr id="19" name="settlement-title-3">
            <a:extLst xmlns:a="http://schemas.openxmlformats.org/drawingml/2006/main">
              <a:ext uri="{FF2B5EF4-FFF2-40B4-BE49-F238E27FC236}">
                <a16:creationId xmlns:a16="http://schemas.microsoft.com/office/drawing/2014/main" id="{458DF90F-18A3-43C3-AC7B-9073C4B081A5}"/>
              </a:ext>
            </a:extLst>
          </p:cNvPr>
          <p:cNvSpPr>
            <a:spLocks xmlns:a="http://schemas.openxmlformats.org/drawingml/2006/main" noGrp="1"/>
          </p:cNvSpPr>
          <p:nvPr/>
        </p:nvSpPr>
        <p:spPr>
          <a:xfrm xmlns:a="http://schemas.openxmlformats.org/drawingml/2006/main">
            <a:off x="9010650" y="33337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TASK RECEIPT</a:t>
            </a:r>
          </a:p>
        </p:txBody>
      </p:sp>
      <p:sp>
        <p:nvSpPr>
          <p:cNvPr id="20" name="settlement-detail-3">
            <a:extLst xmlns:a="http://schemas.openxmlformats.org/drawingml/2006/main">
              <a:ext uri="{FF2B5EF4-FFF2-40B4-BE49-F238E27FC236}">
                <a16:creationId xmlns:a16="http://schemas.microsoft.com/office/drawing/2014/main" id="{E281216E-F002-4835-BB47-0C883AEA9B1A}"/>
              </a:ext>
            </a:extLst>
          </p:cNvPr>
          <p:cNvSpPr>
            <a:spLocks xmlns:a="http://schemas.openxmlformats.org/drawingml/2006/main" noGrp="1"/>
          </p:cNvSpPr>
          <p:nvPr/>
        </p:nvSpPr>
        <p:spPr>
          <a:xfrm xmlns:a="http://schemas.openxmlformats.org/drawingml/2006/main">
            <a:off x="9010650" y="3705225"/>
            <a:ext cx="224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Persistent, retry-safe</a:t>
            </a:r>
          </a:p>
        </p:txBody>
      </p:sp>
      <p:sp>
        <p:nvSpPr>
          <p:cNvPr id="21" name="worker-payout-surface">
            <a:extLst xmlns:a="http://schemas.openxmlformats.org/drawingml/2006/main">
              <a:ext uri="{FF2B5EF4-FFF2-40B4-BE49-F238E27FC236}">
                <a16:creationId xmlns:a16="http://schemas.microsoft.com/office/drawing/2014/main" id="{CC638FB7-96D3-4BE0-8E78-7941D45143B0}"/>
              </a:ext>
            </a:extLst>
          </p:cNvPr>
          <p:cNvSpPr>
            <a:spLocks xmlns:a="http://schemas.openxmlformats.org/drawingml/2006/main" noGrp="1"/>
          </p:cNvSpPr>
          <p:nvPr/>
        </p:nvSpPr>
        <p:spPr>
          <a:xfrm xmlns:a="http://schemas.openxmlformats.org/drawingml/2006/main">
            <a:off x="685800" y="4629150"/>
            <a:ext cx="5943600" cy="1466850"/>
          </a:xfrm>
          <a:prstGeom xmlns:a="http://schemas.openxmlformats.org/drawingml/2006/main" prst="roundRect">
            <a:avLst>
              <a:gd name="adj" fmla="val 19481"/>
            </a:avLst>
          </a:prstGeom>
          <a:solidFill xmlns:a="http://schemas.openxmlformats.org/drawingml/2006/main">
            <a:srgbClr val="EADDFF"/>
          </a:solidFill>
          <a:ln xmlns:a="http://schemas.openxmlformats.org/drawingml/2006/main" w="0">
            <a:noFill/>
            <a:prstDash val="solid"/>
          </a:ln>
        </p:spPr>
      </p:sp>
      <p:sp>
        <p:nvSpPr>
          <p:cNvPr id="22" name="worker-payout-value">
            <a:extLst xmlns:a="http://schemas.openxmlformats.org/drawingml/2006/main">
              <a:ext uri="{FF2B5EF4-FFF2-40B4-BE49-F238E27FC236}">
                <a16:creationId xmlns:a16="http://schemas.microsoft.com/office/drawing/2014/main" id="{B98317AD-A565-4A6B-AB92-88B960D43F92}"/>
              </a:ext>
            </a:extLst>
          </p:cNvPr>
          <p:cNvSpPr>
            <a:spLocks xmlns:a="http://schemas.openxmlformats.org/drawingml/2006/main" noGrp="1"/>
          </p:cNvSpPr>
          <p:nvPr/>
        </p:nvSpPr>
        <p:spPr>
          <a:xfrm xmlns:a="http://schemas.openxmlformats.org/drawingml/2006/main">
            <a:off x="952500" y="4838700"/>
            <a:ext cx="1847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5100" b="1">
                <a:solidFill>
                  <a:srgbClr val="21005D"/>
                </a:solidFill>
                <a:latin typeface="Roboto"/>
                <a:ea typeface="Roboto"/>
                <a:cs typeface="Roboto"/>
              </a:defRPr>
            </a:defPPr>
            <a:lvl1pPr algn="l">
              <a:defRPr sz="5100" b="1">
                <a:solidFill>
                  <a:srgbClr val="21005D"/>
                </a:solidFill>
                <a:latin typeface="Roboto"/>
                <a:ea typeface="Roboto"/>
                <a:cs typeface="Roboto"/>
              </a:defRPr>
            </a:lvl1pPr>
            <a:lvl2pPr algn="l">
              <a:defRPr sz="5100" b="1">
                <a:solidFill>
                  <a:srgbClr val="21005D"/>
                </a:solidFill>
                <a:latin typeface="Roboto"/>
                <a:ea typeface="Roboto"/>
                <a:cs typeface="Roboto"/>
              </a:defRPr>
            </a:lvl2pPr>
            <a:lvl3pPr algn="l">
              <a:defRPr sz="5100" b="1">
                <a:solidFill>
                  <a:srgbClr val="21005D"/>
                </a:solidFill>
                <a:latin typeface="Roboto"/>
                <a:ea typeface="Roboto"/>
                <a:cs typeface="Roboto"/>
              </a:defRPr>
            </a:lvl3pPr>
            <a:lvl4pPr algn="l">
              <a:defRPr sz="5100" b="1">
                <a:solidFill>
                  <a:srgbClr val="21005D"/>
                </a:solidFill>
                <a:latin typeface="Roboto"/>
                <a:ea typeface="Roboto"/>
                <a:cs typeface="Roboto"/>
              </a:defRPr>
            </a:lvl4pPr>
            <a:lvl5pPr algn="l">
              <a:defRPr sz="5100" b="1">
                <a:solidFill>
                  <a:srgbClr val="21005D"/>
                </a:solidFill>
                <a:latin typeface="Roboto"/>
                <a:ea typeface="Roboto"/>
                <a:cs typeface="Roboto"/>
              </a:defRPr>
            </a:lvl5pPr>
            <a:lvl6pPr algn="l">
              <a:defRPr sz="5100" b="1">
                <a:solidFill>
                  <a:srgbClr val="21005D"/>
                </a:solidFill>
                <a:latin typeface="Roboto"/>
                <a:ea typeface="Roboto"/>
                <a:cs typeface="Roboto"/>
              </a:defRPr>
            </a:lvl6pPr>
            <a:lvl7pPr algn="l">
              <a:defRPr sz="5100" b="1">
                <a:solidFill>
                  <a:srgbClr val="21005D"/>
                </a:solidFill>
                <a:latin typeface="Roboto"/>
                <a:ea typeface="Roboto"/>
                <a:cs typeface="Roboto"/>
              </a:defRPr>
            </a:lvl7pPr>
            <a:lvl8pPr algn="l">
              <a:defRPr sz="5100" b="1">
                <a:solidFill>
                  <a:srgbClr val="21005D"/>
                </a:solidFill>
                <a:latin typeface="Roboto"/>
                <a:ea typeface="Roboto"/>
                <a:cs typeface="Roboto"/>
              </a:defRPr>
            </a:lvl8pPr>
            <a:lvl9pPr algn="l">
              <a:defRPr sz="5100" b="1">
                <a:solidFill>
                  <a:srgbClr val="21005D"/>
                </a:solidFill>
                <a:latin typeface="Roboto"/>
                <a:ea typeface="Roboto"/>
                <a:cs typeface="Roboto"/>
              </a:defRPr>
            </a:lvl9pPr>
          </a:lstStyle>
          <a:p xmlns:a="http://schemas.openxmlformats.org/drawingml/2006/main">
            <a:pPr algn="l">
              <a:defRPr sz="5100" b="1">
                <a:solidFill>
                  <a:srgbClr val="21005D"/>
                </a:solidFill>
                <a:latin typeface="Roboto"/>
                <a:ea typeface="Roboto"/>
                <a:cs typeface="Roboto"/>
              </a:defRPr>
            </a:pPr>
            <a:r>
              <a:rPr sz="5100" b="1">
                <a:solidFill>
                  <a:srgbClr val="21005D"/>
                </a:solidFill>
                <a:latin typeface="Roboto"/>
                <a:ea typeface="Roboto"/>
                <a:cs typeface="Roboto"/>
              </a:rPr>
              <a:t>100%</a:t>
            </a:r>
          </a:p>
        </p:txBody>
      </p:sp>
      <p:sp>
        <p:nvSpPr>
          <p:cNvPr id="23" name="worker-payout-copy">
            <a:extLst xmlns:a="http://schemas.openxmlformats.org/drawingml/2006/main">
              <a:ext uri="{FF2B5EF4-FFF2-40B4-BE49-F238E27FC236}">
                <a16:creationId xmlns:a16="http://schemas.microsoft.com/office/drawing/2014/main" id="{479CCFA1-0A22-4BCB-B54A-62D6A08E20C4}"/>
              </a:ext>
            </a:extLst>
          </p:cNvPr>
          <p:cNvSpPr>
            <a:spLocks xmlns:a="http://schemas.openxmlformats.org/drawingml/2006/main" noGrp="1"/>
          </p:cNvSpPr>
          <p:nvPr/>
        </p:nvSpPr>
        <p:spPr>
          <a:xfrm xmlns:a="http://schemas.openxmlformats.org/drawingml/2006/main">
            <a:off x="2952750" y="4914900"/>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21005D"/>
                </a:solidFill>
                <a:latin typeface="Roboto"/>
                <a:ea typeface="Roboto"/>
                <a:cs typeface="Roboto"/>
              </a:defRPr>
            </a:defPPr>
            <a:lvl1pPr algn="l">
              <a:defRPr sz="1650" b="1">
                <a:solidFill>
                  <a:srgbClr val="21005D"/>
                </a:solidFill>
                <a:latin typeface="Roboto"/>
                <a:ea typeface="Roboto"/>
                <a:cs typeface="Roboto"/>
              </a:defRPr>
            </a:lvl1pPr>
            <a:lvl2pPr algn="l">
              <a:defRPr sz="1650" b="1">
                <a:solidFill>
                  <a:srgbClr val="21005D"/>
                </a:solidFill>
                <a:latin typeface="Roboto"/>
                <a:ea typeface="Roboto"/>
                <a:cs typeface="Roboto"/>
              </a:defRPr>
            </a:lvl2pPr>
            <a:lvl3pPr algn="l">
              <a:defRPr sz="1650" b="1">
                <a:solidFill>
                  <a:srgbClr val="21005D"/>
                </a:solidFill>
                <a:latin typeface="Roboto"/>
                <a:ea typeface="Roboto"/>
                <a:cs typeface="Roboto"/>
              </a:defRPr>
            </a:lvl3pPr>
            <a:lvl4pPr algn="l">
              <a:defRPr sz="1650" b="1">
                <a:solidFill>
                  <a:srgbClr val="21005D"/>
                </a:solidFill>
                <a:latin typeface="Roboto"/>
                <a:ea typeface="Roboto"/>
                <a:cs typeface="Roboto"/>
              </a:defRPr>
            </a:lvl4pPr>
            <a:lvl5pPr algn="l">
              <a:defRPr sz="1650" b="1">
                <a:solidFill>
                  <a:srgbClr val="21005D"/>
                </a:solidFill>
                <a:latin typeface="Roboto"/>
                <a:ea typeface="Roboto"/>
                <a:cs typeface="Roboto"/>
              </a:defRPr>
            </a:lvl5pPr>
            <a:lvl6pPr algn="l">
              <a:defRPr sz="1650" b="1">
                <a:solidFill>
                  <a:srgbClr val="21005D"/>
                </a:solidFill>
                <a:latin typeface="Roboto"/>
                <a:ea typeface="Roboto"/>
                <a:cs typeface="Roboto"/>
              </a:defRPr>
            </a:lvl6pPr>
            <a:lvl7pPr algn="l">
              <a:defRPr sz="1650" b="1">
                <a:solidFill>
                  <a:srgbClr val="21005D"/>
                </a:solidFill>
                <a:latin typeface="Roboto"/>
                <a:ea typeface="Roboto"/>
                <a:cs typeface="Roboto"/>
              </a:defRPr>
            </a:lvl7pPr>
            <a:lvl8pPr algn="l">
              <a:defRPr sz="1650" b="1">
                <a:solidFill>
                  <a:srgbClr val="21005D"/>
                </a:solidFill>
                <a:latin typeface="Roboto"/>
                <a:ea typeface="Roboto"/>
                <a:cs typeface="Roboto"/>
              </a:defRPr>
            </a:lvl8pPr>
            <a:lvl9pPr algn="l">
              <a:defRPr sz="1650" b="1">
                <a:solidFill>
                  <a:srgbClr val="21005D"/>
                </a:solidFill>
                <a:latin typeface="Roboto"/>
                <a:ea typeface="Roboto"/>
                <a:cs typeface="Roboto"/>
              </a:defRPr>
            </a:lvl9pPr>
          </a:lstStyle>
          <a:p xmlns:a="http://schemas.openxmlformats.org/drawingml/2006/main">
            <a:pPr algn="l">
              <a:defRPr sz="1650" b="1">
                <a:solidFill>
                  <a:srgbClr val="21005D"/>
                </a:solidFill>
                <a:latin typeface="Roboto"/>
                <a:ea typeface="Roboto"/>
                <a:cs typeface="Roboto"/>
              </a:defRPr>
            </a:pPr>
            <a:r>
              <a:rPr sz="1650" b="1">
                <a:solidFill>
                  <a:srgbClr val="21005D"/>
                </a:solidFill>
                <a:latin typeface="Roboto"/>
                <a:ea typeface="Roboto"/>
                <a:cs typeface="Roboto"/>
              </a:rPr>
              <a:t>of confirmed task charge routes to the assigned worker.</a:t>
            </a:r>
          </a:p>
        </p:txBody>
      </p:sp>
      <p:sp>
        <p:nvSpPr>
          <p:cNvPr id="24" name="settlement-status-surface">
            <a:extLst xmlns:a="http://schemas.openxmlformats.org/drawingml/2006/main">
              <a:ext uri="{FF2B5EF4-FFF2-40B4-BE49-F238E27FC236}">
                <a16:creationId xmlns:a16="http://schemas.microsoft.com/office/drawing/2014/main" id="{C8BE6E11-CE25-4ABE-ADA7-FCFF25ACA099}"/>
              </a:ext>
            </a:extLst>
          </p:cNvPr>
          <p:cNvSpPr>
            <a:spLocks xmlns:a="http://schemas.openxmlformats.org/drawingml/2006/main" noGrp="1"/>
          </p:cNvSpPr>
          <p:nvPr/>
        </p:nvSpPr>
        <p:spPr>
          <a:xfrm xmlns:a="http://schemas.openxmlformats.org/drawingml/2006/main">
            <a:off x="6877050" y="4629150"/>
            <a:ext cx="4629150" cy="1466850"/>
          </a:xfrm>
          <a:prstGeom xmlns:a="http://schemas.openxmlformats.org/drawingml/2006/main" prst="roundRect">
            <a:avLst>
              <a:gd name="adj" fmla="val 19481"/>
            </a:avLst>
          </a:prstGeom>
          <a:solidFill xmlns:a="http://schemas.openxmlformats.org/drawingml/2006/main">
            <a:srgbClr val="ECE6F0"/>
          </a:solidFill>
          <a:ln xmlns:a="http://schemas.openxmlformats.org/drawingml/2006/main" w="0">
            <a:noFill/>
            <a:prstDash val="solid"/>
          </a:ln>
        </p:spPr>
      </p:sp>
      <p:sp>
        <p:nvSpPr>
          <p:cNvPr id="25" name="settlement-status-label">
            <a:extLst xmlns:a="http://schemas.openxmlformats.org/drawingml/2006/main">
              <a:ext uri="{FF2B5EF4-FFF2-40B4-BE49-F238E27FC236}">
                <a16:creationId xmlns:a16="http://schemas.microsoft.com/office/drawing/2014/main" id="{E6D8443E-37EA-46FE-BA36-FCCA962374C3}"/>
              </a:ext>
            </a:extLst>
          </p:cNvPr>
          <p:cNvSpPr>
            <a:spLocks xmlns:a="http://schemas.openxmlformats.org/drawingml/2006/main" noGrp="1"/>
          </p:cNvSpPr>
          <p:nvPr/>
        </p:nvSpPr>
        <p:spPr>
          <a:xfrm xmlns:a="http://schemas.openxmlformats.org/drawingml/2006/main">
            <a:off x="7143750" y="48006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49454F"/>
                </a:solidFill>
                <a:latin typeface="Roboto"/>
                <a:ea typeface="Roboto"/>
                <a:cs typeface="Roboto"/>
              </a:defRPr>
            </a:defPPr>
            <a:lvl1pPr algn="l">
              <a:defRPr sz="975" b="1">
                <a:solidFill>
                  <a:srgbClr val="49454F"/>
                </a:solidFill>
                <a:latin typeface="Roboto"/>
                <a:ea typeface="Roboto"/>
                <a:cs typeface="Roboto"/>
              </a:defRPr>
            </a:lvl1pPr>
            <a:lvl2pPr algn="l">
              <a:defRPr sz="975" b="1">
                <a:solidFill>
                  <a:srgbClr val="49454F"/>
                </a:solidFill>
                <a:latin typeface="Roboto"/>
                <a:ea typeface="Roboto"/>
                <a:cs typeface="Roboto"/>
              </a:defRPr>
            </a:lvl2pPr>
            <a:lvl3pPr algn="l">
              <a:defRPr sz="975" b="1">
                <a:solidFill>
                  <a:srgbClr val="49454F"/>
                </a:solidFill>
                <a:latin typeface="Roboto"/>
                <a:ea typeface="Roboto"/>
                <a:cs typeface="Roboto"/>
              </a:defRPr>
            </a:lvl3pPr>
            <a:lvl4pPr algn="l">
              <a:defRPr sz="975" b="1">
                <a:solidFill>
                  <a:srgbClr val="49454F"/>
                </a:solidFill>
                <a:latin typeface="Roboto"/>
                <a:ea typeface="Roboto"/>
                <a:cs typeface="Roboto"/>
              </a:defRPr>
            </a:lvl4pPr>
            <a:lvl5pPr algn="l">
              <a:defRPr sz="975" b="1">
                <a:solidFill>
                  <a:srgbClr val="49454F"/>
                </a:solidFill>
                <a:latin typeface="Roboto"/>
                <a:ea typeface="Roboto"/>
                <a:cs typeface="Roboto"/>
              </a:defRPr>
            </a:lvl5pPr>
            <a:lvl6pPr algn="l">
              <a:defRPr sz="975" b="1">
                <a:solidFill>
                  <a:srgbClr val="49454F"/>
                </a:solidFill>
                <a:latin typeface="Roboto"/>
                <a:ea typeface="Roboto"/>
                <a:cs typeface="Roboto"/>
              </a:defRPr>
            </a:lvl6pPr>
            <a:lvl7pPr algn="l">
              <a:defRPr sz="975" b="1">
                <a:solidFill>
                  <a:srgbClr val="49454F"/>
                </a:solidFill>
                <a:latin typeface="Roboto"/>
                <a:ea typeface="Roboto"/>
                <a:cs typeface="Roboto"/>
              </a:defRPr>
            </a:lvl7pPr>
            <a:lvl8pPr algn="l">
              <a:defRPr sz="975" b="1">
                <a:solidFill>
                  <a:srgbClr val="49454F"/>
                </a:solidFill>
                <a:latin typeface="Roboto"/>
                <a:ea typeface="Roboto"/>
                <a:cs typeface="Roboto"/>
              </a:defRPr>
            </a:lvl8pPr>
            <a:lvl9pPr algn="l">
              <a:defRPr sz="975" b="1">
                <a:solidFill>
                  <a:srgbClr val="49454F"/>
                </a:solidFill>
                <a:latin typeface="Roboto"/>
                <a:ea typeface="Roboto"/>
                <a:cs typeface="Roboto"/>
              </a:defRPr>
            </a:lvl9pPr>
          </a:lstStyle>
          <a:p xmlns:a="http://schemas.openxmlformats.org/drawingml/2006/main">
            <a:pPr algn="l">
              <a:defRPr sz="975" b="1">
                <a:solidFill>
                  <a:srgbClr val="49454F"/>
                </a:solidFill>
                <a:latin typeface="Roboto"/>
                <a:ea typeface="Roboto"/>
                <a:cs typeface="Roboto"/>
              </a:defRPr>
            </a:pPr>
            <a:r>
              <a:rPr sz="975" b="1">
                <a:solidFill>
                  <a:srgbClr val="49454F"/>
                </a:solidFill>
                <a:latin typeface="Roboto"/>
                <a:ea typeface="Roboto"/>
                <a:cs typeface="Roboto"/>
              </a:rPr>
              <a:t>CURRENT PREVIEW</a:t>
            </a:r>
          </a:p>
        </p:txBody>
      </p:sp>
      <p:sp>
        <p:nvSpPr>
          <p:cNvPr id="26" name="settlement-status">
            <a:extLst xmlns:a="http://schemas.openxmlformats.org/drawingml/2006/main">
              <a:ext uri="{FF2B5EF4-FFF2-40B4-BE49-F238E27FC236}">
                <a16:creationId xmlns:a16="http://schemas.microsoft.com/office/drawing/2014/main" id="{50D45C36-7F2D-45D7-AD30-02A03C67C96C}"/>
              </a:ext>
            </a:extLst>
          </p:cNvPr>
          <p:cNvSpPr>
            <a:spLocks xmlns:a="http://schemas.openxmlformats.org/drawingml/2006/main" noGrp="1"/>
          </p:cNvSpPr>
          <p:nvPr/>
        </p:nvSpPr>
        <p:spPr>
          <a:xfrm xmlns:a="http://schemas.openxmlformats.org/drawingml/2006/main">
            <a:off x="7143750" y="506730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6750A4"/>
                </a:solidFill>
                <a:latin typeface="Roboto"/>
                <a:ea typeface="Roboto"/>
                <a:cs typeface="Roboto"/>
              </a:defRPr>
            </a:defPPr>
            <a:lvl1pPr algn="l">
              <a:defRPr sz="1650" b="1">
                <a:solidFill>
                  <a:srgbClr val="6750A4"/>
                </a:solidFill>
                <a:latin typeface="Roboto"/>
                <a:ea typeface="Roboto"/>
                <a:cs typeface="Roboto"/>
              </a:defRPr>
            </a:lvl1pPr>
            <a:lvl2pPr algn="l">
              <a:defRPr sz="1650" b="1">
                <a:solidFill>
                  <a:srgbClr val="6750A4"/>
                </a:solidFill>
                <a:latin typeface="Roboto"/>
                <a:ea typeface="Roboto"/>
                <a:cs typeface="Roboto"/>
              </a:defRPr>
            </a:lvl2pPr>
            <a:lvl3pPr algn="l">
              <a:defRPr sz="1650" b="1">
                <a:solidFill>
                  <a:srgbClr val="6750A4"/>
                </a:solidFill>
                <a:latin typeface="Roboto"/>
                <a:ea typeface="Roboto"/>
                <a:cs typeface="Roboto"/>
              </a:defRPr>
            </a:lvl3pPr>
            <a:lvl4pPr algn="l">
              <a:defRPr sz="1650" b="1">
                <a:solidFill>
                  <a:srgbClr val="6750A4"/>
                </a:solidFill>
                <a:latin typeface="Roboto"/>
                <a:ea typeface="Roboto"/>
                <a:cs typeface="Roboto"/>
              </a:defRPr>
            </a:lvl4pPr>
            <a:lvl5pPr algn="l">
              <a:defRPr sz="1650" b="1">
                <a:solidFill>
                  <a:srgbClr val="6750A4"/>
                </a:solidFill>
                <a:latin typeface="Roboto"/>
                <a:ea typeface="Roboto"/>
                <a:cs typeface="Roboto"/>
              </a:defRPr>
            </a:lvl5pPr>
            <a:lvl6pPr algn="l">
              <a:defRPr sz="1650" b="1">
                <a:solidFill>
                  <a:srgbClr val="6750A4"/>
                </a:solidFill>
                <a:latin typeface="Roboto"/>
                <a:ea typeface="Roboto"/>
                <a:cs typeface="Roboto"/>
              </a:defRPr>
            </a:lvl6pPr>
            <a:lvl7pPr algn="l">
              <a:defRPr sz="1650" b="1">
                <a:solidFill>
                  <a:srgbClr val="6750A4"/>
                </a:solidFill>
                <a:latin typeface="Roboto"/>
                <a:ea typeface="Roboto"/>
                <a:cs typeface="Roboto"/>
              </a:defRPr>
            </a:lvl7pPr>
            <a:lvl8pPr algn="l">
              <a:defRPr sz="1650" b="1">
                <a:solidFill>
                  <a:srgbClr val="6750A4"/>
                </a:solidFill>
                <a:latin typeface="Roboto"/>
                <a:ea typeface="Roboto"/>
                <a:cs typeface="Roboto"/>
              </a:defRPr>
            </a:lvl8pPr>
            <a:lvl9pPr algn="l">
              <a:defRPr sz="1650" b="1">
                <a:solidFill>
                  <a:srgbClr val="6750A4"/>
                </a:solidFill>
                <a:latin typeface="Roboto"/>
                <a:ea typeface="Roboto"/>
                <a:cs typeface="Roboto"/>
              </a:defRPr>
            </a:lvl9pPr>
          </a:lstStyle>
          <a:p xmlns:a="http://schemas.openxmlformats.org/drawingml/2006/main">
            <a:pPr algn="l">
              <a:defRPr sz="1650" b="1">
                <a:solidFill>
                  <a:srgbClr val="6750A4"/>
                </a:solidFill>
                <a:latin typeface="Roboto"/>
                <a:ea typeface="Roboto"/>
                <a:cs typeface="Roboto"/>
              </a:defRPr>
            </a:pPr>
            <a:r>
              <a:rPr sz="1650" b="1">
                <a:solidFill>
                  <a:srgbClr val="6750A4"/>
                </a:solidFill>
                <a:latin typeface="Roboto"/>
                <a:ea typeface="Roboto"/>
                <a:cs typeface="Roboto"/>
              </a:rPr>
              <a:t>OFF_CHAIN  ·  0 SOL</a:t>
            </a:r>
          </a:p>
        </p:txBody>
      </p:sp>
      <p:sp>
        <p:nvSpPr>
          <p:cNvPr id="27" name="settlement-status-detail">
            <a:extLst xmlns:a="http://schemas.openxmlformats.org/drawingml/2006/main">
              <a:ext uri="{FF2B5EF4-FFF2-40B4-BE49-F238E27FC236}">
                <a16:creationId xmlns:a16="http://schemas.microsoft.com/office/drawing/2014/main" id="{34A17F57-4EA0-459C-A377-442A8C8BC75C}"/>
              </a:ext>
            </a:extLst>
          </p:cNvPr>
          <p:cNvSpPr>
            <a:spLocks xmlns:a="http://schemas.openxmlformats.org/drawingml/2006/main" noGrp="1"/>
          </p:cNvSpPr>
          <p:nvPr/>
        </p:nvSpPr>
        <p:spPr>
          <a:xfrm xmlns:a="http://schemas.openxmlformats.org/drawingml/2006/main">
            <a:off x="7143750" y="54673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49454F"/>
                </a:solidFill>
                <a:latin typeface="Roboto"/>
                <a:ea typeface="Roboto"/>
                <a:cs typeface="Roboto"/>
              </a:defRPr>
            </a:defPPr>
            <a:lvl1pPr algn="l">
              <a:defRPr sz="1275" b="0">
                <a:solidFill>
                  <a:srgbClr val="49454F"/>
                </a:solidFill>
                <a:latin typeface="Roboto"/>
                <a:ea typeface="Roboto"/>
                <a:cs typeface="Roboto"/>
              </a:defRPr>
            </a:lvl1pPr>
            <a:lvl2pPr algn="l">
              <a:defRPr sz="1275" b="0">
                <a:solidFill>
                  <a:srgbClr val="49454F"/>
                </a:solidFill>
                <a:latin typeface="Roboto"/>
                <a:ea typeface="Roboto"/>
                <a:cs typeface="Roboto"/>
              </a:defRPr>
            </a:lvl2pPr>
            <a:lvl3pPr algn="l">
              <a:defRPr sz="1275" b="0">
                <a:solidFill>
                  <a:srgbClr val="49454F"/>
                </a:solidFill>
                <a:latin typeface="Roboto"/>
                <a:ea typeface="Roboto"/>
                <a:cs typeface="Roboto"/>
              </a:defRPr>
            </a:lvl3pPr>
            <a:lvl4pPr algn="l">
              <a:defRPr sz="1275" b="0">
                <a:solidFill>
                  <a:srgbClr val="49454F"/>
                </a:solidFill>
                <a:latin typeface="Roboto"/>
                <a:ea typeface="Roboto"/>
                <a:cs typeface="Roboto"/>
              </a:defRPr>
            </a:lvl4pPr>
            <a:lvl5pPr algn="l">
              <a:defRPr sz="1275" b="0">
                <a:solidFill>
                  <a:srgbClr val="49454F"/>
                </a:solidFill>
                <a:latin typeface="Roboto"/>
                <a:ea typeface="Roboto"/>
                <a:cs typeface="Roboto"/>
              </a:defRPr>
            </a:lvl5pPr>
            <a:lvl6pPr algn="l">
              <a:defRPr sz="1275" b="0">
                <a:solidFill>
                  <a:srgbClr val="49454F"/>
                </a:solidFill>
                <a:latin typeface="Roboto"/>
                <a:ea typeface="Roboto"/>
                <a:cs typeface="Roboto"/>
              </a:defRPr>
            </a:lvl6pPr>
            <a:lvl7pPr algn="l">
              <a:defRPr sz="1275" b="0">
                <a:solidFill>
                  <a:srgbClr val="49454F"/>
                </a:solidFill>
                <a:latin typeface="Roboto"/>
                <a:ea typeface="Roboto"/>
                <a:cs typeface="Roboto"/>
              </a:defRPr>
            </a:lvl7pPr>
            <a:lvl8pPr algn="l">
              <a:defRPr sz="1275" b="0">
                <a:solidFill>
                  <a:srgbClr val="49454F"/>
                </a:solidFill>
                <a:latin typeface="Roboto"/>
                <a:ea typeface="Roboto"/>
                <a:cs typeface="Roboto"/>
              </a:defRPr>
            </a:lvl8pPr>
            <a:lvl9pPr algn="l">
              <a:defRPr sz="1275" b="0">
                <a:solidFill>
                  <a:srgbClr val="49454F"/>
                </a:solidFill>
                <a:latin typeface="Roboto"/>
                <a:ea typeface="Roboto"/>
                <a:cs typeface="Roboto"/>
              </a:defRPr>
            </a:lvl9pPr>
          </a:lstStyle>
          <a:p xmlns:a="http://schemas.openxmlformats.org/drawingml/2006/main">
            <a:pPr algn="l">
              <a:defRPr sz="1275" b="0">
                <a:solidFill>
                  <a:srgbClr val="49454F"/>
                </a:solidFill>
                <a:latin typeface="Roboto"/>
                <a:ea typeface="Roboto"/>
                <a:cs typeface="Roboto"/>
              </a:defRPr>
            </a:pPr>
            <a:r>
              <a:rPr sz="1275" b="0">
                <a:solidFill>
                  <a:srgbClr val="49454F"/>
                </a:solidFill>
                <a:latin typeface="Roboto"/>
                <a:ea typeface="Roboto"/>
                <a:cs typeface="Roboto"/>
              </a:rPr>
              <a:t>Redeploy + live payout check pending.</a:t>
            </a:r>
          </a:p>
        </p:txBody>
      </p:sp>
    </p:spTree>
    <p:extLst>
      <p:ext uri="{BB962C8B-B14F-4D97-AF65-F5344CB8AC3E}">
        <p14:creationId xmlns:p14="http://schemas.microsoft.com/office/powerpoint/2010/main" val="1046201126"/>
      </p:ext>
    </p:extLst>
  </p:cSld>
</p:sld>
</file>

<file path=ppt/slides/slide7.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2" name="brand-wordmark">
            <a:extLst xmlns:a="http://schemas.openxmlformats.org/drawingml/2006/main">
              <a:ext uri="{FF2B5EF4-FFF2-40B4-BE49-F238E27FC236}">
                <a16:creationId xmlns:a16="http://schemas.microsoft.com/office/drawing/2014/main" id="{06B68B91-A304-4674-8FD0-955DACD60450}"/>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91CE3D55-55C2-4082-A441-583DCAFCE627}"/>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MVP EVIDENCE</a:t>
            </a:r>
          </a:p>
        </p:txBody>
      </p:sp>
      <p:sp>
        <p:nvSpPr>
          <p:cNvPr id="3" name="footer-divider">
            <a:extLst xmlns:a="http://schemas.openxmlformats.org/drawingml/2006/main">
              <a:ext uri="{FF2B5EF4-FFF2-40B4-BE49-F238E27FC236}">
                <a16:creationId xmlns:a16="http://schemas.microsoft.com/office/drawing/2014/main" id="{FB1DDF38-401D-4461-AF26-B866E7F2EAAF}"/>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5F70DC31-E53B-477F-AF0F-5DDB95D7ED64}"/>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07 / 08</a:t>
            </a:r>
          </a:p>
        </p:txBody>
      </p:sp>
      <p:sp>
        <p:nvSpPr>
          <p:cNvPr id="5" name="slide-title">
            <a:extLst xmlns:a="http://schemas.openxmlformats.org/drawingml/2006/main">
              <a:ext uri="{FF2B5EF4-FFF2-40B4-BE49-F238E27FC236}">
                <a16:creationId xmlns:a16="http://schemas.microsoft.com/office/drawing/2014/main" id="{51CC2416-8444-4446-A49E-D307069EC3EA}"/>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A local workflow recovered without duplicates</a:t>
            </a:r>
          </a:p>
        </p:txBody>
      </p:sp>
      <p:sp>
        <p:nvSpPr>
          <p:cNvPr id="6" name="slide-subtitle">
            <a:extLst xmlns:a="http://schemas.openxmlformats.org/drawingml/2006/main">
              <a:ext uri="{FF2B5EF4-FFF2-40B4-BE49-F238E27FC236}">
                <a16:creationId xmlns:a16="http://schemas.microsoft.com/office/drawing/2014/main" id="{BE3BFF22-55C7-4AD2-A089-A9946C244755}"/>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Synthetic CSV work was interrupted, resumed and checked against direct Python</a:t>
            </a:r>
          </a:p>
        </p:txBody>
      </p:sp>
      <p:sp>
        <p:nvSpPr>
          <p:cNvPr id="7" name="evidence-surface">
            <a:extLst xmlns:a="http://schemas.openxmlformats.org/drawingml/2006/main">
              <a:ext uri="{FF2B5EF4-FFF2-40B4-BE49-F238E27FC236}">
                <a16:creationId xmlns:a16="http://schemas.microsoft.com/office/drawing/2014/main" id="{B732DCFE-D486-4292-A95D-DFB25B8FD536}"/>
              </a:ext>
            </a:extLst>
          </p:cNvPr>
          <p:cNvSpPr>
            <a:spLocks xmlns:a="http://schemas.openxmlformats.org/drawingml/2006/main" noGrp="1"/>
          </p:cNvSpPr>
          <p:nvPr/>
        </p:nvSpPr>
        <p:spPr>
          <a:xfrm xmlns:a="http://schemas.openxmlformats.org/drawingml/2006/main">
            <a:off x="685800" y="2343150"/>
            <a:ext cx="10820400" cy="3067050"/>
          </a:xfrm>
          <a:prstGeom xmlns:a="http://schemas.openxmlformats.org/drawingml/2006/main" prst="roundRect">
            <a:avLst>
              <a:gd name="adj" fmla="val 9317"/>
            </a:avLst>
          </a:prstGeom>
          <a:solidFill xmlns:a="http://schemas.openxmlformats.org/drawingml/2006/main">
            <a:srgbClr val="F7F2FA"/>
          </a:solidFill>
          <a:ln xmlns:a="http://schemas.openxmlformats.org/drawingml/2006/main" w="0">
            <a:noFill/>
            <a:prstDash val="solid"/>
          </a:ln>
        </p:spPr>
      </p:sp>
      <p:sp>
        <p:nvSpPr>
          <p:cNvPr id="8" name="evidence-label">
            <a:extLst xmlns:a="http://schemas.openxmlformats.org/drawingml/2006/main">
              <a:ext uri="{FF2B5EF4-FFF2-40B4-BE49-F238E27FC236}">
                <a16:creationId xmlns:a16="http://schemas.microsoft.com/office/drawing/2014/main" id="{B8A21BDF-4DAD-451B-B89E-479D2361155B}"/>
              </a:ext>
            </a:extLst>
          </p:cNvPr>
          <p:cNvSpPr>
            <a:spLocks xmlns:a="http://schemas.openxmlformats.org/drawingml/2006/main" noGrp="1"/>
          </p:cNvSpPr>
          <p:nvPr/>
        </p:nvSpPr>
        <p:spPr>
          <a:xfrm xmlns:a="http://schemas.openxmlformats.org/drawingml/2006/main">
            <a:off x="952500" y="254317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LOCAL RUN EVIDENCE</a:t>
            </a:r>
          </a:p>
        </p:txBody>
      </p:sp>
      <p:sp>
        <p:nvSpPr>
          <p:cNvPr id="9" name="metric-value-0">
            <a:extLst xmlns:a="http://schemas.openxmlformats.org/drawingml/2006/main">
              <a:ext uri="{FF2B5EF4-FFF2-40B4-BE49-F238E27FC236}">
                <a16:creationId xmlns:a16="http://schemas.microsoft.com/office/drawing/2014/main" id="{F9B9AE52-5D92-47A7-A76C-66F0EE23D4E5}"/>
              </a:ext>
            </a:extLst>
          </p:cNvPr>
          <p:cNvSpPr>
            <a:spLocks xmlns:a="http://schemas.openxmlformats.org/drawingml/2006/main" noGrp="1"/>
          </p:cNvSpPr>
          <p:nvPr/>
        </p:nvSpPr>
        <p:spPr>
          <a:xfrm xmlns:a="http://schemas.openxmlformats.org/drawingml/2006/main">
            <a:off x="990600" y="3124200"/>
            <a:ext cx="22669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6750A4"/>
                </a:solidFill>
                <a:latin typeface="Roboto"/>
                <a:ea typeface="Roboto"/>
                <a:cs typeface="Roboto"/>
              </a:defRPr>
            </a:defPPr>
            <a:lvl1pPr algn="l">
              <a:defRPr sz="4800" b="1">
                <a:solidFill>
                  <a:srgbClr val="6750A4"/>
                </a:solidFill>
                <a:latin typeface="Roboto"/>
                <a:ea typeface="Roboto"/>
                <a:cs typeface="Roboto"/>
              </a:defRPr>
            </a:lvl1pPr>
            <a:lvl2pPr algn="l">
              <a:defRPr sz="4800" b="1">
                <a:solidFill>
                  <a:srgbClr val="6750A4"/>
                </a:solidFill>
                <a:latin typeface="Roboto"/>
                <a:ea typeface="Roboto"/>
                <a:cs typeface="Roboto"/>
              </a:defRPr>
            </a:lvl2pPr>
            <a:lvl3pPr algn="l">
              <a:defRPr sz="4800" b="1">
                <a:solidFill>
                  <a:srgbClr val="6750A4"/>
                </a:solidFill>
                <a:latin typeface="Roboto"/>
                <a:ea typeface="Roboto"/>
                <a:cs typeface="Roboto"/>
              </a:defRPr>
            </a:lvl3pPr>
            <a:lvl4pPr algn="l">
              <a:defRPr sz="4800" b="1">
                <a:solidFill>
                  <a:srgbClr val="6750A4"/>
                </a:solidFill>
                <a:latin typeface="Roboto"/>
                <a:ea typeface="Roboto"/>
                <a:cs typeface="Roboto"/>
              </a:defRPr>
            </a:lvl4pPr>
            <a:lvl5pPr algn="l">
              <a:defRPr sz="4800" b="1">
                <a:solidFill>
                  <a:srgbClr val="6750A4"/>
                </a:solidFill>
                <a:latin typeface="Roboto"/>
                <a:ea typeface="Roboto"/>
                <a:cs typeface="Roboto"/>
              </a:defRPr>
            </a:lvl5pPr>
            <a:lvl6pPr algn="l">
              <a:defRPr sz="4800" b="1">
                <a:solidFill>
                  <a:srgbClr val="6750A4"/>
                </a:solidFill>
                <a:latin typeface="Roboto"/>
                <a:ea typeface="Roboto"/>
                <a:cs typeface="Roboto"/>
              </a:defRPr>
            </a:lvl6pPr>
            <a:lvl7pPr algn="l">
              <a:defRPr sz="4800" b="1">
                <a:solidFill>
                  <a:srgbClr val="6750A4"/>
                </a:solidFill>
                <a:latin typeface="Roboto"/>
                <a:ea typeface="Roboto"/>
                <a:cs typeface="Roboto"/>
              </a:defRPr>
            </a:lvl7pPr>
            <a:lvl8pPr algn="l">
              <a:defRPr sz="4800" b="1">
                <a:solidFill>
                  <a:srgbClr val="6750A4"/>
                </a:solidFill>
                <a:latin typeface="Roboto"/>
                <a:ea typeface="Roboto"/>
                <a:cs typeface="Roboto"/>
              </a:defRPr>
            </a:lvl8pPr>
            <a:lvl9pPr algn="l">
              <a:defRPr sz="4800" b="1">
                <a:solidFill>
                  <a:srgbClr val="6750A4"/>
                </a:solidFill>
                <a:latin typeface="Roboto"/>
                <a:ea typeface="Roboto"/>
                <a:cs typeface="Roboto"/>
              </a:defRPr>
            </a:lvl9pPr>
          </a:lstStyle>
          <a:p xmlns:a="http://schemas.openxmlformats.org/drawingml/2006/main">
            <a:pPr algn="l">
              <a:defRPr sz="4800" b="1">
                <a:solidFill>
                  <a:srgbClr val="6750A4"/>
                </a:solidFill>
                <a:latin typeface="Roboto"/>
                <a:ea typeface="Roboto"/>
                <a:cs typeface="Roboto"/>
              </a:defRPr>
            </a:pPr>
            <a:r>
              <a:rPr sz="4800" b="1">
                <a:solidFill>
                  <a:srgbClr val="6750A4"/>
                </a:solidFill>
                <a:latin typeface="Roboto"/>
                <a:ea typeface="Roboto"/>
                <a:cs typeface="Roboto"/>
              </a:rPr>
              <a:t>17,000</a:t>
            </a:r>
          </a:p>
        </p:txBody>
      </p:sp>
      <p:sp>
        <p:nvSpPr>
          <p:cNvPr id="10" name="metric-label-0">
            <a:extLst xmlns:a="http://schemas.openxmlformats.org/drawingml/2006/main">
              <a:ext uri="{FF2B5EF4-FFF2-40B4-BE49-F238E27FC236}">
                <a16:creationId xmlns:a16="http://schemas.microsoft.com/office/drawing/2014/main" id="{42A8EC2C-C12F-44EA-A807-8C2B8282D22A}"/>
              </a:ext>
            </a:extLst>
          </p:cNvPr>
          <p:cNvSpPr>
            <a:spLocks xmlns:a="http://schemas.openxmlformats.org/drawingml/2006/main" noGrp="1"/>
          </p:cNvSpPr>
          <p:nvPr/>
        </p:nvSpPr>
        <p:spPr>
          <a:xfrm xmlns:a="http://schemas.openxmlformats.org/drawingml/2006/main">
            <a:off x="990600" y="40576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C1B1F"/>
                </a:solidFill>
                <a:latin typeface="Roboto"/>
                <a:ea typeface="Roboto"/>
                <a:cs typeface="Roboto"/>
              </a:defRPr>
            </a:defPPr>
            <a:lvl1pPr algn="l">
              <a:defRPr sz="1350" b="1">
                <a:solidFill>
                  <a:srgbClr val="1C1B1F"/>
                </a:solidFill>
                <a:latin typeface="Roboto"/>
                <a:ea typeface="Roboto"/>
                <a:cs typeface="Roboto"/>
              </a:defRPr>
            </a:lvl1pPr>
            <a:lvl2pPr algn="l">
              <a:defRPr sz="1350" b="1">
                <a:solidFill>
                  <a:srgbClr val="1C1B1F"/>
                </a:solidFill>
                <a:latin typeface="Roboto"/>
                <a:ea typeface="Roboto"/>
                <a:cs typeface="Roboto"/>
              </a:defRPr>
            </a:lvl2pPr>
            <a:lvl3pPr algn="l">
              <a:defRPr sz="1350" b="1">
                <a:solidFill>
                  <a:srgbClr val="1C1B1F"/>
                </a:solidFill>
                <a:latin typeface="Roboto"/>
                <a:ea typeface="Roboto"/>
                <a:cs typeface="Roboto"/>
              </a:defRPr>
            </a:lvl3pPr>
            <a:lvl4pPr algn="l">
              <a:defRPr sz="1350" b="1">
                <a:solidFill>
                  <a:srgbClr val="1C1B1F"/>
                </a:solidFill>
                <a:latin typeface="Roboto"/>
                <a:ea typeface="Roboto"/>
                <a:cs typeface="Roboto"/>
              </a:defRPr>
            </a:lvl4pPr>
            <a:lvl5pPr algn="l">
              <a:defRPr sz="1350" b="1">
                <a:solidFill>
                  <a:srgbClr val="1C1B1F"/>
                </a:solidFill>
                <a:latin typeface="Roboto"/>
                <a:ea typeface="Roboto"/>
                <a:cs typeface="Roboto"/>
              </a:defRPr>
            </a:lvl5pPr>
            <a:lvl6pPr algn="l">
              <a:defRPr sz="1350" b="1">
                <a:solidFill>
                  <a:srgbClr val="1C1B1F"/>
                </a:solidFill>
                <a:latin typeface="Roboto"/>
                <a:ea typeface="Roboto"/>
                <a:cs typeface="Roboto"/>
              </a:defRPr>
            </a:lvl6pPr>
            <a:lvl7pPr algn="l">
              <a:defRPr sz="1350" b="1">
                <a:solidFill>
                  <a:srgbClr val="1C1B1F"/>
                </a:solidFill>
                <a:latin typeface="Roboto"/>
                <a:ea typeface="Roboto"/>
                <a:cs typeface="Roboto"/>
              </a:defRPr>
            </a:lvl7pPr>
            <a:lvl8pPr algn="l">
              <a:defRPr sz="1350" b="1">
                <a:solidFill>
                  <a:srgbClr val="1C1B1F"/>
                </a:solidFill>
                <a:latin typeface="Roboto"/>
                <a:ea typeface="Roboto"/>
                <a:cs typeface="Roboto"/>
              </a:defRPr>
            </a:lvl8pPr>
            <a:lvl9pPr algn="l">
              <a:defRPr sz="1350" b="1">
                <a:solidFill>
                  <a:srgbClr val="1C1B1F"/>
                </a:solidFill>
                <a:latin typeface="Roboto"/>
                <a:ea typeface="Roboto"/>
                <a:cs typeface="Roboto"/>
              </a:defRPr>
            </a:lvl9pPr>
          </a:lstStyle>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synthetic input rows</a:t>
            </a:r>
          </a:p>
        </p:txBody>
      </p:sp>
      <p:sp>
        <p:nvSpPr>
          <p:cNvPr id="11" name="metric-divider-1">
            <a:extLst xmlns:a="http://schemas.openxmlformats.org/drawingml/2006/main">
              <a:ext uri="{FF2B5EF4-FFF2-40B4-BE49-F238E27FC236}">
                <a16:creationId xmlns:a16="http://schemas.microsoft.com/office/drawing/2014/main" id="{B24D912A-1EBC-4484-8D4C-C886DDF57D4D}"/>
              </a:ext>
            </a:extLst>
          </p:cNvPr>
          <p:cNvSpPr>
            <a:spLocks xmlns:a="http://schemas.openxmlformats.org/drawingml/2006/main" noGrp="1"/>
          </p:cNvSpPr>
          <p:nvPr/>
        </p:nvSpPr>
        <p:spPr>
          <a:xfrm xmlns:a="http://schemas.openxmlformats.org/drawingml/2006/main">
            <a:off x="3486150" y="3000375"/>
            <a:ext cx="0" cy="198120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2" name="metric-value-1">
            <a:extLst xmlns:a="http://schemas.openxmlformats.org/drawingml/2006/main">
              <a:ext uri="{FF2B5EF4-FFF2-40B4-BE49-F238E27FC236}">
                <a16:creationId xmlns:a16="http://schemas.microsoft.com/office/drawing/2014/main" id="{8E766A9C-46F7-47ED-81BF-1B4D341210D2}"/>
              </a:ext>
            </a:extLst>
          </p:cNvPr>
          <p:cNvSpPr>
            <a:spLocks xmlns:a="http://schemas.openxmlformats.org/drawingml/2006/main" noGrp="1"/>
          </p:cNvSpPr>
          <p:nvPr/>
        </p:nvSpPr>
        <p:spPr>
          <a:xfrm xmlns:a="http://schemas.openxmlformats.org/drawingml/2006/main">
            <a:off x="3676650" y="3124200"/>
            <a:ext cx="22669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625B71"/>
                </a:solidFill>
                <a:latin typeface="Roboto"/>
                <a:ea typeface="Roboto"/>
                <a:cs typeface="Roboto"/>
              </a:defRPr>
            </a:defPPr>
            <a:lvl1pPr algn="l">
              <a:defRPr sz="4800" b="1">
                <a:solidFill>
                  <a:srgbClr val="625B71"/>
                </a:solidFill>
                <a:latin typeface="Roboto"/>
                <a:ea typeface="Roboto"/>
                <a:cs typeface="Roboto"/>
              </a:defRPr>
            </a:lvl1pPr>
            <a:lvl2pPr algn="l">
              <a:defRPr sz="4800" b="1">
                <a:solidFill>
                  <a:srgbClr val="625B71"/>
                </a:solidFill>
                <a:latin typeface="Roboto"/>
                <a:ea typeface="Roboto"/>
                <a:cs typeface="Roboto"/>
              </a:defRPr>
            </a:lvl2pPr>
            <a:lvl3pPr algn="l">
              <a:defRPr sz="4800" b="1">
                <a:solidFill>
                  <a:srgbClr val="625B71"/>
                </a:solidFill>
                <a:latin typeface="Roboto"/>
                <a:ea typeface="Roboto"/>
                <a:cs typeface="Roboto"/>
              </a:defRPr>
            </a:lvl3pPr>
            <a:lvl4pPr algn="l">
              <a:defRPr sz="4800" b="1">
                <a:solidFill>
                  <a:srgbClr val="625B71"/>
                </a:solidFill>
                <a:latin typeface="Roboto"/>
                <a:ea typeface="Roboto"/>
                <a:cs typeface="Roboto"/>
              </a:defRPr>
            </a:lvl4pPr>
            <a:lvl5pPr algn="l">
              <a:defRPr sz="4800" b="1">
                <a:solidFill>
                  <a:srgbClr val="625B71"/>
                </a:solidFill>
                <a:latin typeface="Roboto"/>
                <a:ea typeface="Roboto"/>
                <a:cs typeface="Roboto"/>
              </a:defRPr>
            </a:lvl5pPr>
            <a:lvl6pPr algn="l">
              <a:defRPr sz="4800" b="1">
                <a:solidFill>
                  <a:srgbClr val="625B71"/>
                </a:solidFill>
                <a:latin typeface="Roboto"/>
                <a:ea typeface="Roboto"/>
                <a:cs typeface="Roboto"/>
              </a:defRPr>
            </a:lvl6pPr>
            <a:lvl7pPr algn="l">
              <a:defRPr sz="4800" b="1">
                <a:solidFill>
                  <a:srgbClr val="625B71"/>
                </a:solidFill>
                <a:latin typeface="Roboto"/>
                <a:ea typeface="Roboto"/>
                <a:cs typeface="Roboto"/>
              </a:defRPr>
            </a:lvl7pPr>
            <a:lvl8pPr algn="l">
              <a:defRPr sz="4800" b="1">
                <a:solidFill>
                  <a:srgbClr val="625B71"/>
                </a:solidFill>
                <a:latin typeface="Roboto"/>
                <a:ea typeface="Roboto"/>
                <a:cs typeface="Roboto"/>
              </a:defRPr>
            </a:lvl8pPr>
            <a:lvl9pPr algn="l">
              <a:defRPr sz="4800" b="1">
                <a:solidFill>
                  <a:srgbClr val="625B71"/>
                </a:solidFill>
                <a:latin typeface="Roboto"/>
                <a:ea typeface="Roboto"/>
                <a:cs typeface="Roboto"/>
              </a:defRPr>
            </a:lvl9pPr>
          </a:lstStyle>
          <a:p xmlns:a="http://schemas.openxmlformats.org/drawingml/2006/main">
            <a:pPr algn="l">
              <a:defRPr sz="4800" b="1">
                <a:solidFill>
                  <a:srgbClr val="625B71"/>
                </a:solidFill>
                <a:latin typeface="Roboto"/>
                <a:ea typeface="Roboto"/>
                <a:cs typeface="Roboto"/>
              </a:defRPr>
            </a:pPr>
            <a:r>
              <a:rPr sz="4800" b="1">
                <a:solidFill>
                  <a:srgbClr val="625B71"/>
                </a:solidFill>
                <a:latin typeface="Roboto"/>
                <a:ea typeface="Roboto"/>
                <a:cs typeface="Roboto"/>
              </a:rPr>
              <a:t>5</a:t>
            </a:r>
          </a:p>
        </p:txBody>
      </p:sp>
      <p:sp>
        <p:nvSpPr>
          <p:cNvPr id="13" name="metric-label-1">
            <a:extLst xmlns:a="http://schemas.openxmlformats.org/drawingml/2006/main">
              <a:ext uri="{FF2B5EF4-FFF2-40B4-BE49-F238E27FC236}">
                <a16:creationId xmlns:a16="http://schemas.microsoft.com/office/drawing/2014/main" id="{656F538A-E244-4E4E-A55C-6BCB5EF57F1E}"/>
              </a:ext>
            </a:extLst>
          </p:cNvPr>
          <p:cNvSpPr>
            <a:spLocks xmlns:a="http://schemas.openxmlformats.org/drawingml/2006/main" noGrp="1"/>
          </p:cNvSpPr>
          <p:nvPr/>
        </p:nvSpPr>
        <p:spPr>
          <a:xfrm xmlns:a="http://schemas.openxmlformats.org/drawingml/2006/main">
            <a:off x="3676650" y="40576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C1B1F"/>
                </a:solidFill>
                <a:latin typeface="Roboto"/>
                <a:ea typeface="Roboto"/>
                <a:cs typeface="Roboto"/>
              </a:defRPr>
            </a:defPPr>
            <a:lvl1pPr algn="l">
              <a:defRPr sz="1350" b="1">
                <a:solidFill>
                  <a:srgbClr val="1C1B1F"/>
                </a:solidFill>
                <a:latin typeface="Roboto"/>
                <a:ea typeface="Roboto"/>
                <a:cs typeface="Roboto"/>
              </a:defRPr>
            </a:lvl1pPr>
            <a:lvl2pPr algn="l">
              <a:defRPr sz="1350" b="1">
                <a:solidFill>
                  <a:srgbClr val="1C1B1F"/>
                </a:solidFill>
                <a:latin typeface="Roboto"/>
                <a:ea typeface="Roboto"/>
                <a:cs typeface="Roboto"/>
              </a:defRPr>
            </a:lvl2pPr>
            <a:lvl3pPr algn="l">
              <a:defRPr sz="1350" b="1">
                <a:solidFill>
                  <a:srgbClr val="1C1B1F"/>
                </a:solidFill>
                <a:latin typeface="Roboto"/>
                <a:ea typeface="Roboto"/>
                <a:cs typeface="Roboto"/>
              </a:defRPr>
            </a:lvl3pPr>
            <a:lvl4pPr algn="l">
              <a:defRPr sz="1350" b="1">
                <a:solidFill>
                  <a:srgbClr val="1C1B1F"/>
                </a:solidFill>
                <a:latin typeface="Roboto"/>
                <a:ea typeface="Roboto"/>
                <a:cs typeface="Roboto"/>
              </a:defRPr>
            </a:lvl4pPr>
            <a:lvl5pPr algn="l">
              <a:defRPr sz="1350" b="1">
                <a:solidFill>
                  <a:srgbClr val="1C1B1F"/>
                </a:solidFill>
                <a:latin typeface="Roboto"/>
                <a:ea typeface="Roboto"/>
                <a:cs typeface="Roboto"/>
              </a:defRPr>
            </a:lvl5pPr>
            <a:lvl6pPr algn="l">
              <a:defRPr sz="1350" b="1">
                <a:solidFill>
                  <a:srgbClr val="1C1B1F"/>
                </a:solidFill>
                <a:latin typeface="Roboto"/>
                <a:ea typeface="Roboto"/>
                <a:cs typeface="Roboto"/>
              </a:defRPr>
            </a:lvl6pPr>
            <a:lvl7pPr algn="l">
              <a:defRPr sz="1350" b="1">
                <a:solidFill>
                  <a:srgbClr val="1C1B1F"/>
                </a:solidFill>
                <a:latin typeface="Roboto"/>
                <a:ea typeface="Roboto"/>
                <a:cs typeface="Roboto"/>
              </a:defRPr>
            </a:lvl7pPr>
            <a:lvl8pPr algn="l">
              <a:defRPr sz="1350" b="1">
                <a:solidFill>
                  <a:srgbClr val="1C1B1F"/>
                </a:solidFill>
                <a:latin typeface="Roboto"/>
                <a:ea typeface="Roboto"/>
                <a:cs typeface="Roboto"/>
              </a:defRPr>
            </a:lvl8pPr>
            <a:lvl9pPr algn="l">
              <a:defRPr sz="1350" b="1">
                <a:solidFill>
                  <a:srgbClr val="1C1B1F"/>
                </a:solidFill>
                <a:latin typeface="Roboto"/>
                <a:ea typeface="Roboto"/>
                <a:cs typeface="Roboto"/>
              </a:defRPr>
            </a:lvl9pPr>
          </a:lstStyle>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tasks completed</a:t>
            </a:r>
          </a:p>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after restart</a:t>
            </a:r>
          </a:p>
        </p:txBody>
      </p:sp>
      <p:sp>
        <p:nvSpPr>
          <p:cNvPr id="14" name="metric-divider-2">
            <a:extLst xmlns:a="http://schemas.openxmlformats.org/drawingml/2006/main">
              <a:ext uri="{FF2B5EF4-FFF2-40B4-BE49-F238E27FC236}">
                <a16:creationId xmlns:a16="http://schemas.microsoft.com/office/drawing/2014/main" id="{4BDB4A8D-6441-49E3-B485-B1D5D8C643F7}"/>
              </a:ext>
            </a:extLst>
          </p:cNvPr>
          <p:cNvSpPr>
            <a:spLocks xmlns:a="http://schemas.openxmlformats.org/drawingml/2006/main" noGrp="1"/>
          </p:cNvSpPr>
          <p:nvPr/>
        </p:nvSpPr>
        <p:spPr>
          <a:xfrm xmlns:a="http://schemas.openxmlformats.org/drawingml/2006/main">
            <a:off x="6172200" y="3000375"/>
            <a:ext cx="0" cy="198120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5" name="metric-value-2">
            <a:extLst xmlns:a="http://schemas.openxmlformats.org/drawingml/2006/main">
              <a:ext uri="{FF2B5EF4-FFF2-40B4-BE49-F238E27FC236}">
                <a16:creationId xmlns:a16="http://schemas.microsoft.com/office/drawing/2014/main" id="{85483749-CE7D-42A6-AEA6-3E5C92A445BC}"/>
              </a:ext>
            </a:extLst>
          </p:cNvPr>
          <p:cNvSpPr>
            <a:spLocks xmlns:a="http://schemas.openxmlformats.org/drawingml/2006/main" noGrp="1"/>
          </p:cNvSpPr>
          <p:nvPr/>
        </p:nvSpPr>
        <p:spPr>
          <a:xfrm xmlns:a="http://schemas.openxmlformats.org/drawingml/2006/main">
            <a:off x="6362700" y="3124200"/>
            <a:ext cx="22669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006B5F"/>
                </a:solidFill>
                <a:latin typeface="Roboto"/>
                <a:ea typeface="Roboto"/>
                <a:cs typeface="Roboto"/>
              </a:defRPr>
            </a:defPPr>
            <a:lvl1pPr algn="l">
              <a:defRPr sz="4800" b="1">
                <a:solidFill>
                  <a:srgbClr val="006B5F"/>
                </a:solidFill>
                <a:latin typeface="Roboto"/>
                <a:ea typeface="Roboto"/>
                <a:cs typeface="Roboto"/>
              </a:defRPr>
            </a:lvl1pPr>
            <a:lvl2pPr algn="l">
              <a:defRPr sz="4800" b="1">
                <a:solidFill>
                  <a:srgbClr val="006B5F"/>
                </a:solidFill>
                <a:latin typeface="Roboto"/>
                <a:ea typeface="Roboto"/>
                <a:cs typeface="Roboto"/>
              </a:defRPr>
            </a:lvl2pPr>
            <a:lvl3pPr algn="l">
              <a:defRPr sz="4800" b="1">
                <a:solidFill>
                  <a:srgbClr val="006B5F"/>
                </a:solidFill>
                <a:latin typeface="Roboto"/>
                <a:ea typeface="Roboto"/>
                <a:cs typeface="Roboto"/>
              </a:defRPr>
            </a:lvl3pPr>
            <a:lvl4pPr algn="l">
              <a:defRPr sz="4800" b="1">
                <a:solidFill>
                  <a:srgbClr val="006B5F"/>
                </a:solidFill>
                <a:latin typeface="Roboto"/>
                <a:ea typeface="Roboto"/>
                <a:cs typeface="Roboto"/>
              </a:defRPr>
            </a:lvl4pPr>
            <a:lvl5pPr algn="l">
              <a:defRPr sz="4800" b="1">
                <a:solidFill>
                  <a:srgbClr val="006B5F"/>
                </a:solidFill>
                <a:latin typeface="Roboto"/>
                <a:ea typeface="Roboto"/>
                <a:cs typeface="Roboto"/>
              </a:defRPr>
            </a:lvl5pPr>
            <a:lvl6pPr algn="l">
              <a:defRPr sz="4800" b="1">
                <a:solidFill>
                  <a:srgbClr val="006B5F"/>
                </a:solidFill>
                <a:latin typeface="Roboto"/>
                <a:ea typeface="Roboto"/>
                <a:cs typeface="Roboto"/>
              </a:defRPr>
            </a:lvl6pPr>
            <a:lvl7pPr algn="l">
              <a:defRPr sz="4800" b="1">
                <a:solidFill>
                  <a:srgbClr val="006B5F"/>
                </a:solidFill>
                <a:latin typeface="Roboto"/>
                <a:ea typeface="Roboto"/>
                <a:cs typeface="Roboto"/>
              </a:defRPr>
            </a:lvl7pPr>
            <a:lvl8pPr algn="l">
              <a:defRPr sz="4800" b="1">
                <a:solidFill>
                  <a:srgbClr val="006B5F"/>
                </a:solidFill>
                <a:latin typeface="Roboto"/>
                <a:ea typeface="Roboto"/>
                <a:cs typeface="Roboto"/>
              </a:defRPr>
            </a:lvl8pPr>
            <a:lvl9pPr algn="l">
              <a:defRPr sz="4800" b="1">
                <a:solidFill>
                  <a:srgbClr val="006B5F"/>
                </a:solidFill>
                <a:latin typeface="Roboto"/>
                <a:ea typeface="Roboto"/>
                <a:cs typeface="Roboto"/>
              </a:defRPr>
            </a:lvl9pPr>
          </a:lstStyle>
          <a:p xmlns:a="http://schemas.openxmlformats.org/drawingml/2006/main">
            <a:pPr algn="l">
              <a:defRPr sz="4800" b="1">
                <a:solidFill>
                  <a:srgbClr val="006B5F"/>
                </a:solidFill>
                <a:latin typeface="Roboto"/>
                <a:ea typeface="Roboto"/>
                <a:cs typeface="Roboto"/>
              </a:defRPr>
            </a:pPr>
            <a:r>
              <a:rPr sz="4800" b="1">
                <a:solidFill>
                  <a:srgbClr val="006B5F"/>
                </a:solidFill>
                <a:latin typeface="Roboto"/>
                <a:ea typeface="Roboto"/>
                <a:cs typeface="Roboto"/>
              </a:rPr>
              <a:t>0</a:t>
            </a:r>
          </a:p>
        </p:txBody>
      </p:sp>
      <p:sp>
        <p:nvSpPr>
          <p:cNvPr id="16" name="metric-label-2">
            <a:extLst xmlns:a="http://schemas.openxmlformats.org/drawingml/2006/main">
              <a:ext uri="{FF2B5EF4-FFF2-40B4-BE49-F238E27FC236}">
                <a16:creationId xmlns:a16="http://schemas.microsoft.com/office/drawing/2014/main" id="{45E719DF-F3FF-42A1-B349-8173545E529C}"/>
              </a:ext>
            </a:extLst>
          </p:cNvPr>
          <p:cNvSpPr>
            <a:spLocks xmlns:a="http://schemas.openxmlformats.org/drawingml/2006/main" noGrp="1"/>
          </p:cNvSpPr>
          <p:nvPr/>
        </p:nvSpPr>
        <p:spPr>
          <a:xfrm xmlns:a="http://schemas.openxmlformats.org/drawingml/2006/main">
            <a:off x="6362700" y="40576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C1B1F"/>
                </a:solidFill>
                <a:latin typeface="Roboto"/>
                <a:ea typeface="Roboto"/>
                <a:cs typeface="Roboto"/>
              </a:defRPr>
            </a:defPPr>
            <a:lvl1pPr algn="l">
              <a:defRPr sz="1350" b="1">
                <a:solidFill>
                  <a:srgbClr val="1C1B1F"/>
                </a:solidFill>
                <a:latin typeface="Roboto"/>
                <a:ea typeface="Roboto"/>
                <a:cs typeface="Roboto"/>
              </a:defRPr>
            </a:lvl1pPr>
            <a:lvl2pPr algn="l">
              <a:defRPr sz="1350" b="1">
                <a:solidFill>
                  <a:srgbClr val="1C1B1F"/>
                </a:solidFill>
                <a:latin typeface="Roboto"/>
                <a:ea typeface="Roboto"/>
                <a:cs typeface="Roboto"/>
              </a:defRPr>
            </a:lvl2pPr>
            <a:lvl3pPr algn="l">
              <a:defRPr sz="1350" b="1">
                <a:solidFill>
                  <a:srgbClr val="1C1B1F"/>
                </a:solidFill>
                <a:latin typeface="Roboto"/>
                <a:ea typeface="Roboto"/>
                <a:cs typeface="Roboto"/>
              </a:defRPr>
            </a:lvl3pPr>
            <a:lvl4pPr algn="l">
              <a:defRPr sz="1350" b="1">
                <a:solidFill>
                  <a:srgbClr val="1C1B1F"/>
                </a:solidFill>
                <a:latin typeface="Roboto"/>
                <a:ea typeface="Roboto"/>
                <a:cs typeface="Roboto"/>
              </a:defRPr>
            </a:lvl4pPr>
            <a:lvl5pPr algn="l">
              <a:defRPr sz="1350" b="1">
                <a:solidFill>
                  <a:srgbClr val="1C1B1F"/>
                </a:solidFill>
                <a:latin typeface="Roboto"/>
                <a:ea typeface="Roboto"/>
                <a:cs typeface="Roboto"/>
              </a:defRPr>
            </a:lvl5pPr>
            <a:lvl6pPr algn="l">
              <a:defRPr sz="1350" b="1">
                <a:solidFill>
                  <a:srgbClr val="1C1B1F"/>
                </a:solidFill>
                <a:latin typeface="Roboto"/>
                <a:ea typeface="Roboto"/>
                <a:cs typeface="Roboto"/>
              </a:defRPr>
            </a:lvl6pPr>
            <a:lvl7pPr algn="l">
              <a:defRPr sz="1350" b="1">
                <a:solidFill>
                  <a:srgbClr val="1C1B1F"/>
                </a:solidFill>
                <a:latin typeface="Roboto"/>
                <a:ea typeface="Roboto"/>
                <a:cs typeface="Roboto"/>
              </a:defRPr>
            </a:lvl7pPr>
            <a:lvl8pPr algn="l">
              <a:defRPr sz="1350" b="1">
                <a:solidFill>
                  <a:srgbClr val="1C1B1F"/>
                </a:solidFill>
                <a:latin typeface="Roboto"/>
                <a:ea typeface="Roboto"/>
                <a:cs typeface="Roboto"/>
              </a:defRPr>
            </a:lvl8pPr>
            <a:lvl9pPr algn="l">
              <a:defRPr sz="1350" b="1">
                <a:solidFill>
                  <a:srgbClr val="1C1B1F"/>
                </a:solidFill>
                <a:latin typeface="Roboto"/>
                <a:ea typeface="Roboto"/>
                <a:cs typeface="Roboto"/>
              </a:defRPr>
            </a:lvl9pPr>
          </a:lstStyle>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duplicate admissions</a:t>
            </a:r>
          </a:p>
        </p:txBody>
      </p:sp>
      <p:sp>
        <p:nvSpPr>
          <p:cNvPr id="17" name="metric-divider-3">
            <a:extLst xmlns:a="http://schemas.openxmlformats.org/drawingml/2006/main">
              <a:ext uri="{FF2B5EF4-FFF2-40B4-BE49-F238E27FC236}">
                <a16:creationId xmlns:a16="http://schemas.microsoft.com/office/drawing/2014/main" id="{1E3C71EB-A6B8-40D9-AFD1-FA1B110D4F5F}"/>
              </a:ext>
            </a:extLst>
          </p:cNvPr>
          <p:cNvSpPr>
            <a:spLocks xmlns:a="http://schemas.openxmlformats.org/drawingml/2006/main" noGrp="1"/>
          </p:cNvSpPr>
          <p:nvPr/>
        </p:nvSpPr>
        <p:spPr>
          <a:xfrm xmlns:a="http://schemas.openxmlformats.org/drawingml/2006/main">
            <a:off x="8858250" y="3000375"/>
            <a:ext cx="0" cy="198120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8" name="metric-value-3">
            <a:extLst xmlns:a="http://schemas.openxmlformats.org/drawingml/2006/main">
              <a:ext uri="{FF2B5EF4-FFF2-40B4-BE49-F238E27FC236}">
                <a16:creationId xmlns:a16="http://schemas.microsoft.com/office/drawing/2014/main" id="{C6EC62A5-D5DF-48C1-8605-38A47311A388}"/>
              </a:ext>
            </a:extLst>
          </p:cNvPr>
          <p:cNvSpPr>
            <a:spLocks xmlns:a="http://schemas.openxmlformats.org/drawingml/2006/main" noGrp="1"/>
          </p:cNvSpPr>
          <p:nvPr/>
        </p:nvSpPr>
        <p:spPr>
          <a:xfrm xmlns:a="http://schemas.openxmlformats.org/drawingml/2006/main">
            <a:off x="9048750" y="3124200"/>
            <a:ext cx="22669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6750A4"/>
                </a:solidFill>
                <a:latin typeface="Roboto"/>
                <a:ea typeface="Roboto"/>
                <a:cs typeface="Roboto"/>
              </a:defRPr>
            </a:defPPr>
            <a:lvl1pPr algn="l">
              <a:defRPr sz="4800" b="1">
                <a:solidFill>
                  <a:srgbClr val="6750A4"/>
                </a:solidFill>
                <a:latin typeface="Roboto"/>
                <a:ea typeface="Roboto"/>
                <a:cs typeface="Roboto"/>
              </a:defRPr>
            </a:lvl1pPr>
            <a:lvl2pPr algn="l">
              <a:defRPr sz="4800" b="1">
                <a:solidFill>
                  <a:srgbClr val="6750A4"/>
                </a:solidFill>
                <a:latin typeface="Roboto"/>
                <a:ea typeface="Roboto"/>
                <a:cs typeface="Roboto"/>
              </a:defRPr>
            </a:lvl2pPr>
            <a:lvl3pPr algn="l">
              <a:defRPr sz="4800" b="1">
                <a:solidFill>
                  <a:srgbClr val="6750A4"/>
                </a:solidFill>
                <a:latin typeface="Roboto"/>
                <a:ea typeface="Roboto"/>
                <a:cs typeface="Roboto"/>
              </a:defRPr>
            </a:lvl3pPr>
            <a:lvl4pPr algn="l">
              <a:defRPr sz="4800" b="1">
                <a:solidFill>
                  <a:srgbClr val="6750A4"/>
                </a:solidFill>
                <a:latin typeface="Roboto"/>
                <a:ea typeface="Roboto"/>
                <a:cs typeface="Roboto"/>
              </a:defRPr>
            </a:lvl4pPr>
            <a:lvl5pPr algn="l">
              <a:defRPr sz="4800" b="1">
                <a:solidFill>
                  <a:srgbClr val="6750A4"/>
                </a:solidFill>
                <a:latin typeface="Roboto"/>
                <a:ea typeface="Roboto"/>
                <a:cs typeface="Roboto"/>
              </a:defRPr>
            </a:lvl5pPr>
            <a:lvl6pPr algn="l">
              <a:defRPr sz="4800" b="1">
                <a:solidFill>
                  <a:srgbClr val="6750A4"/>
                </a:solidFill>
                <a:latin typeface="Roboto"/>
                <a:ea typeface="Roboto"/>
                <a:cs typeface="Roboto"/>
              </a:defRPr>
            </a:lvl6pPr>
            <a:lvl7pPr algn="l">
              <a:defRPr sz="4800" b="1">
                <a:solidFill>
                  <a:srgbClr val="6750A4"/>
                </a:solidFill>
                <a:latin typeface="Roboto"/>
                <a:ea typeface="Roboto"/>
                <a:cs typeface="Roboto"/>
              </a:defRPr>
            </a:lvl7pPr>
            <a:lvl8pPr algn="l">
              <a:defRPr sz="4800" b="1">
                <a:solidFill>
                  <a:srgbClr val="6750A4"/>
                </a:solidFill>
                <a:latin typeface="Roboto"/>
                <a:ea typeface="Roboto"/>
                <a:cs typeface="Roboto"/>
              </a:defRPr>
            </a:lvl8pPr>
            <a:lvl9pPr algn="l">
              <a:defRPr sz="4800" b="1">
                <a:solidFill>
                  <a:srgbClr val="6750A4"/>
                </a:solidFill>
                <a:latin typeface="Roboto"/>
                <a:ea typeface="Roboto"/>
                <a:cs typeface="Roboto"/>
              </a:defRPr>
            </a:lvl9pPr>
          </a:lstStyle>
          <a:p xmlns:a="http://schemas.openxmlformats.org/drawingml/2006/main">
            <a:pPr algn="l">
              <a:defRPr sz="4800" b="1">
                <a:solidFill>
                  <a:srgbClr val="6750A4"/>
                </a:solidFill>
                <a:latin typeface="Roboto"/>
                <a:ea typeface="Roboto"/>
                <a:cs typeface="Roboto"/>
              </a:defRPr>
            </a:pPr>
            <a:r>
              <a:rPr sz="4800" b="1">
                <a:solidFill>
                  <a:srgbClr val="6750A4"/>
                </a:solidFill>
                <a:latin typeface="Roboto"/>
                <a:ea typeface="Roboto"/>
                <a:cs typeface="Roboto"/>
              </a:rPr>
              <a:t>3</a:t>
            </a:r>
          </a:p>
        </p:txBody>
      </p:sp>
      <p:sp>
        <p:nvSpPr>
          <p:cNvPr id="19" name="metric-label-3">
            <a:extLst xmlns:a="http://schemas.openxmlformats.org/drawingml/2006/main">
              <a:ext uri="{FF2B5EF4-FFF2-40B4-BE49-F238E27FC236}">
                <a16:creationId xmlns:a16="http://schemas.microsoft.com/office/drawing/2014/main" id="{EA625ABE-0F84-43AE-8E68-6683140789C4}"/>
              </a:ext>
            </a:extLst>
          </p:cNvPr>
          <p:cNvSpPr>
            <a:spLocks xmlns:a="http://schemas.openxmlformats.org/drawingml/2006/main" noGrp="1"/>
          </p:cNvSpPr>
          <p:nvPr/>
        </p:nvSpPr>
        <p:spPr>
          <a:xfrm xmlns:a="http://schemas.openxmlformats.org/drawingml/2006/main">
            <a:off x="9048750" y="4057650"/>
            <a:ext cx="2209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C1B1F"/>
                </a:solidFill>
                <a:latin typeface="Roboto"/>
                <a:ea typeface="Roboto"/>
                <a:cs typeface="Roboto"/>
              </a:defRPr>
            </a:defPPr>
            <a:lvl1pPr algn="l">
              <a:defRPr sz="1350" b="1">
                <a:solidFill>
                  <a:srgbClr val="1C1B1F"/>
                </a:solidFill>
                <a:latin typeface="Roboto"/>
                <a:ea typeface="Roboto"/>
                <a:cs typeface="Roboto"/>
              </a:defRPr>
            </a:lvl1pPr>
            <a:lvl2pPr algn="l">
              <a:defRPr sz="1350" b="1">
                <a:solidFill>
                  <a:srgbClr val="1C1B1F"/>
                </a:solidFill>
                <a:latin typeface="Roboto"/>
                <a:ea typeface="Roboto"/>
                <a:cs typeface="Roboto"/>
              </a:defRPr>
            </a:lvl2pPr>
            <a:lvl3pPr algn="l">
              <a:defRPr sz="1350" b="1">
                <a:solidFill>
                  <a:srgbClr val="1C1B1F"/>
                </a:solidFill>
                <a:latin typeface="Roboto"/>
                <a:ea typeface="Roboto"/>
                <a:cs typeface="Roboto"/>
              </a:defRPr>
            </a:lvl3pPr>
            <a:lvl4pPr algn="l">
              <a:defRPr sz="1350" b="1">
                <a:solidFill>
                  <a:srgbClr val="1C1B1F"/>
                </a:solidFill>
                <a:latin typeface="Roboto"/>
                <a:ea typeface="Roboto"/>
                <a:cs typeface="Roboto"/>
              </a:defRPr>
            </a:lvl4pPr>
            <a:lvl5pPr algn="l">
              <a:defRPr sz="1350" b="1">
                <a:solidFill>
                  <a:srgbClr val="1C1B1F"/>
                </a:solidFill>
                <a:latin typeface="Roboto"/>
                <a:ea typeface="Roboto"/>
                <a:cs typeface="Roboto"/>
              </a:defRPr>
            </a:lvl5pPr>
            <a:lvl6pPr algn="l">
              <a:defRPr sz="1350" b="1">
                <a:solidFill>
                  <a:srgbClr val="1C1B1F"/>
                </a:solidFill>
                <a:latin typeface="Roboto"/>
                <a:ea typeface="Roboto"/>
                <a:cs typeface="Roboto"/>
              </a:defRPr>
            </a:lvl6pPr>
            <a:lvl7pPr algn="l">
              <a:defRPr sz="1350" b="1">
                <a:solidFill>
                  <a:srgbClr val="1C1B1F"/>
                </a:solidFill>
                <a:latin typeface="Roboto"/>
                <a:ea typeface="Roboto"/>
                <a:cs typeface="Roboto"/>
              </a:defRPr>
            </a:lvl7pPr>
            <a:lvl8pPr algn="l">
              <a:defRPr sz="1350" b="1">
                <a:solidFill>
                  <a:srgbClr val="1C1B1F"/>
                </a:solidFill>
                <a:latin typeface="Roboto"/>
                <a:ea typeface="Roboto"/>
                <a:cs typeface="Roboto"/>
              </a:defRPr>
            </a:lvl8pPr>
            <a:lvl9pPr algn="l">
              <a:defRPr sz="1350" b="1">
                <a:solidFill>
                  <a:srgbClr val="1C1B1F"/>
                </a:solidFill>
                <a:latin typeface="Roboto"/>
                <a:ea typeface="Roboto"/>
                <a:cs typeface="Roboto"/>
              </a:defRPr>
            </a:lvl9pPr>
          </a:lstStyle>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files matched Python</a:t>
            </a:r>
          </a:p>
          <a:p xmlns:a="http://schemas.openxmlformats.org/drawingml/2006/main">
            <a:pPr algn="l">
              <a:defRPr sz="1350" b="1">
                <a:solidFill>
                  <a:srgbClr val="1C1B1F"/>
                </a:solidFill>
                <a:latin typeface="Roboto"/>
                <a:ea typeface="Roboto"/>
                <a:cs typeface="Roboto"/>
              </a:defRPr>
            </a:pPr>
            <a:r>
              <a:rPr sz="1350" b="1">
                <a:solidFill>
                  <a:srgbClr val="1C1B1F"/>
                </a:solidFill>
                <a:latin typeface="Roboto"/>
                <a:ea typeface="Roboto"/>
                <a:cs typeface="Roboto"/>
              </a:rPr>
              <a:t>byte for byte</a:t>
            </a:r>
          </a:p>
        </p:txBody>
      </p:sp>
      <p:sp>
        <p:nvSpPr>
          <p:cNvPr id="20" name="evidence-caveat-surface">
            <a:extLst xmlns:a="http://schemas.openxmlformats.org/drawingml/2006/main">
              <a:ext uri="{FF2B5EF4-FFF2-40B4-BE49-F238E27FC236}">
                <a16:creationId xmlns:a16="http://schemas.microsoft.com/office/drawing/2014/main" id="{471642EF-60AE-4DA8-A0FD-DDEDBCFB484D}"/>
              </a:ext>
            </a:extLst>
          </p:cNvPr>
          <p:cNvSpPr>
            <a:spLocks xmlns:a="http://schemas.openxmlformats.org/drawingml/2006/main" noGrp="1"/>
          </p:cNvSpPr>
          <p:nvPr/>
        </p:nvSpPr>
        <p:spPr>
          <a:xfrm xmlns:a="http://schemas.openxmlformats.org/drawingml/2006/main">
            <a:off x="685800" y="5562600"/>
            <a:ext cx="10820400" cy="590550"/>
          </a:xfrm>
          <a:prstGeom xmlns:a="http://schemas.openxmlformats.org/drawingml/2006/main" prst="roundRect">
            <a:avLst>
              <a:gd name="adj" fmla="val 32258"/>
            </a:avLst>
          </a:prstGeom>
          <a:solidFill xmlns:a="http://schemas.openxmlformats.org/drawingml/2006/main">
            <a:srgbClr val="ECE6F0"/>
          </a:solidFill>
          <a:ln xmlns:a="http://schemas.openxmlformats.org/drawingml/2006/main" w="0">
            <a:noFill/>
            <a:prstDash val="solid"/>
          </a:ln>
        </p:spPr>
      </p:sp>
      <p:sp>
        <p:nvSpPr>
          <p:cNvPr id="21" name="evidence-caveat">
            <a:extLst xmlns:a="http://schemas.openxmlformats.org/drawingml/2006/main">
              <a:ext uri="{FF2B5EF4-FFF2-40B4-BE49-F238E27FC236}">
                <a16:creationId xmlns:a16="http://schemas.microsoft.com/office/drawing/2014/main" id="{F27C13A0-2969-454C-B109-06C07260A2D6}"/>
              </a:ext>
            </a:extLst>
          </p:cNvPr>
          <p:cNvSpPr>
            <a:spLocks xmlns:a="http://schemas.openxmlformats.org/drawingml/2006/main" noGrp="1"/>
          </p:cNvSpPr>
          <p:nvPr/>
        </p:nvSpPr>
        <p:spPr>
          <a:xfrm xmlns:a="http://schemas.openxmlformats.org/drawingml/2006/main">
            <a:off x="933450" y="569595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49454F"/>
                </a:solidFill>
                <a:latin typeface="Roboto"/>
                <a:ea typeface="Roboto"/>
                <a:cs typeface="Roboto"/>
              </a:defRPr>
            </a:defPPr>
            <a:lvl1pPr algn="l">
              <a:defRPr sz="1125" b="1">
                <a:solidFill>
                  <a:srgbClr val="49454F"/>
                </a:solidFill>
                <a:latin typeface="Roboto"/>
                <a:ea typeface="Roboto"/>
                <a:cs typeface="Roboto"/>
              </a:defRPr>
            </a:lvl1pPr>
            <a:lvl2pPr algn="l">
              <a:defRPr sz="1125" b="1">
                <a:solidFill>
                  <a:srgbClr val="49454F"/>
                </a:solidFill>
                <a:latin typeface="Roboto"/>
                <a:ea typeface="Roboto"/>
                <a:cs typeface="Roboto"/>
              </a:defRPr>
            </a:lvl2pPr>
            <a:lvl3pPr algn="l">
              <a:defRPr sz="1125" b="1">
                <a:solidFill>
                  <a:srgbClr val="49454F"/>
                </a:solidFill>
                <a:latin typeface="Roboto"/>
                <a:ea typeface="Roboto"/>
                <a:cs typeface="Roboto"/>
              </a:defRPr>
            </a:lvl3pPr>
            <a:lvl4pPr algn="l">
              <a:defRPr sz="1125" b="1">
                <a:solidFill>
                  <a:srgbClr val="49454F"/>
                </a:solidFill>
                <a:latin typeface="Roboto"/>
                <a:ea typeface="Roboto"/>
                <a:cs typeface="Roboto"/>
              </a:defRPr>
            </a:lvl4pPr>
            <a:lvl5pPr algn="l">
              <a:defRPr sz="1125" b="1">
                <a:solidFill>
                  <a:srgbClr val="49454F"/>
                </a:solidFill>
                <a:latin typeface="Roboto"/>
                <a:ea typeface="Roboto"/>
                <a:cs typeface="Roboto"/>
              </a:defRPr>
            </a:lvl5pPr>
            <a:lvl6pPr algn="l">
              <a:defRPr sz="1125" b="1">
                <a:solidFill>
                  <a:srgbClr val="49454F"/>
                </a:solidFill>
                <a:latin typeface="Roboto"/>
                <a:ea typeface="Roboto"/>
                <a:cs typeface="Roboto"/>
              </a:defRPr>
            </a:lvl6pPr>
            <a:lvl7pPr algn="l">
              <a:defRPr sz="1125" b="1">
                <a:solidFill>
                  <a:srgbClr val="49454F"/>
                </a:solidFill>
                <a:latin typeface="Roboto"/>
                <a:ea typeface="Roboto"/>
                <a:cs typeface="Roboto"/>
              </a:defRPr>
            </a:lvl7pPr>
            <a:lvl8pPr algn="l">
              <a:defRPr sz="1125" b="1">
                <a:solidFill>
                  <a:srgbClr val="49454F"/>
                </a:solidFill>
                <a:latin typeface="Roboto"/>
                <a:ea typeface="Roboto"/>
                <a:cs typeface="Roboto"/>
              </a:defRPr>
            </a:lvl8pPr>
            <a:lvl9pPr algn="l">
              <a:defRPr sz="1125" b="1">
                <a:solidFill>
                  <a:srgbClr val="49454F"/>
                </a:solidFill>
                <a:latin typeface="Roboto"/>
                <a:ea typeface="Roboto"/>
                <a:cs typeface="Roboto"/>
              </a:defRPr>
            </a:lvl9pPr>
          </a:lstStyle>
          <a:p xmlns:a="http://schemas.openxmlformats.org/drawingml/2006/main">
            <a:pPr algn="l">
              <a:defRPr sz="1125" b="1">
                <a:solidFill>
                  <a:srgbClr val="49454F"/>
                </a:solidFill>
                <a:latin typeface="Roboto"/>
                <a:ea typeface="Roboto"/>
                <a:cs typeface="Roboto"/>
              </a:defRPr>
            </a:pPr>
            <a:r>
              <a:rPr sz="1125" b="1">
                <a:solidFill>
                  <a:srgbClr val="49454F"/>
                </a:solidFill>
                <a:latin typeface="Roboto"/>
                <a:ea typeface="Roboto"/>
                <a:cs typeface="Roboto"/>
              </a:rPr>
              <a:t>TRUSTED HOST CPU  ·  NO DOCKER ISOLATION  ·  OFF_CHAIN  ·  NO SOL PAYMENT</a:t>
            </a:r>
          </a:p>
        </p:txBody>
      </p:sp>
    </p:spTree>
    <p:extLst>
      <p:ext uri="{BB962C8B-B14F-4D97-AF65-F5344CB8AC3E}">
        <p14:creationId xmlns:p14="http://schemas.microsoft.com/office/powerpoint/2010/main" val="1303401823"/>
      </p:ext>
    </p:extLst>
  </p:cSld>
</p:sld>
</file>

<file path=ppt/slides/slide8.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8" name="brand-wordmark">
            <a:extLst xmlns:a="http://schemas.openxmlformats.org/drawingml/2006/main">
              <a:ext uri="{FF2B5EF4-FFF2-40B4-BE49-F238E27FC236}">
                <a16:creationId xmlns:a16="http://schemas.microsoft.com/office/drawing/2014/main" id="{FBCBE7A8-7350-43EB-BE70-483F7A8014BE}"/>
              </a:ext>
            </a:extLst>
          </p:cNvPr>
          <p:cNvSpPr>
            <a:spLocks xmlns:a="http://schemas.openxmlformats.org/drawingml/2006/main" noGrp="1"/>
          </p:cNvSpPr>
          <p:nvPr/>
        </p:nvSpPr>
        <p:spPr>
          <a:xfrm xmlns:a="http://schemas.openxmlformats.org/drawingml/2006/main">
            <a:off x="685800" y="285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C1B1F"/>
                </a:solidFill>
                <a:latin typeface="Roboto"/>
                <a:ea typeface="Roboto"/>
                <a:cs typeface="Roboto"/>
              </a:defRPr>
            </a:defPPr>
            <a:lvl1pPr algn="l">
              <a:defRPr sz="1200" b="1">
                <a:solidFill>
                  <a:srgbClr val="1C1B1F"/>
                </a:solidFill>
                <a:latin typeface="Roboto"/>
                <a:ea typeface="Roboto"/>
                <a:cs typeface="Roboto"/>
              </a:defRPr>
            </a:lvl1pPr>
            <a:lvl2pPr algn="l">
              <a:defRPr sz="1200" b="1">
                <a:solidFill>
                  <a:srgbClr val="1C1B1F"/>
                </a:solidFill>
                <a:latin typeface="Roboto"/>
                <a:ea typeface="Roboto"/>
                <a:cs typeface="Roboto"/>
              </a:defRPr>
            </a:lvl2pPr>
            <a:lvl3pPr algn="l">
              <a:defRPr sz="1200" b="1">
                <a:solidFill>
                  <a:srgbClr val="1C1B1F"/>
                </a:solidFill>
                <a:latin typeface="Roboto"/>
                <a:ea typeface="Roboto"/>
                <a:cs typeface="Roboto"/>
              </a:defRPr>
            </a:lvl3pPr>
            <a:lvl4pPr algn="l">
              <a:defRPr sz="1200" b="1">
                <a:solidFill>
                  <a:srgbClr val="1C1B1F"/>
                </a:solidFill>
                <a:latin typeface="Roboto"/>
                <a:ea typeface="Roboto"/>
                <a:cs typeface="Roboto"/>
              </a:defRPr>
            </a:lvl4pPr>
            <a:lvl5pPr algn="l">
              <a:defRPr sz="1200" b="1">
                <a:solidFill>
                  <a:srgbClr val="1C1B1F"/>
                </a:solidFill>
                <a:latin typeface="Roboto"/>
                <a:ea typeface="Roboto"/>
                <a:cs typeface="Roboto"/>
              </a:defRPr>
            </a:lvl5pPr>
            <a:lvl6pPr algn="l">
              <a:defRPr sz="1200" b="1">
                <a:solidFill>
                  <a:srgbClr val="1C1B1F"/>
                </a:solidFill>
                <a:latin typeface="Roboto"/>
                <a:ea typeface="Roboto"/>
                <a:cs typeface="Roboto"/>
              </a:defRPr>
            </a:lvl6pPr>
            <a:lvl7pPr algn="l">
              <a:defRPr sz="1200" b="1">
                <a:solidFill>
                  <a:srgbClr val="1C1B1F"/>
                </a:solidFill>
                <a:latin typeface="Roboto"/>
                <a:ea typeface="Roboto"/>
                <a:cs typeface="Roboto"/>
              </a:defRPr>
            </a:lvl7pPr>
            <a:lvl8pPr algn="l">
              <a:defRPr sz="1200" b="1">
                <a:solidFill>
                  <a:srgbClr val="1C1B1F"/>
                </a:solidFill>
                <a:latin typeface="Roboto"/>
                <a:ea typeface="Roboto"/>
                <a:cs typeface="Roboto"/>
              </a:defRPr>
            </a:lvl8pPr>
            <a:lvl9pPr algn="l">
              <a:defRPr sz="1200" b="1">
                <a:solidFill>
                  <a:srgbClr val="1C1B1F"/>
                </a:solidFill>
                <a:latin typeface="Roboto"/>
                <a:ea typeface="Roboto"/>
                <a:cs typeface="Roboto"/>
              </a:defRPr>
            </a:lvl9pPr>
          </a:lstStyle>
          <a:p xmlns:a="http://schemas.openxmlformats.org/drawingml/2006/main">
            <a:pPr algn="l">
              <a:defRPr sz="1200" b="1">
                <a:solidFill>
                  <a:srgbClr val="1C1B1F"/>
                </a:solidFill>
                <a:latin typeface="Roboto"/>
                <a:ea typeface="Roboto"/>
                <a:cs typeface="Roboto"/>
              </a:defRPr>
            </a:pPr>
            <a:r>
              <a:rPr sz="1200" b="1">
                <a:solidFill>
                  <a:srgbClr val="1C1B1F"/>
                </a:solidFill>
                <a:latin typeface="Roboto"/>
                <a:ea typeface="Roboto"/>
                <a:cs typeface="Roboto"/>
              </a:rPr>
              <a:t>APERTURE</a:t>
            </a:r>
          </a:p>
        </p:txBody>
      </p:sp>
      <p:sp>
        <p:nvSpPr>
          <p:cNvPr id="2" name="section-label">
            <a:extLst xmlns:a="http://schemas.openxmlformats.org/drawingml/2006/main">
              <a:ext uri="{FF2B5EF4-FFF2-40B4-BE49-F238E27FC236}">
                <a16:creationId xmlns:a16="http://schemas.microsoft.com/office/drawing/2014/main" id="{A9976909-550C-4EF6-B416-0949BA53DBA0}"/>
              </a:ext>
            </a:extLst>
          </p:cNvPr>
          <p:cNvSpPr>
            <a:spLocks xmlns:a="http://schemas.openxmlformats.org/drawingml/2006/main" noGrp="1"/>
          </p:cNvSpPr>
          <p:nvPr/>
        </p:nvSpPr>
        <p:spPr>
          <a:xfrm xmlns:a="http://schemas.openxmlformats.org/drawingml/2006/main">
            <a:off x="8001000" y="285750"/>
            <a:ext cx="350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49454F"/>
                </a:solidFill>
                <a:latin typeface="Roboto"/>
                <a:ea typeface="Roboto"/>
                <a:cs typeface="Roboto"/>
              </a:defRPr>
            </a:defPPr>
            <a:lvl1pPr algn="r">
              <a:defRPr sz="1050" b="1">
                <a:solidFill>
                  <a:srgbClr val="49454F"/>
                </a:solidFill>
                <a:latin typeface="Roboto"/>
                <a:ea typeface="Roboto"/>
                <a:cs typeface="Roboto"/>
              </a:defRPr>
            </a:lvl1pPr>
            <a:lvl2pPr algn="r">
              <a:defRPr sz="1050" b="1">
                <a:solidFill>
                  <a:srgbClr val="49454F"/>
                </a:solidFill>
                <a:latin typeface="Roboto"/>
                <a:ea typeface="Roboto"/>
                <a:cs typeface="Roboto"/>
              </a:defRPr>
            </a:lvl2pPr>
            <a:lvl3pPr algn="r">
              <a:defRPr sz="1050" b="1">
                <a:solidFill>
                  <a:srgbClr val="49454F"/>
                </a:solidFill>
                <a:latin typeface="Roboto"/>
                <a:ea typeface="Roboto"/>
                <a:cs typeface="Roboto"/>
              </a:defRPr>
            </a:lvl3pPr>
            <a:lvl4pPr algn="r">
              <a:defRPr sz="1050" b="1">
                <a:solidFill>
                  <a:srgbClr val="49454F"/>
                </a:solidFill>
                <a:latin typeface="Roboto"/>
                <a:ea typeface="Roboto"/>
                <a:cs typeface="Roboto"/>
              </a:defRPr>
            </a:lvl4pPr>
            <a:lvl5pPr algn="r">
              <a:defRPr sz="1050" b="1">
                <a:solidFill>
                  <a:srgbClr val="49454F"/>
                </a:solidFill>
                <a:latin typeface="Roboto"/>
                <a:ea typeface="Roboto"/>
                <a:cs typeface="Roboto"/>
              </a:defRPr>
            </a:lvl5pPr>
            <a:lvl6pPr algn="r">
              <a:defRPr sz="1050" b="1">
                <a:solidFill>
                  <a:srgbClr val="49454F"/>
                </a:solidFill>
                <a:latin typeface="Roboto"/>
                <a:ea typeface="Roboto"/>
                <a:cs typeface="Roboto"/>
              </a:defRPr>
            </a:lvl6pPr>
            <a:lvl7pPr algn="r">
              <a:defRPr sz="1050" b="1">
                <a:solidFill>
                  <a:srgbClr val="49454F"/>
                </a:solidFill>
                <a:latin typeface="Roboto"/>
                <a:ea typeface="Roboto"/>
                <a:cs typeface="Roboto"/>
              </a:defRPr>
            </a:lvl7pPr>
            <a:lvl8pPr algn="r">
              <a:defRPr sz="1050" b="1">
                <a:solidFill>
                  <a:srgbClr val="49454F"/>
                </a:solidFill>
                <a:latin typeface="Roboto"/>
                <a:ea typeface="Roboto"/>
                <a:cs typeface="Roboto"/>
              </a:defRPr>
            </a:lvl8pPr>
            <a:lvl9pPr algn="r">
              <a:defRPr sz="1050" b="1">
                <a:solidFill>
                  <a:srgbClr val="49454F"/>
                </a:solidFill>
                <a:latin typeface="Roboto"/>
                <a:ea typeface="Roboto"/>
                <a:cs typeface="Roboto"/>
              </a:defRPr>
            </a:lvl9pPr>
          </a:lstStyle>
          <a:p xmlns:a="http://schemas.openxmlformats.org/drawingml/2006/main">
            <a:pPr algn="r">
              <a:defRPr sz="1050" b="1">
                <a:solidFill>
                  <a:srgbClr val="49454F"/>
                </a:solidFill>
                <a:latin typeface="Roboto"/>
                <a:ea typeface="Roboto"/>
                <a:cs typeface="Roboto"/>
              </a:defRPr>
            </a:pPr>
            <a:r>
              <a:rPr sz="1050" b="1">
                <a:solidFill>
                  <a:srgbClr val="49454F"/>
                </a:solidFill>
                <a:latin typeface="Roboto"/>
                <a:ea typeface="Roboto"/>
                <a:cs typeface="Roboto"/>
              </a:rPr>
              <a:t>NEXT VALIDATION</a:t>
            </a:r>
          </a:p>
        </p:txBody>
      </p:sp>
      <p:sp>
        <p:nvSpPr>
          <p:cNvPr id="3" name="footer-divider">
            <a:extLst xmlns:a="http://schemas.openxmlformats.org/drawingml/2006/main">
              <a:ext uri="{FF2B5EF4-FFF2-40B4-BE49-F238E27FC236}">
                <a16:creationId xmlns:a16="http://schemas.microsoft.com/office/drawing/2014/main" id="{28E6D2C3-219D-479A-9A34-3F76716ABF9A}"/>
              </a:ext>
            </a:extLst>
          </p:cNvPr>
          <p:cNvSpPr>
            <a:spLocks xmlns:a="http://schemas.openxmlformats.org/drawingml/2006/main" noGrp="1"/>
          </p:cNvSpPr>
          <p:nvPr/>
        </p:nvSpPr>
        <p:spPr>
          <a:xfrm xmlns:a="http://schemas.openxmlformats.org/drawingml/2006/main">
            <a:off x="685800" y="6477000"/>
            <a:ext cx="1082040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4" name="slide-number">
            <a:extLst xmlns:a="http://schemas.openxmlformats.org/drawingml/2006/main">
              <a:ext uri="{FF2B5EF4-FFF2-40B4-BE49-F238E27FC236}">
                <a16:creationId xmlns:a16="http://schemas.microsoft.com/office/drawing/2014/main" id="{BDFA0C83-3000-4F2C-9B33-1045FD36BF1E}"/>
              </a:ext>
            </a:extLst>
          </p:cNvPr>
          <p:cNvSpPr>
            <a:spLocks xmlns:a="http://schemas.openxmlformats.org/drawingml/2006/main" noGrp="1"/>
          </p:cNvSpPr>
          <p:nvPr/>
        </p:nvSpPr>
        <p:spPr>
          <a:xfrm xmlns:a="http://schemas.openxmlformats.org/drawingml/2006/main">
            <a:off x="10763250" y="65341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49454F"/>
                </a:solidFill>
                <a:latin typeface="Roboto"/>
                <a:ea typeface="Roboto"/>
                <a:cs typeface="Roboto"/>
              </a:defRPr>
            </a:defPPr>
            <a:lvl1pPr algn="r">
              <a:defRPr sz="900" b="0">
                <a:solidFill>
                  <a:srgbClr val="49454F"/>
                </a:solidFill>
                <a:latin typeface="Roboto"/>
                <a:ea typeface="Roboto"/>
                <a:cs typeface="Roboto"/>
              </a:defRPr>
            </a:lvl1pPr>
            <a:lvl2pPr algn="r">
              <a:defRPr sz="900" b="0">
                <a:solidFill>
                  <a:srgbClr val="49454F"/>
                </a:solidFill>
                <a:latin typeface="Roboto"/>
                <a:ea typeface="Roboto"/>
                <a:cs typeface="Roboto"/>
              </a:defRPr>
            </a:lvl2pPr>
            <a:lvl3pPr algn="r">
              <a:defRPr sz="900" b="0">
                <a:solidFill>
                  <a:srgbClr val="49454F"/>
                </a:solidFill>
                <a:latin typeface="Roboto"/>
                <a:ea typeface="Roboto"/>
                <a:cs typeface="Roboto"/>
              </a:defRPr>
            </a:lvl3pPr>
            <a:lvl4pPr algn="r">
              <a:defRPr sz="900" b="0">
                <a:solidFill>
                  <a:srgbClr val="49454F"/>
                </a:solidFill>
                <a:latin typeface="Roboto"/>
                <a:ea typeface="Roboto"/>
                <a:cs typeface="Roboto"/>
              </a:defRPr>
            </a:lvl4pPr>
            <a:lvl5pPr algn="r">
              <a:defRPr sz="900" b="0">
                <a:solidFill>
                  <a:srgbClr val="49454F"/>
                </a:solidFill>
                <a:latin typeface="Roboto"/>
                <a:ea typeface="Roboto"/>
                <a:cs typeface="Roboto"/>
              </a:defRPr>
            </a:lvl5pPr>
            <a:lvl6pPr algn="r">
              <a:defRPr sz="900" b="0">
                <a:solidFill>
                  <a:srgbClr val="49454F"/>
                </a:solidFill>
                <a:latin typeface="Roboto"/>
                <a:ea typeface="Roboto"/>
                <a:cs typeface="Roboto"/>
              </a:defRPr>
            </a:lvl6pPr>
            <a:lvl7pPr algn="r">
              <a:defRPr sz="900" b="0">
                <a:solidFill>
                  <a:srgbClr val="49454F"/>
                </a:solidFill>
                <a:latin typeface="Roboto"/>
                <a:ea typeface="Roboto"/>
                <a:cs typeface="Roboto"/>
              </a:defRPr>
            </a:lvl7pPr>
            <a:lvl8pPr algn="r">
              <a:defRPr sz="900" b="0">
                <a:solidFill>
                  <a:srgbClr val="49454F"/>
                </a:solidFill>
                <a:latin typeface="Roboto"/>
                <a:ea typeface="Roboto"/>
                <a:cs typeface="Roboto"/>
              </a:defRPr>
            </a:lvl8pPr>
            <a:lvl9pPr algn="r">
              <a:defRPr sz="900" b="0">
                <a:solidFill>
                  <a:srgbClr val="49454F"/>
                </a:solidFill>
                <a:latin typeface="Roboto"/>
                <a:ea typeface="Roboto"/>
                <a:cs typeface="Roboto"/>
              </a:defRPr>
            </a:lvl9pPr>
          </a:lstStyle>
          <a:p xmlns:a="http://schemas.openxmlformats.org/drawingml/2006/main">
            <a:pPr algn="r">
              <a:defRPr sz="900" b="0">
                <a:solidFill>
                  <a:srgbClr val="49454F"/>
                </a:solidFill>
                <a:latin typeface="Roboto"/>
                <a:ea typeface="Roboto"/>
                <a:cs typeface="Roboto"/>
              </a:defRPr>
            </a:pPr>
            <a:r>
              <a:rPr sz="900" b="0">
                <a:solidFill>
                  <a:srgbClr val="49454F"/>
                </a:solidFill>
                <a:latin typeface="Roboto"/>
                <a:ea typeface="Roboto"/>
                <a:cs typeface="Roboto"/>
              </a:rPr>
              <a:t>08 / 08</a:t>
            </a:r>
          </a:p>
        </p:txBody>
      </p:sp>
      <p:sp>
        <p:nvSpPr>
          <p:cNvPr id="5" name="slide-title">
            <a:extLst xmlns:a="http://schemas.openxmlformats.org/drawingml/2006/main">
              <a:ext uri="{FF2B5EF4-FFF2-40B4-BE49-F238E27FC236}">
                <a16:creationId xmlns:a16="http://schemas.microsoft.com/office/drawing/2014/main" id="{802236F0-F344-452F-B2E0-6F0975F175D0}"/>
              </a:ext>
            </a:extLst>
          </p:cNvPr>
          <p:cNvSpPr>
            <a:spLocks xmlns:a="http://schemas.openxmlformats.org/drawingml/2006/main" noGrp="1"/>
          </p:cNvSpPr>
          <p:nvPr/>
        </p:nvSpPr>
        <p:spPr>
          <a:xfrm xmlns:a="http://schemas.openxmlformats.org/drawingml/2006/main">
            <a:off x="685800" y="962025"/>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C1B1F"/>
                </a:solidFill>
                <a:latin typeface="Roboto"/>
                <a:ea typeface="Roboto"/>
                <a:cs typeface="Roboto"/>
              </a:defRPr>
            </a:defPPr>
            <a:lvl1pPr algn="l">
              <a:defRPr sz="3225" b="1">
                <a:solidFill>
                  <a:srgbClr val="1C1B1F"/>
                </a:solidFill>
                <a:latin typeface="Roboto"/>
                <a:ea typeface="Roboto"/>
                <a:cs typeface="Roboto"/>
              </a:defRPr>
            </a:lvl1pPr>
            <a:lvl2pPr algn="l">
              <a:defRPr sz="3225" b="1">
                <a:solidFill>
                  <a:srgbClr val="1C1B1F"/>
                </a:solidFill>
                <a:latin typeface="Roboto"/>
                <a:ea typeface="Roboto"/>
                <a:cs typeface="Roboto"/>
              </a:defRPr>
            </a:lvl2pPr>
            <a:lvl3pPr algn="l">
              <a:defRPr sz="3225" b="1">
                <a:solidFill>
                  <a:srgbClr val="1C1B1F"/>
                </a:solidFill>
                <a:latin typeface="Roboto"/>
                <a:ea typeface="Roboto"/>
                <a:cs typeface="Roboto"/>
              </a:defRPr>
            </a:lvl3pPr>
            <a:lvl4pPr algn="l">
              <a:defRPr sz="3225" b="1">
                <a:solidFill>
                  <a:srgbClr val="1C1B1F"/>
                </a:solidFill>
                <a:latin typeface="Roboto"/>
                <a:ea typeface="Roboto"/>
                <a:cs typeface="Roboto"/>
              </a:defRPr>
            </a:lvl4pPr>
            <a:lvl5pPr algn="l">
              <a:defRPr sz="3225" b="1">
                <a:solidFill>
                  <a:srgbClr val="1C1B1F"/>
                </a:solidFill>
                <a:latin typeface="Roboto"/>
                <a:ea typeface="Roboto"/>
                <a:cs typeface="Roboto"/>
              </a:defRPr>
            </a:lvl5pPr>
            <a:lvl6pPr algn="l">
              <a:defRPr sz="3225" b="1">
                <a:solidFill>
                  <a:srgbClr val="1C1B1F"/>
                </a:solidFill>
                <a:latin typeface="Roboto"/>
                <a:ea typeface="Roboto"/>
                <a:cs typeface="Roboto"/>
              </a:defRPr>
            </a:lvl6pPr>
            <a:lvl7pPr algn="l">
              <a:defRPr sz="3225" b="1">
                <a:solidFill>
                  <a:srgbClr val="1C1B1F"/>
                </a:solidFill>
                <a:latin typeface="Roboto"/>
                <a:ea typeface="Roboto"/>
                <a:cs typeface="Roboto"/>
              </a:defRPr>
            </a:lvl7pPr>
            <a:lvl8pPr algn="l">
              <a:defRPr sz="3225" b="1">
                <a:solidFill>
                  <a:srgbClr val="1C1B1F"/>
                </a:solidFill>
                <a:latin typeface="Roboto"/>
                <a:ea typeface="Roboto"/>
                <a:cs typeface="Roboto"/>
              </a:defRPr>
            </a:lvl8pPr>
            <a:lvl9pPr algn="l">
              <a:defRPr sz="3225" b="1">
                <a:solidFill>
                  <a:srgbClr val="1C1B1F"/>
                </a:solidFill>
                <a:latin typeface="Roboto"/>
                <a:ea typeface="Roboto"/>
                <a:cs typeface="Roboto"/>
              </a:defRPr>
            </a:lvl9pPr>
          </a:lstStyle>
          <a:p xmlns:a="http://schemas.openxmlformats.org/drawingml/2006/main">
            <a:pPr algn="l">
              <a:defRPr sz="3225" b="1">
                <a:solidFill>
                  <a:srgbClr val="1C1B1F"/>
                </a:solidFill>
                <a:latin typeface="Roboto"/>
                <a:ea typeface="Roboto"/>
                <a:cs typeface="Roboto"/>
              </a:defRPr>
            </a:pPr>
            <a:r>
              <a:rPr sz="3225" b="1">
                <a:solidFill>
                  <a:srgbClr val="1C1B1F"/>
                </a:solidFill>
                <a:latin typeface="Roboto"/>
                <a:ea typeface="Roboto"/>
                <a:cs typeface="Roboto"/>
              </a:rPr>
              <a:t>The MVP is connected. Next, prove live capacity</a:t>
            </a:r>
          </a:p>
        </p:txBody>
      </p:sp>
      <p:sp>
        <p:nvSpPr>
          <p:cNvPr id="6" name="slide-subtitle">
            <a:extLst xmlns:a="http://schemas.openxmlformats.org/drawingml/2006/main">
              <a:ext uri="{FF2B5EF4-FFF2-40B4-BE49-F238E27FC236}">
                <a16:creationId xmlns:a16="http://schemas.microsoft.com/office/drawing/2014/main" id="{9592DE91-0701-4A45-8F87-5F4AC4EEAE91}"/>
              </a:ext>
            </a:extLst>
          </p:cNvPr>
          <p:cNvSpPr>
            <a:spLocks xmlns:a="http://schemas.openxmlformats.org/drawingml/2006/main" noGrp="1"/>
          </p:cNvSpPr>
          <p:nvPr/>
        </p:nvSpPr>
        <p:spPr>
          <a:xfrm xmlns:a="http://schemas.openxmlformats.org/drawingml/2006/main">
            <a:off x="704850" y="1609725"/>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9454F"/>
                </a:solidFill>
                <a:latin typeface="Roboto"/>
                <a:ea typeface="Roboto"/>
                <a:cs typeface="Roboto"/>
              </a:defRPr>
            </a:defPPr>
            <a:lvl1pPr algn="l">
              <a:defRPr sz="1575" b="0">
                <a:solidFill>
                  <a:srgbClr val="49454F"/>
                </a:solidFill>
                <a:latin typeface="Roboto"/>
                <a:ea typeface="Roboto"/>
                <a:cs typeface="Roboto"/>
              </a:defRPr>
            </a:lvl1pPr>
            <a:lvl2pPr algn="l">
              <a:defRPr sz="1575" b="0">
                <a:solidFill>
                  <a:srgbClr val="49454F"/>
                </a:solidFill>
                <a:latin typeface="Roboto"/>
                <a:ea typeface="Roboto"/>
                <a:cs typeface="Roboto"/>
              </a:defRPr>
            </a:lvl2pPr>
            <a:lvl3pPr algn="l">
              <a:defRPr sz="1575" b="0">
                <a:solidFill>
                  <a:srgbClr val="49454F"/>
                </a:solidFill>
                <a:latin typeface="Roboto"/>
                <a:ea typeface="Roboto"/>
                <a:cs typeface="Roboto"/>
              </a:defRPr>
            </a:lvl3pPr>
            <a:lvl4pPr algn="l">
              <a:defRPr sz="1575" b="0">
                <a:solidFill>
                  <a:srgbClr val="49454F"/>
                </a:solidFill>
                <a:latin typeface="Roboto"/>
                <a:ea typeface="Roboto"/>
                <a:cs typeface="Roboto"/>
              </a:defRPr>
            </a:lvl4pPr>
            <a:lvl5pPr algn="l">
              <a:defRPr sz="1575" b="0">
                <a:solidFill>
                  <a:srgbClr val="49454F"/>
                </a:solidFill>
                <a:latin typeface="Roboto"/>
                <a:ea typeface="Roboto"/>
                <a:cs typeface="Roboto"/>
              </a:defRPr>
            </a:lvl5pPr>
            <a:lvl6pPr algn="l">
              <a:defRPr sz="1575" b="0">
                <a:solidFill>
                  <a:srgbClr val="49454F"/>
                </a:solidFill>
                <a:latin typeface="Roboto"/>
                <a:ea typeface="Roboto"/>
                <a:cs typeface="Roboto"/>
              </a:defRPr>
            </a:lvl6pPr>
            <a:lvl7pPr algn="l">
              <a:defRPr sz="1575" b="0">
                <a:solidFill>
                  <a:srgbClr val="49454F"/>
                </a:solidFill>
                <a:latin typeface="Roboto"/>
                <a:ea typeface="Roboto"/>
                <a:cs typeface="Roboto"/>
              </a:defRPr>
            </a:lvl7pPr>
            <a:lvl8pPr algn="l">
              <a:defRPr sz="1575" b="0">
                <a:solidFill>
                  <a:srgbClr val="49454F"/>
                </a:solidFill>
                <a:latin typeface="Roboto"/>
                <a:ea typeface="Roboto"/>
                <a:cs typeface="Roboto"/>
              </a:defRPr>
            </a:lvl8pPr>
            <a:lvl9pPr algn="l">
              <a:defRPr sz="1575" b="0">
                <a:solidFill>
                  <a:srgbClr val="49454F"/>
                </a:solidFill>
                <a:latin typeface="Roboto"/>
                <a:ea typeface="Roboto"/>
                <a:cs typeface="Roboto"/>
              </a:defRPr>
            </a:lvl9pPr>
          </a:lstStyle>
          <a:p xmlns:a="http://schemas.openxmlformats.org/drawingml/2006/main">
            <a:pPr algn="l">
              <a:defRPr sz="1575" b="0">
                <a:solidFill>
                  <a:srgbClr val="49454F"/>
                </a:solidFill>
                <a:latin typeface="Roboto"/>
                <a:ea typeface="Roboto"/>
                <a:cs typeface="Roboto"/>
              </a:defRPr>
            </a:pPr>
            <a:r>
              <a:rPr sz="1575" b="0">
                <a:solidFill>
                  <a:srgbClr val="49454F"/>
                </a:solidFill>
                <a:latin typeface="Roboto"/>
                <a:ea typeface="Roboto"/>
                <a:cs typeface="Roboto"/>
              </a:rPr>
              <a:t>Provider access and settlement still need independent evidence</a:t>
            </a:r>
          </a:p>
        </p:txBody>
      </p:sp>
      <p:sp>
        <p:nvSpPr>
          <p:cNvPr id="7" name="mvp-now-surface">
            <a:extLst xmlns:a="http://schemas.openxmlformats.org/drawingml/2006/main">
              <a:ext uri="{FF2B5EF4-FFF2-40B4-BE49-F238E27FC236}">
                <a16:creationId xmlns:a16="http://schemas.microsoft.com/office/drawing/2014/main" id="{005453F6-529D-47EC-9902-95AAF2AF2E45}"/>
              </a:ext>
            </a:extLst>
          </p:cNvPr>
          <p:cNvSpPr>
            <a:spLocks xmlns:a="http://schemas.openxmlformats.org/drawingml/2006/main" noGrp="1"/>
          </p:cNvSpPr>
          <p:nvPr/>
        </p:nvSpPr>
        <p:spPr>
          <a:xfrm xmlns:a="http://schemas.openxmlformats.org/drawingml/2006/main">
            <a:off x="685800" y="2343150"/>
            <a:ext cx="5010150" cy="2857500"/>
          </a:xfrm>
          <a:prstGeom xmlns:a="http://schemas.openxmlformats.org/drawingml/2006/main" prst="roundRect">
            <a:avLst>
              <a:gd name="adj" fmla="val 10000"/>
            </a:avLst>
          </a:prstGeom>
          <a:solidFill xmlns:a="http://schemas.openxmlformats.org/drawingml/2006/main">
            <a:srgbClr val="F7F2FA"/>
          </a:solidFill>
          <a:ln xmlns:a="http://schemas.openxmlformats.org/drawingml/2006/main" w="0">
            <a:noFill/>
            <a:prstDash val="solid"/>
          </a:ln>
        </p:spPr>
      </p:sp>
      <p:sp>
        <p:nvSpPr>
          <p:cNvPr id="8" name="mvp-now-label">
            <a:extLst xmlns:a="http://schemas.openxmlformats.org/drawingml/2006/main">
              <a:ext uri="{FF2B5EF4-FFF2-40B4-BE49-F238E27FC236}">
                <a16:creationId xmlns:a16="http://schemas.microsoft.com/office/drawing/2014/main" id="{EB47FA13-0C8E-400C-928B-0FA04B65B19A}"/>
              </a:ext>
            </a:extLst>
          </p:cNvPr>
          <p:cNvSpPr>
            <a:spLocks xmlns:a="http://schemas.openxmlformats.org/drawingml/2006/main" noGrp="1"/>
          </p:cNvSpPr>
          <p:nvPr/>
        </p:nvSpPr>
        <p:spPr>
          <a:xfrm xmlns:a="http://schemas.openxmlformats.org/drawingml/2006/main">
            <a:off x="952500" y="25622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IN THE MVP</a:t>
            </a:r>
          </a:p>
        </p:txBody>
      </p:sp>
      <p:sp>
        <p:nvSpPr>
          <p:cNvPr id="9" name="mvp-now-item-0">
            <a:extLst xmlns:a="http://schemas.openxmlformats.org/drawingml/2006/main">
              <a:ext uri="{FF2B5EF4-FFF2-40B4-BE49-F238E27FC236}">
                <a16:creationId xmlns:a16="http://schemas.microsoft.com/office/drawing/2014/main" id="{39493CC0-C381-4851-B8A8-0A9E95CA5D5A}"/>
              </a:ext>
            </a:extLst>
          </p:cNvPr>
          <p:cNvSpPr>
            <a:spLocks xmlns:a="http://schemas.openxmlformats.org/drawingml/2006/main" noGrp="1"/>
          </p:cNvSpPr>
          <p:nvPr/>
        </p:nvSpPr>
        <p:spPr>
          <a:xfrm xmlns:a="http://schemas.openxmlformats.org/drawingml/2006/main">
            <a:off x="952500" y="3009900"/>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C1B1F"/>
                </a:solidFill>
                <a:latin typeface="Roboto"/>
                <a:ea typeface="Roboto"/>
                <a:cs typeface="Roboto"/>
              </a:defRPr>
            </a:defPPr>
            <a:lvl1pPr algn="l">
              <a:defRPr sz="1350" b="0">
                <a:solidFill>
                  <a:srgbClr val="1C1B1F"/>
                </a:solidFill>
                <a:latin typeface="Roboto"/>
                <a:ea typeface="Roboto"/>
                <a:cs typeface="Roboto"/>
              </a:defRPr>
            </a:lvl1pPr>
            <a:lvl2pPr algn="l">
              <a:defRPr sz="1350" b="0">
                <a:solidFill>
                  <a:srgbClr val="1C1B1F"/>
                </a:solidFill>
                <a:latin typeface="Roboto"/>
                <a:ea typeface="Roboto"/>
                <a:cs typeface="Roboto"/>
              </a:defRPr>
            </a:lvl2pPr>
            <a:lvl3pPr algn="l">
              <a:defRPr sz="1350" b="0">
                <a:solidFill>
                  <a:srgbClr val="1C1B1F"/>
                </a:solidFill>
                <a:latin typeface="Roboto"/>
                <a:ea typeface="Roboto"/>
                <a:cs typeface="Roboto"/>
              </a:defRPr>
            </a:lvl3pPr>
            <a:lvl4pPr algn="l">
              <a:defRPr sz="1350" b="0">
                <a:solidFill>
                  <a:srgbClr val="1C1B1F"/>
                </a:solidFill>
                <a:latin typeface="Roboto"/>
                <a:ea typeface="Roboto"/>
                <a:cs typeface="Roboto"/>
              </a:defRPr>
            </a:lvl4pPr>
            <a:lvl5pPr algn="l">
              <a:defRPr sz="1350" b="0">
                <a:solidFill>
                  <a:srgbClr val="1C1B1F"/>
                </a:solidFill>
                <a:latin typeface="Roboto"/>
                <a:ea typeface="Roboto"/>
                <a:cs typeface="Roboto"/>
              </a:defRPr>
            </a:lvl5pPr>
            <a:lvl6pPr algn="l">
              <a:defRPr sz="1350" b="0">
                <a:solidFill>
                  <a:srgbClr val="1C1B1F"/>
                </a:solidFill>
                <a:latin typeface="Roboto"/>
                <a:ea typeface="Roboto"/>
                <a:cs typeface="Roboto"/>
              </a:defRPr>
            </a:lvl6pPr>
            <a:lvl7pPr algn="l">
              <a:defRPr sz="1350" b="0">
                <a:solidFill>
                  <a:srgbClr val="1C1B1F"/>
                </a:solidFill>
                <a:latin typeface="Roboto"/>
                <a:ea typeface="Roboto"/>
                <a:cs typeface="Roboto"/>
              </a:defRPr>
            </a:lvl7pPr>
            <a:lvl8pPr algn="l">
              <a:defRPr sz="1350" b="0">
                <a:solidFill>
                  <a:srgbClr val="1C1B1F"/>
                </a:solidFill>
                <a:latin typeface="Roboto"/>
                <a:ea typeface="Roboto"/>
                <a:cs typeface="Roboto"/>
              </a:defRPr>
            </a:lvl8pPr>
            <a:lvl9pPr algn="l">
              <a:defRPr sz="1350" b="0">
                <a:solidFill>
                  <a:srgbClr val="1C1B1F"/>
                </a:solidFill>
                <a:latin typeface="Roboto"/>
                <a:ea typeface="Roboto"/>
                <a:cs typeface="Roboto"/>
              </a:defRPr>
            </a:lvl9pPr>
          </a:lstStyle>
          <a:p xmlns:a="http://schemas.openxmlformats.org/drawingml/2006/main">
            <a:pPr algn="l">
              <a:defRPr sz="1350" b="0">
                <a:solidFill>
                  <a:srgbClr val="1C1B1F"/>
                </a:solidFill>
                <a:latin typeface="Roboto"/>
                <a:ea typeface="Roboto"/>
                <a:cs typeface="Roboto"/>
              </a:defRPr>
            </a:pPr>
            <a:r>
              <a:rPr sz="1350" b="0">
                <a:solidFill>
                  <a:srgbClr val="1C1B1F"/>
                </a:solidFill>
                <a:latin typeface="Roboto"/>
                <a:ea typeface="Roboto"/>
                <a:cs typeface="Roboto"/>
              </a:rPr>
              <a:t>Operator-configured model offers</a:t>
            </a:r>
          </a:p>
        </p:txBody>
      </p:sp>
      <p:sp>
        <p:nvSpPr>
          <p:cNvPr id="10" name="mvp-now-divider-1">
            <a:extLst xmlns:a="http://schemas.openxmlformats.org/drawingml/2006/main">
              <a:ext uri="{FF2B5EF4-FFF2-40B4-BE49-F238E27FC236}">
                <a16:creationId xmlns:a16="http://schemas.microsoft.com/office/drawing/2014/main" id="{18DD1CE5-E479-4EA8-A363-B1FA1EF8968C}"/>
              </a:ext>
            </a:extLst>
          </p:cNvPr>
          <p:cNvSpPr>
            <a:spLocks xmlns:a="http://schemas.openxmlformats.org/drawingml/2006/main" noGrp="1"/>
          </p:cNvSpPr>
          <p:nvPr/>
        </p:nvSpPr>
        <p:spPr>
          <a:xfrm xmlns:a="http://schemas.openxmlformats.org/drawingml/2006/main">
            <a:off x="952500" y="3448050"/>
            <a:ext cx="447675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1" name="mvp-now-item-1">
            <a:extLst xmlns:a="http://schemas.openxmlformats.org/drawingml/2006/main">
              <a:ext uri="{FF2B5EF4-FFF2-40B4-BE49-F238E27FC236}">
                <a16:creationId xmlns:a16="http://schemas.microsoft.com/office/drawing/2014/main" id="{CF6A26F3-AA73-4CAA-8EF0-732190BA95ED}"/>
              </a:ext>
            </a:extLst>
          </p:cNvPr>
          <p:cNvSpPr>
            <a:spLocks xmlns:a="http://schemas.openxmlformats.org/drawingml/2006/main" noGrp="1"/>
          </p:cNvSpPr>
          <p:nvPr/>
        </p:nvSpPr>
        <p:spPr>
          <a:xfrm xmlns:a="http://schemas.openxmlformats.org/drawingml/2006/main">
            <a:off x="952500" y="3495675"/>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C1B1F"/>
                </a:solidFill>
                <a:latin typeface="Roboto"/>
                <a:ea typeface="Roboto"/>
                <a:cs typeface="Roboto"/>
              </a:defRPr>
            </a:defPPr>
            <a:lvl1pPr algn="l">
              <a:defRPr sz="1350" b="0">
                <a:solidFill>
                  <a:srgbClr val="1C1B1F"/>
                </a:solidFill>
                <a:latin typeface="Roboto"/>
                <a:ea typeface="Roboto"/>
                <a:cs typeface="Roboto"/>
              </a:defRPr>
            </a:lvl1pPr>
            <a:lvl2pPr algn="l">
              <a:defRPr sz="1350" b="0">
                <a:solidFill>
                  <a:srgbClr val="1C1B1F"/>
                </a:solidFill>
                <a:latin typeface="Roboto"/>
                <a:ea typeface="Roboto"/>
                <a:cs typeface="Roboto"/>
              </a:defRPr>
            </a:lvl2pPr>
            <a:lvl3pPr algn="l">
              <a:defRPr sz="1350" b="0">
                <a:solidFill>
                  <a:srgbClr val="1C1B1F"/>
                </a:solidFill>
                <a:latin typeface="Roboto"/>
                <a:ea typeface="Roboto"/>
                <a:cs typeface="Roboto"/>
              </a:defRPr>
            </a:lvl3pPr>
            <a:lvl4pPr algn="l">
              <a:defRPr sz="1350" b="0">
                <a:solidFill>
                  <a:srgbClr val="1C1B1F"/>
                </a:solidFill>
                <a:latin typeface="Roboto"/>
                <a:ea typeface="Roboto"/>
                <a:cs typeface="Roboto"/>
              </a:defRPr>
            </a:lvl4pPr>
            <a:lvl5pPr algn="l">
              <a:defRPr sz="1350" b="0">
                <a:solidFill>
                  <a:srgbClr val="1C1B1F"/>
                </a:solidFill>
                <a:latin typeface="Roboto"/>
                <a:ea typeface="Roboto"/>
                <a:cs typeface="Roboto"/>
              </a:defRPr>
            </a:lvl5pPr>
            <a:lvl6pPr algn="l">
              <a:defRPr sz="1350" b="0">
                <a:solidFill>
                  <a:srgbClr val="1C1B1F"/>
                </a:solidFill>
                <a:latin typeface="Roboto"/>
                <a:ea typeface="Roboto"/>
                <a:cs typeface="Roboto"/>
              </a:defRPr>
            </a:lvl6pPr>
            <a:lvl7pPr algn="l">
              <a:defRPr sz="1350" b="0">
                <a:solidFill>
                  <a:srgbClr val="1C1B1F"/>
                </a:solidFill>
                <a:latin typeface="Roboto"/>
                <a:ea typeface="Roboto"/>
                <a:cs typeface="Roboto"/>
              </a:defRPr>
            </a:lvl7pPr>
            <a:lvl8pPr algn="l">
              <a:defRPr sz="1350" b="0">
                <a:solidFill>
                  <a:srgbClr val="1C1B1F"/>
                </a:solidFill>
                <a:latin typeface="Roboto"/>
                <a:ea typeface="Roboto"/>
                <a:cs typeface="Roboto"/>
              </a:defRPr>
            </a:lvl8pPr>
            <a:lvl9pPr algn="l">
              <a:defRPr sz="1350" b="0">
                <a:solidFill>
                  <a:srgbClr val="1C1B1F"/>
                </a:solidFill>
                <a:latin typeface="Roboto"/>
                <a:ea typeface="Roboto"/>
                <a:cs typeface="Roboto"/>
              </a:defRPr>
            </a:lvl9pPr>
          </a:lstStyle>
          <a:p xmlns:a="http://schemas.openxmlformats.org/drawingml/2006/main">
            <a:pPr algn="l">
              <a:defRPr sz="1350" b="0">
                <a:solidFill>
                  <a:srgbClr val="1C1B1F"/>
                </a:solidFill>
                <a:latin typeface="Roboto"/>
                <a:ea typeface="Roboto"/>
                <a:cs typeface="Roboto"/>
              </a:defRPr>
            </a:pPr>
            <a:r>
              <a:rPr sz="1350" b="0">
                <a:solidFill>
                  <a:srgbClr val="1C1B1F"/>
                </a:solidFill>
                <a:latin typeface="Roboto"/>
                <a:ea typeface="Roboto"/>
                <a:cs typeface="Roboto"/>
              </a:rPr>
              <a:t>Authenticated CPU workers</a:t>
            </a:r>
          </a:p>
        </p:txBody>
      </p:sp>
      <p:sp>
        <p:nvSpPr>
          <p:cNvPr id="12" name="mvp-now-divider-2">
            <a:extLst xmlns:a="http://schemas.openxmlformats.org/drawingml/2006/main">
              <a:ext uri="{FF2B5EF4-FFF2-40B4-BE49-F238E27FC236}">
                <a16:creationId xmlns:a16="http://schemas.microsoft.com/office/drawing/2014/main" id="{3ED038E5-02AD-4CE3-BCA4-415E9BED15A5}"/>
              </a:ext>
            </a:extLst>
          </p:cNvPr>
          <p:cNvSpPr>
            <a:spLocks xmlns:a="http://schemas.openxmlformats.org/drawingml/2006/main" noGrp="1"/>
          </p:cNvSpPr>
          <p:nvPr/>
        </p:nvSpPr>
        <p:spPr>
          <a:xfrm xmlns:a="http://schemas.openxmlformats.org/drawingml/2006/main">
            <a:off x="952500" y="3933825"/>
            <a:ext cx="447675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3" name="mvp-now-item-2">
            <a:extLst xmlns:a="http://schemas.openxmlformats.org/drawingml/2006/main">
              <a:ext uri="{FF2B5EF4-FFF2-40B4-BE49-F238E27FC236}">
                <a16:creationId xmlns:a16="http://schemas.microsoft.com/office/drawing/2014/main" id="{7FD275C4-819A-46A6-AD8B-E3B757694F9F}"/>
              </a:ext>
            </a:extLst>
          </p:cNvPr>
          <p:cNvSpPr>
            <a:spLocks xmlns:a="http://schemas.openxmlformats.org/drawingml/2006/main" noGrp="1"/>
          </p:cNvSpPr>
          <p:nvPr/>
        </p:nvSpPr>
        <p:spPr>
          <a:xfrm xmlns:a="http://schemas.openxmlformats.org/drawingml/2006/main">
            <a:off x="952500" y="3981450"/>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C1B1F"/>
                </a:solidFill>
                <a:latin typeface="Roboto"/>
                <a:ea typeface="Roboto"/>
                <a:cs typeface="Roboto"/>
              </a:defRPr>
            </a:defPPr>
            <a:lvl1pPr algn="l">
              <a:defRPr sz="1350" b="0">
                <a:solidFill>
                  <a:srgbClr val="1C1B1F"/>
                </a:solidFill>
                <a:latin typeface="Roboto"/>
                <a:ea typeface="Roboto"/>
                <a:cs typeface="Roboto"/>
              </a:defRPr>
            </a:lvl1pPr>
            <a:lvl2pPr algn="l">
              <a:defRPr sz="1350" b="0">
                <a:solidFill>
                  <a:srgbClr val="1C1B1F"/>
                </a:solidFill>
                <a:latin typeface="Roboto"/>
                <a:ea typeface="Roboto"/>
                <a:cs typeface="Roboto"/>
              </a:defRPr>
            </a:lvl2pPr>
            <a:lvl3pPr algn="l">
              <a:defRPr sz="1350" b="0">
                <a:solidFill>
                  <a:srgbClr val="1C1B1F"/>
                </a:solidFill>
                <a:latin typeface="Roboto"/>
                <a:ea typeface="Roboto"/>
                <a:cs typeface="Roboto"/>
              </a:defRPr>
            </a:lvl3pPr>
            <a:lvl4pPr algn="l">
              <a:defRPr sz="1350" b="0">
                <a:solidFill>
                  <a:srgbClr val="1C1B1F"/>
                </a:solidFill>
                <a:latin typeface="Roboto"/>
                <a:ea typeface="Roboto"/>
                <a:cs typeface="Roboto"/>
              </a:defRPr>
            </a:lvl4pPr>
            <a:lvl5pPr algn="l">
              <a:defRPr sz="1350" b="0">
                <a:solidFill>
                  <a:srgbClr val="1C1B1F"/>
                </a:solidFill>
                <a:latin typeface="Roboto"/>
                <a:ea typeface="Roboto"/>
                <a:cs typeface="Roboto"/>
              </a:defRPr>
            </a:lvl5pPr>
            <a:lvl6pPr algn="l">
              <a:defRPr sz="1350" b="0">
                <a:solidFill>
                  <a:srgbClr val="1C1B1F"/>
                </a:solidFill>
                <a:latin typeface="Roboto"/>
                <a:ea typeface="Roboto"/>
                <a:cs typeface="Roboto"/>
              </a:defRPr>
            </a:lvl6pPr>
            <a:lvl7pPr algn="l">
              <a:defRPr sz="1350" b="0">
                <a:solidFill>
                  <a:srgbClr val="1C1B1F"/>
                </a:solidFill>
                <a:latin typeface="Roboto"/>
                <a:ea typeface="Roboto"/>
                <a:cs typeface="Roboto"/>
              </a:defRPr>
            </a:lvl7pPr>
            <a:lvl8pPr algn="l">
              <a:defRPr sz="1350" b="0">
                <a:solidFill>
                  <a:srgbClr val="1C1B1F"/>
                </a:solidFill>
                <a:latin typeface="Roboto"/>
                <a:ea typeface="Roboto"/>
                <a:cs typeface="Roboto"/>
              </a:defRPr>
            </a:lvl8pPr>
            <a:lvl9pPr algn="l">
              <a:defRPr sz="1350" b="0">
                <a:solidFill>
                  <a:srgbClr val="1C1B1F"/>
                </a:solidFill>
                <a:latin typeface="Roboto"/>
                <a:ea typeface="Roboto"/>
                <a:cs typeface="Roboto"/>
              </a:defRPr>
            </a:lvl9pPr>
          </a:lstStyle>
          <a:p xmlns:a="http://schemas.openxmlformats.org/drawingml/2006/main">
            <a:pPr algn="l">
              <a:defRPr sz="1350" b="0">
                <a:solidFill>
                  <a:srgbClr val="1C1B1F"/>
                </a:solidFill>
                <a:latin typeface="Roboto"/>
                <a:ea typeface="Roboto"/>
                <a:cs typeface="Roboto"/>
              </a:defRPr>
            </a:pPr>
            <a:r>
              <a:rPr sz="1350" b="0">
                <a:solidFill>
                  <a:srgbClr val="1C1B1F"/>
                </a:solidFill>
                <a:latin typeface="Roboto"/>
                <a:ea typeface="Roboto"/>
                <a:cs typeface="Roboto"/>
              </a:rPr>
              <a:t>Python SDK and MCP</a:t>
            </a:r>
          </a:p>
        </p:txBody>
      </p:sp>
      <p:sp>
        <p:nvSpPr>
          <p:cNvPr id="14" name="mvp-now-divider-3">
            <a:extLst xmlns:a="http://schemas.openxmlformats.org/drawingml/2006/main">
              <a:ext uri="{FF2B5EF4-FFF2-40B4-BE49-F238E27FC236}">
                <a16:creationId xmlns:a16="http://schemas.microsoft.com/office/drawing/2014/main" id="{16E01FEC-2B12-4337-ACC8-55CA53F5F84C}"/>
              </a:ext>
            </a:extLst>
          </p:cNvPr>
          <p:cNvSpPr>
            <a:spLocks xmlns:a="http://schemas.openxmlformats.org/drawingml/2006/main" noGrp="1"/>
          </p:cNvSpPr>
          <p:nvPr/>
        </p:nvSpPr>
        <p:spPr>
          <a:xfrm xmlns:a="http://schemas.openxmlformats.org/drawingml/2006/main">
            <a:off x="952500" y="4419600"/>
            <a:ext cx="4476750" cy="0"/>
          </a:xfrm>
          <a:prstGeom xmlns:a="http://schemas.openxmlformats.org/drawingml/2006/main" prst="line">
            <a:avLst/>
          </a:prstGeom>
          <a:noFill xmlns:a="http://schemas.openxmlformats.org/drawingml/2006/main"/>
          <a:ln xmlns:a="http://schemas.openxmlformats.org/drawingml/2006/main" w="9525">
            <a:solidFill>
              <a:srgbClr val="CAC4D0"/>
            </a:solidFill>
            <a:prstDash val="solid"/>
          </a:ln>
        </p:spPr>
      </p:sp>
      <p:sp>
        <p:nvSpPr>
          <p:cNvPr id="15" name="mvp-now-item-3">
            <a:extLst xmlns:a="http://schemas.openxmlformats.org/drawingml/2006/main">
              <a:ext uri="{FF2B5EF4-FFF2-40B4-BE49-F238E27FC236}">
                <a16:creationId xmlns:a16="http://schemas.microsoft.com/office/drawing/2014/main" id="{65FB8FA1-9E49-4EC6-8E32-317CBD6A3692}"/>
              </a:ext>
            </a:extLst>
          </p:cNvPr>
          <p:cNvSpPr>
            <a:spLocks xmlns:a="http://schemas.openxmlformats.org/drawingml/2006/main" noGrp="1"/>
          </p:cNvSpPr>
          <p:nvPr/>
        </p:nvSpPr>
        <p:spPr>
          <a:xfrm xmlns:a="http://schemas.openxmlformats.org/drawingml/2006/main">
            <a:off x="952500" y="4467225"/>
            <a:ext cx="440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1C1B1F"/>
                </a:solidFill>
                <a:latin typeface="Roboto"/>
                <a:ea typeface="Roboto"/>
                <a:cs typeface="Roboto"/>
              </a:defRPr>
            </a:defPPr>
            <a:lvl1pPr algn="l">
              <a:defRPr sz="1350" b="0">
                <a:solidFill>
                  <a:srgbClr val="1C1B1F"/>
                </a:solidFill>
                <a:latin typeface="Roboto"/>
                <a:ea typeface="Roboto"/>
                <a:cs typeface="Roboto"/>
              </a:defRPr>
            </a:lvl1pPr>
            <a:lvl2pPr algn="l">
              <a:defRPr sz="1350" b="0">
                <a:solidFill>
                  <a:srgbClr val="1C1B1F"/>
                </a:solidFill>
                <a:latin typeface="Roboto"/>
                <a:ea typeface="Roboto"/>
                <a:cs typeface="Roboto"/>
              </a:defRPr>
            </a:lvl2pPr>
            <a:lvl3pPr algn="l">
              <a:defRPr sz="1350" b="0">
                <a:solidFill>
                  <a:srgbClr val="1C1B1F"/>
                </a:solidFill>
                <a:latin typeface="Roboto"/>
                <a:ea typeface="Roboto"/>
                <a:cs typeface="Roboto"/>
              </a:defRPr>
            </a:lvl3pPr>
            <a:lvl4pPr algn="l">
              <a:defRPr sz="1350" b="0">
                <a:solidFill>
                  <a:srgbClr val="1C1B1F"/>
                </a:solidFill>
                <a:latin typeface="Roboto"/>
                <a:ea typeface="Roboto"/>
                <a:cs typeface="Roboto"/>
              </a:defRPr>
            </a:lvl4pPr>
            <a:lvl5pPr algn="l">
              <a:defRPr sz="1350" b="0">
                <a:solidFill>
                  <a:srgbClr val="1C1B1F"/>
                </a:solidFill>
                <a:latin typeface="Roboto"/>
                <a:ea typeface="Roboto"/>
                <a:cs typeface="Roboto"/>
              </a:defRPr>
            </a:lvl5pPr>
            <a:lvl6pPr algn="l">
              <a:defRPr sz="1350" b="0">
                <a:solidFill>
                  <a:srgbClr val="1C1B1F"/>
                </a:solidFill>
                <a:latin typeface="Roboto"/>
                <a:ea typeface="Roboto"/>
                <a:cs typeface="Roboto"/>
              </a:defRPr>
            </a:lvl6pPr>
            <a:lvl7pPr algn="l">
              <a:defRPr sz="1350" b="0">
                <a:solidFill>
                  <a:srgbClr val="1C1B1F"/>
                </a:solidFill>
                <a:latin typeface="Roboto"/>
                <a:ea typeface="Roboto"/>
                <a:cs typeface="Roboto"/>
              </a:defRPr>
            </a:lvl7pPr>
            <a:lvl8pPr algn="l">
              <a:defRPr sz="1350" b="0">
                <a:solidFill>
                  <a:srgbClr val="1C1B1F"/>
                </a:solidFill>
                <a:latin typeface="Roboto"/>
                <a:ea typeface="Roboto"/>
                <a:cs typeface="Roboto"/>
              </a:defRPr>
            </a:lvl8pPr>
            <a:lvl9pPr algn="l">
              <a:defRPr sz="1350" b="0">
                <a:solidFill>
                  <a:srgbClr val="1C1B1F"/>
                </a:solidFill>
                <a:latin typeface="Roboto"/>
                <a:ea typeface="Roboto"/>
                <a:cs typeface="Roboto"/>
              </a:defRPr>
            </a:lvl9pPr>
          </a:lstStyle>
          <a:p xmlns:a="http://schemas.openxmlformats.org/drawingml/2006/main">
            <a:pPr algn="l">
              <a:defRPr sz="1350" b="0">
                <a:solidFill>
                  <a:srgbClr val="1C1B1F"/>
                </a:solidFill>
                <a:latin typeface="Roboto"/>
                <a:ea typeface="Roboto"/>
                <a:cs typeface="Roboto"/>
              </a:defRPr>
            </a:pPr>
            <a:r>
              <a:rPr sz="1350" b="0">
                <a:solidFill>
                  <a:srgbClr val="1C1B1F"/>
                </a:solidFill>
                <a:latin typeface="Roboto"/>
                <a:ea typeface="Roboto"/>
                <a:cs typeface="Roboto"/>
              </a:rPr>
              <a:t>Trusted local OFF_CHAIN preview</a:t>
            </a:r>
          </a:p>
        </p:txBody>
      </p:sp>
      <p:sp>
        <p:nvSpPr>
          <p:cNvPr id="16" name="next-verify-surface">
            <a:extLst xmlns:a="http://schemas.openxmlformats.org/drawingml/2006/main">
              <a:ext uri="{FF2B5EF4-FFF2-40B4-BE49-F238E27FC236}">
                <a16:creationId xmlns:a16="http://schemas.microsoft.com/office/drawing/2014/main" id="{0F546853-9554-4E03-867D-A9395D2B0E9C}"/>
              </a:ext>
            </a:extLst>
          </p:cNvPr>
          <p:cNvSpPr>
            <a:spLocks xmlns:a="http://schemas.openxmlformats.org/drawingml/2006/main" noGrp="1"/>
          </p:cNvSpPr>
          <p:nvPr/>
        </p:nvSpPr>
        <p:spPr>
          <a:xfrm xmlns:a="http://schemas.openxmlformats.org/drawingml/2006/main">
            <a:off x="5981700" y="2343150"/>
            <a:ext cx="5524500" cy="2857500"/>
          </a:xfrm>
          <a:prstGeom xmlns:a="http://schemas.openxmlformats.org/drawingml/2006/main" prst="roundRect">
            <a:avLst>
              <a:gd name="adj" fmla="val 10000"/>
            </a:avLst>
          </a:prstGeom>
          <a:solidFill xmlns:a="http://schemas.openxmlformats.org/drawingml/2006/main">
            <a:srgbClr val="EADDFF"/>
          </a:solidFill>
          <a:ln xmlns:a="http://schemas.openxmlformats.org/drawingml/2006/main" w="0">
            <a:noFill/>
            <a:prstDash val="solid"/>
          </a:ln>
        </p:spPr>
      </p:sp>
      <p:sp>
        <p:nvSpPr>
          <p:cNvPr id="17" name="next-verify-label">
            <a:extLst xmlns:a="http://schemas.openxmlformats.org/drawingml/2006/main">
              <a:ext uri="{FF2B5EF4-FFF2-40B4-BE49-F238E27FC236}">
                <a16:creationId xmlns:a16="http://schemas.microsoft.com/office/drawing/2014/main" id="{829BE28D-E98E-431E-8FDD-ED81E30E2AC0}"/>
              </a:ext>
            </a:extLst>
          </p:cNvPr>
          <p:cNvSpPr>
            <a:spLocks xmlns:a="http://schemas.openxmlformats.org/drawingml/2006/main" noGrp="1"/>
          </p:cNvSpPr>
          <p:nvPr/>
        </p:nvSpPr>
        <p:spPr>
          <a:xfrm xmlns:a="http://schemas.openxmlformats.org/drawingml/2006/main">
            <a:off x="6248400" y="25622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6750A4"/>
                </a:solidFill>
                <a:latin typeface="Roboto"/>
                <a:ea typeface="Roboto"/>
                <a:cs typeface="Roboto"/>
              </a:defRPr>
            </a:defPPr>
            <a:lvl1pPr algn="l">
              <a:defRPr sz="1050" b="1">
                <a:solidFill>
                  <a:srgbClr val="6750A4"/>
                </a:solidFill>
                <a:latin typeface="Roboto"/>
                <a:ea typeface="Roboto"/>
                <a:cs typeface="Roboto"/>
              </a:defRPr>
            </a:lvl1pPr>
            <a:lvl2pPr algn="l">
              <a:defRPr sz="1050" b="1">
                <a:solidFill>
                  <a:srgbClr val="6750A4"/>
                </a:solidFill>
                <a:latin typeface="Roboto"/>
                <a:ea typeface="Roboto"/>
                <a:cs typeface="Roboto"/>
              </a:defRPr>
            </a:lvl2pPr>
            <a:lvl3pPr algn="l">
              <a:defRPr sz="1050" b="1">
                <a:solidFill>
                  <a:srgbClr val="6750A4"/>
                </a:solidFill>
                <a:latin typeface="Roboto"/>
                <a:ea typeface="Roboto"/>
                <a:cs typeface="Roboto"/>
              </a:defRPr>
            </a:lvl3pPr>
            <a:lvl4pPr algn="l">
              <a:defRPr sz="1050" b="1">
                <a:solidFill>
                  <a:srgbClr val="6750A4"/>
                </a:solidFill>
                <a:latin typeface="Roboto"/>
                <a:ea typeface="Roboto"/>
                <a:cs typeface="Roboto"/>
              </a:defRPr>
            </a:lvl4pPr>
            <a:lvl5pPr algn="l">
              <a:defRPr sz="1050" b="1">
                <a:solidFill>
                  <a:srgbClr val="6750A4"/>
                </a:solidFill>
                <a:latin typeface="Roboto"/>
                <a:ea typeface="Roboto"/>
                <a:cs typeface="Roboto"/>
              </a:defRPr>
            </a:lvl5pPr>
            <a:lvl6pPr algn="l">
              <a:defRPr sz="1050" b="1">
                <a:solidFill>
                  <a:srgbClr val="6750A4"/>
                </a:solidFill>
                <a:latin typeface="Roboto"/>
                <a:ea typeface="Roboto"/>
                <a:cs typeface="Roboto"/>
              </a:defRPr>
            </a:lvl6pPr>
            <a:lvl7pPr algn="l">
              <a:defRPr sz="1050" b="1">
                <a:solidFill>
                  <a:srgbClr val="6750A4"/>
                </a:solidFill>
                <a:latin typeface="Roboto"/>
                <a:ea typeface="Roboto"/>
                <a:cs typeface="Roboto"/>
              </a:defRPr>
            </a:lvl7pPr>
            <a:lvl8pPr algn="l">
              <a:defRPr sz="1050" b="1">
                <a:solidFill>
                  <a:srgbClr val="6750A4"/>
                </a:solidFill>
                <a:latin typeface="Roboto"/>
                <a:ea typeface="Roboto"/>
                <a:cs typeface="Roboto"/>
              </a:defRPr>
            </a:lvl8pPr>
            <a:lvl9pPr algn="l">
              <a:defRPr sz="1050" b="1">
                <a:solidFill>
                  <a:srgbClr val="6750A4"/>
                </a:solidFill>
                <a:latin typeface="Roboto"/>
                <a:ea typeface="Roboto"/>
                <a:cs typeface="Roboto"/>
              </a:defRPr>
            </a:lvl9pPr>
          </a:lstStyle>
          <a:p xmlns:a="http://schemas.openxmlformats.org/drawingml/2006/main">
            <a:pPr algn="l">
              <a:defRPr sz="1050" b="1">
                <a:solidFill>
                  <a:srgbClr val="6750A4"/>
                </a:solidFill>
                <a:latin typeface="Roboto"/>
                <a:ea typeface="Roboto"/>
                <a:cs typeface="Roboto"/>
              </a:defRPr>
            </a:pPr>
            <a:r>
              <a:rPr sz="1050" b="1">
                <a:solidFill>
                  <a:srgbClr val="6750A4"/>
                </a:solidFill>
                <a:latin typeface="Roboto"/>
                <a:ea typeface="Roboto"/>
                <a:cs typeface="Roboto"/>
              </a:rPr>
              <a:t>NEXT TO VERIFY</a:t>
            </a:r>
          </a:p>
        </p:txBody>
      </p:sp>
      <p:sp>
        <p:nvSpPr>
          <p:cNvPr id="18" name="next-item-0">
            <a:extLst xmlns:a="http://schemas.openxmlformats.org/drawingml/2006/main">
              <a:ext uri="{FF2B5EF4-FFF2-40B4-BE49-F238E27FC236}">
                <a16:creationId xmlns:a16="http://schemas.microsoft.com/office/drawing/2014/main" id="{1416C0EB-357E-4746-AA68-FD8AB183BA49}"/>
              </a:ext>
            </a:extLst>
          </p:cNvPr>
          <p:cNvSpPr>
            <a:spLocks xmlns:a="http://schemas.openxmlformats.org/drawingml/2006/main" noGrp="1"/>
          </p:cNvSpPr>
          <p:nvPr/>
        </p:nvSpPr>
        <p:spPr>
          <a:xfrm xmlns:a="http://schemas.openxmlformats.org/drawingml/2006/main">
            <a:off x="6248400" y="3009900"/>
            <a:ext cx="480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21005D"/>
                </a:solidFill>
                <a:latin typeface="Roboto"/>
                <a:ea typeface="Roboto"/>
                <a:cs typeface="Roboto"/>
              </a:defRPr>
            </a:defPPr>
            <a:lvl1pPr algn="l">
              <a:defRPr sz="1350" b="0">
                <a:solidFill>
                  <a:srgbClr val="21005D"/>
                </a:solidFill>
                <a:latin typeface="Roboto"/>
                <a:ea typeface="Roboto"/>
                <a:cs typeface="Roboto"/>
              </a:defRPr>
            </a:lvl1pPr>
            <a:lvl2pPr algn="l">
              <a:defRPr sz="1350" b="0">
                <a:solidFill>
                  <a:srgbClr val="21005D"/>
                </a:solidFill>
                <a:latin typeface="Roboto"/>
                <a:ea typeface="Roboto"/>
                <a:cs typeface="Roboto"/>
              </a:defRPr>
            </a:lvl2pPr>
            <a:lvl3pPr algn="l">
              <a:defRPr sz="1350" b="0">
                <a:solidFill>
                  <a:srgbClr val="21005D"/>
                </a:solidFill>
                <a:latin typeface="Roboto"/>
                <a:ea typeface="Roboto"/>
                <a:cs typeface="Roboto"/>
              </a:defRPr>
            </a:lvl3pPr>
            <a:lvl4pPr algn="l">
              <a:defRPr sz="1350" b="0">
                <a:solidFill>
                  <a:srgbClr val="21005D"/>
                </a:solidFill>
                <a:latin typeface="Roboto"/>
                <a:ea typeface="Roboto"/>
                <a:cs typeface="Roboto"/>
              </a:defRPr>
            </a:lvl4pPr>
            <a:lvl5pPr algn="l">
              <a:defRPr sz="1350" b="0">
                <a:solidFill>
                  <a:srgbClr val="21005D"/>
                </a:solidFill>
                <a:latin typeface="Roboto"/>
                <a:ea typeface="Roboto"/>
                <a:cs typeface="Roboto"/>
              </a:defRPr>
            </a:lvl5pPr>
            <a:lvl6pPr algn="l">
              <a:defRPr sz="1350" b="0">
                <a:solidFill>
                  <a:srgbClr val="21005D"/>
                </a:solidFill>
                <a:latin typeface="Roboto"/>
                <a:ea typeface="Roboto"/>
                <a:cs typeface="Roboto"/>
              </a:defRPr>
            </a:lvl6pPr>
            <a:lvl7pPr algn="l">
              <a:defRPr sz="1350" b="0">
                <a:solidFill>
                  <a:srgbClr val="21005D"/>
                </a:solidFill>
                <a:latin typeface="Roboto"/>
                <a:ea typeface="Roboto"/>
                <a:cs typeface="Roboto"/>
              </a:defRPr>
            </a:lvl7pPr>
            <a:lvl8pPr algn="l">
              <a:defRPr sz="1350" b="0">
                <a:solidFill>
                  <a:srgbClr val="21005D"/>
                </a:solidFill>
                <a:latin typeface="Roboto"/>
                <a:ea typeface="Roboto"/>
                <a:cs typeface="Roboto"/>
              </a:defRPr>
            </a:lvl8pPr>
            <a:lvl9pPr algn="l">
              <a:defRPr sz="1350" b="0">
                <a:solidFill>
                  <a:srgbClr val="21005D"/>
                </a:solidFill>
                <a:latin typeface="Roboto"/>
                <a:ea typeface="Roboto"/>
                <a:cs typeface="Roboto"/>
              </a:defRPr>
            </a:lvl9pPr>
          </a:lstStyle>
          <a:p xmlns:a="http://schemas.openxmlformats.org/drawingml/2006/main">
            <a:pPr algn="l">
              <a:defRPr sz="1350" b="0">
                <a:solidFill>
                  <a:srgbClr val="21005D"/>
                </a:solidFill>
                <a:latin typeface="Roboto"/>
                <a:ea typeface="Roboto"/>
                <a:cs typeface="Roboto"/>
              </a:defRPr>
            </a:pPr>
            <a:r>
              <a:rPr sz="1350" b="0">
                <a:solidFill>
                  <a:srgbClr val="21005D"/>
                </a:solidFill>
                <a:latin typeface="Roboto"/>
                <a:ea typeface="Roboto"/>
                <a:cs typeface="Roboto"/>
              </a:rPr>
              <a:t>Live hosted-model response</a:t>
            </a:r>
          </a:p>
        </p:txBody>
      </p:sp>
      <p:sp>
        <p:nvSpPr>
          <p:cNvPr id="19" name="next-divider-1">
            <a:extLst xmlns:a="http://schemas.openxmlformats.org/drawingml/2006/main">
              <a:ext uri="{FF2B5EF4-FFF2-40B4-BE49-F238E27FC236}">
                <a16:creationId xmlns:a16="http://schemas.microsoft.com/office/drawing/2014/main" id="{D6E6A668-04C3-42DF-B2E8-E47C0204263E}"/>
              </a:ext>
            </a:extLst>
          </p:cNvPr>
          <p:cNvSpPr>
            <a:spLocks xmlns:a="http://schemas.openxmlformats.org/drawingml/2006/main" noGrp="1"/>
          </p:cNvSpPr>
          <p:nvPr/>
        </p:nvSpPr>
        <p:spPr>
          <a:xfrm xmlns:a="http://schemas.openxmlformats.org/drawingml/2006/main">
            <a:off x="6248400" y="3448050"/>
            <a:ext cx="4991100" cy="0"/>
          </a:xfrm>
          <a:prstGeom xmlns:a="http://schemas.openxmlformats.org/drawingml/2006/main" prst="line">
            <a:avLst/>
          </a:prstGeom>
          <a:noFill xmlns:a="http://schemas.openxmlformats.org/drawingml/2006/main"/>
          <a:ln xmlns:a="http://schemas.openxmlformats.org/drawingml/2006/main" w="9525">
            <a:solidFill>
              <a:srgbClr val="C4B7DE"/>
            </a:solidFill>
            <a:prstDash val="solid"/>
          </a:ln>
        </p:spPr>
      </p:sp>
      <p:sp>
        <p:nvSpPr>
          <p:cNvPr id="20" name="next-item-1">
            <a:extLst xmlns:a="http://schemas.openxmlformats.org/drawingml/2006/main">
              <a:ext uri="{FF2B5EF4-FFF2-40B4-BE49-F238E27FC236}">
                <a16:creationId xmlns:a16="http://schemas.microsoft.com/office/drawing/2014/main" id="{5944C14C-4C2D-407B-A752-BD6C1ACF3B97}"/>
              </a:ext>
            </a:extLst>
          </p:cNvPr>
          <p:cNvSpPr>
            <a:spLocks xmlns:a="http://schemas.openxmlformats.org/drawingml/2006/main" noGrp="1"/>
          </p:cNvSpPr>
          <p:nvPr/>
        </p:nvSpPr>
        <p:spPr>
          <a:xfrm xmlns:a="http://schemas.openxmlformats.org/drawingml/2006/main">
            <a:off x="6248400" y="3495675"/>
            <a:ext cx="480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21005D"/>
                </a:solidFill>
                <a:latin typeface="Roboto"/>
                <a:ea typeface="Roboto"/>
                <a:cs typeface="Roboto"/>
              </a:defRPr>
            </a:defPPr>
            <a:lvl1pPr algn="l">
              <a:defRPr sz="1350" b="0">
                <a:solidFill>
                  <a:srgbClr val="21005D"/>
                </a:solidFill>
                <a:latin typeface="Roboto"/>
                <a:ea typeface="Roboto"/>
                <a:cs typeface="Roboto"/>
              </a:defRPr>
            </a:lvl1pPr>
            <a:lvl2pPr algn="l">
              <a:defRPr sz="1350" b="0">
                <a:solidFill>
                  <a:srgbClr val="21005D"/>
                </a:solidFill>
                <a:latin typeface="Roboto"/>
                <a:ea typeface="Roboto"/>
                <a:cs typeface="Roboto"/>
              </a:defRPr>
            </a:lvl2pPr>
            <a:lvl3pPr algn="l">
              <a:defRPr sz="1350" b="0">
                <a:solidFill>
                  <a:srgbClr val="21005D"/>
                </a:solidFill>
                <a:latin typeface="Roboto"/>
                <a:ea typeface="Roboto"/>
                <a:cs typeface="Roboto"/>
              </a:defRPr>
            </a:lvl3pPr>
            <a:lvl4pPr algn="l">
              <a:defRPr sz="1350" b="0">
                <a:solidFill>
                  <a:srgbClr val="21005D"/>
                </a:solidFill>
                <a:latin typeface="Roboto"/>
                <a:ea typeface="Roboto"/>
                <a:cs typeface="Roboto"/>
              </a:defRPr>
            </a:lvl4pPr>
            <a:lvl5pPr algn="l">
              <a:defRPr sz="1350" b="0">
                <a:solidFill>
                  <a:srgbClr val="21005D"/>
                </a:solidFill>
                <a:latin typeface="Roboto"/>
                <a:ea typeface="Roboto"/>
                <a:cs typeface="Roboto"/>
              </a:defRPr>
            </a:lvl5pPr>
            <a:lvl6pPr algn="l">
              <a:defRPr sz="1350" b="0">
                <a:solidFill>
                  <a:srgbClr val="21005D"/>
                </a:solidFill>
                <a:latin typeface="Roboto"/>
                <a:ea typeface="Roboto"/>
                <a:cs typeface="Roboto"/>
              </a:defRPr>
            </a:lvl6pPr>
            <a:lvl7pPr algn="l">
              <a:defRPr sz="1350" b="0">
                <a:solidFill>
                  <a:srgbClr val="21005D"/>
                </a:solidFill>
                <a:latin typeface="Roboto"/>
                <a:ea typeface="Roboto"/>
                <a:cs typeface="Roboto"/>
              </a:defRPr>
            </a:lvl7pPr>
            <a:lvl8pPr algn="l">
              <a:defRPr sz="1350" b="0">
                <a:solidFill>
                  <a:srgbClr val="21005D"/>
                </a:solidFill>
                <a:latin typeface="Roboto"/>
                <a:ea typeface="Roboto"/>
                <a:cs typeface="Roboto"/>
              </a:defRPr>
            </a:lvl8pPr>
            <a:lvl9pPr algn="l">
              <a:defRPr sz="1350" b="0">
                <a:solidFill>
                  <a:srgbClr val="21005D"/>
                </a:solidFill>
                <a:latin typeface="Roboto"/>
                <a:ea typeface="Roboto"/>
                <a:cs typeface="Roboto"/>
              </a:defRPr>
            </a:lvl9pPr>
          </a:lstStyle>
          <a:p xmlns:a="http://schemas.openxmlformats.org/drawingml/2006/main">
            <a:pPr algn="l">
              <a:defRPr sz="1350" b="0">
                <a:solidFill>
                  <a:srgbClr val="21005D"/>
                </a:solidFill>
                <a:latin typeface="Roboto"/>
                <a:ea typeface="Roboto"/>
                <a:cs typeface="Roboto"/>
              </a:defRPr>
            </a:pPr>
            <a:r>
              <a:rPr sz="1350" b="0">
                <a:solidFill>
                  <a:srgbClr val="21005D"/>
                </a:solidFill>
                <a:latin typeface="Roboto"/>
                <a:ea typeface="Roboto"/>
                <a:cs typeface="Roboto"/>
              </a:rPr>
              <a:t>Deployed worker payout</a:t>
            </a:r>
          </a:p>
        </p:txBody>
      </p:sp>
      <p:sp>
        <p:nvSpPr>
          <p:cNvPr id="21" name="next-divider-2">
            <a:extLst xmlns:a="http://schemas.openxmlformats.org/drawingml/2006/main">
              <a:ext uri="{FF2B5EF4-FFF2-40B4-BE49-F238E27FC236}">
                <a16:creationId xmlns:a16="http://schemas.microsoft.com/office/drawing/2014/main" id="{A680A5CE-B1CF-4170-8CF8-254F6EDAABE2}"/>
              </a:ext>
            </a:extLst>
          </p:cNvPr>
          <p:cNvSpPr>
            <a:spLocks xmlns:a="http://schemas.openxmlformats.org/drawingml/2006/main" noGrp="1"/>
          </p:cNvSpPr>
          <p:nvPr/>
        </p:nvSpPr>
        <p:spPr>
          <a:xfrm xmlns:a="http://schemas.openxmlformats.org/drawingml/2006/main">
            <a:off x="6248400" y="3933825"/>
            <a:ext cx="4991100" cy="0"/>
          </a:xfrm>
          <a:prstGeom xmlns:a="http://schemas.openxmlformats.org/drawingml/2006/main" prst="line">
            <a:avLst/>
          </a:prstGeom>
          <a:noFill xmlns:a="http://schemas.openxmlformats.org/drawingml/2006/main"/>
          <a:ln xmlns:a="http://schemas.openxmlformats.org/drawingml/2006/main" w="9525">
            <a:solidFill>
              <a:srgbClr val="C4B7DE"/>
            </a:solidFill>
            <a:prstDash val="solid"/>
          </a:ln>
        </p:spPr>
      </p:sp>
      <p:sp>
        <p:nvSpPr>
          <p:cNvPr id="22" name="next-item-2">
            <a:extLst xmlns:a="http://schemas.openxmlformats.org/drawingml/2006/main">
              <a:ext uri="{FF2B5EF4-FFF2-40B4-BE49-F238E27FC236}">
                <a16:creationId xmlns:a16="http://schemas.microsoft.com/office/drawing/2014/main" id="{6BEFC628-DCBF-4C88-A4C4-ADA3199CF3CC}"/>
              </a:ext>
            </a:extLst>
          </p:cNvPr>
          <p:cNvSpPr>
            <a:spLocks xmlns:a="http://schemas.openxmlformats.org/drawingml/2006/main" noGrp="1"/>
          </p:cNvSpPr>
          <p:nvPr/>
        </p:nvSpPr>
        <p:spPr>
          <a:xfrm xmlns:a="http://schemas.openxmlformats.org/drawingml/2006/main">
            <a:off x="6248400" y="3981450"/>
            <a:ext cx="480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21005D"/>
                </a:solidFill>
                <a:latin typeface="Roboto"/>
                <a:ea typeface="Roboto"/>
                <a:cs typeface="Roboto"/>
              </a:defRPr>
            </a:defPPr>
            <a:lvl1pPr algn="l">
              <a:defRPr sz="1350" b="0">
                <a:solidFill>
                  <a:srgbClr val="21005D"/>
                </a:solidFill>
                <a:latin typeface="Roboto"/>
                <a:ea typeface="Roboto"/>
                <a:cs typeface="Roboto"/>
              </a:defRPr>
            </a:lvl1pPr>
            <a:lvl2pPr algn="l">
              <a:defRPr sz="1350" b="0">
                <a:solidFill>
                  <a:srgbClr val="21005D"/>
                </a:solidFill>
                <a:latin typeface="Roboto"/>
                <a:ea typeface="Roboto"/>
                <a:cs typeface="Roboto"/>
              </a:defRPr>
            </a:lvl2pPr>
            <a:lvl3pPr algn="l">
              <a:defRPr sz="1350" b="0">
                <a:solidFill>
                  <a:srgbClr val="21005D"/>
                </a:solidFill>
                <a:latin typeface="Roboto"/>
                <a:ea typeface="Roboto"/>
                <a:cs typeface="Roboto"/>
              </a:defRPr>
            </a:lvl3pPr>
            <a:lvl4pPr algn="l">
              <a:defRPr sz="1350" b="0">
                <a:solidFill>
                  <a:srgbClr val="21005D"/>
                </a:solidFill>
                <a:latin typeface="Roboto"/>
                <a:ea typeface="Roboto"/>
                <a:cs typeface="Roboto"/>
              </a:defRPr>
            </a:lvl4pPr>
            <a:lvl5pPr algn="l">
              <a:defRPr sz="1350" b="0">
                <a:solidFill>
                  <a:srgbClr val="21005D"/>
                </a:solidFill>
                <a:latin typeface="Roboto"/>
                <a:ea typeface="Roboto"/>
                <a:cs typeface="Roboto"/>
              </a:defRPr>
            </a:lvl5pPr>
            <a:lvl6pPr algn="l">
              <a:defRPr sz="1350" b="0">
                <a:solidFill>
                  <a:srgbClr val="21005D"/>
                </a:solidFill>
                <a:latin typeface="Roboto"/>
                <a:ea typeface="Roboto"/>
                <a:cs typeface="Roboto"/>
              </a:defRPr>
            </a:lvl6pPr>
            <a:lvl7pPr algn="l">
              <a:defRPr sz="1350" b="0">
                <a:solidFill>
                  <a:srgbClr val="21005D"/>
                </a:solidFill>
                <a:latin typeface="Roboto"/>
                <a:ea typeface="Roboto"/>
                <a:cs typeface="Roboto"/>
              </a:defRPr>
            </a:lvl7pPr>
            <a:lvl8pPr algn="l">
              <a:defRPr sz="1350" b="0">
                <a:solidFill>
                  <a:srgbClr val="21005D"/>
                </a:solidFill>
                <a:latin typeface="Roboto"/>
                <a:ea typeface="Roboto"/>
                <a:cs typeface="Roboto"/>
              </a:defRPr>
            </a:lvl8pPr>
            <a:lvl9pPr algn="l">
              <a:defRPr sz="1350" b="0">
                <a:solidFill>
                  <a:srgbClr val="21005D"/>
                </a:solidFill>
                <a:latin typeface="Roboto"/>
                <a:ea typeface="Roboto"/>
                <a:cs typeface="Roboto"/>
              </a:defRPr>
            </a:lvl9pPr>
          </a:lstStyle>
          <a:p xmlns:a="http://schemas.openxmlformats.org/drawingml/2006/main">
            <a:pPr algn="l">
              <a:defRPr sz="1350" b="0">
                <a:solidFill>
                  <a:srgbClr val="21005D"/>
                </a:solidFill>
                <a:latin typeface="Roboto"/>
                <a:ea typeface="Roboto"/>
                <a:cs typeface="Roboto"/>
              </a:defRPr>
            </a:pPr>
            <a:r>
              <a:rPr sz="1350" b="0">
                <a:solidFill>
                  <a:srgbClr val="21005D"/>
                </a:solidFill>
                <a:latin typeface="Roboto"/>
                <a:ea typeface="Roboto"/>
                <a:cs typeface="Roboto"/>
              </a:rPr>
              <a:t>Independent provider onboarding</a:t>
            </a:r>
          </a:p>
        </p:txBody>
      </p:sp>
      <p:sp>
        <p:nvSpPr>
          <p:cNvPr id="23" name="next-divider-3">
            <a:extLst xmlns:a="http://schemas.openxmlformats.org/drawingml/2006/main">
              <a:ext uri="{FF2B5EF4-FFF2-40B4-BE49-F238E27FC236}">
                <a16:creationId xmlns:a16="http://schemas.microsoft.com/office/drawing/2014/main" id="{D8440163-5F9D-4DD8-B65D-E347CCDFEB15}"/>
              </a:ext>
            </a:extLst>
          </p:cNvPr>
          <p:cNvSpPr>
            <a:spLocks xmlns:a="http://schemas.openxmlformats.org/drawingml/2006/main" noGrp="1"/>
          </p:cNvSpPr>
          <p:nvPr/>
        </p:nvSpPr>
        <p:spPr>
          <a:xfrm xmlns:a="http://schemas.openxmlformats.org/drawingml/2006/main">
            <a:off x="6248400" y="4419600"/>
            <a:ext cx="4991100" cy="0"/>
          </a:xfrm>
          <a:prstGeom xmlns:a="http://schemas.openxmlformats.org/drawingml/2006/main" prst="line">
            <a:avLst/>
          </a:prstGeom>
          <a:noFill xmlns:a="http://schemas.openxmlformats.org/drawingml/2006/main"/>
          <a:ln xmlns:a="http://schemas.openxmlformats.org/drawingml/2006/main" w="9525">
            <a:solidFill>
              <a:srgbClr val="C4B7DE"/>
            </a:solidFill>
            <a:prstDash val="solid"/>
          </a:ln>
        </p:spPr>
      </p:sp>
      <p:sp>
        <p:nvSpPr>
          <p:cNvPr id="24" name="next-item-3">
            <a:extLst xmlns:a="http://schemas.openxmlformats.org/drawingml/2006/main">
              <a:ext uri="{FF2B5EF4-FFF2-40B4-BE49-F238E27FC236}">
                <a16:creationId xmlns:a16="http://schemas.microsoft.com/office/drawing/2014/main" id="{A54891D6-4DA7-461D-BE39-515B1EF54323}"/>
              </a:ext>
            </a:extLst>
          </p:cNvPr>
          <p:cNvSpPr>
            <a:spLocks xmlns:a="http://schemas.openxmlformats.org/drawingml/2006/main" noGrp="1"/>
          </p:cNvSpPr>
          <p:nvPr/>
        </p:nvSpPr>
        <p:spPr>
          <a:xfrm xmlns:a="http://schemas.openxmlformats.org/drawingml/2006/main">
            <a:off x="6248400" y="4467225"/>
            <a:ext cx="480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21005D"/>
                </a:solidFill>
                <a:latin typeface="Roboto"/>
                <a:ea typeface="Roboto"/>
                <a:cs typeface="Roboto"/>
              </a:defRPr>
            </a:defPPr>
            <a:lvl1pPr algn="l">
              <a:defRPr sz="1350" b="0">
                <a:solidFill>
                  <a:srgbClr val="21005D"/>
                </a:solidFill>
                <a:latin typeface="Roboto"/>
                <a:ea typeface="Roboto"/>
                <a:cs typeface="Roboto"/>
              </a:defRPr>
            </a:lvl1pPr>
            <a:lvl2pPr algn="l">
              <a:defRPr sz="1350" b="0">
                <a:solidFill>
                  <a:srgbClr val="21005D"/>
                </a:solidFill>
                <a:latin typeface="Roboto"/>
                <a:ea typeface="Roboto"/>
                <a:cs typeface="Roboto"/>
              </a:defRPr>
            </a:lvl2pPr>
            <a:lvl3pPr algn="l">
              <a:defRPr sz="1350" b="0">
                <a:solidFill>
                  <a:srgbClr val="21005D"/>
                </a:solidFill>
                <a:latin typeface="Roboto"/>
                <a:ea typeface="Roboto"/>
                <a:cs typeface="Roboto"/>
              </a:defRPr>
            </a:lvl3pPr>
            <a:lvl4pPr algn="l">
              <a:defRPr sz="1350" b="0">
                <a:solidFill>
                  <a:srgbClr val="21005D"/>
                </a:solidFill>
                <a:latin typeface="Roboto"/>
                <a:ea typeface="Roboto"/>
                <a:cs typeface="Roboto"/>
              </a:defRPr>
            </a:lvl4pPr>
            <a:lvl5pPr algn="l">
              <a:defRPr sz="1350" b="0">
                <a:solidFill>
                  <a:srgbClr val="21005D"/>
                </a:solidFill>
                <a:latin typeface="Roboto"/>
                <a:ea typeface="Roboto"/>
                <a:cs typeface="Roboto"/>
              </a:defRPr>
            </a:lvl5pPr>
            <a:lvl6pPr algn="l">
              <a:defRPr sz="1350" b="0">
                <a:solidFill>
                  <a:srgbClr val="21005D"/>
                </a:solidFill>
                <a:latin typeface="Roboto"/>
                <a:ea typeface="Roboto"/>
                <a:cs typeface="Roboto"/>
              </a:defRPr>
            </a:lvl6pPr>
            <a:lvl7pPr algn="l">
              <a:defRPr sz="1350" b="0">
                <a:solidFill>
                  <a:srgbClr val="21005D"/>
                </a:solidFill>
                <a:latin typeface="Roboto"/>
                <a:ea typeface="Roboto"/>
                <a:cs typeface="Roboto"/>
              </a:defRPr>
            </a:lvl7pPr>
            <a:lvl8pPr algn="l">
              <a:defRPr sz="1350" b="0">
                <a:solidFill>
                  <a:srgbClr val="21005D"/>
                </a:solidFill>
                <a:latin typeface="Roboto"/>
                <a:ea typeface="Roboto"/>
                <a:cs typeface="Roboto"/>
              </a:defRPr>
            </a:lvl8pPr>
            <a:lvl9pPr algn="l">
              <a:defRPr sz="1350" b="0">
                <a:solidFill>
                  <a:srgbClr val="21005D"/>
                </a:solidFill>
                <a:latin typeface="Roboto"/>
                <a:ea typeface="Roboto"/>
                <a:cs typeface="Roboto"/>
              </a:defRPr>
            </a:lvl9pPr>
          </a:lstStyle>
          <a:p xmlns:a="http://schemas.openxmlformats.org/drawingml/2006/main">
            <a:pPr algn="l">
              <a:defRPr sz="1350" b="0">
                <a:solidFill>
                  <a:srgbClr val="21005D"/>
                </a:solidFill>
                <a:latin typeface="Roboto"/>
                <a:ea typeface="Roboto"/>
                <a:cs typeface="Roboto"/>
              </a:defRPr>
            </a:pPr>
            <a:r>
              <a:rPr sz="1350" b="0">
                <a:solidFill>
                  <a:srgbClr val="21005D"/>
                </a:solidFill>
                <a:latin typeface="Roboto"/>
                <a:ea typeface="Roboto"/>
                <a:cs typeface="Roboto"/>
              </a:rPr>
              <a:t>Isolation for untrusted workers</a:t>
            </a:r>
          </a:p>
        </p:txBody>
      </p:sp>
      <p:sp>
        <p:nvSpPr>
          <p:cNvPr id="25" name="pilot-ask-surface">
            <a:extLst xmlns:a="http://schemas.openxmlformats.org/drawingml/2006/main">
              <a:ext uri="{FF2B5EF4-FFF2-40B4-BE49-F238E27FC236}">
                <a16:creationId xmlns:a16="http://schemas.microsoft.com/office/drawing/2014/main" id="{9FF16A86-9A0B-40B0-AFCD-8A8A04F86392}"/>
              </a:ext>
            </a:extLst>
          </p:cNvPr>
          <p:cNvSpPr>
            <a:spLocks xmlns:a="http://schemas.openxmlformats.org/drawingml/2006/main" noGrp="1"/>
          </p:cNvSpPr>
          <p:nvPr/>
        </p:nvSpPr>
        <p:spPr>
          <a:xfrm xmlns:a="http://schemas.openxmlformats.org/drawingml/2006/main">
            <a:off x="685800" y="5391150"/>
            <a:ext cx="10820400" cy="819150"/>
          </a:xfrm>
          <a:prstGeom xmlns:a="http://schemas.openxmlformats.org/drawingml/2006/main" prst="roundRect">
            <a:avLst>
              <a:gd name="adj" fmla="val 32558"/>
            </a:avLst>
          </a:prstGeom>
          <a:solidFill xmlns:a="http://schemas.openxmlformats.org/drawingml/2006/main">
            <a:srgbClr val="6750A4"/>
          </a:solidFill>
          <a:ln xmlns:a="http://schemas.openxmlformats.org/drawingml/2006/main" w="0">
            <a:noFill/>
            <a:prstDash val="solid"/>
          </a:ln>
        </p:spPr>
      </p:sp>
      <p:sp>
        <p:nvSpPr>
          <p:cNvPr id="26" name="pilot-ask">
            <a:extLst xmlns:a="http://schemas.openxmlformats.org/drawingml/2006/main">
              <a:ext uri="{FF2B5EF4-FFF2-40B4-BE49-F238E27FC236}">
                <a16:creationId xmlns:a16="http://schemas.microsoft.com/office/drawing/2014/main" id="{F71433F2-EEED-4B34-84CA-29E7EE64FCEA}"/>
              </a:ext>
            </a:extLst>
          </p:cNvPr>
          <p:cNvSpPr>
            <a:spLocks xmlns:a="http://schemas.openxmlformats.org/drawingml/2006/main" noGrp="1"/>
          </p:cNvSpPr>
          <p:nvPr/>
        </p:nvSpPr>
        <p:spPr>
          <a:xfrm xmlns:a="http://schemas.openxmlformats.org/drawingml/2006/main">
            <a:off x="952500" y="54959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FFFF"/>
                </a:solidFill>
                <a:latin typeface="Roboto"/>
                <a:ea typeface="Roboto"/>
                <a:cs typeface="Roboto"/>
              </a:defRPr>
            </a:defPPr>
            <a:lvl1pPr algn="l">
              <a:defRPr sz="1650" b="1">
                <a:solidFill>
                  <a:srgbClr val="FFFFFF"/>
                </a:solidFill>
                <a:latin typeface="Roboto"/>
                <a:ea typeface="Roboto"/>
                <a:cs typeface="Roboto"/>
              </a:defRPr>
            </a:lvl1pPr>
            <a:lvl2pPr algn="l">
              <a:defRPr sz="1650" b="1">
                <a:solidFill>
                  <a:srgbClr val="FFFFFF"/>
                </a:solidFill>
                <a:latin typeface="Roboto"/>
                <a:ea typeface="Roboto"/>
                <a:cs typeface="Roboto"/>
              </a:defRPr>
            </a:lvl2pPr>
            <a:lvl3pPr algn="l">
              <a:defRPr sz="1650" b="1">
                <a:solidFill>
                  <a:srgbClr val="FFFFFF"/>
                </a:solidFill>
                <a:latin typeface="Roboto"/>
                <a:ea typeface="Roboto"/>
                <a:cs typeface="Roboto"/>
              </a:defRPr>
            </a:lvl3pPr>
            <a:lvl4pPr algn="l">
              <a:defRPr sz="1650" b="1">
                <a:solidFill>
                  <a:srgbClr val="FFFFFF"/>
                </a:solidFill>
                <a:latin typeface="Roboto"/>
                <a:ea typeface="Roboto"/>
                <a:cs typeface="Roboto"/>
              </a:defRPr>
            </a:lvl4pPr>
            <a:lvl5pPr algn="l">
              <a:defRPr sz="1650" b="1">
                <a:solidFill>
                  <a:srgbClr val="FFFFFF"/>
                </a:solidFill>
                <a:latin typeface="Roboto"/>
                <a:ea typeface="Roboto"/>
                <a:cs typeface="Roboto"/>
              </a:defRPr>
            </a:lvl5pPr>
            <a:lvl6pPr algn="l">
              <a:defRPr sz="1650" b="1">
                <a:solidFill>
                  <a:srgbClr val="FFFFFF"/>
                </a:solidFill>
                <a:latin typeface="Roboto"/>
                <a:ea typeface="Roboto"/>
                <a:cs typeface="Roboto"/>
              </a:defRPr>
            </a:lvl6pPr>
            <a:lvl7pPr algn="l">
              <a:defRPr sz="1650" b="1">
                <a:solidFill>
                  <a:srgbClr val="FFFFFF"/>
                </a:solidFill>
                <a:latin typeface="Roboto"/>
                <a:ea typeface="Roboto"/>
                <a:cs typeface="Roboto"/>
              </a:defRPr>
            </a:lvl7pPr>
            <a:lvl8pPr algn="l">
              <a:defRPr sz="1650" b="1">
                <a:solidFill>
                  <a:srgbClr val="FFFFFF"/>
                </a:solidFill>
                <a:latin typeface="Roboto"/>
                <a:ea typeface="Roboto"/>
                <a:cs typeface="Roboto"/>
              </a:defRPr>
            </a:lvl8pPr>
            <a:lvl9pPr algn="l">
              <a:defRPr sz="1650" b="1">
                <a:solidFill>
                  <a:srgbClr val="FFFFFF"/>
                </a:solidFill>
                <a:latin typeface="Roboto"/>
                <a:ea typeface="Roboto"/>
                <a:cs typeface="Roboto"/>
              </a:defRPr>
            </a:lvl9pPr>
          </a:lstStyle>
          <a:p xmlns:a="http://schemas.openxmlformats.org/drawingml/2006/main">
            <a:pPr algn="l">
              <a:defRPr sz="1650" b="1">
                <a:solidFill>
                  <a:srgbClr val="FFFFFF"/>
                </a:solidFill>
                <a:latin typeface="Roboto"/>
                <a:ea typeface="Roboto"/>
                <a:cs typeface="Roboto"/>
              </a:defRPr>
            </a:pPr>
            <a:r>
              <a:rPr sz="1650" b="1">
                <a:solidFill>
                  <a:srgbClr val="FFFFFF"/>
                </a:solidFill>
                <a:latin typeface="Roboto"/>
                <a:ea typeface="Roboto"/>
                <a:cs typeface="Roboto"/>
              </a:rPr>
              <a:t>SEEKING PILOT TEAMS AND COMPUTE OPERATORS</a:t>
            </a:r>
          </a:p>
        </p:txBody>
      </p:sp>
      <p:sp>
        <p:nvSpPr>
          <p:cNvPr id="27" name="pilot-link">
            <a:extLst xmlns:a="http://schemas.openxmlformats.org/drawingml/2006/main">
              <a:ext uri="{FF2B5EF4-FFF2-40B4-BE49-F238E27FC236}">
                <a16:creationId xmlns:a16="http://schemas.microsoft.com/office/drawing/2014/main" id="{F9903DEF-DA73-496B-8DD6-F9073B656FCC}"/>
              </a:ext>
            </a:extLst>
          </p:cNvPr>
          <p:cNvSpPr>
            <a:spLocks xmlns:a="http://schemas.openxmlformats.org/drawingml/2006/main" noGrp="1"/>
          </p:cNvSpPr>
          <p:nvPr/>
        </p:nvSpPr>
        <p:spPr>
          <a:xfrm xmlns:a="http://schemas.openxmlformats.org/drawingml/2006/main">
            <a:off x="952500" y="585787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FFFFFF"/>
                </a:solidFill>
                <a:latin typeface="Roboto"/>
                <a:ea typeface="Roboto"/>
                <a:cs typeface="Roboto"/>
              </a:defRPr>
            </a:defPPr>
            <a:lvl1pPr algn="l">
              <a:defRPr sz="1125" b="0">
                <a:solidFill>
                  <a:srgbClr val="FFFFFF"/>
                </a:solidFill>
                <a:latin typeface="Roboto"/>
                <a:ea typeface="Roboto"/>
                <a:cs typeface="Roboto"/>
              </a:defRPr>
            </a:lvl1pPr>
            <a:lvl2pPr algn="l">
              <a:defRPr sz="1125" b="0">
                <a:solidFill>
                  <a:srgbClr val="FFFFFF"/>
                </a:solidFill>
                <a:latin typeface="Roboto"/>
                <a:ea typeface="Roboto"/>
                <a:cs typeface="Roboto"/>
              </a:defRPr>
            </a:lvl2pPr>
            <a:lvl3pPr algn="l">
              <a:defRPr sz="1125" b="0">
                <a:solidFill>
                  <a:srgbClr val="FFFFFF"/>
                </a:solidFill>
                <a:latin typeface="Roboto"/>
                <a:ea typeface="Roboto"/>
                <a:cs typeface="Roboto"/>
              </a:defRPr>
            </a:lvl3pPr>
            <a:lvl4pPr algn="l">
              <a:defRPr sz="1125" b="0">
                <a:solidFill>
                  <a:srgbClr val="FFFFFF"/>
                </a:solidFill>
                <a:latin typeface="Roboto"/>
                <a:ea typeface="Roboto"/>
                <a:cs typeface="Roboto"/>
              </a:defRPr>
            </a:lvl4pPr>
            <a:lvl5pPr algn="l">
              <a:defRPr sz="1125" b="0">
                <a:solidFill>
                  <a:srgbClr val="FFFFFF"/>
                </a:solidFill>
                <a:latin typeface="Roboto"/>
                <a:ea typeface="Roboto"/>
                <a:cs typeface="Roboto"/>
              </a:defRPr>
            </a:lvl5pPr>
            <a:lvl6pPr algn="l">
              <a:defRPr sz="1125" b="0">
                <a:solidFill>
                  <a:srgbClr val="FFFFFF"/>
                </a:solidFill>
                <a:latin typeface="Roboto"/>
                <a:ea typeface="Roboto"/>
                <a:cs typeface="Roboto"/>
              </a:defRPr>
            </a:lvl6pPr>
            <a:lvl7pPr algn="l">
              <a:defRPr sz="1125" b="0">
                <a:solidFill>
                  <a:srgbClr val="FFFFFF"/>
                </a:solidFill>
                <a:latin typeface="Roboto"/>
                <a:ea typeface="Roboto"/>
                <a:cs typeface="Roboto"/>
              </a:defRPr>
            </a:lvl7pPr>
            <a:lvl8pPr algn="l">
              <a:defRPr sz="1125" b="0">
                <a:solidFill>
                  <a:srgbClr val="FFFFFF"/>
                </a:solidFill>
                <a:latin typeface="Roboto"/>
                <a:ea typeface="Roboto"/>
                <a:cs typeface="Roboto"/>
              </a:defRPr>
            </a:lvl8pPr>
            <a:lvl9pPr algn="l">
              <a:defRPr sz="1125" b="0">
                <a:solidFill>
                  <a:srgbClr val="FFFFFF"/>
                </a:solidFill>
                <a:latin typeface="Roboto"/>
                <a:ea typeface="Roboto"/>
                <a:cs typeface="Roboto"/>
              </a:defRPr>
            </a:lvl9pPr>
          </a:lstStyle>
          <a:p xmlns:a="http://schemas.openxmlformats.org/drawingml/2006/main">
            <a:pPr algn="l">
              <a:defRPr sz="1125" b="0">
                <a:solidFill>
                  <a:srgbClr val="FFFFFF"/>
                </a:solidFill>
                <a:latin typeface="Roboto"/>
                <a:ea typeface="Roboto"/>
                <a:cs typeface="Roboto"/>
              </a:defRPr>
            </a:pPr>
            <a:r>
              <a:rPr sz="1125" b="0">
                <a:solidFill>
                  <a:srgbClr val="FFFFFF"/>
                </a:solidFill>
                <a:latin typeface="Roboto"/>
                <a:ea typeface="Roboto"/>
                <a:cs typeface="Roboto"/>
              </a:rPr>
              <a:t>aperture-ai-gateway.vercel.app</a:t>
            </a:r>
          </a:p>
        </p:txBody>
      </p:sp>
    </p:spTree>
    <p:extLst>
      <p:ext uri="{BB962C8B-B14F-4D97-AF65-F5344CB8AC3E}">
        <p14:creationId xmlns:p14="http://schemas.microsoft.com/office/powerpoint/2010/main" val="17840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2026-10-23T22:28:43.5770000Z</dcterms:created>
  <dcterms:modified xsi:type="dcterms:W3CDTF">2026-10-23T22:28:43.5770000Z</dcterms:modified>
</coreProperties>
</file>