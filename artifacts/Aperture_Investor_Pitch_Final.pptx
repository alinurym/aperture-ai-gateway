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beac13a014be6" /><Relationship Type="http://schemas.openxmlformats.org/officeDocument/2006/relationships/extended-properties" Target="/docProps/app.xml" Id="Rdcdf05ae5ee24949" /><Relationship Type="http://schemas.openxmlformats.org/officeDocument/2006/relationships/officeDocument" Target="/ppt/presentation.xml" Id="R31e5b5156cb3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beb004c724264"/>
  </p:sldMasterIdLst>
  <p:notesMasterIdLst>
    <p:notesMasterId xmlns:r="http://schemas.openxmlformats.org/officeDocument/2006/relationships" r:id="Rec9764dc162f43ba"/>
  </p:notesMasterIdLst>
  <p:sldIdLst>
    <p:sldId xmlns:r="http://schemas.openxmlformats.org/officeDocument/2006/relationships" id="256" r:id="R94f6a47b2fad4912"/>
    <p:sldId xmlns:r="http://schemas.openxmlformats.org/officeDocument/2006/relationships" id="257" r:id="Rfa9425d913b14e35"/>
    <p:sldId xmlns:r="http://schemas.openxmlformats.org/officeDocument/2006/relationships" id="258" r:id="Rb63a6e174a3d439d"/>
    <p:sldId xmlns:r="http://schemas.openxmlformats.org/officeDocument/2006/relationships" id="259" r:id="R57c7c0249e304097"/>
    <p:sldId xmlns:r="http://schemas.openxmlformats.org/officeDocument/2006/relationships" id="260" r:id="R267718579b004065"/>
    <p:sldId xmlns:r="http://schemas.openxmlformats.org/officeDocument/2006/relationships" id="261" r:id="R0d126ab70fec40b5"/>
    <p:sldId xmlns:r="http://schemas.openxmlformats.org/officeDocument/2006/relationships" id="262" r:id="R74771a8eab4c4aee"/>
    <p:sldId xmlns:r="http://schemas.openxmlformats.org/officeDocument/2006/relationships" id="263" r:id="Rc9b121b450e6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b1ec8a8bc47f5" /><Relationship Type="http://schemas.openxmlformats.org/officeDocument/2006/relationships/slideMaster" Target="/ppt/slideMasters/slideMaster1.xml" Id="Rebcbeb004c724264" /><Relationship Type="http://schemas.openxmlformats.org/officeDocument/2006/relationships/notesMaster" Target="/ppt/notesMasters/notesMaster1.xml" Id="Rec9764dc162f43ba" /><Relationship Type="http://schemas.openxmlformats.org/officeDocument/2006/relationships/presProps" Target="/ppt/presProps.xml" Id="R0f0fb28395294d03" /><Relationship Type="http://schemas.openxmlformats.org/officeDocument/2006/relationships/tableStyles" Target="/ppt/tableStyles.xml" Id="R076a60ab6b3c4d31" /><Relationship Type="http://schemas.openxmlformats.org/officeDocument/2006/relationships/slide" Target="/ppt/slides/slide1.xml" Id="R94f6a47b2fad4912" /><Relationship Type="http://schemas.openxmlformats.org/officeDocument/2006/relationships/slide" Target="/ppt/slides/slide2.xml" Id="Rfa9425d913b14e35" /><Relationship Type="http://schemas.openxmlformats.org/officeDocument/2006/relationships/slide" Target="/ppt/slides/slide3.xml" Id="Rb63a6e174a3d439d" /><Relationship Type="http://schemas.openxmlformats.org/officeDocument/2006/relationships/slide" Target="/ppt/slides/slide4.xml" Id="R57c7c0249e304097" /><Relationship Type="http://schemas.openxmlformats.org/officeDocument/2006/relationships/slide" Target="/ppt/slides/slide5.xml" Id="R267718579b004065" /><Relationship Type="http://schemas.openxmlformats.org/officeDocument/2006/relationships/slide" Target="/ppt/slides/slide6.xml" Id="R0d126ab70fec40b5" /><Relationship Type="http://schemas.openxmlformats.org/officeDocument/2006/relationships/slide" Target="/ppt/slides/slide7.xml" Id="R74771a8eab4c4aee" /><Relationship Type="http://schemas.openxmlformats.org/officeDocument/2006/relationships/slide" Target="/ppt/slides/slide8.xml" Id="Rc9b121b450e6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92e496f6a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erture Material 3">
      <a:dk1>
        <a:srgbClr val="1D1B20"/>
      </a:dk1>
      <a:lt1>
        <a:srgbClr val="FFFFFF"/>
      </a:lt1>
      <a:dk2>
        <a:srgbClr val="322F35"/>
      </a:dk2>
      <a:lt2>
        <a:srgbClr val="EADDFF"/>
      </a:lt2>
      <a:accent1>
        <a:srgbClr val="6750A4"/>
      </a:accent1>
      <a:accent2>
        <a:srgbClr val="006B5F"/>
      </a:accent2>
      <a:accent3>
        <a:srgbClr val="625B71"/>
      </a:accent3>
      <a:accent4>
        <a:srgbClr val="7D5260"/>
      </a:accent4>
      <a:accent5>
        <a:srgbClr val="B3261E"/>
      </a:accent5>
      <a:accent6>
        <a:srgbClr val="386A20"/>
      </a:accent6>
      <a:hlink>
        <a:srgbClr val="6750A4"/>
      </a:hlink>
      <a:folHlink>
        <a:srgbClr val="625B71"/>
      </a:folHlink>
    </a:clrScheme>
    <a:fontScheme name="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Aperture Material 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b9cd8ccd64bc9" /><Relationship Type="http://schemas.openxmlformats.org/officeDocument/2006/relationships/notesMaster" Target="/ppt/notesMasters/notesMaster1.xml" Id="Re4f8ac998767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df3f41cf6437d" /><Relationship Type="http://schemas.openxmlformats.org/officeDocument/2006/relationships/notesMaster" Target="/ppt/notesMasters/notesMaster1.xml" Id="Rdd1a9d23613b40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487474d1f04cea" /><Relationship Type="http://schemas.openxmlformats.org/officeDocument/2006/relationships/notesMaster" Target="/ppt/notesMasters/notesMaster1.xml" Id="R3815ab024b0e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e1c7ea6fa4ecd" /><Relationship Type="http://schemas.openxmlformats.org/officeDocument/2006/relationships/notesMaster" Target="/ppt/notesMasters/notesMaster1.xml" Id="R179e889c9abb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3beff29d9b449d" /><Relationship Type="http://schemas.openxmlformats.org/officeDocument/2006/relationships/notesMaster" Target="/ppt/notesMasters/notesMaster1.xml" Id="R19278bc2a5c44e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8cfb3b2e64633" /><Relationship Type="http://schemas.openxmlformats.org/officeDocument/2006/relationships/notesMaster" Target="/ppt/notesMasters/notesMaster1.xml" Id="R8ca89ee1e9b549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7f1722f2b24182" /><Relationship Type="http://schemas.openxmlformats.org/officeDocument/2006/relationships/notesMaster" Target="/ppt/notesMasters/notesMaster1.xml" Id="R5e99edb98057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5858b3e084286" /><Relationship Type="http://schemas.openxmlformats.org/officeDocument/2006/relationships/notesMaster" Target="/ppt/notesMasters/notesMaster1.xml" Id="R577cc3688c4a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Aperture brings model inference and compute into one gateway on Solana. An AI agent can finish useful work while its owner controls the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Project name, solo team and public founder handle: supplied by the project owner.</a:t>
            </a:r>
          </a:p>
          <a:p xmlns:a="http://schemas.openxmlformats.org/drawingml/2006/main">
            <a:r>
              <a:t>Original logo: docs/aperture-mark-v3.png</a:t>
            </a:r>
          </a:p>
          <a:p xmlns:a="http://schemas.openxmlformats.org/drawingml/2006/main">
            <a:r>
              <a:t>Roboto: https://github.com/google/fonts/tree/main/ofl/roboto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0:14-0:28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model response is only part of the job. Developers still connect execution, files, permissions and payments. Each handoff makes a complete task harder to manage.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docs/competition-positioning.md, Problem and audience</a:t>
            </a:r>
          </a:p>
          <a:p xmlns:a="http://schemas.openxmlformats.org/drawingml/2006/main">
            <a:r>
              <a:t>docs/colosseum-submission.md, Problem and audience</a:t>
            </a:r>
          </a:p>
          <a:p xmlns:a="http://schemas.openxmlformats.org/drawingml/2006/main">
            <a:r>
              <a:t>The slide illustrates the product problem; it does not report customer research or market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0:28-0:44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Aperture combined model access, AI Sentinel and metered compute. The new workspace adds worker selection, agent tools and recovery. Now, both directions become one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docs/historical-integration.md</a:t>
            </a:r>
          </a:p>
          <a:p xmlns:a="http://schemas.openxmlformats.org/drawingml/2006/main">
            <a:r>
              <a:t>Git: d659fc8, 2026-04-07; c2db95a, 2026-10-07; 2ec06a9, 2026-10-24</a:t>
            </a:r>
          </a:p>
          <a:p xmlns:a="http://schemas.openxmlformats.org/drawingml/2006/main">
            <a:r>
              <a:t>README.md, AI Sentinel provenance link</a:t>
            </a:r>
          </a:p>
          <a:p xmlns:a="http://schemas.openxmlformats.org/drawingml/2006/main">
            <a:r>
              <a:t>backend/sentinel_review.py</a:t>
            </a:r>
          </a:p>
          <a:p xmlns:a="http://schemas.openxmlformats.org/drawingml/2006/main">
            <a:r>
              <a:t>docs/worker-market.md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0:44-1:04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data report, Sentinel can review the Python source. The owner approves the exact compute job and its limits. A selected worker runs it. Aperture returns files with a signed receipt; SDK and MCP tools connect the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README.md, source-review and task journey</a:t>
            </a:r>
          </a:p>
          <a:p xmlns:a="http://schemas.openxmlformats.org/drawingml/2006/main">
            <a:r>
              <a:t>docs/inference.md, AI Sentinel and separate compute authorization</a:t>
            </a:r>
          </a:p>
          <a:p xmlns:a="http://schemas.openxmlformats.org/drawingml/2006/main">
            <a:r>
              <a:t>backend/sentinel_review.py; backend/test_sentinel_review.py</a:t>
            </a:r>
          </a:p>
          <a:p xmlns:a="http://schemas.openxmlformats.org/drawingml/2006/main">
            <a:r>
              <a:t>docs/worker-market.md, Consumer flow</a:t>
            </a:r>
          </a:p>
          <a:p xmlns:a="http://schemas.openxmlformats.org/drawingml/2006/main">
            <a:r>
              <a:t>docs/python-agent-sdk.md; docs/mcp-agent.md</a:t>
            </a:r>
          </a:p>
          <a:p xmlns:a="http://schemas.openxmlformats.org/drawingml/2006/main">
            <a:r>
              <a:t>AI Sentinel provides source review; owner authorization governs compute.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1:04-1:18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Solana supplies funded channels, task payment caps and persistent receipts. The protocol model links the approved charge to its assigned worker, keeping the settlement record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docs/protocol-v2.md</a:t>
            </a:r>
          </a:p>
          <a:p xmlns:a="http://schemas.openxmlformats.org/drawingml/2006/main">
            <a:r>
              <a:t>programs/src/lib.rs, bounded_charge, worker binding and pay_from_channel</a:t>
            </a:r>
          </a:p>
          <a:p xmlns:a="http://schemas.openxmlformats.org/drawingml/2006/main">
            <a:r>
              <a:t>Scope: settlement architecture from contract source.</a:t>
            </a:r>
          </a:p>
          <a:p xmlns:a="http://schemas.openxmlformats.org/drawingml/2006/main">
            <a:r>
              <a:t>The architecture diagram presents task accounting and attribution.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1:18-1:33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local recovery run completed five tasks across seventeen thousand synthetic rows. Recovery created no duplicates, and all three outputs matched direct Python byte for byte.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docs/presentation-evidence.json, assigned_workflow and result</a:t>
            </a:r>
          </a:p>
          <a:p xmlns:a="http://schemas.openxmlformats.org/drawingml/2006/main">
            <a:r>
              <a:t>docs/mvp-evidence.md</a:t>
            </a:r>
          </a:p>
          <a:p xmlns:a="http://schemas.openxmlformats.org/drawingml/2006/main">
            <a:r>
              <a:t>Scope: recorded local CPU workflow using synthetic CSV data. Output comparison is byte-for-byte.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1:33-1:47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start with Solana agent developers running repeatable data jobs. Our business model combines free self-hosting with a hosted service for policy, task history and operator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docs/competition-positioning.md, Adoption and revenue hypotheses</a:t>
            </a:r>
          </a:p>
          <a:p xmlns:a="http://schemas.openxmlformats.org/drawingml/2006/main">
            <a:r>
              <a:t>docs/colosseum-submission.md, Validation and revenue hypothesis</a:t>
            </a:r>
          </a:p>
          <a:p xmlns:a="http://schemas.openxmlformats.org/drawingml/2006/main">
            <a:r>
              <a:t>Scope: go-to-market and revenue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1:47-2:00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roadmap carries our marketplace vision forward: independent providers and hosted pilots. I’m AliNurym, building Aperture. We’re looking for developer pilot teams and compute operators.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Original roadmap: Git d659fc8:README.md, 2026-04-07</a:t>
            </a:r>
          </a:p>
          <a:p xmlns:a="http://schemas.openxmlformats.org/drawingml/2006/main">
            <a:r>
              <a:t>docs/historical-integration.md; docs/WHITEPAPER.md, Product position and roadmap</a:t>
            </a:r>
          </a:p>
          <a:p xmlns:a="http://schemas.openxmlformats.org/drawingml/2006/main">
            <a:r>
              <a:t>Current integration commit: 2ec06a9, 2026-10-24</a:t>
            </a:r>
          </a:p>
          <a:p xmlns:a="http://schemas.openxmlformats.org/drawingml/2006/main">
            <a:r>
              <a:t>NEXT labels planned product direction.</a:t>
            </a:r>
          </a:p>
          <a:p xmlns:a="http://schemas.openxmlformats.org/drawingml/2006/main">
            <a:r>
              <a:t>Public founder handle and one-person team: supplied by the project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9f125d57f49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8c8627c1f4e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fae0d631e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3fcc430014e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4b6b1084d4f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72b10fcc5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4E2BFE-39EC-4F9A-AC09-840C00886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D321AE-D541-41B4-AA32-5596C6D86D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F3551B-4FEB-4251-B49E-D96F0953D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11665D-0359-44EE-BE9C-8B4A8CFAD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5664DF-2F09-47D8-B0FA-2CE23AD8D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2C6F8A-A299-4FFA-82A7-F6B58CD33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820C0-B95E-476B-9C38-9CA44447A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94FBFE-3FCC-49B7-947A-3CC7A3861F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5A5625-96FF-45A0-BBF6-EFF116A58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75BD49-EE4A-43B2-A8E7-9934EEB0A7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df071a8364434" /><Relationship Type="http://schemas.openxmlformats.org/officeDocument/2006/relationships/slideLayout" Target="/ppt/slideLayouts/slideLayout1.xml" Id="R69a9fb69b1344dd6" /><Relationship Type="http://schemas.openxmlformats.org/officeDocument/2006/relationships/slideLayout" Target="/ppt/slideLayouts/slideLayout2.xml" Id="R1fcdaeb443164040" /><Relationship Type="http://schemas.openxmlformats.org/officeDocument/2006/relationships/slideLayout" Target="/ppt/slideLayouts/slideLayout3.xml" Id="R98ce7b52ac2341a7" /><Relationship Type="http://schemas.openxmlformats.org/officeDocument/2006/relationships/slideLayout" Target="/ppt/slideLayouts/slideLayout4.xml" Id="Racb43284afb94353" /><Relationship Type="http://schemas.openxmlformats.org/officeDocument/2006/relationships/slideLayout" Target="/ppt/slideLayouts/slideLayout5.xml" Id="R195071ee4f9848a8" /><Relationship Type="http://schemas.openxmlformats.org/officeDocument/2006/relationships/slideLayout" Target="/ppt/slideLayouts/slideLayout6.xml" Id="R4a452dc7a6f44b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9fb69b1344dd6"/>
    <p:sldLayoutId xmlns:r="http://schemas.openxmlformats.org/officeDocument/2006/relationships" id="2147483650" r:id="R1fcdaeb443164040"/>
    <p:sldLayoutId xmlns:r="http://schemas.openxmlformats.org/officeDocument/2006/relationships" id="2147483651" r:id="R98ce7b52ac2341a7"/>
    <p:sldLayoutId xmlns:r="http://schemas.openxmlformats.org/officeDocument/2006/relationships" id="2147483652" r:id="Racb43284afb94353"/>
    <p:sldLayoutId xmlns:r="http://schemas.openxmlformats.org/officeDocument/2006/relationships" id="2147483653" r:id="R195071ee4f9848a8"/>
    <p:sldLayoutId xmlns:r="http://schemas.openxmlformats.org/officeDocument/2006/relationships" id="2147483654" r:id="R4a452dc7a6f44b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erture Material 3">
      <a:dk1>
        <a:srgbClr val="1D1B20"/>
      </a:dk1>
      <a:lt1>
        <a:srgbClr val="FFFFFF"/>
      </a:lt1>
      <a:dk2>
        <a:srgbClr val="322F35"/>
      </a:dk2>
      <a:lt2>
        <a:srgbClr val="EADDFF"/>
      </a:lt2>
      <a:accent1>
        <a:srgbClr val="6750A4"/>
      </a:accent1>
      <a:accent2>
        <a:srgbClr val="006B5F"/>
      </a:accent2>
      <a:accent3>
        <a:srgbClr val="625B71"/>
      </a:accent3>
      <a:accent4>
        <a:srgbClr val="7D5260"/>
      </a:accent4>
      <a:accent5>
        <a:srgbClr val="B3261E"/>
      </a:accent5>
      <a:accent6>
        <a:srgbClr val="386A20"/>
      </a:accent6>
      <a:hlink>
        <a:srgbClr val="6750A4"/>
      </a:hlink>
      <a:folHlink>
        <a:srgbClr val="625B71"/>
      </a:folHlink>
    </a:clrScheme>
    <a:fontScheme name="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Aperture Material 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2d70a5da3481c" /><Relationship Type="http://schemas.openxmlformats.org/officeDocument/2006/relationships/image" Target="/ppt/media/image.png" Id="Ra02d9e125fab444e" /><Relationship Type="http://schemas.openxmlformats.org/officeDocument/2006/relationships/notesSlide" Target="/ppt/notesSlides/notesSlide1.xml" Id="R9e5aa415352e45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e8f65d2854bac" /><Relationship Type="http://schemas.openxmlformats.org/officeDocument/2006/relationships/notesSlide" Target="/ppt/notesSlides/notesSlide2.xml" Id="Rf44a00cfcad441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17c7d1e5c4f8d" /><Relationship Type="http://schemas.openxmlformats.org/officeDocument/2006/relationships/notesSlide" Target="/ppt/notesSlides/notesSlide3.xml" Id="Rc9f66e47233e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ee2f1f12c437b" /><Relationship Type="http://schemas.openxmlformats.org/officeDocument/2006/relationships/notesSlide" Target="/ppt/notesSlides/notesSlide4.xml" Id="R7d5d7fff7c0649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dd44c808345aa" /><Relationship Type="http://schemas.openxmlformats.org/officeDocument/2006/relationships/notesSlide" Target="/ppt/notesSlides/notesSlide5.xml" Id="R66ac7ab35f68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ce0750cce4ed7" /><Relationship Type="http://schemas.openxmlformats.org/officeDocument/2006/relationships/notesSlide" Target="/ppt/notesSlides/notesSlide6.xml" Id="Re03011c7954c4c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597b2a5104d24" /><Relationship Type="http://schemas.openxmlformats.org/officeDocument/2006/relationships/notesSlide" Target="/ppt/notesSlides/notesSlide7.xml" Id="Rdfeee7dd559c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1593e903a4c2a" /><Relationship Type="http://schemas.openxmlformats.org/officeDocument/2006/relationships/notesSlide" Target="/ppt/notesSlides/notesSlide8.xml" Id="Reafeb9b1c528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DB3E6345-49C2-4387-8E5F-E2C09DE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B29F29D1-8A5D-4D21-B1B4-6962F08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1 / 8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6F11F6-5306-452F-B815-348546F8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6400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6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6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4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FC2DCF9F-5245-4345-9887-7B84519E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2850" b="0">
                <a:solidFill>
                  <a:srgbClr val="6750A4"/>
                </a:solidFill>
                <a:latin typeface="Roboto"/>
                <a:ea typeface="Roboto"/>
                <a:cs typeface="Roboto"/>
              </a:rPr>
              <a:t>AI inference and compute</a:t>
            </a:r>
          </a:p>
          <a:p xmlns:a="http://schemas.openxmlformats.org/drawingml/2006/main">
            <a:pPr algn="l">
              <a:defRPr sz="2850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2850" b="0">
                <a:solidFill>
                  <a:srgbClr val="6750A4"/>
                </a:solidFill>
                <a:latin typeface="Roboto"/>
                <a:ea typeface="Roboto"/>
                <a:cs typeface="Roboto"/>
              </a:rPr>
              <a:t>One connected task flow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DCF860E2-F492-4090-92D1-534533A3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598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Models, AI Sentinel and compute workers</a:t>
            </a:r>
          </a:p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through one gateway on Solana</a:t>
            </a:r>
          </a:p>
        </p:txBody>
      </p:sp>
      <p:sp>
        <p:nvSpPr>
          <p:cNvPr id="6" name="founder">
            <a:extLst xmlns:a="http://schemas.openxmlformats.org/drawingml/2006/main">
              <a:ext uri="{FF2B5EF4-FFF2-40B4-BE49-F238E27FC236}">
                <a16:creationId xmlns:a16="http://schemas.microsoft.com/office/drawing/2014/main" id="{4A4FCC48-D09C-4FE7-8B75-87C515CE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AliNurym</a:t>
            </a:r>
          </a:p>
        </p:txBody>
      </p:sp>
      <p:sp>
        <p:nvSpPr>
          <p:cNvPr id="7" name="founder-role">
            <a:extLst xmlns:a="http://schemas.openxmlformats.org/drawingml/2006/main">
              <a:ext uri="{FF2B5EF4-FFF2-40B4-BE49-F238E27FC236}">
                <a16:creationId xmlns:a16="http://schemas.microsoft.com/office/drawing/2014/main" id="{7CD60129-629F-4CC6-BE2C-396DE246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Founder &amp; developer</a:t>
            </a:r>
          </a:p>
        </p:txBody>
      </p:sp>
      <p:sp>
        <p:nvSpPr>
          <p:cNvPr id="8" name="brand-image-surface">
            <a:extLst xmlns:a="http://schemas.openxmlformats.org/drawingml/2006/main">
              <a:ext uri="{FF2B5EF4-FFF2-40B4-BE49-F238E27FC236}">
                <a16:creationId xmlns:a16="http://schemas.microsoft.com/office/drawing/2014/main" id="{44E0AD55-C382-48A0-BEA3-4561911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85800"/>
            <a:ext cx="4229100" cy="541020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EAD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ACF9F-78FF-4CBF-A8E8-459EC4E06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d9e125fab444e"/>
          <a:stretch xmlns:a="http://schemas.openxmlformats.org/drawingml/2006/main"/>
        </p:blipFill>
        <p:spPr>
          <a:xfrm xmlns:a="http://schemas.openxmlformats.org/drawingml/2006/main">
            <a:off x="7953375" y="1533525"/>
            <a:ext cx="3028950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cover-category">
            <a:extLst xmlns:a="http://schemas.openxmlformats.org/drawingml/2006/main">
              <a:ext uri="{FF2B5EF4-FFF2-40B4-BE49-F238E27FC236}">
                <a16:creationId xmlns:a16="http://schemas.microsoft.com/office/drawing/2014/main" id="{3DEC31E5-F812-4F14-A215-CB8E886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9675"/>
            <a:ext cx="358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AI GATEWAY</a:t>
            </a:r>
          </a:p>
          <a:p xmlns:a="http://schemas.openxmlformats.org/drawingml/2006/main">
            <a:pPr algn="ctr">
              <a:defRPr sz="16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COMPUTE MARKETPLACE</a:t>
            </a:r>
          </a:p>
        </p:txBody>
      </p:sp>
    </p:spTree>
    <p:extLst>
      <p:ext uri="{BB962C8B-B14F-4D97-AF65-F5344CB8AC3E}">
        <p14:creationId xmlns:p14="http://schemas.microsoft.com/office/powerpoint/2010/main" val="95335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005B4246-6995-44DE-AFDC-FDEEEF2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24AD830A-4850-46F8-9154-AA366CF2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2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ADB46E-0D3B-43B7-9C43-FCB414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AI work crosses several systems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58CF4D-CA12-4063-BE66-9E23EF8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 model response still needs execution, files and a payment record</a:t>
            </a:r>
          </a:p>
        </p:txBody>
      </p:sp>
      <p:sp>
        <p:nvSpPr>
          <p:cNvPr id="5" name="handoff-node-0">
            <a:extLst xmlns:a="http://schemas.openxmlformats.org/drawingml/2006/main">
              <a:ext uri="{FF2B5EF4-FFF2-40B4-BE49-F238E27FC236}">
                <a16:creationId xmlns:a16="http://schemas.microsoft.com/office/drawing/2014/main" id="{7DEA5973-8365-44F9-ADCB-BC3097A5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514600" cy="1562100"/>
          </a:xfrm>
          <a:prstGeom xmlns:a="http://schemas.openxmlformats.org/drawingml/2006/main" prst="roundRect">
            <a:avLst>
              <a:gd name="adj" fmla="val 15854"/>
            </a:avLst>
          </a:prstGeom>
          <a:solidFill xmlns:a="http://schemas.openxmlformats.org/drawingml/2006/main">
            <a:srgbClr val="E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andoff-title-0">
            <a:extLst xmlns:a="http://schemas.openxmlformats.org/drawingml/2006/main">
              <a:ext uri="{FF2B5EF4-FFF2-40B4-BE49-F238E27FC236}">
                <a16:creationId xmlns:a16="http://schemas.microsoft.com/office/drawing/2014/main" id="{9A1B1093-5B54-4ADD-B1F1-8274F569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Model request</a:t>
            </a:r>
          </a:p>
        </p:txBody>
      </p:sp>
      <p:sp>
        <p:nvSpPr>
          <p:cNvPr id="7" name="handoff-detail-0">
            <a:extLst xmlns:a="http://schemas.openxmlformats.org/drawingml/2006/main">
              <a:ext uri="{FF2B5EF4-FFF2-40B4-BE49-F238E27FC236}">
                <a16:creationId xmlns:a16="http://schemas.microsoft.com/office/drawing/2014/main" id="{5D23B338-B67B-49AC-A51D-23E108F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API response</a:t>
            </a:r>
          </a:p>
        </p:txBody>
      </p:sp>
      <p:sp>
        <p:nvSpPr>
          <p:cNvPr id="8" name="handoff-connection-0">
            <a:extLst xmlns:a="http://schemas.openxmlformats.org/drawingml/2006/main">
              <a:ext uri="{FF2B5EF4-FFF2-40B4-BE49-F238E27FC236}">
                <a16:creationId xmlns:a16="http://schemas.microsoft.com/office/drawing/2014/main" id="{04C215F6-C9FD-494C-8EFB-9A0C5C5F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B71"/>
            </a:solidFill>
            <a:prstDash val="solid"/>
          </a:ln>
        </p:spPr>
      </p:sp>
      <p:sp>
        <p:nvSpPr>
          <p:cNvPr id="9" name="handoff-node-1">
            <a:extLst xmlns:a="http://schemas.openxmlformats.org/drawingml/2006/main">
              <a:ext uri="{FF2B5EF4-FFF2-40B4-BE49-F238E27FC236}">
                <a16:creationId xmlns:a16="http://schemas.microsoft.com/office/drawing/2014/main" id="{DE779719-5E40-4462-9947-CBA5F87A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2514600" cy="1562100"/>
          </a:xfrm>
          <a:prstGeom xmlns:a="http://schemas.openxmlformats.org/drawingml/2006/main" prst="roundRect">
            <a:avLst>
              <a:gd name="adj" fmla="val 15854"/>
            </a:avLst>
          </a:prstGeom>
          <a:solidFill xmlns:a="http://schemas.openxmlformats.org/drawingml/2006/main">
            <a:srgbClr val="BFE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andoff-title-1">
            <a:extLst xmlns:a="http://schemas.openxmlformats.org/drawingml/2006/main">
              <a:ext uri="{FF2B5EF4-FFF2-40B4-BE49-F238E27FC236}">
                <a16:creationId xmlns:a16="http://schemas.microsoft.com/office/drawing/2014/main" id="{868D729C-CB3A-4D71-A1AD-5B73740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38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00201B"/>
                </a:solidFill>
                <a:latin typeface="Roboto"/>
                <a:ea typeface="Roboto"/>
                <a:cs typeface="Roboto"/>
              </a:rPr>
              <a:t>Compute job</a:t>
            </a:r>
          </a:p>
        </p:txBody>
      </p:sp>
      <p:sp>
        <p:nvSpPr>
          <p:cNvPr id="11" name="handoff-detail-1">
            <a:extLst xmlns:a="http://schemas.openxmlformats.org/drawingml/2006/main">
              <a:ext uri="{FF2B5EF4-FFF2-40B4-BE49-F238E27FC236}">
                <a16:creationId xmlns:a16="http://schemas.microsoft.com/office/drawing/2014/main" id="{237840B5-88F5-4B40-BEC5-6CA51CC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623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00201B"/>
                </a:solidFill>
                <a:latin typeface="Roboto"/>
                <a:ea typeface="Roboto"/>
                <a:cs typeface="Roboto"/>
              </a:rPr>
              <a:t>Python execution</a:t>
            </a:r>
          </a:p>
        </p:txBody>
      </p:sp>
      <p:sp>
        <p:nvSpPr>
          <p:cNvPr id="12" name="handoff-connection-1">
            <a:extLst xmlns:a="http://schemas.openxmlformats.org/drawingml/2006/main">
              <a:ext uri="{FF2B5EF4-FFF2-40B4-BE49-F238E27FC236}">
                <a16:creationId xmlns:a16="http://schemas.microsoft.com/office/drawing/2014/main" id="{ADB81BD8-BDEC-40F9-8366-53B54E1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B71"/>
            </a:solidFill>
            <a:prstDash val="solid"/>
          </a:ln>
        </p:spPr>
      </p:sp>
      <p:sp>
        <p:nvSpPr>
          <p:cNvPr id="13" name="handoff-node-2">
            <a:extLst xmlns:a="http://schemas.openxmlformats.org/drawingml/2006/main">
              <a:ext uri="{FF2B5EF4-FFF2-40B4-BE49-F238E27FC236}">
                <a16:creationId xmlns:a16="http://schemas.microsoft.com/office/drawing/2014/main" id="{042AF03E-C79F-4CD0-9E83-10378AF6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514600" cy="1562100"/>
          </a:xfrm>
          <a:prstGeom xmlns:a="http://schemas.openxmlformats.org/drawingml/2006/main" prst="roundRect">
            <a:avLst>
              <a:gd name="adj" fmla="val 15854"/>
            </a:avLst>
          </a:prstGeom>
          <a:solidFill xmlns:a="http://schemas.openxmlformats.org/drawingml/2006/main">
            <a:srgbClr val="ECE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andoff-title-2">
            <a:extLst xmlns:a="http://schemas.openxmlformats.org/drawingml/2006/main">
              <a:ext uri="{FF2B5EF4-FFF2-40B4-BE49-F238E27FC236}">
                <a16:creationId xmlns:a16="http://schemas.microsoft.com/office/drawing/2014/main" id="{B2B6C36F-510E-4F66-8B94-3945F89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Output files</a:t>
            </a:r>
          </a:p>
        </p:txBody>
      </p:sp>
      <p:sp>
        <p:nvSpPr>
          <p:cNvPr id="15" name="handoff-detail-2">
            <a:extLst xmlns:a="http://schemas.openxmlformats.org/drawingml/2006/main">
              <a:ext uri="{FF2B5EF4-FFF2-40B4-BE49-F238E27FC236}">
                <a16:creationId xmlns:a16="http://schemas.microsoft.com/office/drawing/2014/main" id="{09C7EC95-1F25-406C-BA07-0D485B2F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D1B20"/>
                </a:solidFill>
                <a:latin typeface="Roboto"/>
                <a:ea typeface="Roboto"/>
                <a:cs typeface="Roboto"/>
              </a:rPr>
              <a:t>Usable report</a:t>
            </a:r>
          </a:p>
        </p:txBody>
      </p:sp>
      <p:sp>
        <p:nvSpPr>
          <p:cNvPr id="16" name="handoff-connection-2">
            <a:extLst xmlns:a="http://schemas.openxmlformats.org/drawingml/2006/main">
              <a:ext uri="{FF2B5EF4-FFF2-40B4-BE49-F238E27FC236}">
                <a16:creationId xmlns:a16="http://schemas.microsoft.com/office/drawing/2014/main" id="{39CC83D5-98A5-4669-B391-5D2B3199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B71"/>
            </a:solidFill>
            <a:prstDash val="solid"/>
          </a:ln>
        </p:spPr>
      </p:sp>
      <p:sp>
        <p:nvSpPr>
          <p:cNvPr id="17" name="handoff-node-3">
            <a:extLst xmlns:a="http://schemas.openxmlformats.org/drawingml/2006/main">
              <a:ext uri="{FF2B5EF4-FFF2-40B4-BE49-F238E27FC236}">
                <a16:creationId xmlns:a16="http://schemas.microsoft.com/office/drawing/2014/main" id="{46D24D11-7F85-4E29-879A-D47AA022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2514600" cy="1562100"/>
          </a:xfrm>
          <a:prstGeom xmlns:a="http://schemas.openxmlformats.org/drawingml/2006/main" prst="roundRect">
            <a:avLst>
              <a:gd name="adj" fmla="val 15854"/>
            </a:avLst>
          </a:prstGeom>
          <a:solidFill xmlns:a="http://schemas.openxmlformats.org/drawingml/2006/main">
            <a:srgbClr val="E8D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andoff-title-3">
            <a:extLst xmlns:a="http://schemas.openxmlformats.org/drawingml/2006/main">
              <a:ext uri="{FF2B5EF4-FFF2-40B4-BE49-F238E27FC236}">
                <a16:creationId xmlns:a16="http://schemas.microsoft.com/office/drawing/2014/main" id="{DB52DFB9-747A-40E0-8BD7-95C93A2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defPPr>
            <a:lvl1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1pPr>
            <a:lvl2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2pPr>
            <a:lvl3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3pPr>
            <a:lvl4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4pPr>
            <a:lvl5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5pPr>
            <a:lvl6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6pPr>
            <a:lvl7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7pPr>
            <a:lvl8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8pPr>
            <a:lvl9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D192B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1D192B"/>
                </a:solidFill>
                <a:latin typeface="Roboto"/>
                <a:ea typeface="Roboto"/>
                <a:cs typeface="Roboto"/>
              </a:rPr>
              <a:t>Payment</a:t>
            </a:r>
          </a:p>
        </p:txBody>
      </p:sp>
      <p:sp>
        <p:nvSpPr>
          <p:cNvPr id="19" name="handoff-detail-3">
            <a:extLst xmlns:a="http://schemas.openxmlformats.org/drawingml/2006/main">
              <a:ext uri="{FF2B5EF4-FFF2-40B4-BE49-F238E27FC236}">
                <a16:creationId xmlns:a16="http://schemas.microsoft.com/office/drawing/2014/main" id="{9F4D0425-2E72-4C19-9173-D1012DFD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623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192B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D192B"/>
                </a:solidFill>
                <a:latin typeface="Roboto"/>
                <a:ea typeface="Roboto"/>
                <a:cs typeface="Roboto"/>
              </a:rPr>
              <a:t>Task charge</a:t>
            </a:r>
          </a:p>
        </p:txBody>
      </p:sp>
      <p:sp>
        <p:nvSpPr>
          <p:cNvPr id="20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73C0FDC4-4C06-4626-BEAE-1CD8DD78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Developers connect approvals, spending and recovery</a:t>
            </a:r>
          </a:p>
          <a:p xmlns:a="http://schemas.openxmlformats.org/drawingml/2006/main">
            <a:pPr algn="l">
              <a:defRPr sz="23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across the whole job.</a:t>
            </a:r>
          </a:p>
        </p:txBody>
      </p:sp>
    </p:spTree>
    <p:extLst>
      <p:ext uri="{BB962C8B-B14F-4D97-AF65-F5344CB8AC3E}">
        <p14:creationId xmlns:p14="http://schemas.microsoft.com/office/powerpoint/2010/main" val="1963984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4F4F6ACB-C21B-4310-92E4-9D46A71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600783A-7422-4AE3-8A7C-07A4ED75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3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4AD1EE-9114-4635-AD4F-CBA7371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Two Aperture directions, one product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2C0085-D895-4581-BFEC-6ED72A4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The original AI gateway and the new compute workspace share one task journey</a:t>
            </a:r>
          </a:p>
        </p:txBody>
      </p:sp>
      <p:sp>
        <p:nvSpPr>
          <p:cNvPr id="5" name="original-direction">
            <a:extLst xmlns:a="http://schemas.openxmlformats.org/drawingml/2006/main">
              <a:ext uri="{FF2B5EF4-FFF2-40B4-BE49-F238E27FC236}">
                <a16:creationId xmlns:a16="http://schemas.microsoft.com/office/drawing/2014/main" id="{2802458E-1DC9-4A1C-A4F2-5706915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953000" cy="219075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E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6085973B-5EE8-40C9-97A4-75F748D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ORIGINAL APERTURE</a:t>
            </a:r>
          </a:p>
        </p:txBody>
      </p:sp>
      <p:sp>
        <p:nvSpPr>
          <p:cNvPr id="7" name="original-title">
            <a:extLst xmlns:a="http://schemas.openxmlformats.org/drawingml/2006/main">
              <a:ext uri="{FF2B5EF4-FFF2-40B4-BE49-F238E27FC236}">
                <a16:creationId xmlns:a16="http://schemas.microsoft.com/office/drawing/2014/main" id="{46B725F4-CAA5-48B0-9DA4-1D3D1B5C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343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AI gateway + AI Sentinel</a:t>
            </a:r>
          </a:p>
        </p:txBody>
      </p:sp>
      <p:sp>
        <p:nvSpPr>
          <p:cNvPr id="8" name="original-detail">
            <a:extLst xmlns:a="http://schemas.openxmlformats.org/drawingml/2006/main">
              <a:ext uri="{FF2B5EF4-FFF2-40B4-BE49-F238E27FC236}">
                <a16:creationId xmlns:a16="http://schemas.microsoft.com/office/drawing/2014/main" id="{41BD945D-612D-4BBA-8E31-A406965D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Model access</a:t>
            </a:r>
          </a:p>
          <a:p xmlns:a="http://schemas.openxmlformats.org/drawingml/2006/main">
            <a:pPr algn="l">
              <a:defRPr sz="1800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Source review and metered compute</a:t>
            </a:r>
          </a:p>
        </p:txBody>
      </p:sp>
      <p:sp>
        <p:nvSpPr>
          <p:cNvPr id="9" name="new-direction">
            <a:extLst xmlns:a="http://schemas.openxmlformats.org/drawingml/2006/main">
              <a:ext uri="{FF2B5EF4-FFF2-40B4-BE49-F238E27FC236}">
                <a16:creationId xmlns:a16="http://schemas.microsoft.com/office/drawing/2014/main" id="{19DADC34-AA22-4739-A594-0FC18A9C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4953000" cy="219075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BFE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8A0B7DAC-760E-4A8A-869A-560E5554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006B5F"/>
                </a:solidFill>
                <a:latin typeface="Roboto"/>
                <a:ea typeface="Roboto"/>
                <a:cs typeface="Roboto"/>
              </a:rPr>
              <a:t>NEW WORKSPACE</a:t>
            </a:r>
          </a:p>
        </p:txBody>
      </p:sp>
      <p:sp>
        <p:nvSpPr>
          <p:cNvPr id="11" name="new-title">
            <a:extLst xmlns:a="http://schemas.openxmlformats.org/drawingml/2006/main">
              <a:ext uri="{FF2B5EF4-FFF2-40B4-BE49-F238E27FC236}">
                <a16:creationId xmlns:a16="http://schemas.microsoft.com/office/drawing/2014/main" id="{12B1E4C4-0996-4EA2-A0BF-67F2A09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4343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00201B"/>
                </a:solidFill>
                <a:latin typeface="Roboto"/>
                <a:ea typeface="Roboto"/>
                <a:cs typeface="Roboto"/>
              </a:rPr>
              <a:t>Compute + agent workflows</a:t>
            </a:r>
          </a:p>
        </p:txBody>
      </p:sp>
      <p:sp>
        <p:nvSpPr>
          <p:cNvPr id="12" name="new-detail">
            <a:extLst xmlns:a="http://schemas.openxmlformats.org/drawingml/2006/main">
              <a:ext uri="{FF2B5EF4-FFF2-40B4-BE49-F238E27FC236}">
                <a16:creationId xmlns:a16="http://schemas.microsoft.com/office/drawing/2014/main" id="{434BEFF9-9D70-4C98-A2B6-DAADC71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00201B"/>
                </a:solidFill>
                <a:latin typeface="Roboto"/>
                <a:ea typeface="Roboto"/>
                <a:cs typeface="Roboto"/>
              </a:rPr>
              <a:t>Worker selection</a:t>
            </a:r>
          </a:p>
          <a:p xmlns:a="http://schemas.openxmlformats.org/drawingml/2006/main">
            <a:pPr algn="l">
              <a:defRPr sz="1800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00201B"/>
                </a:solidFill>
                <a:latin typeface="Roboto"/>
                <a:ea typeface="Roboto"/>
                <a:cs typeface="Roboto"/>
              </a:rPr>
              <a:t>Recovery and signed results</a:t>
            </a:r>
          </a:p>
        </p:txBody>
      </p:sp>
      <p:sp>
        <p:nvSpPr>
          <p:cNvPr id="13" name="left-to-shared">
            <a:extLst xmlns:a="http://schemas.openxmlformats.org/drawingml/2006/main">
              <a:ext uri="{FF2B5EF4-FFF2-40B4-BE49-F238E27FC236}">
                <a16:creationId xmlns:a16="http://schemas.microsoft.com/office/drawing/2014/main" id="{DAEE7772-E94E-4119-B86C-74C053C1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958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0A4"/>
            </a:solidFill>
            <a:prstDash val="solid"/>
          </a:ln>
        </p:spPr>
      </p:sp>
      <p:sp>
        <p:nvSpPr>
          <p:cNvPr id="14" name="right-to-shared">
            <a:extLst xmlns:a="http://schemas.openxmlformats.org/drawingml/2006/main">
              <a:ext uri="{FF2B5EF4-FFF2-40B4-BE49-F238E27FC236}">
                <a16:creationId xmlns:a16="http://schemas.microsoft.com/office/drawing/2014/main" id="{8C8BC9D8-75B7-48FD-8FE4-CCF0DC1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958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0A4"/>
            </a:solidFill>
            <a:prstDash val="solid"/>
          </a:ln>
        </p:spPr>
      </p:sp>
      <p:sp>
        <p:nvSpPr>
          <p:cNvPr id="15" name="shared-branch">
            <a:extLst xmlns:a="http://schemas.openxmlformats.org/drawingml/2006/main">
              <a:ext uri="{FF2B5EF4-FFF2-40B4-BE49-F238E27FC236}">
                <a16:creationId xmlns:a16="http://schemas.microsoft.com/office/drawing/2014/main" id="{4B84C853-9D1A-4131-99D4-CDD80AE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7205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0A4"/>
            </a:solidFill>
            <a:prstDash val="solid"/>
          </a:ln>
        </p:spPr>
      </p:sp>
      <p:sp>
        <p:nvSpPr>
          <p:cNvPr id="16" name="shared-entry">
            <a:extLst xmlns:a="http://schemas.openxmlformats.org/drawingml/2006/main">
              <a:ext uri="{FF2B5EF4-FFF2-40B4-BE49-F238E27FC236}">
                <a16:creationId xmlns:a16="http://schemas.microsoft.com/office/drawing/2014/main" id="{632A7B89-410E-48D7-B190-D41283AA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0A4"/>
            </a:solidFill>
            <a:prstDash val="solid"/>
          </a:ln>
        </p:spPr>
      </p:sp>
      <p:sp>
        <p:nvSpPr>
          <p:cNvPr id="17" name="unified-product">
            <a:extLst xmlns:a="http://schemas.openxmlformats.org/drawingml/2006/main">
              <a:ext uri="{FF2B5EF4-FFF2-40B4-BE49-F238E27FC236}">
                <a16:creationId xmlns:a16="http://schemas.microsoft.com/office/drawing/2014/main" id="{D4DE7B93-A664-4EA6-83D9-764DBBA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382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675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nified-product-value">
            <a:extLst xmlns:a="http://schemas.openxmlformats.org/drawingml/2006/main">
              <a:ext uri="{FF2B5EF4-FFF2-40B4-BE49-F238E27FC236}">
                <a16:creationId xmlns:a16="http://schemas.microsoft.com/office/drawing/2014/main" id="{3CFD4E97-3AB6-43D8-92F1-80006C3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gateway for requests, execution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185208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935B2FCE-F233-4981-AF14-9DC66F1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3196EC00-8170-470F-A2FA-CF2B987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4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12F1DF-2F45-46CB-A01C-94A6EEBE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One example: a data report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2CF0DF-3EDF-4E69-B81A-E62D7B5B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AI review stays connected to the exact job the owner approves</a:t>
            </a:r>
          </a:p>
        </p:txBody>
      </p:sp>
      <p:sp>
        <p:nvSpPr>
          <p:cNvPr id="5" name="workflow-axis">
            <a:extLst xmlns:a="http://schemas.openxmlformats.org/drawingml/2006/main">
              <a:ext uri="{FF2B5EF4-FFF2-40B4-BE49-F238E27FC236}">
                <a16:creationId xmlns:a16="http://schemas.microsoft.com/office/drawing/2014/main" id="{A4EAC0B9-83DC-41AF-81EF-4EC2C924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C4D0"/>
            </a:solidFill>
            <a:prstDash val="solid"/>
          </a:ln>
        </p:spPr>
      </p:sp>
      <p:sp>
        <p:nvSpPr>
          <p:cNvPr id="6" name="workflow-point-0">
            <a:extLst xmlns:a="http://schemas.openxmlformats.org/drawingml/2006/main">
              <a:ext uri="{FF2B5EF4-FFF2-40B4-BE49-F238E27FC236}">
                <a16:creationId xmlns:a16="http://schemas.microsoft.com/office/drawing/2014/main" id="{A0C5585D-5B9B-4FC7-8F2B-F53958A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7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B00B219F-E947-4AE5-BAED-BCEC1CFF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Prepare</a:t>
            </a:r>
          </a:p>
        </p:txBody>
      </p:sp>
      <p:sp>
        <p:nvSpPr>
          <p:cNvPr id="8" name="workflow-detail-0">
            <a:extLst xmlns:a="http://schemas.openxmlformats.org/drawingml/2006/main">
              <a:ext uri="{FF2B5EF4-FFF2-40B4-BE49-F238E27FC236}">
                <a16:creationId xmlns:a16="http://schemas.microsoft.com/office/drawing/2014/main" id="{9EE48F12-ED59-4302-94F6-8D55C630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Use AI Sentinel</a:t>
            </a:r>
          </a:p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to review Python</a:t>
            </a:r>
          </a:p>
        </p:txBody>
      </p:sp>
      <p:sp>
        <p:nvSpPr>
          <p:cNvPr id="9" name="workflow-point-1">
            <a:extLst xmlns:a="http://schemas.openxmlformats.org/drawingml/2006/main">
              <a:ext uri="{FF2B5EF4-FFF2-40B4-BE49-F238E27FC236}">
                <a16:creationId xmlns:a16="http://schemas.microsoft.com/office/drawing/2014/main" id="{7BE93725-332D-479A-A301-5D523ED2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0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7EA3F3D5-7A62-47FA-B017-DE22A566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4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Approve</a:t>
            </a:r>
          </a:p>
        </p:txBody>
      </p:sp>
      <p:sp>
        <p:nvSpPr>
          <p:cNvPr id="11" name="workflow-detail-1">
            <a:extLst xmlns:a="http://schemas.openxmlformats.org/drawingml/2006/main">
              <a:ext uri="{FF2B5EF4-FFF2-40B4-BE49-F238E27FC236}">
                <a16:creationId xmlns:a16="http://schemas.microsoft.com/office/drawing/2014/main" id="{0E43E2F6-924A-492A-9293-69EB1E9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Confirm the job,</a:t>
            </a:r>
          </a:p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budget and runtime</a:t>
            </a:r>
          </a:p>
        </p:txBody>
      </p:sp>
      <p:sp>
        <p:nvSpPr>
          <p:cNvPr id="12" name="workflow-point-2">
            <a:extLst xmlns:a="http://schemas.openxmlformats.org/drawingml/2006/main">
              <a:ext uri="{FF2B5EF4-FFF2-40B4-BE49-F238E27FC236}">
                <a16:creationId xmlns:a16="http://schemas.microsoft.com/office/drawing/2014/main" id="{6EA5EFF1-2289-4910-B052-9989800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3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1F9F5078-52B4-4624-88C9-69D4616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Execute</a:t>
            </a:r>
          </a:p>
        </p:txBody>
      </p:sp>
      <p:sp>
        <p:nvSpPr>
          <p:cNvPr id="14" name="workflow-detail-2">
            <a:extLst xmlns:a="http://schemas.openxmlformats.org/drawingml/2006/main">
              <a:ext uri="{FF2B5EF4-FFF2-40B4-BE49-F238E27FC236}">
                <a16:creationId xmlns:a16="http://schemas.microsoft.com/office/drawing/2014/main" id="{16E9F923-A870-4368-BAE7-C2BF3EE1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 chosen worker</a:t>
            </a:r>
          </a:p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runs the workload</a:t>
            </a:r>
          </a:p>
        </p:txBody>
      </p:sp>
      <p:sp>
        <p:nvSpPr>
          <p:cNvPr id="15" name="workflow-point-3">
            <a:extLst xmlns:a="http://schemas.openxmlformats.org/drawingml/2006/main">
              <a:ext uri="{FF2B5EF4-FFF2-40B4-BE49-F238E27FC236}">
                <a16:creationId xmlns:a16="http://schemas.microsoft.com/office/drawing/2014/main" id="{04532D87-0274-45E3-8D23-A6DCE7F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16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47DA3BC5-F5B2-4C9A-B41E-B33EF1B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Deliver</a:t>
            </a:r>
          </a:p>
        </p:txBody>
      </p:sp>
      <p:sp>
        <p:nvSpPr>
          <p:cNvPr id="17" name="workflow-detail-3">
            <a:extLst xmlns:a="http://schemas.openxmlformats.org/drawingml/2006/main">
              <a:ext uri="{FF2B5EF4-FFF2-40B4-BE49-F238E27FC236}">
                <a16:creationId xmlns:a16="http://schemas.microsoft.com/office/drawing/2014/main" id="{C0B6E57B-F2D4-4724-A161-8522183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671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Report files and</a:t>
            </a:r>
          </a:p>
          <a:p xmlns:a="http://schemas.openxmlformats.org/drawingml/2006/main">
            <a:pPr algn="l">
              <a:defRPr sz="18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 signed receipt</a:t>
            </a:r>
          </a:p>
        </p:txBody>
      </p:sp>
      <p:sp>
        <p:nvSpPr>
          <p:cNvPr id="18" name="agent-connection">
            <a:extLst xmlns:a="http://schemas.openxmlformats.org/drawingml/2006/main">
              <a:ext uri="{FF2B5EF4-FFF2-40B4-BE49-F238E27FC236}">
                <a16:creationId xmlns:a16="http://schemas.microsoft.com/office/drawing/2014/main" id="{BBA12BCC-04C6-4B0C-81C7-88A04AD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781050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3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connection-value">
            <a:extLst xmlns:a="http://schemas.openxmlformats.org/drawingml/2006/main">
              <a:ext uri="{FF2B5EF4-FFF2-40B4-BE49-F238E27FC236}">
                <a16:creationId xmlns:a16="http://schemas.microsoft.com/office/drawing/2014/main" id="{3B7C1A43-11BE-4E9C-BF0D-1785DEF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Connect from the workspace, Python SDK or MCP</a:t>
            </a:r>
          </a:p>
        </p:txBody>
      </p:sp>
    </p:spTree>
    <p:extLst>
      <p:ext uri="{BB962C8B-B14F-4D97-AF65-F5344CB8AC3E}">
        <p14:creationId xmlns:p14="http://schemas.microsoft.com/office/powerpoint/2010/main" val="257204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22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CE726997-BFB6-460F-B1FF-06E6DF2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A24585A-6A60-48B2-89AB-18CFBC82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F5EFF7"/>
                </a:solidFill>
                <a:latin typeface="Roboto"/>
                <a:ea typeface="Roboto"/>
                <a:cs typeface="Roboto"/>
              </a:rPr>
              <a:t>5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E690FB-8308-4480-B98C-D4669979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Solana connects work and payment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B712F2-84C8-4E08-9ED6-12C21FF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F5EFF7"/>
                </a:solidFill>
                <a:latin typeface="Roboto"/>
                <a:ea typeface="Roboto"/>
                <a:cs typeface="Roboto"/>
              </a:rPr>
              <a:t>Each task carries a maximum charge and a clear recipient</a:t>
            </a:r>
          </a:p>
        </p:txBody>
      </p:sp>
      <p:sp>
        <p:nvSpPr>
          <p:cNvPr id="5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B3999F6E-1685-44AD-992E-004F0AD1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0BCF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D0BCFF"/>
                </a:solidFill>
                <a:latin typeface="Roboto"/>
                <a:ea typeface="Roboto"/>
                <a:cs typeface="Roboto"/>
              </a:rPr>
              <a:t>SETTLEMENT ARCHITECTURE</a:t>
            </a:r>
          </a:p>
        </p:txBody>
      </p:sp>
      <p:sp>
        <p:nvSpPr>
          <p:cNvPr id="6" name="settlement-stage-0">
            <a:extLst xmlns:a="http://schemas.openxmlformats.org/drawingml/2006/main">
              <a:ext uri="{FF2B5EF4-FFF2-40B4-BE49-F238E27FC236}">
                <a16:creationId xmlns:a16="http://schemas.microsoft.com/office/drawing/2014/main" id="{A450383B-FD40-4304-8F45-94FBCB2F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895600" cy="1819275"/>
          </a:xfrm>
          <a:prstGeom xmlns:a="http://schemas.openxmlformats.org/drawingml/2006/main" prst="roundRect">
            <a:avLst>
              <a:gd name="adj" fmla="val 14660"/>
            </a:avLst>
          </a:prstGeom>
          <a:solidFill xmlns:a="http://schemas.openxmlformats.org/drawingml/2006/main">
            <a:srgbClr val="E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ttlement-label-0">
            <a:extLst xmlns:a="http://schemas.openxmlformats.org/drawingml/2006/main">
              <a:ext uri="{FF2B5EF4-FFF2-40B4-BE49-F238E27FC236}">
                <a16:creationId xmlns:a16="http://schemas.microsoft.com/office/drawing/2014/main" id="{555F4EAB-2E6D-4E55-9C7E-613FA3D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FUNDED CHANNEL</a:t>
            </a:r>
          </a:p>
        </p:txBody>
      </p:sp>
      <p:sp>
        <p:nvSpPr>
          <p:cNvPr id="8" name="settlement-title-0">
            <a:extLst xmlns:a="http://schemas.openxmlformats.org/drawingml/2006/main">
              <a:ext uri="{FF2B5EF4-FFF2-40B4-BE49-F238E27FC236}">
                <a16:creationId xmlns:a16="http://schemas.microsoft.com/office/drawing/2014/main" id="{699EF4E8-016E-44B8-A9C9-6541833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Owner balance</a:t>
            </a:r>
          </a:p>
        </p:txBody>
      </p:sp>
      <p:sp>
        <p:nvSpPr>
          <p:cNvPr id="9" name="settlement-detail-0">
            <a:extLst xmlns:a="http://schemas.openxmlformats.org/drawingml/2006/main">
              <a:ext uri="{FF2B5EF4-FFF2-40B4-BE49-F238E27FC236}">
                <a16:creationId xmlns:a16="http://schemas.microsoft.com/office/drawing/2014/main" id="{2B14A5E7-1EE7-4A16-B7D7-C145947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Budget for</a:t>
            </a:r>
          </a:p>
          <a:p xmlns:a="http://schemas.openxmlformats.org/drawingml/2006/main">
            <a: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approved tasks</a:t>
            </a:r>
          </a:p>
        </p:txBody>
      </p:sp>
      <p:sp>
        <p:nvSpPr>
          <p:cNvPr id="10" name="settlement-connection-0">
            <a:extLst xmlns:a="http://schemas.openxmlformats.org/drawingml/2006/main">
              <a:ext uri="{FF2B5EF4-FFF2-40B4-BE49-F238E27FC236}">
                <a16:creationId xmlns:a16="http://schemas.microsoft.com/office/drawing/2014/main" id="{02A8316F-621F-460C-96D2-3D90CF2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BCFF"/>
            </a:solidFill>
            <a:prstDash val="solid"/>
          </a:ln>
        </p:spPr>
      </p:sp>
      <p:sp>
        <p:nvSpPr>
          <p:cNvPr id="11" name="settlement-stage-1">
            <a:extLst xmlns:a="http://schemas.openxmlformats.org/drawingml/2006/main">
              <a:ext uri="{FF2B5EF4-FFF2-40B4-BE49-F238E27FC236}">
                <a16:creationId xmlns:a16="http://schemas.microsoft.com/office/drawing/2014/main" id="{7650AAF8-38F6-427F-B787-7DF5D7B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2895600" cy="1819275"/>
          </a:xfrm>
          <a:prstGeom xmlns:a="http://schemas.openxmlformats.org/drawingml/2006/main" prst="roundRect">
            <a:avLst>
              <a:gd name="adj" fmla="val 14660"/>
            </a:avLst>
          </a:prstGeom>
          <a:solidFill xmlns:a="http://schemas.openxmlformats.org/drawingml/2006/main">
            <a:srgbClr val="E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tlement-label-1">
            <a:extLst xmlns:a="http://schemas.openxmlformats.org/drawingml/2006/main">
              <a:ext uri="{FF2B5EF4-FFF2-40B4-BE49-F238E27FC236}">
                <a16:creationId xmlns:a16="http://schemas.microsoft.com/office/drawing/2014/main" id="{44E9CDA1-32F0-410E-A3FB-2FFEBA1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TASK LIMITS</a:t>
            </a:r>
          </a:p>
        </p:txBody>
      </p:sp>
      <p:sp>
        <p:nvSpPr>
          <p:cNvPr id="13" name="settlement-title-1">
            <a:extLst xmlns:a="http://schemas.openxmlformats.org/drawingml/2006/main">
              <a:ext uri="{FF2B5EF4-FFF2-40B4-BE49-F238E27FC236}">
                <a16:creationId xmlns:a16="http://schemas.microsoft.com/office/drawing/2014/main" id="{80B91D87-5B10-4D18-B692-DBF862C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76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Rate + cap</a:t>
            </a:r>
          </a:p>
        </p:txBody>
      </p:sp>
      <p:sp>
        <p:nvSpPr>
          <p:cNvPr id="14" name="settlement-detail-1">
            <a:extLst xmlns:a="http://schemas.openxmlformats.org/drawingml/2006/main">
              <a:ext uri="{FF2B5EF4-FFF2-40B4-BE49-F238E27FC236}">
                <a16:creationId xmlns:a16="http://schemas.microsoft.com/office/drawing/2014/main" id="{1CB0A033-BFF0-4006-8282-472B48D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2907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Time ceiling and</a:t>
            </a:r>
          </a:p>
          <a:p xmlns:a="http://schemas.openxmlformats.org/drawingml/2006/main">
            <a:pPr algn="l">
              <a:defRPr sz="1725" b="0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1005D"/>
                </a:solidFill>
                <a:latin typeface="Roboto"/>
                <a:ea typeface="Roboto"/>
                <a:cs typeface="Roboto"/>
              </a:rPr>
              <a:t>assigned worker</a:t>
            </a:r>
          </a:p>
        </p:txBody>
      </p:sp>
      <p:sp>
        <p:nvSpPr>
          <p:cNvPr id="15" name="settlement-connection-1">
            <a:extLst xmlns:a="http://schemas.openxmlformats.org/drawingml/2006/main">
              <a:ext uri="{FF2B5EF4-FFF2-40B4-BE49-F238E27FC236}">
                <a16:creationId xmlns:a16="http://schemas.microsoft.com/office/drawing/2014/main" id="{E3A7E77D-49D5-4CB9-AF5B-D1A5B270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290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BCFF"/>
            </a:solidFill>
            <a:prstDash val="solid"/>
          </a:ln>
        </p:spPr>
      </p:sp>
      <p:sp>
        <p:nvSpPr>
          <p:cNvPr id="16" name="settlement-stage-2">
            <a:extLst xmlns:a="http://schemas.openxmlformats.org/drawingml/2006/main">
              <a:ext uri="{FF2B5EF4-FFF2-40B4-BE49-F238E27FC236}">
                <a16:creationId xmlns:a16="http://schemas.microsoft.com/office/drawing/2014/main" id="{6A54AC67-4923-45C5-8A2D-B2E86EE0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895600" cy="1819275"/>
          </a:xfrm>
          <a:prstGeom xmlns:a="http://schemas.openxmlformats.org/drawingml/2006/main" prst="roundRect">
            <a:avLst>
              <a:gd name="adj" fmla="val 14660"/>
            </a:avLst>
          </a:prstGeom>
          <a:solidFill xmlns:a="http://schemas.openxmlformats.org/drawingml/2006/main">
            <a:srgbClr val="BFE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ttlement-label-2">
            <a:extLst xmlns:a="http://schemas.openxmlformats.org/drawingml/2006/main">
              <a:ext uri="{FF2B5EF4-FFF2-40B4-BE49-F238E27FC236}">
                <a16:creationId xmlns:a16="http://schemas.microsoft.com/office/drawing/2014/main" id="{6839F84D-583D-459F-90E8-25DE4930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defPPr>
            <a:lvl1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1pPr>
            <a:lvl2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2pPr>
            <a:lvl3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3pPr>
            <a:lvl4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4pPr>
            <a:lvl5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5pPr>
            <a:lvl6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6pPr>
            <a:lvl7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7pPr>
            <a:lvl8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8pPr>
            <a:lvl9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006B5F"/>
                </a:solidFill>
                <a:latin typeface="Roboto"/>
                <a:ea typeface="Roboto"/>
                <a:cs typeface="Roboto"/>
              </a:rPr>
              <a:t>SETTLEMENT</a:t>
            </a:r>
          </a:p>
        </p:txBody>
      </p:sp>
      <p:sp>
        <p:nvSpPr>
          <p:cNvPr id="18" name="settlement-title-2">
            <a:extLst xmlns:a="http://schemas.openxmlformats.org/drawingml/2006/main">
              <a:ext uri="{FF2B5EF4-FFF2-40B4-BE49-F238E27FC236}">
                <a16:creationId xmlns:a16="http://schemas.microsoft.com/office/drawing/2014/main" id="{E2E91003-5EE9-434A-BE49-D5A4C1D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00201B"/>
                </a:solidFill>
                <a:latin typeface="Roboto"/>
                <a:ea typeface="Roboto"/>
                <a:cs typeface="Roboto"/>
              </a:rPr>
              <a:t>Task receipt</a:t>
            </a:r>
          </a:p>
        </p:txBody>
      </p:sp>
      <p:sp>
        <p:nvSpPr>
          <p:cNvPr id="19" name="settlement-detail-2">
            <a:extLst xmlns:a="http://schemas.openxmlformats.org/drawingml/2006/main">
              <a:ext uri="{FF2B5EF4-FFF2-40B4-BE49-F238E27FC236}">
                <a16:creationId xmlns:a16="http://schemas.microsoft.com/office/drawing/2014/main" id="{BB4C82ED-2EA8-4B85-8D74-326A04B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2907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00201B"/>
                </a:solidFill>
                <a:latin typeface="Roboto"/>
                <a:ea typeface="Roboto"/>
                <a:cs typeface="Roboto"/>
              </a:rPr>
              <a:t>Charge and</a:t>
            </a:r>
          </a:p>
          <a:p xmlns:a="http://schemas.openxmlformats.org/drawingml/2006/main">
            <a:pPr algn="l">
              <a:defRPr sz="1725" b="0">
                <a:solidFill>
                  <a:srgbClr val="00201B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00201B"/>
                </a:solidFill>
                <a:latin typeface="Roboto"/>
                <a:ea typeface="Roboto"/>
                <a:cs typeface="Roboto"/>
              </a:rPr>
              <a:t>recipient record</a:t>
            </a:r>
          </a:p>
        </p:txBody>
      </p:sp>
      <p:sp>
        <p:nvSpPr>
          <p:cNvPr id="20" name="settlement-conclusion">
            <a:extLst xmlns:a="http://schemas.openxmlformats.org/drawingml/2006/main">
              <a:ext uri="{FF2B5EF4-FFF2-40B4-BE49-F238E27FC236}">
                <a16:creationId xmlns:a16="http://schemas.microsoft.com/office/drawing/2014/main" id="{DDDF6AB4-3E11-4567-953D-F3CAD43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The protocol model routes the full task charge</a:t>
            </a:r>
          </a:p>
          <a:p xmlns:a="http://schemas.openxmlformats.org/drawingml/2006/main">
            <a:pPr algn="l">
              <a:defRPr sz="225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to its assigned worker.</a:t>
            </a:r>
          </a:p>
        </p:txBody>
      </p:sp>
    </p:spTree>
    <p:extLst>
      <p:ext uri="{BB962C8B-B14F-4D97-AF65-F5344CB8AC3E}">
        <p14:creationId xmlns:p14="http://schemas.microsoft.com/office/powerpoint/2010/main" val="605651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D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213E799D-B877-4A28-9161-983FA1A0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DE068D3B-6439-47FC-86BC-43DF93A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6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CE6C3C-084A-4881-A4B3-2FE1AF3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 workflow that recovers after restart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A5D8D3-419B-4243-AE17-99C4D3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Recorded local test with synthetic CSV data</a:t>
            </a:r>
          </a:p>
        </p:txBody>
      </p:sp>
      <p:sp>
        <p:nvSpPr>
          <p:cNvPr id="5" name="evidence-value-0">
            <a:extLst xmlns:a="http://schemas.openxmlformats.org/drawingml/2006/main">
              <a:ext uri="{FF2B5EF4-FFF2-40B4-BE49-F238E27FC236}">
                <a16:creationId xmlns:a16="http://schemas.microsoft.com/office/drawing/2014/main" id="{1A66EE21-3B65-4885-940B-FEEDC2A4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660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17,000</a:t>
            </a:r>
          </a:p>
        </p:txBody>
      </p:sp>
      <p:sp>
        <p:nvSpPr>
          <p:cNvPr id="6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B38A3FF0-FD25-46BF-BDE9-E6FF04F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rows processed</a:t>
            </a:r>
          </a:p>
        </p:txBody>
      </p:sp>
      <p:sp>
        <p:nvSpPr>
          <p:cNvPr id="7" name="evidence-value-1">
            <a:extLst xmlns:a="http://schemas.openxmlformats.org/drawingml/2006/main">
              <a:ext uri="{FF2B5EF4-FFF2-40B4-BE49-F238E27FC236}">
                <a16:creationId xmlns:a16="http://schemas.microsoft.com/office/drawing/2014/main" id="{E5AF09AA-D7B1-4A29-8FFA-D50A6D9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660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5 / 5</a:t>
            </a:r>
          </a:p>
        </p:txBody>
      </p:sp>
      <p:sp>
        <p:nvSpPr>
          <p:cNvPr id="8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C4F3B5C3-29E8-42E2-AAC9-EB72A23C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tasks completed</a:t>
            </a:r>
          </a:p>
        </p:txBody>
      </p:sp>
      <p:sp>
        <p:nvSpPr>
          <p:cNvPr id="9" name="evidence-detail-1">
            <a:extLst xmlns:a="http://schemas.openxmlformats.org/drawingml/2006/main">
              <a:ext uri="{FF2B5EF4-FFF2-40B4-BE49-F238E27FC236}">
                <a16:creationId xmlns:a16="http://schemas.microsoft.com/office/drawing/2014/main" id="{FFE0C3C8-165D-4F25-8F69-37CD7BA4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6750A4"/>
                </a:solidFill>
                <a:latin typeface="Roboto"/>
                <a:ea typeface="Roboto"/>
                <a:cs typeface="Roboto"/>
              </a:rPr>
              <a:t>after an interruption</a:t>
            </a:r>
          </a:p>
        </p:txBody>
      </p:sp>
      <p:sp>
        <p:nvSpPr>
          <p:cNvPr id="10" name="evidence-value-2">
            <a:extLst xmlns:a="http://schemas.openxmlformats.org/drawingml/2006/main">
              <a:ext uri="{FF2B5EF4-FFF2-40B4-BE49-F238E27FC236}">
                <a16:creationId xmlns:a16="http://schemas.microsoft.com/office/drawing/2014/main" id="{F572A1A5-CF23-416B-AC1B-2CB09638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6600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3 / 3</a:t>
            </a:r>
          </a:p>
        </p:txBody>
      </p:sp>
      <p:sp>
        <p:nvSpPr>
          <p:cNvPr id="11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7EEAEE4E-3AF7-44BD-A6A3-D22250C2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002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output files matched</a:t>
            </a:r>
          </a:p>
        </p:txBody>
      </p:sp>
      <p:sp>
        <p:nvSpPr>
          <p:cNvPr id="12" name="evidence-detail-2">
            <a:extLst xmlns:a="http://schemas.openxmlformats.org/drawingml/2006/main">
              <a:ext uri="{FF2B5EF4-FFF2-40B4-BE49-F238E27FC236}">
                <a16:creationId xmlns:a16="http://schemas.microsoft.com/office/drawing/2014/main" id="{4A163FCC-A738-4D23-931F-75D6E13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48175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6750A4"/>
                </a:solidFill>
                <a:latin typeface="Roboto"/>
                <a:ea typeface="Roboto"/>
                <a:cs typeface="Roboto"/>
              </a:rPr>
              <a:t>direct Python byte for byte</a:t>
            </a:r>
          </a:p>
        </p:txBody>
      </p:sp>
      <p:sp>
        <p:nvSpPr>
          <p:cNvPr id="13" name="recovery-result">
            <a:extLst xmlns:a="http://schemas.openxmlformats.org/drawingml/2006/main">
              <a:ext uri="{FF2B5EF4-FFF2-40B4-BE49-F238E27FC236}">
                <a16:creationId xmlns:a16="http://schemas.microsoft.com/office/drawing/2014/main" id="{2CD8DD1D-D975-4800-8725-28FEF54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762000"/>
          </a:xfrm>
          <a:prstGeom xmlns:a="http://schemas.openxmlformats.org/drawingml/2006/main" prst="roundRect">
            <a:avLst>
              <a:gd name="adj" fmla="val 32500"/>
            </a:avLst>
          </a:prstGeom>
          <a:solidFill xmlns:a="http://schemas.openxmlformats.org/drawingml/2006/main">
            <a:srgbClr val="F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overy-result-text">
            <a:extLst xmlns:a="http://schemas.openxmlformats.org/drawingml/2006/main">
              <a:ext uri="{FF2B5EF4-FFF2-40B4-BE49-F238E27FC236}">
                <a16:creationId xmlns:a16="http://schemas.microsoft.com/office/drawing/2014/main" id="{9A0D8C30-08D8-4812-B286-0983067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defPPr>
            <a:lvl1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1pPr>
            <a:lvl2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2pPr>
            <a:lvl3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3pPr>
            <a:lvl4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4pPr>
            <a:lvl5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5pPr>
            <a:lvl6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6pPr>
            <a:lvl7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7pPr>
            <a:lvl8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8pPr>
            <a:lvl9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1005D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21005D"/>
                </a:solidFill>
                <a:latin typeface="Roboto"/>
                <a:ea typeface="Roboto"/>
                <a:cs typeface="Roboto"/>
              </a:rPr>
              <a:t>No duplicate task admissions</a:t>
            </a:r>
          </a:p>
        </p:txBody>
      </p:sp>
    </p:spTree>
    <p:extLst>
      <p:ext uri="{BB962C8B-B14F-4D97-AF65-F5344CB8AC3E}">
        <p14:creationId xmlns:p14="http://schemas.microsoft.com/office/powerpoint/2010/main" val="1018584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9BE7025D-F9C9-4F43-B43E-DD3B9C07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3CA3E94D-6B24-4E33-AD1D-EC1FFA3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7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76F664-AB61-46BA-BA2C-A411F5E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Built for Solana AI developers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531A49-793F-4840-A399-D79DE96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First use: repeatable analysis and evaluation jobs</a:t>
            </a:r>
          </a:p>
        </p:txBody>
      </p:sp>
      <p:sp>
        <p:nvSpPr>
          <p:cNvPr id="5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303272B9-1873-4938-9547-C9DD7E9D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BUSINESS MODEL</a:t>
            </a:r>
          </a:p>
        </p:txBody>
      </p:sp>
      <p:sp>
        <p:nvSpPr>
          <p:cNvPr id="6" name="commercial-model">
            <a:extLst xmlns:a="http://schemas.openxmlformats.org/drawingml/2006/main">
              <a:ext uri="{FF2B5EF4-FFF2-40B4-BE49-F238E27FC236}">
                <a16:creationId xmlns:a16="http://schemas.microsoft.com/office/drawing/2014/main" id="{6427FF6D-62B2-4EF8-AB9F-57AF76C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533650"/>
          </a:xfrm>
          <a:prstGeom xmlns:a="http://schemas.openxmlformats.org/drawingml/2006/main" prst="roundRect">
            <a:avLst>
              <a:gd name="adj" fmla="val 12030"/>
            </a:avLst>
          </a:prstGeom>
          <a:solidFill xmlns:a="http://schemas.openxmlformats.org/drawingml/2006/main">
            <a:srgbClr val="F7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mercial-divider">
            <a:extLst xmlns:a="http://schemas.openxmlformats.org/drawingml/2006/main">
              <a:ext uri="{FF2B5EF4-FFF2-40B4-BE49-F238E27FC236}">
                <a16:creationId xmlns:a16="http://schemas.microsoft.com/office/drawing/2014/main" id="{394FFBBF-A1C1-4C38-A598-A5E12AF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C4D0"/>
            </a:solidFill>
            <a:prstDash val="solid"/>
          </a:ln>
        </p:spPr>
      </p:sp>
      <p:sp>
        <p:nvSpPr>
          <p:cNvPr id="8" name="self-host-title">
            <a:extLst xmlns:a="http://schemas.openxmlformats.org/drawingml/2006/main">
              <a:ext uri="{FF2B5EF4-FFF2-40B4-BE49-F238E27FC236}">
                <a16:creationId xmlns:a16="http://schemas.microsoft.com/office/drawing/2014/main" id="{AC93013F-6E32-4854-B013-96AB3266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Open-source</a:t>
            </a:r>
          </a:p>
          <a:p xmlns:a="http://schemas.openxmlformats.org/drawingml/2006/main">
            <a:pPr algn="l">
              <a:defRPr sz="3150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adoption</a:t>
            </a:r>
          </a:p>
        </p:txBody>
      </p:sp>
      <p:sp>
        <p:nvSpPr>
          <p:cNvPr id="9" name="self-host-detail">
            <a:extLst xmlns:a="http://schemas.openxmlformats.org/drawingml/2006/main">
              <a:ext uri="{FF2B5EF4-FFF2-40B4-BE49-F238E27FC236}">
                <a16:creationId xmlns:a16="http://schemas.microsoft.com/office/drawing/2014/main" id="{3E3D383C-7EA4-4AFE-A03C-A99E461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Free self-hosted gateway</a:t>
            </a:r>
          </a:p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for builders and operators</a:t>
            </a:r>
          </a:p>
        </p:txBody>
      </p:sp>
      <p:sp>
        <p:nvSpPr>
          <p:cNvPr id="10" name="hosted-title">
            <a:extLst xmlns:a="http://schemas.openxmlformats.org/drawingml/2006/main">
              <a:ext uri="{FF2B5EF4-FFF2-40B4-BE49-F238E27FC236}">
                <a16:creationId xmlns:a16="http://schemas.microsoft.com/office/drawing/2014/main" id="{C2A7D4B7-547A-4B03-9A7C-1B3001AD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defPPr>
            <a:lvl1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1pPr>
            <a:lvl2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2pPr>
            <a:lvl3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3pPr>
            <a:lvl4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4pPr>
            <a:lvl5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5pPr>
            <a:lvl6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6pPr>
            <a:lvl7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7pPr>
            <a:lvl8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8pPr>
            <a:lvl9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006B5F"/>
                </a:solidFill>
                <a:latin typeface="Roboto"/>
                <a:ea typeface="Roboto"/>
                <a:cs typeface="Roboto"/>
              </a:rPr>
              <a:t>Hosted</a:t>
            </a:r>
          </a:p>
          <a:p xmlns:a="http://schemas.openxmlformats.org/drawingml/2006/main">
            <a:pPr algn="l">
              <a:defRPr sz="3150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006B5F"/>
                </a:solidFill>
                <a:latin typeface="Roboto"/>
                <a:ea typeface="Roboto"/>
                <a:cs typeface="Roboto"/>
              </a:rPr>
              <a:t>subscription</a:t>
            </a:r>
          </a:p>
        </p:txBody>
      </p:sp>
      <p:sp>
        <p:nvSpPr>
          <p:cNvPr id="11" name="hosted-detail">
            <a:extLst xmlns:a="http://schemas.openxmlformats.org/drawingml/2006/main">
              <a:ext uri="{FF2B5EF4-FFF2-40B4-BE49-F238E27FC236}">
                <a16:creationId xmlns:a16="http://schemas.microsoft.com/office/drawing/2014/main" id="{4DB37AE8-DAED-4216-BBFB-74EAEF5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Managed policy, task history</a:t>
            </a:r>
          </a:p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and operator tools</a:t>
            </a:r>
          </a:p>
        </p:txBody>
      </p:sp>
      <p:sp>
        <p:nvSpPr>
          <p:cNvPr id="12" name="pilot-focus">
            <a:extLst xmlns:a="http://schemas.openxmlformats.org/drawingml/2006/main">
              <a:ext uri="{FF2B5EF4-FFF2-40B4-BE49-F238E27FC236}">
                <a16:creationId xmlns:a16="http://schemas.microsoft.com/office/drawing/2014/main" id="{DC936A7E-71C2-464C-BEC7-98E4D9E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Go-to-market focus: developer pilots on a repeatable data workflow</a:t>
            </a:r>
          </a:p>
        </p:txBody>
      </p:sp>
    </p:spTree>
    <p:extLst>
      <p:ext uri="{BB962C8B-B14F-4D97-AF65-F5344CB8AC3E}">
        <p14:creationId xmlns:p14="http://schemas.microsoft.com/office/powerpoint/2010/main" val="738128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7695751E-F68F-48C3-B387-6E896C6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49454F"/>
                </a:solidFill>
                <a:latin typeface="Roboto"/>
                <a:ea typeface="Roboto"/>
                <a:cs typeface="Roboto"/>
              </a:rPr>
              <a:t>APERTURE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68F7067-14DC-40B4-9946-7FEE108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8 / 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FFF8F7-7C51-467E-A93C-BC3FB1A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38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Aperture roadmap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26BC0B-F1D0-4B35-B65D-6C9EC7BE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defPPr>
            <a:lvl1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1pPr>
            <a:lvl2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2pPr>
            <a:lvl3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3pPr>
            <a:lvl4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4pPr>
            <a:lvl5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5pPr>
            <a:lvl6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6pPr>
            <a:lvl7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7pPr>
            <a:lvl8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8pPr>
            <a:lvl9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9454F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49454F"/>
                </a:solidFill>
                <a:latin typeface="Roboto"/>
                <a:ea typeface="Roboto"/>
                <a:cs typeface="Roboto"/>
              </a:rPr>
              <a:t>The original marketplace vision continues through one unified product</a:t>
            </a:r>
          </a:p>
        </p:txBody>
      </p:sp>
      <p:sp>
        <p:nvSpPr>
          <p:cNvPr id="5" name="roadmap-axis">
            <a:extLst xmlns:a="http://schemas.openxmlformats.org/drawingml/2006/main">
              <a:ext uri="{FF2B5EF4-FFF2-40B4-BE49-F238E27FC236}">
                <a16:creationId xmlns:a16="http://schemas.microsoft.com/office/drawing/2014/main" id="{7FB76C0C-A249-4088-AB72-53EE215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C4D0"/>
            </a:solidFill>
            <a:prstDash val="solid"/>
          </a:ln>
        </p:spPr>
      </p:sp>
      <p:sp>
        <p:nvSpPr>
          <p:cNvPr id="6" name="roadmap-date-0">
            <a:extLst xmlns:a="http://schemas.openxmlformats.org/drawingml/2006/main">
              <a:ext uri="{FF2B5EF4-FFF2-40B4-BE49-F238E27FC236}">
                <a16:creationId xmlns:a16="http://schemas.microsoft.com/office/drawing/2014/main" id="{2FB5004B-6A94-4A72-94A7-F8958C82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APRIL 2026</a:t>
            </a:r>
          </a:p>
        </p:txBody>
      </p:sp>
      <p:sp>
        <p:nvSpPr>
          <p:cNvPr id="7" name="roadmap-point-0">
            <a:extLst xmlns:a="http://schemas.openxmlformats.org/drawingml/2006/main">
              <a:ext uri="{FF2B5EF4-FFF2-40B4-BE49-F238E27FC236}">
                <a16:creationId xmlns:a16="http://schemas.microsoft.com/office/drawing/2014/main" id="{07B85EA4-8F43-4770-AE5D-5777866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B84D15E1-22DA-43A9-BD85-93252D97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323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AI gateway</a:t>
            </a:r>
          </a:p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and AI Sentinel</a:t>
            </a:r>
          </a:p>
        </p:txBody>
      </p:sp>
      <p:sp>
        <p:nvSpPr>
          <p:cNvPr id="9" name="roadmap-date-1">
            <a:extLst xmlns:a="http://schemas.openxmlformats.org/drawingml/2006/main">
              <a:ext uri="{FF2B5EF4-FFF2-40B4-BE49-F238E27FC236}">
                <a16:creationId xmlns:a16="http://schemas.microsoft.com/office/drawing/2014/main" id="{B6614A91-4845-4736-80C5-16BF9657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98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defPPr>
            <a:lvl1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1pPr>
            <a:lvl2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2pPr>
            <a:lvl3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3pPr>
            <a:lvl4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4pPr>
            <a:lvl5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5pPr>
            <a:lvl6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6pPr>
            <a:lvl7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7pPr>
            <a:lvl8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8pPr>
            <a:lvl9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750A4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6750A4"/>
                </a:solidFill>
                <a:latin typeface="Roboto"/>
                <a:ea typeface="Roboto"/>
                <a:cs typeface="Roboto"/>
              </a:rPr>
              <a:t>OCTOBER 2026</a:t>
            </a:r>
          </a:p>
        </p:txBody>
      </p:sp>
      <p:sp>
        <p:nvSpPr>
          <p:cNvPr id="10" name="roadmap-point-1">
            <a:extLst xmlns:a="http://schemas.openxmlformats.org/drawingml/2006/main">
              <a:ext uri="{FF2B5EF4-FFF2-40B4-BE49-F238E27FC236}">
                <a16:creationId xmlns:a16="http://schemas.microsoft.com/office/drawing/2014/main" id="{3B251D27-A768-4717-BBB7-C897652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59A8D12B-F4BD-4AE1-A153-4E22BF4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52775"/>
            <a:ext cx="323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Models, compute and</a:t>
            </a:r>
          </a:p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agents in one flow</a:t>
            </a:r>
          </a:p>
        </p:txBody>
      </p:sp>
      <p:sp>
        <p:nvSpPr>
          <p:cNvPr id="12" name="roadmap-date-2">
            <a:extLst xmlns:a="http://schemas.openxmlformats.org/drawingml/2006/main">
              <a:ext uri="{FF2B5EF4-FFF2-40B4-BE49-F238E27FC236}">
                <a16:creationId xmlns:a16="http://schemas.microsoft.com/office/drawing/2014/main" id="{3F1CBBD5-E985-4E78-BA9B-ACD5EF8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defPPr>
            <a:lvl1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1pPr>
            <a:lvl2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2pPr>
            <a:lvl3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3pPr>
            <a:lvl4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4pPr>
            <a:lvl5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5pPr>
            <a:lvl6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6pPr>
            <a:lvl7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7pPr>
            <a:lvl8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8pPr>
            <a:lvl9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6B5F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006B5F"/>
                </a:solidFill>
                <a:latin typeface="Roboto"/>
                <a:ea typeface="Roboto"/>
                <a:cs typeface="Roboto"/>
              </a:rPr>
              <a:t>NEXT</a:t>
            </a:r>
          </a:p>
        </p:txBody>
      </p:sp>
      <p:sp>
        <p:nvSpPr>
          <p:cNvPr id="13" name="roadmap-point-2">
            <a:extLst xmlns:a="http://schemas.openxmlformats.org/drawingml/2006/main">
              <a:ext uri="{FF2B5EF4-FFF2-40B4-BE49-F238E27FC236}">
                <a16:creationId xmlns:a16="http://schemas.microsoft.com/office/drawing/2014/main" id="{1410AA54-FE7F-426A-8248-22C23A1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08DC85CA-DFB9-4EC0-A340-655C9265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52775"/>
            <a:ext cx="323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defPPr>
            <a:lvl1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1pPr>
            <a:lvl2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2pPr>
            <a:lvl3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3pPr>
            <a:lvl4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4pPr>
            <a:lvl5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5pPr>
            <a:lvl6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6pPr>
            <a:lvl7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7pPr>
            <a:lvl8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8pPr>
            <a:lvl9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Independent providers</a:t>
            </a:r>
          </a:p>
          <a:p xmlns:a="http://schemas.openxmlformats.org/drawingml/2006/main">
            <a:pPr algn="l">
              <a:defRPr sz="2025" b="1">
                <a:solidFill>
                  <a:srgbClr val="1D1B2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D1B20"/>
                </a:solidFill>
                <a:latin typeface="Roboto"/>
                <a:ea typeface="Roboto"/>
                <a:cs typeface="Roboto"/>
              </a:rPr>
              <a:t>and hosted pilots</a:t>
            </a:r>
          </a:p>
        </p:txBody>
      </p:sp>
      <p:sp>
        <p:nvSpPr>
          <p:cNvPr id="15" name="closing-ask">
            <a:extLst xmlns:a="http://schemas.openxmlformats.org/drawingml/2006/main">
              <a:ext uri="{FF2B5EF4-FFF2-40B4-BE49-F238E27FC236}">
                <a16:creationId xmlns:a16="http://schemas.microsoft.com/office/drawing/2014/main" id="{5FE97974-786A-4965-B6AF-FFEA2D7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1524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2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ing-ask-title">
            <a:extLst xmlns:a="http://schemas.openxmlformats.org/drawingml/2006/main">
              <a:ext uri="{FF2B5EF4-FFF2-40B4-BE49-F238E27FC236}">
                <a16:creationId xmlns:a16="http://schemas.microsoft.com/office/drawing/2014/main" id="{2356C66E-37FF-49F7-8D55-1C3E0BE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2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2400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Seeking pilot teams and compute operators</a:t>
            </a:r>
          </a:p>
        </p:txBody>
      </p:sp>
      <p:sp>
        <p:nvSpPr>
          <p:cNvPr id="17" name="closing-website">
            <a:extLst xmlns:a="http://schemas.openxmlformats.org/drawingml/2006/main">
              <a:ext uri="{FF2B5EF4-FFF2-40B4-BE49-F238E27FC236}">
                <a16:creationId xmlns:a16="http://schemas.microsoft.com/office/drawing/2014/main" id="{464898CE-347D-4E5C-A895-6815A9BC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7181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F5EFF7"/>
                </a:solidFill>
                <a:latin typeface="Roboto"/>
                <a:ea typeface="Roboto"/>
                <a:cs typeface="Roboto"/>
              </a:rPr>
              <a:t>aperture-ai-gateway.vercel.app</a:t>
            </a:r>
          </a:p>
        </p:txBody>
      </p:sp>
      <p:sp>
        <p:nvSpPr>
          <p:cNvPr id="18" name="closing-founder">
            <a:extLst xmlns:a="http://schemas.openxmlformats.org/drawingml/2006/main">
              <a:ext uri="{FF2B5EF4-FFF2-40B4-BE49-F238E27FC236}">
                <a16:creationId xmlns:a16="http://schemas.microsoft.com/office/drawing/2014/main" id="{9925436B-0A6F-4468-9857-BC22CFF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34025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5EFF7"/>
                </a:solidFill>
                <a:latin typeface="Roboto"/>
                <a:ea typeface="Roboto"/>
                <a:cs typeface="Roboto"/>
              </a:rPr>
              <a:t>AliNurym</a:t>
            </a:r>
          </a:p>
        </p:txBody>
      </p:sp>
      <p:sp>
        <p:nvSpPr>
          <p:cNvPr id="19" name="closing-founder-role">
            <a:extLst xmlns:a="http://schemas.openxmlformats.org/drawingml/2006/main">
              <a:ext uri="{FF2B5EF4-FFF2-40B4-BE49-F238E27FC236}">
                <a16:creationId xmlns:a16="http://schemas.microsoft.com/office/drawing/2014/main" id="{8A8D9DB1-37B8-4352-8677-851D89F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9775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defPPr>
            <a:lvl1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1pPr>
            <a:lvl2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2pPr>
            <a:lvl3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3pPr>
            <a:lvl4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4pPr>
            <a:lvl5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5pPr>
            <a:lvl6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6pPr>
            <a:lvl7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7pPr>
            <a:lvl8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8pPr>
            <a:lvl9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5EFF7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F5EFF7"/>
                </a:solidFill>
                <a:latin typeface="Roboto"/>
                <a:ea typeface="Roboto"/>
                <a:cs typeface="Roboto"/>
              </a:rPr>
              <a:t>Founder &amp; developer</a:t>
            </a:r>
          </a:p>
        </p:txBody>
      </p:sp>
    </p:spTree>
    <p:extLst>
      <p:ext uri="{BB962C8B-B14F-4D97-AF65-F5344CB8AC3E}">
        <p14:creationId xmlns:p14="http://schemas.microsoft.com/office/powerpoint/2010/main" val="878070597"/>
      </p:ext>
    </p:extLst>
  </p:cSld>
</p:sld>
</file>

<file path=ppt/theme/theme1.xml><?xml version="1.0" encoding="utf-8"?>
<a:theme xmlns:a="http://schemas.openxmlformats.org/drawingml/2006/main" name="ChatGPT">
  <a:themeElements>
    <a:clrScheme name="Aperture Material 3">
      <a:dk1>
        <a:srgbClr val="1D1B20"/>
      </a:dk1>
      <a:lt1>
        <a:srgbClr val="FFFFFF"/>
      </a:lt1>
      <a:dk2>
        <a:srgbClr val="322F35"/>
      </a:dk2>
      <a:lt2>
        <a:srgbClr val="EADDFF"/>
      </a:lt2>
      <a:accent1>
        <a:srgbClr val="6750A4"/>
      </a:accent1>
      <a:accent2>
        <a:srgbClr val="006B5F"/>
      </a:accent2>
      <a:accent3>
        <a:srgbClr val="625B71"/>
      </a:accent3>
      <a:accent4>
        <a:srgbClr val="7D5260"/>
      </a:accent4>
      <a:accent5>
        <a:srgbClr val="B3261E"/>
      </a:accent5>
      <a:accent6>
        <a:srgbClr val="386A20"/>
      </a:accent6>
      <a:hlink>
        <a:srgbClr val="6750A4"/>
      </a:hlink>
      <a:folHlink>
        <a:srgbClr val="625B71"/>
      </a:folHlink>
    </a:clrScheme>
    <a:fontScheme name="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Aperture Material 3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2026-10-24T06:55:59.5930000Z</dcterms:created>
  <dcterms:modified xsi:type="dcterms:W3CDTF">2026-10-24T06:55:59.5930000Z</dcterms:modified>
</coreProperties>
</file>