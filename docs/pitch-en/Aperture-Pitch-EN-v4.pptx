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embeddedFontLst>
    <p:embeddedFont>
      <p:font typeface="Roboto" panose="02000000000000000000" pitchFamily="2" charset="0"/>
      <p:regular r:id="rId9"/>
      <p:bold r:id="rId10"/>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Tasks</c:v>
          </c:tx>
          <c:spPr>
            <a:solidFill>
              <a:srgbClr val="DFCEFF"/>
            </a:solidFill>
          </c:spPr>
          <c:invertIfNegative val="1"/>
          <c:dPt>
            <c:idx val="0"/>
            <c:invertIfNegative val="0"/>
            <c:bubble3D val="0"/>
            <c:spPr>
              <a:solidFill>
                <a:srgbClr val="7155A7"/>
              </a:solidFill>
            </c:spPr>
            <c:extLst>
              <c:ext xmlns:c16="http://schemas.microsoft.com/office/drawing/2014/chart" uri="{C3380CC4-5D6E-409C-BE32-E72D297353CC}">
                <c16:uniqueId val="{00000001-633E-4D8A-9E08-8B0EEBA86D0B}"/>
              </c:ext>
            </c:extLst>
          </c:dPt>
          <c:dPt>
            <c:idx val="1"/>
            <c:invertIfNegative val="0"/>
            <c:bubble3D val="0"/>
            <c:spPr>
              <a:solidFill>
                <a:srgbClr val="9B85C3"/>
              </a:solidFill>
            </c:spPr>
            <c:extLst>
              <c:ext xmlns:c16="http://schemas.microsoft.com/office/drawing/2014/chart" uri="{C3380CC4-5D6E-409C-BE32-E72D297353CC}">
                <c16:uniqueId val="{00000003-633E-4D8A-9E08-8B0EEBA86D0B}"/>
              </c:ext>
            </c:extLst>
          </c:dPt>
          <c:dLbls>
            <c:spPr>
              <a:noFill/>
              <a:ln>
                <a:noFill/>
              </a:ln>
              <a:effectLst/>
            </c:spPr>
            <c:txPr>
              <a:bodyPr anchorCtr="1"/>
              <a:lstStyle/>
              <a:p>
                <a:pPr>
                  <a:defRPr sz="2175" b="1">
                    <a:solidFill>
                      <a:srgbClr val="241D2C"/>
                    </a:solidFill>
                    <a:latin typeface="Roboto"/>
                    <a:ea typeface="Roboto"/>
                    <a:cs typeface="Roboto"/>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Planned</c:v>
                </c:pt>
                <c:pt idx="1">
                  <c:v>After recovery</c:v>
                </c:pt>
              </c:strCache>
            </c:strRef>
          </c:cat>
          <c:val>
            <c:numRef>
              <c:f>'Chart Data'!$B$2:$B$3</c:f>
              <c:numCache>
                <c:formatCode>0</c:formatCode>
                <c:ptCount val="2"/>
                <c:pt idx="0">
                  <c:v>5</c:v>
                </c:pt>
                <c:pt idx="1">
                  <c:v>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633E-4D8A-9E08-8B0EEBA86D0B}"/>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0">
            <a:noFill/>
          </a:ln>
        </c:spPr>
        <c:txPr>
          <a:bodyPr anchorCtr="1"/>
          <a:lstStyle/>
          <a:p>
            <a:pPr>
              <a:defRPr sz="1700">
                <a:solidFill>
                  <a:srgbClr val="655D6C"/>
                </a:solidFill>
                <a:latin typeface="Roboto"/>
                <a:ea typeface="Roboto"/>
                <a:cs typeface="Roboto"/>
              </a:defRPr>
            </a:pPr>
            <a:endParaRPr lang="ru-RU"/>
          </a:p>
        </c:txPr>
        <c:crossAx val="48672768"/>
        <c:crosses val="autoZero"/>
        <c:auto val="1"/>
        <c:lblAlgn val="ctr"/>
        <c:lblOffset val="100"/>
        <c:noMultiLvlLbl val="1"/>
      </c:catAx>
      <c:valAx>
        <c:axId val="48672768"/>
        <c:scaling>
          <c:orientation val="minMax"/>
          <c:max val="6"/>
          <c:min val="0"/>
        </c:scaling>
        <c:delete val="0"/>
        <c:axPos val="l"/>
        <c:numFmt formatCode="0" sourceLinked="1"/>
        <c:majorTickMark val="none"/>
        <c:minorTickMark val="none"/>
        <c:tickLblPos val="none"/>
        <c:spPr>
          <a:ln w="0">
            <a:noFill/>
          </a:ln>
        </c:spPr>
        <c:txPr>
          <a:bodyPr anchorCtr="1"/>
          <a:lstStyle/>
          <a:p>
            <a:pPr>
              <a:defRPr sz="1500">
                <a:solidFill>
                  <a:srgbClr val="655D6C"/>
                </a:solidFill>
                <a:latin typeface="Roboto"/>
                <a:ea typeface="Roboto"/>
                <a:cs typeface="Roboto"/>
              </a:defRPr>
            </a:pPr>
            <a:endParaRPr lang="ru-RU"/>
          </a:p>
        </c:txPr>
        <c:crossAx val="48650112"/>
        <c:crosses val="autoZero"/>
        <c:crossBetween val="between"/>
        <c:majorUnit val="1"/>
      </c:valAx>
      <c:spPr>
        <a:solidFill>
          <a:srgbClr val="FAF8FC"/>
        </a:solidFill>
        <a:ln w="0">
          <a:noFill/>
        </a:ln>
      </c:spPr>
    </c:plotArea>
    <c:plotVisOnly val="1"/>
    <c:dispBlanksAs val="zero"/>
    <c:showDLblsOverMax val="1"/>
  </c:chart>
  <c:spPr>
    <a:solidFill>
      <a:srgbClr val="FAF8FC"/>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0:00–0:14 (14 seconds)</a:t>
            </a:r>
          </a:p>
          <a:p>
            <a:endParaRPr/>
          </a:p>
          <a:p>
            <a:r>
              <a:t>Aperture is a compute workspace for AI agents. Owners set the budget and permissions, while agents run data tasks and return files with a clear execution record.</a:t>
            </a:r>
          </a:p>
          <a:p>
            <a:endParaRPr/>
          </a:p>
          <a:p>
            <a:r>
              <a:t>Sources</a:t>
            </a:r>
          </a:p>
          <a:p>
            <a:r>
              <a:t>README.md: project summary and current implementation</a:t>
            </a:r>
          </a:p>
          <a:p>
            <a:endParaRPr/>
          </a:p>
          <a:p>
            <a:r>
              <a:t>Context</a:t>
            </a:r>
          </a:p>
          <a:p>
            <a:r>
              <a:t>Current scope: CPU MVP. The user chooses the AI host and model. The local preview executes reviewed templates on a trusted host in OFF_CHAIN mode.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0:14–0:33 (19 seconds)</a:t>
            </a:r>
          </a:p>
          <a:p>
            <a:endParaRPr/>
          </a:p>
          <a:p>
            <a:r>
              <a:t>Imagine asking an agent to turn CSV files into a report. A useful result also needs spending control and a recovery path. Aperture gives that workflow an owner-approved budget and a record the team can inspect.</a:t>
            </a:r>
          </a:p>
          <a:p>
            <a:endParaRPr/>
          </a:p>
          <a:p>
            <a:r>
              <a:t>Sources</a:t>
            </a:r>
          </a:p>
          <a:p>
            <a:r>
              <a:t>README.md: First useful result</a:t>
            </a:r>
          </a:p>
          <a:p>
            <a:r>
              <a:t>docs/agent-workflows.md</a:t>
            </a:r>
          </a:p>
          <a:p>
            <a:endParaRPr/>
          </a:p>
          <a:p>
            <a:r>
              <a:t>Context</a:t>
            </a:r>
          </a:p>
          <a:p>
            <a:r>
              <a:t>The CSV request illustrates the supported workflow. It is not a claim about a paying customer. Recovery and spending control are product requirements, not an industry survey.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0:33–0:55 (22 seconds)</a:t>
            </a:r>
          </a:p>
          <a:p>
            <a:endParaRPr/>
          </a:p>
          <a:p>
            <a:r>
              <a:t>The owner assigns inputs and approves the execution plan. The agent uses MCP or our Python SDK to run it. Aperture checks permissions and saves progress, so accepted work can resume. The dataset can stay outside the model prompt.</a:t>
            </a:r>
          </a:p>
          <a:p>
            <a:endParaRPr/>
          </a:p>
          <a:p>
            <a:r>
              <a:t>Sources</a:t>
            </a:r>
          </a:p>
          <a:p>
            <a:r>
              <a:t>backend/workflow_inbox.py</a:t>
            </a:r>
          </a:p>
          <a:p>
            <a:r>
              <a:t>sdk/python/aperture_client/assigned_workflows.py</a:t>
            </a:r>
          </a:p>
          <a:p>
            <a:r>
              <a:t>sdk/python/aperture_client/workflows.py</a:t>
            </a:r>
          </a:p>
          <a:p>
            <a:r>
              <a:t>sdk/python/aperture_client/mcp_server.py</a:t>
            </a:r>
          </a:p>
          <a:p>
            <a:r>
              <a:t>README.md: First useful result</a:t>
            </a:r>
          </a:p>
          <a:p>
            <a:endParaRPr/>
          </a:p>
          <a:p>
            <a:r>
              <a:t>Context</a:t>
            </a:r>
          </a:p>
          <a:p>
            <a:r>
              <a:t>One budget approval covers the workflow. Upload, assignment, passport and observation authorizations remain separate. Data stays outside the prompt only when the host does not include it in model-visible results or logs. The gateway and worker access the input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0:55–1:19 (24 seconds)</a:t>
            </a:r>
          </a:p>
          <a:p>
            <a:endParaRPr/>
          </a:p>
          <a:p>
            <a:r>
              <a:t>We tested recovery with seventeen thousand synthetic CSV rows. After an intentional interruption, all five planned tasks completed with no duplicates. Three output files matched direct Python, byte for byte. This was trusted local CPU execution, with no blockchain payment or Docker isolation.</a:t>
            </a:r>
          </a:p>
          <a:p>
            <a:endParaRPr/>
          </a:p>
          <a:p>
            <a:r>
              <a:t>Sources</a:t>
            </a:r>
          </a:p>
          <a:p>
            <a:r>
              <a:t>.aperture/analysis-2026-10-05/assigned-workflow/run-summary.json</a:t>
            </a:r>
          </a:p>
          <a:p>
            <a:r>
              <a:t>docs/presentation-evidence.json: assigned_workflow and result</a:t>
            </a:r>
          </a:p>
          <a:p>
            <a:endParaRPr/>
          </a:p>
          <a:p>
            <a:r>
              <a:t>Context</a:t>
            </a:r>
          </a:p>
          <a:p>
            <a:r>
              <a:t>Saved evidence dated 5 October 2026, inspected for this deck on 7 October 2026. No new benchmark was run for this deck. Four input batches, five steps, five newly admitted tasks. Recovery checkpoint: admitted_before_task_journal_commit. Result files: report.json, categories.csv and quality.csv. This establishes the tested local recovery scenario, not a universal guarantee or remote throughput.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1:19–1:42 (23 seconds)</a:t>
            </a:r>
          </a:p>
          <a:p>
            <a:endParaRPr/>
          </a:p>
          <a:p>
            <a:r>
              <a:t>Solana supports delegated budgets, task spending caps and revocation. A separate retained Devnet run settled three thousand two hundred lamports and recorded a task receipt. Signed execution receipts bind input and output hashes, although they do not prove the correctness of a remote calculation.</a:t>
            </a:r>
          </a:p>
          <a:p>
            <a:endParaRPr/>
          </a:p>
          <a:p>
            <a:r>
              <a:t>Sources</a:t>
            </a:r>
          </a:p>
          <a:p>
            <a:r>
              <a:t>programs/src/lib.rs: passport, admission and settle_task_state</a:t>
            </a:r>
          </a:p>
          <a:p>
            <a:r>
              <a:t>README.md: Configured Docker and Devnet execution</a:t>
            </a:r>
          </a:p>
          <a:p>
            <a:r>
              <a:t>docs/presentation-evidence.json: devnet_execution</a:t>
            </a:r>
          </a:p>
          <a:p>
            <a:endParaRPr/>
          </a:p>
          <a:p>
            <a:r>
              <a:t>Context</a:t>
            </a:r>
          </a:p>
          <a:p>
            <a:r>
              <a:t>Devnet prototype. This slide describes implementation, not current network availability or Mainnet readiness. Saved evidence records a separate paid Devnet execution from 27 September 2026 and a read-only RPC observation on 5 October 2026. Live network state was not rechecked for this deck. The 17,000-row run on slide 4 made no Solana payment. The retained run charged 3,200 lamports. TaskReceipt attests settlement; the signed execution evidence separately binds input/output hashes. The historical observation does not establish present network availability.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1:42–2:00 (18 seconds)</a:t>
            </a:r>
          </a:p>
          <a:p>
            <a:endParaRPr/>
          </a:p>
          <a:p>
            <a:r>
              <a:t>Our first users would be teams building agents for recurring data reports. The CPU prototype, MCP tools and Python SDK are available for evaluation. Next, we want pilot workflows and stronger isolation validation. We are looking for teams with a recurring CSV task.</a:t>
            </a:r>
          </a:p>
          <a:p>
            <a:endParaRPr/>
          </a:p>
          <a:p>
            <a:r>
              <a:t>Sources</a:t>
            </a:r>
          </a:p>
          <a:p>
            <a:r>
              <a:t>README.md: current implementation</a:t>
            </a:r>
          </a:p>
          <a:p>
            <a:r>
              <a:t>docs/pilot-checklist.md</a:t>
            </a:r>
          </a:p>
          <a:p>
            <a:endParaRPr/>
          </a:p>
          <a:p>
            <a:r>
              <a:t>Context</a:t>
            </a:r>
          </a:p>
          <a:p>
            <a:r>
              <a:t>The pilot invitation is the proposed call to action for this pitch. No confirmed pilot customers, revenue, pricing, production readiness, GPU service or Mainnet launch is claimed. Next work: workload isolation validation and independent review before broader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C"/>
        </a:solidFill>
        <a:effectLst/>
      </p:bgPr>
    </p:bg>
    <p:spTree>
      <p:nvGrpSpPr>
        <p:cNvPr id="1" name=""/>
        <p:cNvGrpSpPr/>
        <p:nvPr/>
      </p:nvGrpSpPr>
      <p:grpSpPr>
        <a:xfrm>
          <a:off x="0" y="0"/>
          <a:ext cx="0" cy="0"/>
          <a:chOff x="0" y="0"/>
          <a:chExt cx="0" cy="0"/>
        </a:xfrm>
      </p:grpSpPr>
      <p:sp>
        <p:nvSpPr>
          <p:cNvPr id="13" name="01">
            <a:extLst>
              <a:ext uri="{FF2B5EF4-FFF2-40B4-BE49-F238E27FC236}">
                <a16:creationId xmlns:a16="http://schemas.microsoft.com/office/drawing/2014/main" id="{25929472-2524-4865-9307-9AA792B9554D}"/>
              </a:ext>
            </a:extLst>
          </p:cNvPr>
          <p:cNvSpPr>
            <a:spLocks noGrp="1"/>
          </p:cNvSpPr>
          <p:nvPr/>
        </p:nvSpPr>
        <p:spPr>
          <a:xfrm>
            <a:off x="11144250" y="447675"/>
            <a:ext cx="409575" cy="285750"/>
          </a:xfrm>
          <a:prstGeom prst="rect">
            <a:avLst/>
          </a:prstGeom>
          <a:noFill/>
          <a:ln w="0">
            <a:noFill/>
          </a:ln>
        </p:spPr>
        <p:txBody>
          <a:bodyPr lIns="0" tIns="0" rIns="0" bIns="0" anchor="t">
            <a:noAutofit/>
          </a:bodyPr>
          <a:lstStyle/>
          <a:p>
            <a:pPr algn="r">
              <a:defRPr sz="1425" b="0">
                <a:solidFill>
                  <a:srgbClr val="655D6C"/>
                </a:solidFill>
                <a:latin typeface="Roboto"/>
                <a:ea typeface="Roboto"/>
                <a:cs typeface="Roboto"/>
              </a:defRPr>
            </a:pPr>
            <a:r>
              <a:rPr sz="1425" b="0">
                <a:solidFill>
                  <a:srgbClr val="655D6C"/>
                </a:solidFill>
                <a:latin typeface="Roboto"/>
                <a:ea typeface="Roboto"/>
                <a:cs typeface="Roboto"/>
              </a:rPr>
              <a:t>01</a:t>
            </a:r>
          </a:p>
        </p:txBody>
      </p:sp>
      <p:sp>
        <p:nvSpPr>
          <p:cNvPr id="2" name="Aperture">
            <a:extLst>
              <a:ext uri="{FF2B5EF4-FFF2-40B4-BE49-F238E27FC236}">
                <a16:creationId xmlns:a16="http://schemas.microsoft.com/office/drawing/2014/main" id="{AE3E9446-3E79-41B2-9405-F4A3C190A14D}"/>
              </a:ext>
            </a:extLst>
          </p:cNvPr>
          <p:cNvSpPr>
            <a:spLocks noGrp="1"/>
          </p:cNvSpPr>
          <p:nvPr/>
        </p:nvSpPr>
        <p:spPr>
          <a:xfrm>
            <a:off x="685800" y="1885950"/>
            <a:ext cx="7239000" cy="1219200"/>
          </a:xfrm>
          <a:prstGeom prst="rect">
            <a:avLst/>
          </a:prstGeom>
          <a:noFill/>
          <a:ln w="0">
            <a:noFill/>
          </a:ln>
        </p:spPr>
        <p:txBody>
          <a:bodyPr lIns="0" tIns="0" rIns="0" bIns="0" anchor="t">
            <a:noAutofit/>
          </a:bodyPr>
          <a:lstStyle/>
          <a:p>
            <a:pPr algn="l">
              <a:defRPr sz="6825" b="1">
                <a:solidFill>
                  <a:srgbClr val="241D2C"/>
                </a:solidFill>
                <a:latin typeface="Roboto"/>
                <a:ea typeface="Roboto"/>
                <a:cs typeface="Roboto"/>
              </a:defRPr>
            </a:pPr>
            <a:r>
              <a:rPr sz="6825" b="1">
                <a:solidFill>
                  <a:srgbClr val="241D2C"/>
                </a:solidFill>
                <a:latin typeface="Roboto"/>
                <a:ea typeface="Roboto"/>
                <a:cs typeface="Roboto"/>
              </a:rPr>
              <a:t>Aperture</a:t>
            </a:r>
          </a:p>
        </p:txBody>
      </p:sp>
      <p:sp>
        <p:nvSpPr>
          <p:cNvPr id="3" name="A compute workspace for AI agents">
            <a:extLst>
              <a:ext uri="{FF2B5EF4-FFF2-40B4-BE49-F238E27FC236}">
                <a16:creationId xmlns:a16="http://schemas.microsoft.com/office/drawing/2014/main" id="{0C37F218-1AF7-4050-A5A7-1CFCCB767570}"/>
              </a:ext>
            </a:extLst>
          </p:cNvPr>
          <p:cNvSpPr>
            <a:spLocks noGrp="1"/>
          </p:cNvSpPr>
          <p:nvPr/>
        </p:nvSpPr>
        <p:spPr>
          <a:xfrm>
            <a:off x="714375" y="3343275"/>
            <a:ext cx="7210425" cy="1409700"/>
          </a:xfrm>
          <a:prstGeom prst="rect">
            <a:avLst/>
          </a:prstGeom>
          <a:noFill/>
          <a:ln w="0">
            <a:noFill/>
          </a:ln>
        </p:spPr>
        <p:txBody>
          <a:bodyPr lIns="0" tIns="0" rIns="0" bIns="0" anchor="t">
            <a:noAutofit/>
          </a:bodyPr>
          <a:lstStyle/>
          <a:p>
            <a:pPr algn="l">
              <a:defRPr sz="3525" b="0">
                <a:solidFill>
                  <a:srgbClr val="241D2C"/>
                </a:solidFill>
                <a:latin typeface="Roboto"/>
                <a:ea typeface="Roboto"/>
                <a:cs typeface="Roboto"/>
              </a:defRPr>
            </a:pPr>
            <a:r>
              <a:rPr sz="3525" b="0">
                <a:solidFill>
                  <a:srgbClr val="241D2C"/>
                </a:solidFill>
                <a:latin typeface="Roboto"/>
                <a:ea typeface="Roboto"/>
                <a:cs typeface="Roboto"/>
              </a:rPr>
              <a:t>A compute workspace</a:t>
            </a:r>
          </a:p>
          <a:p>
            <a:pPr algn="l">
              <a:defRPr sz="3525" b="0">
                <a:solidFill>
                  <a:srgbClr val="241D2C"/>
                </a:solidFill>
                <a:latin typeface="Roboto"/>
                <a:ea typeface="Roboto"/>
                <a:cs typeface="Roboto"/>
              </a:defRPr>
            </a:pPr>
            <a:r>
              <a:rPr sz="3525" b="0">
                <a:solidFill>
                  <a:srgbClr val="241D2C"/>
                </a:solidFill>
                <a:latin typeface="Roboto"/>
                <a:ea typeface="Roboto"/>
                <a:cs typeface="Roboto"/>
              </a:rPr>
              <a:t>for AI agents</a:t>
            </a:r>
          </a:p>
        </p:txBody>
      </p:sp>
      <p:sp>
        <p:nvSpPr>
          <p:cNvPr id="4" name="Owner-approved compute for bounded, recoverable runs.">
            <a:extLst>
              <a:ext uri="{FF2B5EF4-FFF2-40B4-BE49-F238E27FC236}">
                <a16:creationId xmlns:a16="http://schemas.microsoft.com/office/drawing/2014/main" id="{1D5386CD-349A-48F3-880B-1DD51283CA52}"/>
              </a:ext>
            </a:extLst>
          </p:cNvPr>
          <p:cNvSpPr>
            <a:spLocks noGrp="1"/>
          </p:cNvSpPr>
          <p:nvPr/>
        </p:nvSpPr>
        <p:spPr>
          <a:xfrm>
            <a:off x="733425" y="5029200"/>
            <a:ext cx="7000875" cy="552450"/>
          </a:xfrm>
          <a:prstGeom prst="rect">
            <a:avLst/>
          </a:prstGeom>
          <a:noFill/>
          <a:ln w="0">
            <a:noFill/>
          </a:ln>
        </p:spPr>
        <p:txBody>
          <a:bodyPr lIns="0" tIns="0" rIns="0" bIns="0" anchor="t">
            <a:noAutofit/>
          </a:bodyPr>
          <a:lstStyle/>
          <a:p>
            <a:pPr algn="l">
              <a:defRPr sz="1800" b="0">
                <a:solidFill>
                  <a:srgbClr val="655D6C"/>
                </a:solidFill>
                <a:latin typeface="Roboto"/>
                <a:ea typeface="Roboto"/>
                <a:cs typeface="Roboto"/>
              </a:defRPr>
            </a:pPr>
            <a:r>
              <a:rPr sz="1800" b="0">
                <a:solidFill>
                  <a:srgbClr val="655D6C"/>
                </a:solidFill>
                <a:latin typeface="Roboto"/>
                <a:ea typeface="Roboto"/>
                <a:cs typeface="Roboto"/>
              </a:rPr>
              <a:t>Owner-approved compute for bounded, recoverable runs.</a:t>
            </a:r>
          </a:p>
        </p:txBody>
      </p:sp>
      <p:sp>
        <p:nvSpPr>
          <p:cNvPr id="5" name="Content panel">
            <a:extLst>
              <a:ext uri="{FF2B5EF4-FFF2-40B4-BE49-F238E27FC236}">
                <a16:creationId xmlns:a16="http://schemas.microsoft.com/office/drawing/2014/main" id="{A76EE388-E60F-4BF6-BFB5-7617F08D5D5E}"/>
              </a:ext>
            </a:extLst>
          </p:cNvPr>
          <p:cNvSpPr>
            <a:spLocks noGrp="1"/>
          </p:cNvSpPr>
          <p:nvPr/>
        </p:nvSpPr>
        <p:spPr>
          <a:xfrm>
            <a:off x="733425" y="5753100"/>
            <a:ext cx="1885950" cy="457200"/>
          </a:xfrm>
          <a:prstGeom prst="roundRect">
            <a:avLst>
              <a:gd name="adj" fmla="val 16667"/>
            </a:avLst>
          </a:prstGeom>
          <a:solidFill>
            <a:srgbClr val="EFE7F7"/>
          </a:solidFill>
          <a:ln w="0">
            <a:noFill/>
          </a:ln>
        </p:spPr>
      </p:sp>
      <p:sp>
        <p:nvSpPr>
          <p:cNvPr id="6" name="BUDGETED">
            <a:extLst>
              <a:ext uri="{FF2B5EF4-FFF2-40B4-BE49-F238E27FC236}">
                <a16:creationId xmlns:a16="http://schemas.microsoft.com/office/drawing/2014/main" id="{A9A0E8C9-FF31-4C3B-A4D2-0F8A4FAAF06F}"/>
              </a:ext>
            </a:extLst>
          </p:cNvPr>
          <p:cNvSpPr>
            <a:spLocks noGrp="1"/>
          </p:cNvSpPr>
          <p:nvPr/>
        </p:nvSpPr>
        <p:spPr>
          <a:xfrm>
            <a:off x="857250" y="5867400"/>
            <a:ext cx="1657350" cy="247650"/>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BUDGETED</a:t>
            </a:r>
          </a:p>
        </p:txBody>
      </p:sp>
      <p:sp>
        <p:nvSpPr>
          <p:cNvPr id="7" name="Content panel">
            <a:extLst>
              <a:ext uri="{FF2B5EF4-FFF2-40B4-BE49-F238E27FC236}">
                <a16:creationId xmlns:a16="http://schemas.microsoft.com/office/drawing/2014/main" id="{692E6235-477E-40C0-950F-1D1B9715A42E}"/>
              </a:ext>
            </a:extLst>
          </p:cNvPr>
          <p:cNvSpPr>
            <a:spLocks noGrp="1"/>
          </p:cNvSpPr>
          <p:nvPr/>
        </p:nvSpPr>
        <p:spPr>
          <a:xfrm>
            <a:off x="2847975" y="5753100"/>
            <a:ext cx="1885950" cy="457200"/>
          </a:xfrm>
          <a:prstGeom prst="roundRect">
            <a:avLst>
              <a:gd name="adj" fmla="val 16667"/>
            </a:avLst>
          </a:prstGeom>
          <a:solidFill>
            <a:srgbClr val="EFE7F7"/>
          </a:solidFill>
          <a:ln w="0">
            <a:noFill/>
          </a:ln>
        </p:spPr>
      </p:sp>
      <p:sp>
        <p:nvSpPr>
          <p:cNvPr id="8" name="RESUMABLE">
            <a:extLst>
              <a:ext uri="{FF2B5EF4-FFF2-40B4-BE49-F238E27FC236}">
                <a16:creationId xmlns:a16="http://schemas.microsoft.com/office/drawing/2014/main" id="{E9EB5752-EE6C-4A17-AE43-C37B8582A2A3}"/>
              </a:ext>
            </a:extLst>
          </p:cNvPr>
          <p:cNvSpPr>
            <a:spLocks noGrp="1"/>
          </p:cNvSpPr>
          <p:nvPr/>
        </p:nvSpPr>
        <p:spPr>
          <a:xfrm>
            <a:off x="2971800" y="5867400"/>
            <a:ext cx="1657350" cy="247650"/>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RESUMABLE</a:t>
            </a:r>
          </a:p>
        </p:txBody>
      </p:sp>
      <p:sp>
        <p:nvSpPr>
          <p:cNvPr id="9" name="Content panel">
            <a:extLst>
              <a:ext uri="{FF2B5EF4-FFF2-40B4-BE49-F238E27FC236}">
                <a16:creationId xmlns:a16="http://schemas.microsoft.com/office/drawing/2014/main" id="{7D7C397F-57C7-42E7-A20E-637054454ADB}"/>
              </a:ext>
            </a:extLst>
          </p:cNvPr>
          <p:cNvSpPr>
            <a:spLocks noGrp="1"/>
          </p:cNvSpPr>
          <p:nvPr/>
        </p:nvSpPr>
        <p:spPr>
          <a:xfrm>
            <a:off x="4962525" y="5753100"/>
            <a:ext cx="1885950" cy="457200"/>
          </a:xfrm>
          <a:prstGeom prst="roundRect">
            <a:avLst>
              <a:gd name="adj" fmla="val 16667"/>
            </a:avLst>
          </a:prstGeom>
          <a:solidFill>
            <a:srgbClr val="EFE7F7"/>
          </a:solidFill>
          <a:ln w="0">
            <a:noFill/>
          </a:ln>
        </p:spPr>
      </p:sp>
      <p:sp>
        <p:nvSpPr>
          <p:cNvPr id="10" name="TRACEABLE">
            <a:extLst>
              <a:ext uri="{FF2B5EF4-FFF2-40B4-BE49-F238E27FC236}">
                <a16:creationId xmlns:a16="http://schemas.microsoft.com/office/drawing/2014/main" id="{8E903156-F66F-4CBA-9445-753AF58A435B}"/>
              </a:ext>
            </a:extLst>
          </p:cNvPr>
          <p:cNvSpPr>
            <a:spLocks noGrp="1"/>
          </p:cNvSpPr>
          <p:nvPr/>
        </p:nvSpPr>
        <p:spPr>
          <a:xfrm>
            <a:off x="5086350" y="5867400"/>
            <a:ext cx="1657350" cy="247650"/>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TRACEABLE</a:t>
            </a:r>
          </a:p>
        </p:txBody>
      </p:sp>
      <p:pic>
        <p:nvPicPr>
          <p:cNvPr id="23" name="Picture 22"/>
          <p:cNvPicPr>
            <a:picLocks noChangeAspect="1"/>
          </p:cNvPicPr>
          <p:nvPr/>
        </p:nvPicPr>
        <p:blipFill>
          <a:blip r:embed="rId3"/>
          <a:stretch/>
        </p:blipFill>
        <p:spPr>
          <a:xfrm>
            <a:off x="8115300" y="2133600"/>
            <a:ext cx="3143250" cy="3143250"/>
          </a:xfrm>
          <a:prstGeom prst="rect">
            <a:avLst/>
          </a:prstGeom>
        </p:spPr>
      </p:pic>
      <p:sp>
        <p:nvSpPr>
          <p:cNvPr id="12" name="CPU MVP">
            <a:extLst>
              <a:ext uri="{FF2B5EF4-FFF2-40B4-BE49-F238E27FC236}">
                <a16:creationId xmlns:a16="http://schemas.microsoft.com/office/drawing/2014/main" id="{B8E7C853-17A5-4EC1-883A-CFCEBF051C18}"/>
              </a:ext>
            </a:extLst>
          </p:cNvPr>
          <p:cNvSpPr>
            <a:spLocks noGrp="1"/>
          </p:cNvSpPr>
          <p:nvPr/>
        </p:nvSpPr>
        <p:spPr>
          <a:xfrm>
            <a:off x="714375" y="676275"/>
            <a:ext cx="5048250" cy="333375"/>
          </a:xfrm>
          <a:prstGeom prst="rect">
            <a:avLst/>
          </a:prstGeom>
          <a:noFill/>
          <a:ln w="0">
            <a:noFill/>
          </a:ln>
        </p:spPr>
        <p:txBody>
          <a:bodyPr lIns="0" tIns="0" rIns="0" bIns="0" anchor="t">
            <a:noAutofit/>
          </a:bodyPr>
          <a:lstStyle/>
          <a:p>
            <a:pPr algn="l">
              <a:defRPr sz="1800" b="1">
                <a:solidFill>
                  <a:srgbClr val="7155A7"/>
                </a:solidFill>
                <a:latin typeface="Roboto"/>
                <a:ea typeface="Roboto"/>
                <a:cs typeface="Roboto"/>
              </a:defRPr>
            </a:pPr>
            <a:r>
              <a:rPr sz="1800" b="1">
                <a:solidFill>
                  <a:srgbClr val="7155A7"/>
                </a:solidFill>
                <a:latin typeface="Roboto"/>
                <a:ea typeface="Roboto"/>
                <a:cs typeface="Roboto"/>
              </a:rPr>
              <a:t>CPU MVP</a:t>
            </a:r>
          </a:p>
        </p:txBody>
      </p:sp>
    </p:spTree>
    <p:extLst>
      <p:ext uri="{BB962C8B-B14F-4D97-AF65-F5344CB8AC3E}">
        <p14:creationId xmlns:p14="http://schemas.microsoft.com/office/powerpoint/2010/main" val="1983184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C"/>
        </a:solidFill>
        <a:effectLst/>
      </p:bgPr>
    </p:bg>
    <p:spTree>
      <p:nvGrpSpPr>
        <p:cNvPr id="1" name=""/>
        <p:cNvGrpSpPr/>
        <p:nvPr/>
      </p:nvGrpSpPr>
      <p:grpSpPr>
        <a:xfrm>
          <a:off x="0" y="0"/>
          <a:ext cx="0" cy="0"/>
          <a:chOff x="0" y="0"/>
          <a:chExt cx="0" cy="0"/>
        </a:xfrm>
      </p:grpSpPr>
      <p:sp>
        <p:nvSpPr>
          <p:cNvPr id="8" name="02">
            <a:extLst>
              <a:ext uri="{FF2B5EF4-FFF2-40B4-BE49-F238E27FC236}">
                <a16:creationId xmlns:a16="http://schemas.microsoft.com/office/drawing/2014/main" id="{C8002F20-680D-458B-BFCF-29C3FC900390}"/>
              </a:ext>
            </a:extLst>
          </p:cNvPr>
          <p:cNvSpPr>
            <a:spLocks noGrp="1"/>
          </p:cNvSpPr>
          <p:nvPr/>
        </p:nvSpPr>
        <p:spPr>
          <a:xfrm>
            <a:off x="11144250" y="447675"/>
            <a:ext cx="409575" cy="285750"/>
          </a:xfrm>
          <a:prstGeom prst="rect">
            <a:avLst/>
          </a:prstGeom>
          <a:noFill/>
          <a:ln w="0">
            <a:noFill/>
          </a:ln>
        </p:spPr>
        <p:txBody>
          <a:bodyPr lIns="0" tIns="0" rIns="0" bIns="0" anchor="t">
            <a:noAutofit/>
          </a:bodyPr>
          <a:lstStyle/>
          <a:p>
            <a:pPr algn="r">
              <a:defRPr sz="1425" b="0">
                <a:solidFill>
                  <a:srgbClr val="655D6C"/>
                </a:solidFill>
                <a:latin typeface="Roboto"/>
                <a:ea typeface="Roboto"/>
                <a:cs typeface="Roboto"/>
              </a:defRPr>
            </a:pPr>
            <a:r>
              <a:rPr sz="1425" b="0">
                <a:solidFill>
                  <a:srgbClr val="655D6C"/>
                </a:solidFill>
                <a:latin typeface="Roboto"/>
                <a:ea typeface="Roboto"/>
                <a:cs typeface="Roboto"/>
              </a:rPr>
              <a:t>02</a:t>
            </a:r>
          </a:p>
        </p:txBody>
      </p:sp>
      <p:sp>
        <p:nvSpPr>
          <p:cNvPr id="2" name="When an agent runs, the owner keeps control.">
            <a:extLst>
              <a:ext uri="{FF2B5EF4-FFF2-40B4-BE49-F238E27FC236}">
                <a16:creationId xmlns:a16="http://schemas.microsoft.com/office/drawing/2014/main" id="{C1B7055A-7F26-49EB-B418-C65DD4E946F9}"/>
              </a:ext>
            </a:extLst>
          </p:cNvPr>
          <p:cNvSpPr>
            <a:spLocks noGrp="1"/>
          </p:cNvSpPr>
          <p:nvPr/>
        </p:nvSpPr>
        <p:spPr>
          <a:xfrm>
            <a:off x="685800" y="685800"/>
            <a:ext cx="10572750" cy="723900"/>
          </a:xfrm>
          <a:prstGeom prst="rect">
            <a:avLst/>
          </a:prstGeom>
          <a:noFill/>
          <a:ln w="0">
            <a:noFill/>
          </a:ln>
        </p:spPr>
        <p:txBody>
          <a:bodyPr lIns="0" tIns="0" rIns="0" bIns="0" anchor="t">
            <a:noAutofit/>
          </a:bodyPr>
          <a:lstStyle/>
          <a:p>
            <a:pPr algn="l">
              <a:defRPr sz="3600" b="1">
                <a:solidFill>
                  <a:srgbClr val="241D2C"/>
                </a:solidFill>
                <a:latin typeface="Roboto"/>
                <a:ea typeface="Roboto"/>
                <a:cs typeface="Roboto"/>
              </a:defRPr>
            </a:pPr>
            <a:r>
              <a:rPr sz="3600" b="1">
                <a:solidFill>
                  <a:srgbClr val="241D2C"/>
                </a:solidFill>
                <a:latin typeface="Roboto"/>
                <a:ea typeface="Roboto"/>
                <a:cs typeface="Roboto"/>
              </a:rPr>
              <a:t>When an agent runs, the owner keeps control.</a:t>
            </a:r>
          </a:p>
        </p:txBody>
      </p:sp>
      <p:sp>
        <p:nvSpPr>
          <p:cNvPr id="3" name="“Turn these CSV files into a report.”">
            <a:extLst>
              <a:ext uri="{FF2B5EF4-FFF2-40B4-BE49-F238E27FC236}">
                <a16:creationId xmlns:a16="http://schemas.microsoft.com/office/drawing/2014/main" id="{3FF29F7C-32C7-47DF-A8EB-B87BAC126B3F}"/>
              </a:ext>
            </a:extLst>
          </p:cNvPr>
          <p:cNvSpPr>
            <a:spLocks noGrp="1"/>
          </p:cNvSpPr>
          <p:nvPr/>
        </p:nvSpPr>
        <p:spPr>
          <a:xfrm>
            <a:off x="685800" y="2619375"/>
            <a:ext cx="3714750" cy="1200150"/>
          </a:xfrm>
          <a:prstGeom prst="rect">
            <a:avLst/>
          </a:prstGeom>
          <a:noFill/>
          <a:ln w="0">
            <a:noFill/>
          </a:ln>
        </p:spPr>
        <p:txBody>
          <a:bodyPr lIns="0" tIns="0" rIns="0" bIns="0" anchor="t">
            <a:noAutofit/>
          </a:bodyPr>
          <a:lstStyle/>
          <a:p>
            <a:pPr algn="l">
              <a:defRPr sz="2625" b="1">
                <a:solidFill>
                  <a:srgbClr val="7155A7"/>
                </a:solidFill>
                <a:latin typeface="Roboto"/>
                <a:ea typeface="Roboto"/>
                <a:cs typeface="Roboto"/>
              </a:defRPr>
            </a:pPr>
            <a:r>
              <a:rPr sz="2625" b="1">
                <a:solidFill>
                  <a:srgbClr val="7155A7"/>
                </a:solidFill>
                <a:latin typeface="Roboto"/>
                <a:ea typeface="Roboto"/>
                <a:cs typeface="Roboto"/>
              </a:rPr>
              <a:t>“Turn these CSV files</a:t>
            </a:r>
          </a:p>
          <a:p>
            <a:pPr algn="l">
              <a:defRPr sz="2625" b="1">
                <a:solidFill>
                  <a:srgbClr val="7155A7"/>
                </a:solidFill>
                <a:latin typeface="Roboto"/>
                <a:ea typeface="Roboto"/>
                <a:cs typeface="Roboto"/>
              </a:defRPr>
            </a:pPr>
            <a:r>
              <a:rPr sz="2625" b="1">
                <a:solidFill>
                  <a:srgbClr val="7155A7"/>
                </a:solidFill>
                <a:latin typeface="Roboto"/>
                <a:ea typeface="Roboto"/>
                <a:cs typeface="Roboto"/>
              </a:rPr>
              <a:t>into a report.”</a:t>
            </a:r>
          </a:p>
        </p:txBody>
      </p:sp>
      <p:sp>
        <p:nvSpPr>
          <p:cNvPr id="4" name="One workflow. One approved budget. A result the owner can ch">
            <a:extLst>
              <a:ext uri="{FF2B5EF4-FFF2-40B4-BE49-F238E27FC236}">
                <a16:creationId xmlns:a16="http://schemas.microsoft.com/office/drawing/2014/main" id="{8179E9BA-310E-4343-8608-841F3C511A7D}"/>
              </a:ext>
            </a:extLst>
          </p:cNvPr>
          <p:cNvSpPr>
            <a:spLocks noGrp="1"/>
          </p:cNvSpPr>
          <p:nvPr/>
        </p:nvSpPr>
        <p:spPr>
          <a:xfrm>
            <a:off x="685800" y="4267200"/>
            <a:ext cx="3714750" cy="1190625"/>
          </a:xfrm>
          <a:prstGeom prst="rect">
            <a:avLst/>
          </a:prstGeom>
          <a:noFill/>
          <a:ln w="0">
            <a:noFill/>
          </a:ln>
        </p:spPr>
        <p:txBody>
          <a:bodyPr lIns="0" tIns="0" rIns="0" bIns="0" anchor="t">
            <a:noAutofit/>
          </a:bodyPr>
          <a:lstStyle/>
          <a:p>
            <a:pPr algn="l">
              <a:defRPr sz="1875" b="0">
                <a:solidFill>
                  <a:srgbClr val="655D6C"/>
                </a:solidFill>
                <a:latin typeface="Roboto"/>
                <a:ea typeface="Roboto"/>
                <a:cs typeface="Roboto"/>
              </a:defRPr>
            </a:pPr>
            <a:r>
              <a:rPr sz="1875" b="0">
                <a:solidFill>
                  <a:srgbClr val="655D6C"/>
                </a:solidFill>
                <a:latin typeface="Roboto"/>
                <a:ea typeface="Roboto"/>
                <a:cs typeface="Roboto"/>
              </a:rPr>
              <a:t>One workflow.</a:t>
            </a:r>
          </a:p>
          <a:p>
            <a:pPr algn="l">
              <a:defRPr sz="1875" b="0">
                <a:solidFill>
                  <a:srgbClr val="655D6C"/>
                </a:solidFill>
                <a:latin typeface="Roboto"/>
                <a:ea typeface="Roboto"/>
                <a:cs typeface="Roboto"/>
              </a:defRPr>
            </a:pPr>
            <a:r>
              <a:rPr sz="1875" b="0">
                <a:solidFill>
                  <a:srgbClr val="655D6C"/>
                </a:solidFill>
                <a:latin typeface="Roboto"/>
                <a:ea typeface="Roboto"/>
                <a:cs typeface="Roboto"/>
              </a:rPr>
              <a:t>One approved budget.</a:t>
            </a:r>
          </a:p>
          <a:p>
            <a:pPr algn="l">
              <a:defRPr sz="1875" b="0">
                <a:solidFill>
                  <a:srgbClr val="655D6C"/>
                </a:solidFill>
                <a:latin typeface="Roboto"/>
                <a:ea typeface="Roboto"/>
                <a:cs typeface="Roboto"/>
              </a:defRPr>
            </a:pPr>
            <a:r>
              <a:rPr sz="1875" b="0">
                <a:solidFill>
                  <a:srgbClr val="655D6C"/>
                </a:solidFill>
                <a:latin typeface="Roboto"/>
                <a:ea typeface="Roboto"/>
                <a:cs typeface="Roboto"/>
              </a:rPr>
              <a:t>A result the owner can check.</a:t>
            </a:r>
          </a:p>
        </p:txBody>
      </p:sp>
      <p:graphicFrame>
        <p:nvGraphicFramePr>
          <p:cNvPr id="12" name="Table 11"/>
          <p:cNvGraphicFramePr/>
          <p:nvPr>
            <p:extLst>
              <p:ext uri="{D42A27DB-BD31-4B8C-83A1-F6EECF244321}">
                <p14:modId xmlns:p14="http://schemas.microsoft.com/office/powerpoint/2010/main" val="2925744705"/>
              </p:ext>
            </p:extLst>
          </p:nvPr>
        </p:nvGraphicFramePr>
        <p:xfrm>
          <a:off x="4772025" y="2390775"/>
          <a:ext cx="6734175" cy="3067050"/>
        </p:xfrm>
        <a:graphic>
          <a:graphicData uri="http://schemas.openxmlformats.org/drawingml/2006/table">
            <a:tbl>
              <a:tblPr/>
              <a:tblGrid>
                <a:gridCol w="2152650">
                  <a:extLst>
                    <a:ext uri="{9D8B030D-6E8A-4147-A177-3AD203B41FA5}">
                      <a16:colId xmlns:a16="http://schemas.microsoft.com/office/drawing/2014/main" val="20000"/>
                    </a:ext>
                  </a:extLst>
                </a:gridCol>
                <a:gridCol w="4581525">
                  <a:extLst>
                    <a:ext uri="{9D8B030D-6E8A-4147-A177-3AD203B41FA5}">
                      <a16:colId xmlns:a16="http://schemas.microsoft.com/office/drawing/2014/main" val="20001"/>
                    </a:ext>
                  </a:extLst>
                </a:gridCol>
              </a:tblGrid>
              <a:tr h="542925">
                <a:tc>
                  <a:txBody>
                    <a:bodyPr/>
                    <a:lstStyle/>
                    <a:p>
                      <a:r>
                        <a:rPr sz="1650" b="1">
                          <a:solidFill>
                            <a:srgbClr val="7155A7"/>
                          </a:solidFill>
                          <a:latin typeface="Roboto"/>
                          <a:ea typeface="Roboto"/>
                          <a:cs typeface="Roboto"/>
                        </a:rPr>
                        <a:t>Owner asks</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650" b="1">
                          <a:solidFill>
                            <a:srgbClr val="7155A7"/>
                          </a:solidFill>
                          <a:latin typeface="Roboto"/>
                          <a:ea typeface="Roboto"/>
                          <a:cs typeface="Roboto"/>
                        </a:rPr>
                        <a:t>Aperture guardrail</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extLst>
                  <a:ext uri="{0D108BD9-81ED-4DB2-BD59-A6C34878D82A}">
                    <a16:rowId xmlns:a16="http://schemas.microsoft.com/office/drawing/2014/main" val="10000"/>
                  </a:ext>
                </a:extLst>
              </a:tr>
              <a:tr h="841375">
                <a:tc>
                  <a:txBody>
                    <a:bodyPr/>
                    <a:lstStyle/>
                    <a:p>
                      <a:r>
                        <a:rPr sz="1575" b="1">
                          <a:solidFill>
                            <a:srgbClr val="7155A7"/>
                          </a:solidFill>
                          <a:latin typeface="Roboto"/>
                          <a:ea typeface="Roboto"/>
                          <a:cs typeface="Roboto"/>
                        </a:rPr>
                        <a:t>What can it spend?</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575">
                          <a:solidFill>
                            <a:srgbClr val="241D2C"/>
                          </a:solidFill>
                          <a:latin typeface="Roboto"/>
                          <a:ea typeface="Roboto"/>
                          <a:cs typeface="Roboto"/>
                        </a:rPr>
                        <a:t>One workflow spending cap</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FFFFFF"/>
                    </a:solidFill>
                  </a:tcPr>
                </a:tc>
                <a:extLst>
                  <a:ext uri="{0D108BD9-81ED-4DB2-BD59-A6C34878D82A}">
                    <a16:rowId xmlns:a16="http://schemas.microsoft.com/office/drawing/2014/main" val="10001"/>
                  </a:ext>
                </a:extLst>
              </a:tr>
              <a:tr h="841375">
                <a:tc>
                  <a:txBody>
                    <a:bodyPr/>
                    <a:lstStyle/>
                    <a:p>
                      <a:r>
                        <a:rPr sz="1575" b="1">
                          <a:solidFill>
                            <a:srgbClr val="7155A7"/>
                          </a:solidFill>
                          <a:latin typeface="Roboto"/>
                          <a:ea typeface="Roboto"/>
                          <a:cs typeface="Roboto"/>
                        </a:rPr>
                        <a:t>Where did it stop?</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575">
                          <a:solidFill>
                            <a:srgbClr val="241D2C"/>
                          </a:solidFill>
                          <a:latin typeface="Roboto"/>
                          <a:ea typeface="Roboto"/>
                          <a:cs typeface="Roboto"/>
                        </a:rPr>
                        <a:t>Resume from the saved journal</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FFFFFF"/>
                    </a:solidFill>
                  </a:tcPr>
                </a:tc>
                <a:extLst>
                  <a:ext uri="{0D108BD9-81ED-4DB2-BD59-A6C34878D82A}">
                    <a16:rowId xmlns:a16="http://schemas.microsoft.com/office/drawing/2014/main" val="10002"/>
                  </a:ext>
                </a:extLst>
              </a:tr>
              <a:tr h="841375">
                <a:tc>
                  <a:txBody>
                    <a:bodyPr/>
                    <a:lstStyle/>
                    <a:p>
                      <a:r>
                        <a:rPr sz="1575" b="1">
                          <a:solidFill>
                            <a:srgbClr val="7155A7"/>
                          </a:solidFill>
                          <a:latin typeface="Roboto"/>
                          <a:ea typeface="Roboto"/>
                          <a:cs typeface="Roboto"/>
                        </a:rPr>
                        <a:t>What came back?</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575">
                          <a:solidFill>
                            <a:srgbClr val="241D2C"/>
                          </a:solidFill>
                          <a:latin typeface="Roboto"/>
                          <a:ea typeface="Roboto"/>
                          <a:cs typeface="Roboto"/>
                        </a:rPr>
                        <a:t>Verify returned file hashes</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Content panel">
            <a:extLst>
              <a:ext uri="{FF2B5EF4-FFF2-40B4-BE49-F238E27FC236}">
                <a16:creationId xmlns:a16="http://schemas.microsoft.com/office/drawing/2014/main" id="{E7E36076-3F5F-49C4-9591-C5B25D10920D}"/>
              </a:ext>
            </a:extLst>
          </p:cNvPr>
          <p:cNvSpPr>
            <a:spLocks noGrp="1"/>
          </p:cNvSpPr>
          <p:nvPr/>
        </p:nvSpPr>
        <p:spPr>
          <a:xfrm>
            <a:off x="4772025" y="5724525"/>
            <a:ext cx="6734175" cy="514350"/>
          </a:xfrm>
          <a:prstGeom prst="roundRect">
            <a:avLst>
              <a:gd name="adj" fmla="val 14815"/>
            </a:avLst>
          </a:prstGeom>
          <a:solidFill>
            <a:srgbClr val="EFE7F7"/>
          </a:solidFill>
          <a:ln w="0">
            <a:noFill/>
          </a:ln>
        </p:spPr>
      </p:sp>
      <p:sp>
        <p:nvSpPr>
          <p:cNvPr id="7" name="Budget. Progress. Verifiable output.">
            <a:extLst>
              <a:ext uri="{FF2B5EF4-FFF2-40B4-BE49-F238E27FC236}">
                <a16:creationId xmlns:a16="http://schemas.microsoft.com/office/drawing/2014/main" id="{89CCA93C-A9DB-4D1A-AE2F-78921C67D3D9}"/>
              </a:ext>
            </a:extLst>
          </p:cNvPr>
          <p:cNvSpPr>
            <a:spLocks noGrp="1"/>
          </p:cNvSpPr>
          <p:nvPr/>
        </p:nvSpPr>
        <p:spPr>
          <a:xfrm>
            <a:off x="4953000" y="5848350"/>
            <a:ext cx="6372225" cy="276225"/>
          </a:xfrm>
          <a:prstGeom prst="rect">
            <a:avLst/>
          </a:prstGeom>
          <a:noFill/>
          <a:ln w="0">
            <a:noFill/>
          </a:ln>
        </p:spPr>
        <p:txBody>
          <a:bodyPr lIns="0" tIns="0" rIns="0" bIns="0" anchor="t">
            <a:noAutofit/>
          </a:bodyPr>
          <a:lstStyle/>
          <a:p>
            <a:pPr algn="ctr">
              <a:defRPr sz="1575" b="1">
                <a:solidFill>
                  <a:srgbClr val="7155A7"/>
                </a:solidFill>
                <a:latin typeface="Roboto"/>
                <a:ea typeface="Roboto"/>
                <a:cs typeface="Roboto"/>
              </a:defRPr>
            </a:pPr>
            <a:r>
              <a:rPr sz="1575" b="1">
                <a:solidFill>
                  <a:srgbClr val="7155A7"/>
                </a:solidFill>
                <a:latin typeface="Roboto"/>
                <a:ea typeface="Roboto"/>
                <a:cs typeface="Roboto"/>
              </a:rPr>
              <a:t>Budget. Progress. Verifiable output.</a:t>
            </a:r>
          </a:p>
        </p:txBody>
      </p:sp>
    </p:spTree>
    <p:extLst>
      <p:ext uri="{BB962C8B-B14F-4D97-AF65-F5344CB8AC3E}">
        <p14:creationId xmlns:p14="http://schemas.microsoft.com/office/powerpoint/2010/main" val="1981657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C"/>
        </a:solidFill>
        <a:effectLst/>
      </p:bgPr>
    </p:bg>
    <p:spTree>
      <p:nvGrpSpPr>
        <p:cNvPr id="1" name=""/>
        <p:cNvGrpSpPr/>
        <p:nvPr/>
      </p:nvGrpSpPr>
      <p:grpSpPr>
        <a:xfrm>
          <a:off x="0" y="0"/>
          <a:ext cx="0" cy="0"/>
          <a:chOff x="0" y="0"/>
          <a:chExt cx="0" cy="0"/>
        </a:xfrm>
      </p:grpSpPr>
      <p:sp>
        <p:nvSpPr>
          <p:cNvPr id="30" name="03">
            <a:extLst>
              <a:ext uri="{FF2B5EF4-FFF2-40B4-BE49-F238E27FC236}">
                <a16:creationId xmlns:a16="http://schemas.microsoft.com/office/drawing/2014/main" id="{C7682497-6A52-45E2-8918-B2D24D7F46BD}"/>
              </a:ext>
            </a:extLst>
          </p:cNvPr>
          <p:cNvSpPr>
            <a:spLocks noGrp="1"/>
          </p:cNvSpPr>
          <p:nvPr/>
        </p:nvSpPr>
        <p:spPr>
          <a:xfrm>
            <a:off x="11144250" y="447675"/>
            <a:ext cx="409575" cy="285750"/>
          </a:xfrm>
          <a:prstGeom prst="rect">
            <a:avLst/>
          </a:prstGeom>
          <a:noFill/>
          <a:ln w="0">
            <a:noFill/>
          </a:ln>
        </p:spPr>
        <p:txBody>
          <a:bodyPr lIns="0" tIns="0" rIns="0" bIns="0" anchor="t">
            <a:noAutofit/>
          </a:bodyPr>
          <a:lstStyle/>
          <a:p>
            <a:pPr algn="r">
              <a:defRPr sz="1425" b="0">
                <a:solidFill>
                  <a:srgbClr val="655D6C"/>
                </a:solidFill>
                <a:latin typeface="Roboto"/>
                <a:ea typeface="Roboto"/>
                <a:cs typeface="Roboto"/>
              </a:defRPr>
            </a:pPr>
            <a:r>
              <a:rPr sz="1425" b="0">
                <a:solidFill>
                  <a:srgbClr val="655D6C"/>
                </a:solidFill>
                <a:latin typeface="Roboto"/>
                <a:ea typeface="Roboto"/>
                <a:cs typeface="Roboto"/>
              </a:rPr>
              <a:t>03</a:t>
            </a:r>
          </a:p>
        </p:txBody>
      </p:sp>
      <p:sp>
        <p:nvSpPr>
          <p:cNvPr id="2" name="One owner. One agent. Four accountable steps.">
            <a:extLst>
              <a:ext uri="{FF2B5EF4-FFF2-40B4-BE49-F238E27FC236}">
                <a16:creationId xmlns:a16="http://schemas.microsoft.com/office/drawing/2014/main" id="{3E80ACA7-1301-4578-9D01-032D0D9E00C3}"/>
              </a:ext>
            </a:extLst>
          </p:cNvPr>
          <p:cNvSpPr>
            <a:spLocks noGrp="1"/>
          </p:cNvSpPr>
          <p:nvPr/>
        </p:nvSpPr>
        <p:spPr>
          <a:xfrm>
            <a:off x="685800" y="619125"/>
            <a:ext cx="10820400" cy="638175"/>
          </a:xfrm>
          <a:prstGeom prst="rect">
            <a:avLst/>
          </a:prstGeom>
          <a:noFill/>
          <a:ln w="0">
            <a:noFill/>
          </a:ln>
        </p:spPr>
        <p:txBody>
          <a:bodyPr lIns="0" tIns="0" rIns="0" bIns="0" anchor="t">
            <a:noAutofit/>
          </a:bodyPr>
          <a:lstStyle/>
          <a:p>
            <a:pPr algn="l">
              <a:defRPr sz="3225" b="1">
                <a:solidFill>
                  <a:srgbClr val="241D2C"/>
                </a:solidFill>
                <a:latin typeface="Roboto"/>
                <a:ea typeface="Roboto"/>
                <a:cs typeface="Roboto"/>
              </a:defRPr>
            </a:pPr>
            <a:r>
              <a:rPr sz="3225" b="1">
                <a:solidFill>
                  <a:srgbClr val="241D2C"/>
                </a:solidFill>
                <a:latin typeface="Roboto"/>
                <a:ea typeface="Roboto"/>
                <a:cs typeface="Roboto"/>
              </a:rPr>
              <a:t>One owner. One agent. Four accountable steps.</a:t>
            </a:r>
          </a:p>
        </p:txBody>
      </p:sp>
      <p:sp>
        <p:nvSpPr>
          <p:cNvPr id="3" name="The owner approves the plan before execution begins.">
            <a:extLst>
              <a:ext uri="{FF2B5EF4-FFF2-40B4-BE49-F238E27FC236}">
                <a16:creationId xmlns:a16="http://schemas.microsoft.com/office/drawing/2014/main" id="{3F905C88-4ADC-4AD0-A3F2-028257D15280}"/>
              </a:ext>
            </a:extLst>
          </p:cNvPr>
          <p:cNvSpPr>
            <a:spLocks noGrp="1"/>
          </p:cNvSpPr>
          <p:nvPr/>
        </p:nvSpPr>
        <p:spPr>
          <a:xfrm>
            <a:off x="685800" y="1457325"/>
            <a:ext cx="10382250" cy="400050"/>
          </a:xfrm>
          <a:prstGeom prst="rect">
            <a:avLst/>
          </a:prstGeom>
          <a:noFill/>
          <a:ln w="0">
            <a:noFill/>
          </a:ln>
        </p:spPr>
        <p:txBody>
          <a:bodyPr lIns="0" tIns="0" rIns="0" bIns="0" anchor="t">
            <a:noAutofit/>
          </a:bodyPr>
          <a:lstStyle/>
          <a:p>
            <a:pPr algn="l">
              <a:defRPr sz="1875" b="0">
                <a:solidFill>
                  <a:srgbClr val="655D6C"/>
                </a:solidFill>
                <a:latin typeface="Roboto"/>
                <a:ea typeface="Roboto"/>
                <a:cs typeface="Roboto"/>
              </a:defRPr>
            </a:pPr>
            <a:r>
              <a:rPr sz="1875" b="0">
                <a:solidFill>
                  <a:srgbClr val="655D6C"/>
                </a:solidFill>
                <a:latin typeface="Roboto"/>
                <a:ea typeface="Roboto"/>
                <a:cs typeface="Roboto"/>
              </a:rPr>
              <a:t>The owner approves the plan before execution begins.</a:t>
            </a:r>
          </a:p>
        </p:txBody>
      </p:sp>
      <p:sp>
        <p:nvSpPr>
          <p:cNvPr id="4" name="Content panel">
            <a:extLst>
              <a:ext uri="{FF2B5EF4-FFF2-40B4-BE49-F238E27FC236}">
                <a16:creationId xmlns:a16="http://schemas.microsoft.com/office/drawing/2014/main" id="{890B1F8E-B296-48B4-A628-F63349A496E9}"/>
              </a:ext>
            </a:extLst>
          </p:cNvPr>
          <p:cNvSpPr>
            <a:spLocks noGrp="1"/>
          </p:cNvSpPr>
          <p:nvPr/>
        </p:nvSpPr>
        <p:spPr>
          <a:xfrm>
            <a:off x="666750" y="2371725"/>
            <a:ext cx="2524125" cy="2895600"/>
          </a:xfrm>
          <a:prstGeom prst="roundRect">
            <a:avLst>
              <a:gd name="adj" fmla="val 3019"/>
            </a:avLst>
          </a:prstGeom>
          <a:solidFill>
            <a:srgbClr val="FFFFFF"/>
          </a:solidFill>
          <a:ln w="0">
            <a:noFill/>
          </a:ln>
        </p:spPr>
      </p:sp>
      <p:sp>
        <p:nvSpPr>
          <p:cNvPr id="5" name="Content panel">
            <a:extLst>
              <a:ext uri="{FF2B5EF4-FFF2-40B4-BE49-F238E27FC236}">
                <a16:creationId xmlns:a16="http://schemas.microsoft.com/office/drawing/2014/main" id="{203EDFD9-0301-4F6A-9BF1-D3D711BE9253}"/>
              </a:ext>
            </a:extLst>
          </p:cNvPr>
          <p:cNvSpPr>
            <a:spLocks noGrp="1"/>
          </p:cNvSpPr>
          <p:nvPr/>
        </p:nvSpPr>
        <p:spPr>
          <a:xfrm>
            <a:off x="847725" y="2571750"/>
            <a:ext cx="514350" cy="371475"/>
          </a:xfrm>
          <a:prstGeom prst="roundRect">
            <a:avLst>
              <a:gd name="adj" fmla="val 20513"/>
            </a:avLst>
          </a:prstGeom>
          <a:solidFill>
            <a:srgbClr val="EFE7F7"/>
          </a:solidFill>
          <a:ln w="0">
            <a:noFill/>
          </a:ln>
        </p:spPr>
      </p:sp>
      <p:sp>
        <p:nvSpPr>
          <p:cNvPr id="6" name="01">
            <a:extLst>
              <a:ext uri="{FF2B5EF4-FFF2-40B4-BE49-F238E27FC236}">
                <a16:creationId xmlns:a16="http://schemas.microsoft.com/office/drawing/2014/main" id="{7B5EB829-9D6D-462E-A3D0-A3AE04362C14}"/>
              </a:ext>
            </a:extLst>
          </p:cNvPr>
          <p:cNvSpPr>
            <a:spLocks noGrp="1"/>
          </p:cNvSpPr>
          <p:nvPr/>
        </p:nvSpPr>
        <p:spPr>
          <a:xfrm>
            <a:off x="847725" y="2638425"/>
            <a:ext cx="514350" cy="238125"/>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01</a:t>
            </a:r>
          </a:p>
        </p:txBody>
      </p:sp>
      <p:sp>
        <p:nvSpPr>
          <p:cNvPr id="7" name="OWNER">
            <a:extLst>
              <a:ext uri="{FF2B5EF4-FFF2-40B4-BE49-F238E27FC236}">
                <a16:creationId xmlns:a16="http://schemas.microsoft.com/office/drawing/2014/main" id="{F4EFD836-0A4D-4B0A-B7CB-8E32CC599B54}"/>
              </a:ext>
            </a:extLst>
          </p:cNvPr>
          <p:cNvSpPr>
            <a:spLocks noGrp="1"/>
          </p:cNvSpPr>
          <p:nvPr/>
        </p:nvSpPr>
        <p:spPr>
          <a:xfrm>
            <a:off x="1485900" y="2638425"/>
            <a:ext cx="1562100" cy="257175"/>
          </a:xfrm>
          <a:prstGeom prst="rect">
            <a:avLst/>
          </a:prstGeom>
          <a:noFill/>
          <a:ln w="0">
            <a:noFill/>
          </a:ln>
        </p:spPr>
        <p:txBody>
          <a:bodyPr lIns="0" tIns="0" rIns="0" bIns="0" anchor="t">
            <a:noAutofit/>
          </a:bodyPr>
          <a:lstStyle/>
          <a:p>
            <a:pPr algn="l">
              <a:defRPr sz="1200" b="1">
                <a:solidFill>
                  <a:srgbClr val="7155A7"/>
                </a:solidFill>
                <a:latin typeface="Roboto"/>
                <a:ea typeface="Roboto"/>
                <a:cs typeface="Roboto"/>
              </a:defRPr>
            </a:pPr>
            <a:r>
              <a:rPr sz="1200" b="1">
                <a:solidFill>
                  <a:srgbClr val="7155A7"/>
                </a:solidFill>
                <a:latin typeface="Roboto"/>
                <a:ea typeface="Roboto"/>
                <a:cs typeface="Roboto"/>
              </a:rPr>
              <a:t>OWNER</a:t>
            </a:r>
          </a:p>
        </p:txBody>
      </p:sp>
      <p:sp>
        <p:nvSpPr>
          <p:cNvPr id="8" name="Assign inputs">
            <a:extLst>
              <a:ext uri="{FF2B5EF4-FFF2-40B4-BE49-F238E27FC236}">
                <a16:creationId xmlns:a16="http://schemas.microsoft.com/office/drawing/2014/main" id="{2195DCF1-9E84-498F-879A-35D703BD76DE}"/>
              </a:ext>
            </a:extLst>
          </p:cNvPr>
          <p:cNvSpPr>
            <a:spLocks noGrp="1"/>
          </p:cNvSpPr>
          <p:nvPr/>
        </p:nvSpPr>
        <p:spPr>
          <a:xfrm>
            <a:off x="847725" y="3314700"/>
            <a:ext cx="2171700" cy="581025"/>
          </a:xfrm>
          <a:prstGeom prst="rect">
            <a:avLst/>
          </a:prstGeom>
          <a:noFill/>
          <a:ln w="0">
            <a:noFill/>
          </a:ln>
        </p:spPr>
        <p:txBody>
          <a:bodyPr lIns="0" tIns="0" rIns="0" bIns="0" anchor="t">
            <a:noAutofit/>
          </a:bodyPr>
          <a:lstStyle/>
          <a:p>
            <a:pPr algn="l">
              <a:defRPr sz="2025" b="1">
                <a:solidFill>
                  <a:srgbClr val="241D2C"/>
                </a:solidFill>
                <a:latin typeface="Roboto"/>
                <a:ea typeface="Roboto"/>
                <a:cs typeface="Roboto"/>
              </a:defRPr>
            </a:pPr>
            <a:r>
              <a:rPr sz="2025" b="1">
                <a:solidFill>
                  <a:srgbClr val="241D2C"/>
                </a:solidFill>
                <a:latin typeface="Roboto"/>
                <a:ea typeface="Roboto"/>
                <a:cs typeface="Roboto"/>
              </a:rPr>
              <a:t>Assign inputs</a:t>
            </a:r>
          </a:p>
        </p:txBody>
      </p:sp>
      <p:sp>
        <p:nvSpPr>
          <p:cNvPr id="9" name="Choose the CSV files and agent permissions">
            <a:extLst>
              <a:ext uri="{FF2B5EF4-FFF2-40B4-BE49-F238E27FC236}">
                <a16:creationId xmlns:a16="http://schemas.microsoft.com/office/drawing/2014/main" id="{1FC3BAE0-433D-49F8-9FA0-7ACFC770380B}"/>
              </a:ext>
            </a:extLst>
          </p:cNvPr>
          <p:cNvSpPr>
            <a:spLocks noGrp="1"/>
          </p:cNvSpPr>
          <p:nvPr/>
        </p:nvSpPr>
        <p:spPr>
          <a:xfrm>
            <a:off x="847725" y="4095750"/>
            <a:ext cx="2171700" cy="866775"/>
          </a:xfrm>
          <a:prstGeom prst="rect">
            <a:avLst/>
          </a:prstGeom>
          <a:noFill/>
          <a:ln w="0">
            <a:noFill/>
          </a:ln>
        </p:spPr>
        <p:txBody>
          <a:bodyPr lIns="0" tIns="0" rIns="0" bIns="0" anchor="t">
            <a:noAutofit/>
          </a:bodyPr>
          <a:lstStyle/>
          <a:p>
            <a:pPr algn="l">
              <a:defRPr sz="1575" b="0">
                <a:solidFill>
                  <a:srgbClr val="655D6C"/>
                </a:solidFill>
                <a:latin typeface="Roboto"/>
                <a:ea typeface="Roboto"/>
                <a:cs typeface="Roboto"/>
              </a:defRPr>
            </a:pPr>
            <a:r>
              <a:rPr sz="1575" b="0">
                <a:solidFill>
                  <a:srgbClr val="655D6C"/>
                </a:solidFill>
                <a:latin typeface="Roboto"/>
                <a:ea typeface="Roboto"/>
                <a:cs typeface="Roboto"/>
              </a:rPr>
              <a:t>Choose the CSV files</a:t>
            </a:r>
          </a:p>
          <a:p>
            <a:pPr algn="l">
              <a:defRPr sz="1575" b="0">
                <a:solidFill>
                  <a:srgbClr val="655D6C"/>
                </a:solidFill>
                <a:latin typeface="Roboto"/>
                <a:ea typeface="Roboto"/>
                <a:cs typeface="Roboto"/>
              </a:defRPr>
            </a:pPr>
            <a:r>
              <a:rPr sz="1575" b="0">
                <a:solidFill>
                  <a:srgbClr val="655D6C"/>
                </a:solidFill>
                <a:latin typeface="Roboto"/>
                <a:ea typeface="Roboto"/>
                <a:cs typeface="Roboto"/>
              </a:rPr>
              <a:t>and agent permissions</a:t>
            </a:r>
          </a:p>
        </p:txBody>
      </p:sp>
      <p:sp>
        <p:nvSpPr>
          <p:cNvPr id="10" name="Content panel">
            <a:extLst>
              <a:ext uri="{FF2B5EF4-FFF2-40B4-BE49-F238E27FC236}">
                <a16:creationId xmlns:a16="http://schemas.microsoft.com/office/drawing/2014/main" id="{2A4BC737-0744-4B64-B906-019120ED2FCA}"/>
              </a:ext>
            </a:extLst>
          </p:cNvPr>
          <p:cNvSpPr>
            <a:spLocks noGrp="1"/>
          </p:cNvSpPr>
          <p:nvPr/>
        </p:nvSpPr>
        <p:spPr>
          <a:xfrm>
            <a:off x="3429000" y="2371725"/>
            <a:ext cx="2524125" cy="2895600"/>
          </a:xfrm>
          <a:prstGeom prst="roundRect">
            <a:avLst>
              <a:gd name="adj" fmla="val 3019"/>
            </a:avLst>
          </a:prstGeom>
          <a:solidFill>
            <a:srgbClr val="EFE7F7"/>
          </a:solidFill>
          <a:ln w="0">
            <a:noFill/>
          </a:ln>
        </p:spPr>
      </p:sp>
      <p:sp>
        <p:nvSpPr>
          <p:cNvPr id="11" name="Content panel">
            <a:extLst>
              <a:ext uri="{FF2B5EF4-FFF2-40B4-BE49-F238E27FC236}">
                <a16:creationId xmlns:a16="http://schemas.microsoft.com/office/drawing/2014/main" id="{1CC3AFFB-ED3D-4ABF-9F7A-F29595FEC0A9}"/>
              </a:ext>
            </a:extLst>
          </p:cNvPr>
          <p:cNvSpPr>
            <a:spLocks noGrp="1"/>
          </p:cNvSpPr>
          <p:nvPr/>
        </p:nvSpPr>
        <p:spPr>
          <a:xfrm>
            <a:off x="3609975" y="2571750"/>
            <a:ext cx="514350" cy="371475"/>
          </a:xfrm>
          <a:prstGeom prst="roundRect">
            <a:avLst>
              <a:gd name="adj" fmla="val 20513"/>
            </a:avLst>
          </a:prstGeom>
          <a:solidFill>
            <a:srgbClr val="EFE7F7"/>
          </a:solidFill>
          <a:ln w="0">
            <a:noFill/>
          </a:ln>
        </p:spPr>
      </p:sp>
      <p:sp>
        <p:nvSpPr>
          <p:cNvPr id="12" name="02">
            <a:extLst>
              <a:ext uri="{FF2B5EF4-FFF2-40B4-BE49-F238E27FC236}">
                <a16:creationId xmlns:a16="http://schemas.microsoft.com/office/drawing/2014/main" id="{9D19643F-3A83-4CC6-BCA5-B8960E02B8CC}"/>
              </a:ext>
            </a:extLst>
          </p:cNvPr>
          <p:cNvSpPr>
            <a:spLocks noGrp="1"/>
          </p:cNvSpPr>
          <p:nvPr/>
        </p:nvSpPr>
        <p:spPr>
          <a:xfrm>
            <a:off x="3609975" y="2638425"/>
            <a:ext cx="514350" cy="238125"/>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02</a:t>
            </a:r>
          </a:p>
        </p:txBody>
      </p:sp>
      <p:sp>
        <p:nvSpPr>
          <p:cNvPr id="13" name="OWNER">
            <a:extLst>
              <a:ext uri="{FF2B5EF4-FFF2-40B4-BE49-F238E27FC236}">
                <a16:creationId xmlns:a16="http://schemas.microsoft.com/office/drawing/2014/main" id="{F390E335-6359-41CF-8BE5-384E858D19A6}"/>
              </a:ext>
            </a:extLst>
          </p:cNvPr>
          <p:cNvSpPr>
            <a:spLocks noGrp="1"/>
          </p:cNvSpPr>
          <p:nvPr/>
        </p:nvSpPr>
        <p:spPr>
          <a:xfrm>
            <a:off x="4248150" y="2638425"/>
            <a:ext cx="1562100" cy="257175"/>
          </a:xfrm>
          <a:prstGeom prst="rect">
            <a:avLst/>
          </a:prstGeom>
          <a:noFill/>
          <a:ln w="0">
            <a:noFill/>
          </a:ln>
        </p:spPr>
        <p:txBody>
          <a:bodyPr lIns="0" tIns="0" rIns="0" bIns="0" anchor="t">
            <a:noAutofit/>
          </a:bodyPr>
          <a:lstStyle/>
          <a:p>
            <a:pPr algn="l">
              <a:defRPr sz="1200" b="1">
                <a:solidFill>
                  <a:srgbClr val="7155A7"/>
                </a:solidFill>
                <a:latin typeface="Roboto"/>
                <a:ea typeface="Roboto"/>
                <a:cs typeface="Roboto"/>
              </a:defRPr>
            </a:pPr>
            <a:r>
              <a:rPr sz="1200" b="1">
                <a:solidFill>
                  <a:srgbClr val="7155A7"/>
                </a:solidFill>
                <a:latin typeface="Roboto"/>
                <a:ea typeface="Roboto"/>
                <a:cs typeface="Roboto"/>
              </a:rPr>
              <a:t>OWNER</a:t>
            </a:r>
          </a:p>
        </p:txBody>
      </p:sp>
      <p:sp>
        <p:nvSpPr>
          <p:cNvPr id="14" name="Approve a plan">
            <a:extLst>
              <a:ext uri="{FF2B5EF4-FFF2-40B4-BE49-F238E27FC236}">
                <a16:creationId xmlns:a16="http://schemas.microsoft.com/office/drawing/2014/main" id="{B6657513-0B47-41DE-BA4D-18BB9D411667}"/>
              </a:ext>
            </a:extLst>
          </p:cNvPr>
          <p:cNvSpPr>
            <a:spLocks noGrp="1"/>
          </p:cNvSpPr>
          <p:nvPr/>
        </p:nvSpPr>
        <p:spPr>
          <a:xfrm>
            <a:off x="3609975" y="3314700"/>
            <a:ext cx="2171700" cy="581025"/>
          </a:xfrm>
          <a:prstGeom prst="rect">
            <a:avLst/>
          </a:prstGeom>
          <a:noFill/>
          <a:ln w="0">
            <a:noFill/>
          </a:ln>
        </p:spPr>
        <p:txBody>
          <a:bodyPr lIns="0" tIns="0" rIns="0" bIns="0" anchor="t">
            <a:noAutofit/>
          </a:bodyPr>
          <a:lstStyle/>
          <a:p>
            <a:pPr algn="l">
              <a:defRPr sz="2025" b="1">
                <a:solidFill>
                  <a:srgbClr val="241D2C"/>
                </a:solidFill>
                <a:latin typeface="Roboto"/>
                <a:ea typeface="Roboto"/>
                <a:cs typeface="Roboto"/>
              </a:defRPr>
            </a:pPr>
            <a:r>
              <a:rPr sz="2025" b="1">
                <a:solidFill>
                  <a:srgbClr val="241D2C"/>
                </a:solidFill>
                <a:latin typeface="Roboto"/>
                <a:ea typeface="Roboto"/>
                <a:cs typeface="Roboto"/>
              </a:rPr>
              <a:t>Approve a plan</a:t>
            </a:r>
          </a:p>
        </p:txBody>
      </p:sp>
      <p:sp>
        <p:nvSpPr>
          <p:cNvPr id="15" name="Tasks plus one total spending ceiling">
            <a:extLst>
              <a:ext uri="{FF2B5EF4-FFF2-40B4-BE49-F238E27FC236}">
                <a16:creationId xmlns:a16="http://schemas.microsoft.com/office/drawing/2014/main" id="{661F82C6-5F87-4947-96EA-C2EA52FF008A}"/>
              </a:ext>
            </a:extLst>
          </p:cNvPr>
          <p:cNvSpPr>
            <a:spLocks noGrp="1"/>
          </p:cNvSpPr>
          <p:nvPr/>
        </p:nvSpPr>
        <p:spPr>
          <a:xfrm>
            <a:off x="3609975" y="4095750"/>
            <a:ext cx="2171700" cy="866775"/>
          </a:xfrm>
          <a:prstGeom prst="rect">
            <a:avLst/>
          </a:prstGeom>
          <a:noFill/>
          <a:ln w="0">
            <a:noFill/>
          </a:ln>
        </p:spPr>
        <p:txBody>
          <a:bodyPr lIns="0" tIns="0" rIns="0" bIns="0" anchor="t">
            <a:noAutofit/>
          </a:bodyPr>
          <a:lstStyle/>
          <a:p>
            <a:pPr algn="l">
              <a:defRPr sz="1575" b="0">
                <a:solidFill>
                  <a:srgbClr val="655D6C"/>
                </a:solidFill>
                <a:latin typeface="Roboto"/>
                <a:ea typeface="Roboto"/>
                <a:cs typeface="Roboto"/>
              </a:defRPr>
            </a:pPr>
            <a:r>
              <a:rPr sz="1575" b="0">
                <a:solidFill>
                  <a:srgbClr val="655D6C"/>
                </a:solidFill>
                <a:latin typeface="Roboto"/>
                <a:ea typeface="Roboto"/>
                <a:cs typeface="Roboto"/>
              </a:rPr>
              <a:t>Tasks plus one total</a:t>
            </a:r>
          </a:p>
          <a:p>
            <a:pPr algn="l">
              <a:defRPr sz="1575" b="0">
                <a:solidFill>
                  <a:srgbClr val="655D6C"/>
                </a:solidFill>
                <a:latin typeface="Roboto"/>
                <a:ea typeface="Roboto"/>
                <a:cs typeface="Roboto"/>
              </a:defRPr>
            </a:pPr>
            <a:r>
              <a:rPr sz="1575" b="0">
                <a:solidFill>
                  <a:srgbClr val="655D6C"/>
                </a:solidFill>
                <a:latin typeface="Roboto"/>
                <a:ea typeface="Roboto"/>
                <a:cs typeface="Roboto"/>
              </a:rPr>
              <a:t>spending ceiling</a:t>
            </a:r>
          </a:p>
        </p:txBody>
      </p:sp>
      <p:sp>
        <p:nvSpPr>
          <p:cNvPr id="16" name="Content panel">
            <a:extLst>
              <a:ext uri="{FF2B5EF4-FFF2-40B4-BE49-F238E27FC236}">
                <a16:creationId xmlns:a16="http://schemas.microsoft.com/office/drawing/2014/main" id="{2B3622B5-B9D0-4992-AE73-798185228161}"/>
              </a:ext>
            </a:extLst>
          </p:cNvPr>
          <p:cNvSpPr>
            <a:spLocks noGrp="1"/>
          </p:cNvSpPr>
          <p:nvPr/>
        </p:nvSpPr>
        <p:spPr>
          <a:xfrm>
            <a:off x="6191250" y="2371725"/>
            <a:ext cx="2524125" cy="2895600"/>
          </a:xfrm>
          <a:prstGeom prst="roundRect">
            <a:avLst>
              <a:gd name="adj" fmla="val 3019"/>
            </a:avLst>
          </a:prstGeom>
          <a:solidFill>
            <a:srgbClr val="FFFFFF"/>
          </a:solidFill>
          <a:ln w="0">
            <a:noFill/>
          </a:ln>
        </p:spPr>
      </p:sp>
      <p:sp>
        <p:nvSpPr>
          <p:cNvPr id="17" name="Content panel">
            <a:extLst>
              <a:ext uri="{FF2B5EF4-FFF2-40B4-BE49-F238E27FC236}">
                <a16:creationId xmlns:a16="http://schemas.microsoft.com/office/drawing/2014/main" id="{C2D3E416-2F97-4190-AE25-98E5455AA24E}"/>
              </a:ext>
            </a:extLst>
          </p:cNvPr>
          <p:cNvSpPr>
            <a:spLocks noGrp="1"/>
          </p:cNvSpPr>
          <p:nvPr/>
        </p:nvSpPr>
        <p:spPr>
          <a:xfrm>
            <a:off x="6372225" y="2571750"/>
            <a:ext cx="514350" cy="371475"/>
          </a:xfrm>
          <a:prstGeom prst="roundRect">
            <a:avLst>
              <a:gd name="adj" fmla="val 20513"/>
            </a:avLst>
          </a:prstGeom>
          <a:solidFill>
            <a:srgbClr val="EFE7F7"/>
          </a:solidFill>
          <a:ln w="0">
            <a:noFill/>
          </a:ln>
        </p:spPr>
      </p:sp>
      <p:sp>
        <p:nvSpPr>
          <p:cNvPr id="18" name="03">
            <a:extLst>
              <a:ext uri="{FF2B5EF4-FFF2-40B4-BE49-F238E27FC236}">
                <a16:creationId xmlns:a16="http://schemas.microsoft.com/office/drawing/2014/main" id="{25A434FB-D6EA-4D11-9F2B-877D55FB7861}"/>
              </a:ext>
            </a:extLst>
          </p:cNvPr>
          <p:cNvSpPr>
            <a:spLocks noGrp="1"/>
          </p:cNvSpPr>
          <p:nvPr/>
        </p:nvSpPr>
        <p:spPr>
          <a:xfrm>
            <a:off x="6372225" y="2638425"/>
            <a:ext cx="514350" cy="238125"/>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03</a:t>
            </a:r>
          </a:p>
        </p:txBody>
      </p:sp>
      <p:sp>
        <p:nvSpPr>
          <p:cNvPr id="19" name="AGENT + APERTURE">
            <a:extLst>
              <a:ext uri="{FF2B5EF4-FFF2-40B4-BE49-F238E27FC236}">
                <a16:creationId xmlns:a16="http://schemas.microsoft.com/office/drawing/2014/main" id="{A6FCD97D-9920-46D1-971B-BD33CFF0311A}"/>
              </a:ext>
            </a:extLst>
          </p:cNvPr>
          <p:cNvSpPr>
            <a:spLocks noGrp="1"/>
          </p:cNvSpPr>
          <p:nvPr/>
        </p:nvSpPr>
        <p:spPr>
          <a:xfrm>
            <a:off x="7010400" y="2638425"/>
            <a:ext cx="1562100" cy="257175"/>
          </a:xfrm>
          <a:prstGeom prst="rect">
            <a:avLst/>
          </a:prstGeom>
          <a:noFill/>
          <a:ln w="0">
            <a:noFill/>
          </a:ln>
        </p:spPr>
        <p:txBody>
          <a:bodyPr lIns="0" tIns="0" rIns="0" bIns="0" anchor="t">
            <a:noAutofit/>
          </a:bodyPr>
          <a:lstStyle/>
          <a:p>
            <a:pPr algn="l">
              <a:defRPr sz="1200" b="1">
                <a:solidFill>
                  <a:srgbClr val="7155A7"/>
                </a:solidFill>
                <a:latin typeface="Roboto"/>
                <a:ea typeface="Roboto"/>
                <a:cs typeface="Roboto"/>
              </a:defRPr>
            </a:pPr>
            <a:r>
              <a:rPr sz="1200" b="1">
                <a:solidFill>
                  <a:srgbClr val="7155A7"/>
                </a:solidFill>
                <a:latin typeface="Roboto"/>
                <a:ea typeface="Roboto"/>
                <a:cs typeface="Roboto"/>
              </a:rPr>
              <a:t>AGENT + APERTURE</a:t>
            </a:r>
          </a:p>
        </p:txBody>
      </p:sp>
      <p:sp>
        <p:nvSpPr>
          <p:cNvPr id="20" name="Run the workflow">
            <a:extLst>
              <a:ext uri="{FF2B5EF4-FFF2-40B4-BE49-F238E27FC236}">
                <a16:creationId xmlns:a16="http://schemas.microsoft.com/office/drawing/2014/main" id="{E22DC2BA-CF47-49EE-B77E-84C6811A5F77}"/>
              </a:ext>
            </a:extLst>
          </p:cNvPr>
          <p:cNvSpPr>
            <a:spLocks noGrp="1"/>
          </p:cNvSpPr>
          <p:nvPr/>
        </p:nvSpPr>
        <p:spPr>
          <a:xfrm>
            <a:off x="6372225" y="3314700"/>
            <a:ext cx="2171700" cy="581025"/>
          </a:xfrm>
          <a:prstGeom prst="rect">
            <a:avLst/>
          </a:prstGeom>
          <a:noFill/>
          <a:ln w="0">
            <a:noFill/>
          </a:ln>
        </p:spPr>
        <p:txBody>
          <a:bodyPr lIns="0" tIns="0" rIns="0" bIns="0" anchor="t">
            <a:noAutofit/>
          </a:bodyPr>
          <a:lstStyle/>
          <a:p>
            <a:pPr algn="l">
              <a:defRPr sz="2025" b="1">
                <a:solidFill>
                  <a:srgbClr val="241D2C"/>
                </a:solidFill>
                <a:latin typeface="Roboto"/>
                <a:ea typeface="Roboto"/>
                <a:cs typeface="Roboto"/>
              </a:defRPr>
            </a:pPr>
            <a:r>
              <a:rPr sz="2025" b="1">
                <a:solidFill>
                  <a:srgbClr val="241D2C"/>
                </a:solidFill>
                <a:latin typeface="Roboto"/>
                <a:ea typeface="Roboto"/>
                <a:cs typeface="Roboto"/>
              </a:rPr>
              <a:t>Run the workflow</a:t>
            </a:r>
          </a:p>
        </p:txBody>
      </p:sp>
      <p:sp>
        <p:nvSpPr>
          <p:cNvPr id="21" name="Check permissions; save each accepted step">
            <a:extLst>
              <a:ext uri="{FF2B5EF4-FFF2-40B4-BE49-F238E27FC236}">
                <a16:creationId xmlns:a16="http://schemas.microsoft.com/office/drawing/2014/main" id="{A14D7755-1B06-4544-B738-12937919F91E}"/>
              </a:ext>
            </a:extLst>
          </p:cNvPr>
          <p:cNvSpPr>
            <a:spLocks noGrp="1"/>
          </p:cNvSpPr>
          <p:nvPr/>
        </p:nvSpPr>
        <p:spPr>
          <a:xfrm>
            <a:off x="6372225" y="4095750"/>
            <a:ext cx="2171700" cy="866775"/>
          </a:xfrm>
          <a:prstGeom prst="rect">
            <a:avLst/>
          </a:prstGeom>
          <a:noFill/>
          <a:ln w="0">
            <a:noFill/>
          </a:ln>
        </p:spPr>
        <p:txBody>
          <a:bodyPr lIns="0" tIns="0" rIns="0" bIns="0" anchor="t">
            <a:noAutofit/>
          </a:bodyPr>
          <a:lstStyle/>
          <a:p>
            <a:pPr algn="l">
              <a:defRPr sz="1575" b="0">
                <a:solidFill>
                  <a:srgbClr val="655D6C"/>
                </a:solidFill>
                <a:latin typeface="Roboto"/>
                <a:ea typeface="Roboto"/>
                <a:cs typeface="Roboto"/>
              </a:defRPr>
            </a:pPr>
            <a:r>
              <a:rPr sz="1575" b="0">
                <a:solidFill>
                  <a:srgbClr val="655D6C"/>
                </a:solidFill>
                <a:latin typeface="Roboto"/>
                <a:ea typeface="Roboto"/>
                <a:cs typeface="Roboto"/>
              </a:rPr>
              <a:t>Check permissions; save</a:t>
            </a:r>
          </a:p>
          <a:p>
            <a:pPr algn="l">
              <a:defRPr sz="1575" b="0">
                <a:solidFill>
                  <a:srgbClr val="655D6C"/>
                </a:solidFill>
                <a:latin typeface="Roboto"/>
                <a:ea typeface="Roboto"/>
                <a:cs typeface="Roboto"/>
              </a:defRPr>
            </a:pPr>
            <a:r>
              <a:rPr sz="1575" b="0">
                <a:solidFill>
                  <a:srgbClr val="655D6C"/>
                </a:solidFill>
                <a:latin typeface="Roboto"/>
                <a:ea typeface="Roboto"/>
                <a:cs typeface="Roboto"/>
              </a:rPr>
              <a:t>each accepted step</a:t>
            </a:r>
          </a:p>
        </p:txBody>
      </p:sp>
      <p:sp>
        <p:nvSpPr>
          <p:cNvPr id="22" name="Content panel">
            <a:extLst>
              <a:ext uri="{FF2B5EF4-FFF2-40B4-BE49-F238E27FC236}">
                <a16:creationId xmlns:a16="http://schemas.microsoft.com/office/drawing/2014/main" id="{A7667DA7-3536-41E8-8735-59537D799D7A}"/>
              </a:ext>
            </a:extLst>
          </p:cNvPr>
          <p:cNvSpPr>
            <a:spLocks noGrp="1"/>
          </p:cNvSpPr>
          <p:nvPr/>
        </p:nvSpPr>
        <p:spPr>
          <a:xfrm>
            <a:off x="8953500" y="2371725"/>
            <a:ext cx="2524125" cy="2895600"/>
          </a:xfrm>
          <a:prstGeom prst="roundRect">
            <a:avLst>
              <a:gd name="adj" fmla="val 3019"/>
            </a:avLst>
          </a:prstGeom>
          <a:solidFill>
            <a:srgbClr val="EFE7F7"/>
          </a:solidFill>
          <a:ln w="0">
            <a:noFill/>
          </a:ln>
        </p:spPr>
      </p:sp>
      <p:sp>
        <p:nvSpPr>
          <p:cNvPr id="23" name="Content panel">
            <a:extLst>
              <a:ext uri="{FF2B5EF4-FFF2-40B4-BE49-F238E27FC236}">
                <a16:creationId xmlns:a16="http://schemas.microsoft.com/office/drawing/2014/main" id="{C7E11132-AC21-40EA-84BA-F783B7A081ED}"/>
              </a:ext>
            </a:extLst>
          </p:cNvPr>
          <p:cNvSpPr>
            <a:spLocks noGrp="1"/>
          </p:cNvSpPr>
          <p:nvPr/>
        </p:nvSpPr>
        <p:spPr>
          <a:xfrm>
            <a:off x="9134475" y="2571750"/>
            <a:ext cx="514350" cy="371475"/>
          </a:xfrm>
          <a:prstGeom prst="roundRect">
            <a:avLst>
              <a:gd name="adj" fmla="val 20513"/>
            </a:avLst>
          </a:prstGeom>
          <a:solidFill>
            <a:srgbClr val="EFE7F7"/>
          </a:solidFill>
          <a:ln w="0">
            <a:noFill/>
          </a:ln>
        </p:spPr>
      </p:sp>
      <p:sp>
        <p:nvSpPr>
          <p:cNvPr id="24" name="04">
            <a:extLst>
              <a:ext uri="{FF2B5EF4-FFF2-40B4-BE49-F238E27FC236}">
                <a16:creationId xmlns:a16="http://schemas.microsoft.com/office/drawing/2014/main" id="{DF27274D-38D0-42AF-94E5-5575640417D4}"/>
              </a:ext>
            </a:extLst>
          </p:cNvPr>
          <p:cNvSpPr>
            <a:spLocks noGrp="1"/>
          </p:cNvSpPr>
          <p:nvPr/>
        </p:nvSpPr>
        <p:spPr>
          <a:xfrm>
            <a:off x="9134475" y="2638425"/>
            <a:ext cx="514350" cy="238125"/>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04</a:t>
            </a:r>
          </a:p>
        </p:txBody>
      </p:sp>
      <p:sp>
        <p:nvSpPr>
          <p:cNvPr id="25" name="OWNER">
            <a:extLst>
              <a:ext uri="{FF2B5EF4-FFF2-40B4-BE49-F238E27FC236}">
                <a16:creationId xmlns:a16="http://schemas.microsoft.com/office/drawing/2014/main" id="{BB227A6F-5BCC-481F-9BBA-DC7E1E495B69}"/>
              </a:ext>
            </a:extLst>
          </p:cNvPr>
          <p:cNvSpPr>
            <a:spLocks noGrp="1"/>
          </p:cNvSpPr>
          <p:nvPr/>
        </p:nvSpPr>
        <p:spPr>
          <a:xfrm>
            <a:off x="9772650" y="2638425"/>
            <a:ext cx="1562100" cy="257175"/>
          </a:xfrm>
          <a:prstGeom prst="rect">
            <a:avLst/>
          </a:prstGeom>
          <a:noFill/>
          <a:ln w="0">
            <a:noFill/>
          </a:ln>
        </p:spPr>
        <p:txBody>
          <a:bodyPr lIns="0" tIns="0" rIns="0" bIns="0" anchor="t">
            <a:noAutofit/>
          </a:bodyPr>
          <a:lstStyle/>
          <a:p>
            <a:pPr algn="l">
              <a:defRPr sz="1200" b="1">
                <a:solidFill>
                  <a:srgbClr val="7155A7"/>
                </a:solidFill>
                <a:latin typeface="Roboto"/>
                <a:ea typeface="Roboto"/>
                <a:cs typeface="Roboto"/>
              </a:defRPr>
            </a:pPr>
            <a:r>
              <a:rPr sz="1200" b="1">
                <a:solidFill>
                  <a:srgbClr val="7155A7"/>
                </a:solidFill>
                <a:latin typeface="Roboto"/>
                <a:ea typeface="Roboto"/>
                <a:cs typeface="Roboto"/>
              </a:rPr>
              <a:t>OWNER</a:t>
            </a:r>
          </a:p>
        </p:txBody>
      </p:sp>
      <p:sp>
        <p:nvSpPr>
          <p:cNvPr id="26" name="Collect results">
            <a:extLst>
              <a:ext uri="{FF2B5EF4-FFF2-40B4-BE49-F238E27FC236}">
                <a16:creationId xmlns:a16="http://schemas.microsoft.com/office/drawing/2014/main" id="{8F6CCAB1-0710-4F10-8DE5-E336FCBE1C95}"/>
              </a:ext>
            </a:extLst>
          </p:cNvPr>
          <p:cNvSpPr>
            <a:spLocks noGrp="1"/>
          </p:cNvSpPr>
          <p:nvPr/>
        </p:nvSpPr>
        <p:spPr>
          <a:xfrm>
            <a:off x="9134475" y="3314700"/>
            <a:ext cx="2171700" cy="581025"/>
          </a:xfrm>
          <a:prstGeom prst="rect">
            <a:avLst/>
          </a:prstGeom>
          <a:noFill/>
          <a:ln w="0">
            <a:noFill/>
          </a:ln>
        </p:spPr>
        <p:txBody>
          <a:bodyPr lIns="0" tIns="0" rIns="0" bIns="0" anchor="t">
            <a:noAutofit/>
          </a:bodyPr>
          <a:lstStyle/>
          <a:p>
            <a:pPr algn="l">
              <a:defRPr sz="2025" b="1">
                <a:solidFill>
                  <a:srgbClr val="241D2C"/>
                </a:solidFill>
                <a:latin typeface="Roboto"/>
                <a:ea typeface="Roboto"/>
                <a:cs typeface="Roboto"/>
              </a:defRPr>
            </a:pPr>
            <a:r>
              <a:rPr sz="2025" b="1">
                <a:solidFill>
                  <a:srgbClr val="241D2C"/>
                </a:solidFill>
                <a:latin typeface="Roboto"/>
                <a:ea typeface="Roboto"/>
                <a:cs typeface="Roboto"/>
              </a:rPr>
              <a:t>Collect results</a:t>
            </a:r>
          </a:p>
        </p:txBody>
      </p:sp>
      <p:sp>
        <p:nvSpPr>
          <p:cNvPr id="27" name="Review returned files and their hashes">
            <a:extLst>
              <a:ext uri="{FF2B5EF4-FFF2-40B4-BE49-F238E27FC236}">
                <a16:creationId xmlns:a16="http://schemas.microsoft.com/office/drawing/2014/main" id="{ED0B3DA9-9C6C-4AA4-9306-9F5792102A83}"/>
              </a:ext>
            </a:extLst>
          </p:cNvPr>
          <p:cNvSpPr>
            <a:spLocks noGrp="1"/>
          </p:cNvSpPr>
          <p:nvPr/>
        </p:nvSpPr>
        <p:spPr>
          <a:xfrm>
            <a:off x="9134475" y="4095750"/>
            <a:ext cx="2171700" cy="866775"/>
          </a:xfrm>
          <a:prstGeom prst="rect">
            <a:avLst/>
          </a:prstGeom>
          <a:noFill/>
          <a:ln w="0">
            <a:noFill/>
          </a:ln>
        </p:spPr>
        <p:txBody>
          <a:bodyPr lIns="0" tIns="0" rIns="0" bIns="0" anchor="t">
            <a:noAutofit/>
          </a:bodyPr>
          <a:lstStyle/>
          <a:p>
            <a:pPr algn="l">
              <a:defRPr sz="1575" b="0">
                <a:solidFill>
                  <a:srgbClr val="655D6C"/>
                </a:solidFill>
                <a:latin typeface="Roboto"/>
                <a:ea typeface="Roboto"/>
                <a:cs typeface="Roboto"/>
              </a:defRPr>
            </a:pPr>
            <a:r>
              <a:rPr sz="1575" b="0">
                <a:solidFill>
                  <a:srgbClr val="655D6C"/>
                </a:solidFill>
                <a:latin typeface="Roboto"/>
                <a:ea typeface="Roboto"/>
                <a:cs typeface="Roboto"/>
              </a:rPr>
              <a:t>Review returned files</a:t>
            </a:r>
          </a:p>
          <a:p>
            <a:pPr algn="l">
              <a:defRPr sz="1575" b="0">
                <a:solidFill>
                  <a:srgbClr val="655D6C"/>
                </a:solidFill>
                <a:latin typeface="Roboto"/>
                <a:ea typeface="Roboto"/>
                <a:cs typeface="Roboto"/>
              </a:defRPr>
            </a:pPr>
            <a:r>
              <a:rPr sz="1575" b="0">
                <a:solidFill>
                  <a:srgbClr val="655D6C"/>
                </a:solidFill>
                <a:latin typeface="Roboto"/>
                <a:ea typeface="Roboto"/>
                <a:cs typeface="Roboto"/>
              </a:rPr>
              <a:t>and their hashes</a:t>
            </a:r>
          </a:p>
        </p:txBody>
      </p:sp>
      <p:sp>
        <p:nvSpPr>
          <p:cNvPr id="28" name="Content panel">
            <a:extLst>
              <a:ext uri="{FF2B5EF4-FFF2-40B4-BE49-F238E27FC236}">
                <a16:creationId xmlns:a16="http://schemas.microsoft.com/office/drawing/2014/main" id="{E2102AF1-AA9D-4F31-815B-4E1C6A0A2D07}"/>
              </a:ext>
            </a:extLst>
          </p:cNvPr>
          <p:cNvSpPr>
            <a:spLocks noGrp="1"/>
          </p:cNvSpPr>
          <p:nvPr/>
        </p:nvSpPr>
        <p:spPr>
          <a:xfrm>
            <a:off x="666750" y="5562600"/>
            <a:ext cx="11001375" cy="590550"/>
          </a:xfrm>
          <a:prstGeom prst="roundRect">
            <a:avLst>
              <a:gd name="adj" fmla="val 12903"/>
            </a:avLst>
          </a:prstGeom>
          <a:solidFill>
            <a:srgbClr val="EFE7F7"/>
          </a:solidFill>
          <a:ln w="0">
            <a:noFill/>
          </a:ln>
        </p:spPr>
      </p:sp>
      <p:sp>
        <p:nvSpPr>
          <p:cNvPr id="29" name="Tested on 17,000 rows: all five tasks completed after recove">
            <a:extLst>
              <a:ext uri="{FF2B5EF4-FFF2-40B4-BE49-F238E27FC236}">
                <a16:creationId xmlns:a16="http://schemas.microsoft.com/office/drawing/2014/main" id="{4687EB93-C525-4C18-B5E1-A6CAA221FAC9}"/>
              </a:ext>
            </a:extLst>
          </p:cNvPr>
          <p:cNvSpPr>
            <a:spLocks noGrp="1"/>
          </p:cNvSpPr>
          <p:nvPr/>
        </p:nvSpPr>
        <p:spPr>
          <a:xfrm>
            <a:off x="857250" y="5724525"/>
            <a:ext cx="10620375" cy="295275"/>
          </a:xfrm>
          <a:prstGeom prst="rect">
            <a:avLst/>
          </a:prstGeom>
          <a:noFill/>
          <a:ln w="0">
            <a:noFill/>
          </a:ln>
        </p:spPr>
        <p:txBody>
          <a:bodyPr lIns="0" tIns="0" rIns="0" bIns="0" anchor="t">
            <a:noAutofit/>
          </a:bodyPr>
          <a:lstStyle/>
          <a:p>
            <a:pPr algn="ctr">
              <a:defRPr sz="1575" b="1">
                <a:solidFill>
                  <a:srgbClr val="7155A7"/>
                </a:solidFill>
                <a:latin typeface="Roboto"/>
                <a:ea typeface="Roboto"/>
                <a:cs typeface="Roboto"/>
              </a:defRPr>
            </a:pPr>
            <a:r>
              <a:rPr sz="1575" b="1">
                <a:solidFill>
                  <a:srgbClr val="7155A7"/>
                </a:solidFill>
                <a:latin typeface="Roboto"/>
                <a:ea typeface="Roboto"/>
                <a:cs typeface="Roboto"/>
              </a:rPr>
              <a:t>Tested on 17,000 rows: all five tasks completed after recovery, with no duplicates.</a:t>
            </a:r>
          </a:p>
        </p:txBody>
      </p:sp>
    </p:spTree>
    <p:extLst>
      <p:ext uri="{BB962C8B-B14F-4D97-AF65-F5344CB8AC3E}">
        <p14:creationId xmlns:p14="http://schemas.microsoft.com/office/powerpoint/2010/main" val="1363098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C"/>
        </a:solidFill>
        <a:effectLst/>
      </p:bgPr>
    </p:bg>
    <p:spTree>
      <p:nvGrpSpPr>
        <p:cNvPr id="1" name=""/>
        <p:cNvGrpSpPr/>
        <p:nvPr/>
      </p:nvGrpSpPr>
      <p:grpSpPr>
        <a:xfrm>
          <a:off x="0" y="0"/>
          <a:ext cx="0" cy="0"/>
          <a:chOff x="0" y="0"/>
          <a:chExt cx="0" cy="0"/>
        </a:xfrm>
      </p:grpSpPr>
      <p:sp>
        <p:nvSpPr>
          <p:cNvPr id="11" name="04">
            <a:extLst>
              <a:ext uri="{FF2B5EF4-FFF2-40B4-BE49-F238E27FC236}">
                <a16:creationId xmlns:a16="http://schemas.microsoft.com/office/drawing/2014/main" id="{D37AE762-D294-4AA7-83DB-15ED2F6B2B3F}"/>
              </a:ext>
            </a:extLst>
          </p:cNvPr>
          <p:cNvSpPr>
            <a:spLocks noGrp="1"/>
          </p:cNvSpPr>
          <p:nvPr/>
        </p:nvSpPr>
        <p:spPr>
          <a:xfrm>
            <a:off x="11144250" y="447675"/>
            <a:ext cx="409575" cy="285750"/>
          </a:xfrm>
          <a:prstGeom prst="rect">
            <a:avLst/>
          </a:prstGeom>
          <a:noFill/>
          <a:ln w="0">
            <a:noFill/>
          </a:ln>
        </p:spPr>
        <p:txBody>
          <a:bodyPr lIns="0" tIns="0" rIns="0" bIns="0" anchor="t">
            <a:noAutofit/>
          </a:bodyPr>
          <a:lstStyle/>
          <a:p>
            <a:pPr algn="r">
              <a:defRPr sz="1425" b="0">
                <a:solidFill>
                  <a:srgbClr val="655D6C"/>
                </a:solidFill>
                <a:latin typeface="Roboto"/>
                <a:ea typeface="Roboto"/>
                <a:cs typeface="Roboto"/>
              </a:defRPr>
            </a:pPr>
            <a:r>
              <a:rPr sz="1425" b="0">
                <a:solidFill>
                  <a:srgbClr val="655D6C"/>
                </a:solidFill>
                <a:latin typeface="Roboto"/>
                <a:ea typeface="Roboto"/>
                <a:cs typeface="Roboto"/>
              </a:rPr>
              <a:t>04</a:t>
            </a:r>
          </a:p>
        </p:txBody>
      </p:sp>
      <p:sp>
        <p:nvSpPr>
          <p:cNvPr id="2" name="No task ran twice after the interruption.">
            <a:extLst>
              <a:ext uri="{FF2B5EF4-FFF2-40B4-BE49-F238E27FC236}">
                <a16:creationId xmlns:a16="http://schemas.microsoft.com/office/drawing/2014/main" id="{54BF7121-985D-4234-BC12-941DAF22A7F8}"/>
              </a:ext>
            </a:extLst>
          </p:cNvPr>
          <p:cNvSpPr>
            <a:spLocks noGrp="1"/>
          </p:cNvSpPr>
          <p:nvPr/>
        </p:nvSpPr>
        <p:spPr>
          <a:xfrm>
            <a:off x="685800" y="619125"/>
            <a:ext cx="10572750" cy="647700"/>
          </a:xfrm>
          <a:prstGeom prst="rect">
            <a:avLst/>
          </a:prstGeom>
          <a:noFill/>
          <a:ln w="0">
            <a:noFill/>
          </a:ln>
        </p:spPr>
        <p:txBody>
          <a:bodyPr lIns="0" tIns="0" rIns="0" bIns="0" anchor="t">
            <a:noAutofit/>
          </a:bodyPr>
          <a:lstStyle/>
          <a:p>
            <a:pPr algn="l">
              <a:defRPr sz="3375" b="1">
                <a:solidFill>
                  <a:srgbClr val="241D2C"/>
                </a:solidFill>
                <a:latin typeface="Roboto"/>
                <a:ea typeface="Roboto"/>
                <a:cs typeface="Roboto"/>
              </a:defRPr>
            </a:pPr>
            <a:r>
              <a:rPr sz="3375" b="1">
                <a:solidFill>
                  <a:srgbClr val="241D2C"/>
                </a:solidFill>
                <a:latin typeface="Roboto"/>
                <a:ea typeface="Roboto"/>
                <a:cs typeface="Roboto"/>
              </a:rPr>
              <a:t>No task ran twice after the interruption.</a:t>
            </a:r>
          </a:p>
        </p:txBody>
      </p:sp>
      <p:sp>
        <p:nvSpPr>
          <p:cNvPr id="3" name="A 17,000-row run resumed from the same journal.">
            <a:extLst>
              <a:ext uri="{FF2B5EF4-FFF2-40B4-BE49-F238E27FC236}">
                <a16:creationId xmlns:a16="http://schemas.microsoft.com/office/drawing/2014/main" id="{2D97AA8D-CE60-4019-9D38-42B5E9F7AE6A}"/>
              </a:ext>
            </a:extLst>
          </p:cNvPr>
          <p:cNvSpPr>
            <a:spLocks noGrp="1"/>
          </p:cNvSpPr>
          <p:nvPr/>
        </p:nvSpPr>
        <p:spPr>
          <a:xfrm>
            <a:off x="685800" y="1438275"/>
            <a:ext cx="10572750" cy="400050"/>
          </a:xfrm>
          <a:prstGeom prst="rect">
            <a:avLst/>
          </a:prstGeom>
          <a:noFill/>
          <a:ln w="0">
            <a:noFill/>
          </a:ln>
        </p:spPr>
        <p:txBody>
          <a:bodyPr lIns="0" tIns="0" rIns="0" bIns="0" anchor="t">
            <a:noAutofit/>
          </a:bodyPr>
          <a:lstStyle/>
          <a:p>
            <a:pPr algn="l">
              <a:defRPr sz="1875" b="0">
                <a:solidFill>
                  <a:srgbClr val="655D6C"/>
                </a:solidFill>
                <a:latin typeface="Roboto"/>
                <a:ea typeface="Roboto"/>
                <a:cs typeface="Roboto"/>
              </a:defRPr>
            </a:pPr>
            <a:r>
              <a:rPr sz="1875" b="0">
                <a:solidFill>
                  <a:srgbClr val="655D6C"/>
                </a:solidFill>
                <a:latin typeface="Roboto"/>
                <a:ea typeface="Roboto"/>
                <a:cs typeface="Roboto"/>
              </a:rPr>
              <a:t>A 17,000-row run resumed from the same journal.</a:t>
            </a:r>
          </a:p>
        </p:txBody>
      </p:sp>
      <p:sp>
        <p:nvSpPr>
          <p:cNvPr id="4" name="17,000">
            <a:extLst>
              <a:ext uri="{FF2B5EF4-FFF2-40B4-BE49-F238E27FC236}">
                <a16:creationId xmlns:a16="http://schemas.microsoft.com/office/drawing/2014/main" id="{C75E53A4-D409-4668-AB8A-7619C0C56CA2}"/>
              </a:ext>
            </a:extLst>
          </p:cNvPr>
          <p:cNvSpPr>
            <a:spLocks noGrp="1"/>
          </p:cNvSpPr>
          <p:nvPr/>
        </p:nvSpPr>
        <p:spPr>
          <a:xfrm>
            <a:off x="685800" y="2352675"/>
            <a:ext cx="4800600" cy="1352550"/>
          </a:xfrm>
          <a:prstGeom prst="rect">
            <a:avLst/>
          </a:prstGeom>
          <a:noFill/>
          <a:ln w="0">
            <a:noFill/>
          </a:ln>
        </p:spPr>
        <p:txBody>
          <a:bodyPr lIns="0" tIns="0" rIns="0" bIns="0" anchor="t">
            <a:noAutofit/>
          </a:bodyPr>
          <a:lstStyle/>
          <a:p>
            <a:pPr algn="l">
              <a:defRPr sz="8400" b="1">
                <a:solidFill>
                  <a:srgbClr val="241D2C"/>
                </a:solidFill>
                <a:latin typeface="Roboto"/>
                <a:ea typeface="Roboto"/>
                <a:cs typeface="Roboto"/>
              </a:defRPr>
            </a:pPr>
            <a:r>
              <a:rPr sz="8400" b="1">
                <a:solidFill>
                  <a:srgbClr val="241D2C"/>
                </a:solidFill>
                <a:latin typeface="Roboto"/>
                <a:ea typeface="Roboto"/>
                <a:cs typeface="Roboto"/>
              </a:rPr>
              <a:t>17,000</a:t>
            </a:r>
          </a:p>
        </p:txBody>
      </p:sp>
      <p:sp>
        <p:nvSpPr>
          <p:cNvPr id="5" name="synthetic CSV rows">
            <a:extLst>
              <a:ext uri="{FF2B5EF4-FFF2-40B4-BE49-F238E27FC236}">
                <a16:creationId xmlns:a16="http://schemas.microsoft.com/office/drawing/2014/main" id="{05F75CAA-8514-40C8-A957-4915B909D006}"/>
              </a:ext>
            </a:extLst>
          </p:cNvPr>
          <p:cNvSpPr>
            <a:spLocks noGrp="1"/>
          </p:cNvSpPr>
          <p:nvPr/>
        </p:nvSpPr>
        <p:spPr>
          <a:xfrm>
            <a:off x="733425" y="3724275"/>
            <a:ext cx="4667250" cy="457200"/>
          </a:xfrm>
          <a:prstGeom prst="rect">
            <a:avLst/>
          </a:prstGeom>
          <a:noFill/>
          <a:ln w="0">
            <a:noFill/>
          </a:ln>
        </p:spPr>
        <p:txBody>
          <a:bodyPr lIns="0" tIns="0" rIns="0" bIns="0" anchor="t">
            <a:noAutofit/>
          </a:bodyPr>
          <a:lstStyle/>
          <a:p>
            <a:pPr algn="l">
              <a:defRPr sz="2100" b="0">
                <a:solidFill>
                  <a:srgbClr val="655D6C"/>
                </a:solidFill>
                <a:latin typeface="Roboto"/>
                <a:ea typeface="Roboto"/>
                <a:cs typeface="Roboto"/>
              </a:defRPr>
            </a:pPr>
            <a:r>
              <a:rPr sz="2100" b="0">
                <a:solidFill>
                  <a:srgbClr val="655D6C"/>
                </a:solidFill>
                <a:latin typeface="Roboto"/>
                <a:ea typeface="Roboto"/>
                <a:cs typeface="Roboto"/>
              </a:rPr>
              <a:t>synthetic CSV rows</a:t>
            </a:r>
          </a:p>
        </p:txBody>
      </p:sp>
      <p:sp>
        <p:nvSpPr>
          <p:cNvPr id="6" name="0">
            <a:extLst>
              <a:ext uri="{FF2B5EF4-FFF2-40B4-BE49-F238E27FC236}">
                <a16:creationId xmlns:a16="http://schemas.microsoft.com/office/drawing/2014/main" id="{4DC76926-4A58-4CA0-A3A6-041D9796AF6B}"/>
              </a:ext>
            </a:extLst>
          </p:cNvPr>
          <p:cNvSpPr>
            <a:spLocks noGrp="1"/>
          </p:cNvSpPr>
          <p:nvPr/>
        </p:nvSpPr>
        <p:spPr>
          <a:xfrm>
            <a:off x="733425" y="4629150"/>
            <a:ext cx="971550" cy="933450"/>
          </a:xfrm>
          <a:prstGeom prst="rect">
            <a:avLst/>
          </a:prstGeom>
          <a:noFill/>
          <a:ln w="0">
            <a:noFill/>
          </a:ln>
        </p:spPr>
        <p:txBody>
          <a:bodyPr lIns="0" tIns="0" rIns="0" bIns="0" anchor="t">
            <a:noAutofit/>
          </a:bodyPr>
          <a:lstStyle/>
          <a:p>
            <a:pPr algn="l">
              <a:defRPr sz="5850" b="1">
                <a:solidFill>
                  <a:srgbClr val="356B48"/>
                </a:solidFill>
                <a:latin typeface="Roboto"/>
                <a:ea typeface="Roboto"/>
                <a:cs typeface="Roboto"/>
              </a:defRPr>
            </a:pPr>
            <a:r>
              <a:rPr sz="5850" b="1">
                <a:solidFill>
                  <a:srgbClr val="356B48"/>
                </a:solidFill>
                <a:latin typeface="Roboto"/>
                <a:ea typeface="Roboto"/>
                <a:cs typeface="Roboto"/>
              </a:rPr>
              <a:t>0</a:t>
            </a:r>
          </a:p>
        </p:txBody>
      </p:sp>
      <p:sp>
        <p:nvSpPr>
          <p:cNvPr id="7" name="duplicate tasks">
            <a:extLst>
              <a:ext uri="{FF2B5EF4-FFF2-40B4-BE49-F238E27FC236}">
                <a16:creationId xmlns:a16="http://schemas.microsoft.com/office/drawing/2014/main" id="{8AE92FFF-6D4C-4E99-A19C-66EC0446D350}"/>
              </a:ext>
            </a:extLst>
          </p:cNvPr>
          <p:cNvSpPr>
            <a:spLocks noGrp="1"/>
          </p:cNvSpPr>
          <p:nvPr/>
        </p:nvSpPr>
        <p:spPr>
          <a:xfrm>
            <a:off x="1819275" y="4914900"/>
            <a:ext cx="3476625" cy="466725"/>
          </a:xfrm>
          <a:prstGeom prst="rect">
            <a:avLst/>
          </a:prstGeom>
          <a:noFill/>
          <a:ln w="0">
            <a:noFill/>
          </a:ln>
        </p:spPr>
        <p:txBody>
          <a:bodyPr lIns="0" tIns="0" rIns="0" bIns="0" anchor="t">
            <a:noAutofit/>
          </a:bodyPr>
          <a:lstStyle/>
          <a:p>
            <a:pPr algn="l">
              <a:defRPr sz="2100" b="0">
                <a:solidFill>
                  <a:srgbClr val="241D2C"/>
                </a:solidFill>
                <a:latin typeface="Roboto"/>
                <a:ea typeface="Roboto"/>
                <a:cs typeface="Roboto"/>
              </a:defRPr>
            </a:pPr>
            <a:r>
              <a:rPr sz="2100" b="0">
                <a:solidFill>
                  <a:srgbClr val="241D2C"/>
                </a:solidFill>
                <a:latin typeface="Roboto"/>
                <a:ea typeface="Roboto"/>
                <a:cs typeface="Roboto"/>
              </a:rPr>
              <a:t>duplicate tasks</a:t>
            </a:r>
          </a:p>
        </p:txBody>
      </p:sp>
      <p:graphicFrame>
        <p:nvGraphicFramePr>
          <p:cNvPr id="18" name="Chart"/>
          <p:cNvGraphicFramePr/>
          <p:nvPr/>
        </p:nvGraphicFramePr>
        <p:xfrm>
          <a:off x="5724525" y="2124075"/>
          <a:ext cx="5686425" cy="3305175"/>
        </p:xfrm>
        <a:graphic>
          <a:graphicData uri="http://schemas.openxmlformats.org/drawingml/2006/chart">
            <c:chart xmlns:c="http://schemas.openxmlformats.org/drawingml/2006/chart" xmlns:r="http://schemas.openxmlformats.org/officeDocument/2006/relationships" r:id="rId3"/>
          </a:graphicData>
        </a:graphic>
      </p:graphicFrame>
      <p:sp>
        <p:nvSpPr>
          <p:cNvPr id="9" name="3 output files matched direct Python, byte for byte.">
            <a:extLst>
              <a:ext uri="{FF2B5EF4-FFF2-40B4-BE49-F238E27FC236}">
                <a16:creationId xmlns:a16="http://schemas.microsoft.com/office/drawing/2014/main" id="{A87AB40F-9183-4254-BD50-6971A5F6B143}"/>
              </a:ext>
            </a:extLst>
          </p:cNvPr>
          <p:cNvSpPr>
            <a:spLocks noGrp="1"/>
          </p:cNvSpPr>
          <p:nvPr/>
        </p:nvSpPr>
        <p:spPr>
          <a:xfrm>
            <a:off x="5724525" y="5572125"/>
            <a:ext cx="5686425" cy="419100"/>
          </a:xfrm>
          <a:prstGeom prst="rect">
            <a:avLst/>
          </a:prstGeom>
          <a:noFill/>
          <a:ln w="0">
            <a:noFill/>
          </a:ln>
        </p:spPr>
        <p:txBody>
          <a:bodyPr lIns="0" tIns="0" rIns="0" bIns="0" anchor="t">
            <a:noAutofit/>
          </a:bodyPr>
          <a:lstStyle/>
          <a:p>
            <a:pPr algn="ctr">
              <a:defRPr sz="1575" b="1">
                <a:solidFill>
                  <a:srgbClr val="241D2C"/>
                </a:solidFill>
                <a:latin typeface="Roboto"/>
                <a:ea typeface="Roboto"/>
                <a:cs typeface="Roboto"/>
              </a:defRPr>
            </a:pPr>
            <a:r>
              <a:rPr lang="en-US" sz="1575" b="1">
                <a:solidFill>
                  <a:srgbClr val="241D2C"/>
                </a:solidFill>
                <a:latin typeface="Roboto"/>
                <a:ea typeface="Roboto"/>
                <a:cs typeface="Roboto"/>
              </a:rPr>
              <a:t>3 output files matched direct Python,</a:t>
            </a:r>
          </a:p>
          <a:p>
            <a:pPr algn="ctr">
              <a:defRPr sz="1575" b="1">
                <a:solidFill>
                  <a:srgbClr val="241D2C"/>
                </a:solidFill>
                <a:latin typeface="Roboto"/>
                <a:ea typeface="Roboto"/>
                <a:cs typeface="Roboto"/>
              </a:defRPr>
            </a:pPr>
            <a:r>
              <a:rPr lang="en-US" sz="1575" b="1">
                <a:solidFill>
                  <a:srgbClr val="241D2C"/>
                </a:solidFill>
                <a:latin typeface="Roboto"/>
                <a:ea typeface="Roboto"/>
                <a:cs typeface="Roboto"/>
              </a:rPr>
              <a:t>byte for byte.</a:t>
            </a:r>
            <a:endParaRPr sz="1575" b="1">
              <a:solidFill>
                <a:srgbClr val="241D2C"/>
              </a:solidFill>
              <a:latin typeface="Roboto"/>
              <a:ea typeface="Roboto"/>
              <a:cs typeface="Roboto"/>
            </a:endParaRPr>
          </a:p>
        </p:txBody>
      </p:sp>
      <p:sp>
        <p:nvSpPr>
          <p:cNvPr id="10" name="Saved test: 5 Oct 2026 · Trusted local CPU · OFF_CHAIN · No ">
            <a:extLst>
              <a:ext uri="{FF2B5EF4-FFF2-40B4-BE49-F238E27FC236}">
                <a16:creationId xmlns:a16="http://schemas.microsoft.com/office/drawing/2014/main" id="{FD21D239-8924-43C2-B432-C4C428B869E3}"/>
              </a:ext>
            </a:extLst>
          </p:cNvPr>
          <p:cNvSpPr>
            <a:spLocks noGrp="1"/>
          </p:cNvSpPr>
          <p:nvPr/>
        </p:nvSpPr>
        <p:spPr>
          <a:xfrm>
            <a:off x="685800" y="6419850"/>
            <a:ext cx="10668000" cy="285750"/>
          </a:xfrm>
          <a:prstGeom prst="rect">
            <a:avLst/>
          </a:prstGeom>
          <a:noFill/>
          <a:ln w="0">
            <a:noFill/>
          </a:ln>
        </p:spPr>
        <p:txBody>
          <a:bodyPr lIns="0" tIns="0" rIns="0" bIns="0" anchor="t">
            <a:noAutofit/>
          </a:bodyPr>
          <a:lstStyle/>
          <a:p>
            <a:pPr algn="l">
              <a:defRPr sz="1425" b="0">
                <a:solidFill>
                  <a:srgbClr val="655D6C"/>
                </a:solidFill>
                <a:latin typeface="Roboto"/>
                <a:ea typeface="Roboto"/>
                <a:cs typeface="Roboto"/>
              </a:defRPr>
            </a:pPr>
            <a:r>
              <a:rPr sz="1425" b="0">
                <a:solidFill>
                  <a:srgbClr val="655D6C"/>
                </a:solidFill>
                <a:latin typeface="Roboto"/>
                <a:ea typeface="Roboto"/>
                <a:cs typeface="Roboto"/>
              </a:rPr>
              <a:t>Saved test: 5 Oct 2026 · Trusted local CPU · OFF_CHAIN · No Docker isolation.</a:t>
            </a:r>
          </a:p>
        </p:txBody>
      </p:sp>
    </p:spTree>
    <p:extLst>
      <p:ext uri="{BB962C8B-B14F-4D97-AF65-F5344CB8AC3E}">
        <p14:creationId xmlns:p14="http://schemas.microsoft.com/office/powerpoint/2010/main" val="1332007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C"/>
        </a:solidFill>
        <a:effectLst/>
      </p:bgPr>
    </p:bg>
    <p:spTree>
      <p:nvGrpSpPr>
        <p:cNvPr id="1" name=""/>
        <p:cNvGrpSpPr/>
        <p:nvPr/>
      </p:nvGrpSpPr>
      <p:grpSpPr>
        <a:xfrm>
          <a:off x="0" y="0"/>
          <a:ext cx="0" cy="0"/>
          <a:chOff x="0" y="0"/>
          <a:chExt cx="0" cy="0"/>
        </a:xfrm>
      </p:grpSpPr>
      <p:sp>
        <p:nvSpPr>
          <p:cNvPr id="12" name="05">
            <a:extLst>
              <a:ext uri="{FF2B5EF4-FFF2-40B4-BE49-F238E27FC236}">
                <a16:creationId xmlns:a16="http://schemas.microsoft.com/office/drawing/2014/main" id="{E116C254-411C-4E1A-BED3-A70F5A786E85}"/>
              </a:ext>
            </a:extLst>
          </p:cNvPr>
          <p:cNvSpPr>
            <a:spLocks noGrp="1"/>
          </p:cNvSpPr>
          <p:nvPr/>
        </p:nvSpPr>
        <p:spPr>
          <a:xfrm>
            <a:off x="11144250" y="447675"/>
            <a:ext cx="409575" cy="285750"/>
          </a:xfrm>
          <a:prstGeom prst="rect">
            <a:avLst/>
          </a:prstGeom>
          <a:noFill/>
          <a:ln w="0">
            <a:noFill/>
          </a:ln>
        </p:spPr>
        <p:txBody>
          <a:bodyPr lIns="0" tIns="0" rIns="0" bIns="0" anchor="t">
            <a:noAutofit/>
          </a:bodyPr>
          <a:lstStyle/>
          <a:p>
            <a:pPr algn="r">
              <a:defRPr sz="1425" b="0">
                <a:solidFill>
                  <a:srgbClr val="655D6C"/>
                </a:solidFill>
                <a:latin typeface="Roboto"/>
                <a:ea typeface="Roboto"/>
                <a:cs typeface="Roboto"/>
              </a:defRPr>
            </a:pPr>
            <a:r>
              <a:rPr sz="1425" b="0">
                <a:solidFill>
                  <a:srgbClr val="655D6C"/>
                </a:solidFill>
                <a:latin typeface="Roboto"/>
                <a:ea typeface="Roboto"/>
                <a:cs typeface="Roboto"/>
              </a:rPr>
              <a:t>05</a:t>
            </a:r>
          </a:p>
        </p:txBody>
      </p:sp>
      <p:sp>
        <p:nvSpPr>
          <p:cNvPr id="2" name="Solana records the payment. Aperture returns the files.">
            <a:extLst>
              <a:ext uri="{FF2B5EF4-FFF2-40B4-BE49-F238E27FC236}">
                <a16:creationId xmlns:a16="http://schemas.microsoft.com/office/drawing/2014/main" id="{D4EF19B5-969A-4390-A0F6-1E7209D34ADF}"/>
              </a:ext>
            </a:extLst>
          </p:cNvPr>
          <p:cNvSpPr>
            <a:spLocks noGrp="1"/>
          </p:cNvSpPr>
          <p:nvPr/>
        </p:nvSpPr>
        <p:spPr>
          <a:xfrm>
            <a:off x="685800" y="619125"/>
            <a:ext cx="10706100" cy="647700"/>
          </a:xfrm>
          <a:prstGeom prst="rect">
            <a:avLst/>
          </a:prstGeom>
          <a:noFill/>
          <a:ln w="0">
            <a:noFill/>
          </a:ln>
        </p:spPr>
        <p:txBody>
          <a:bodyPr lIns="0" tIns="0" rIns="0" bIns="0" anchor="t">
            <a:noAutofit/>
          </a:bodyPr>
          <a:lstStyle/>
          <a:p>
            <a:pPr algn="l">
              <a:defRPr sz="3150" b="1">
                <a:solidFill>
                  <a:srgbClr val="241D2C"/>
                </a:solidFill>
                <a:latin typeface="Roboto"/>
                <a:ea typeface="Roboto"/>
                <a:cs typeface="Roboto"/>
              </a:defRPr>
            </a:pPr>
            <a:r>
              <a:rPr sz="3150" b="1">
                <a:solidFill>
                  <a:srgbClr val="241D2C"/>
                </a:solidFill>
                <a:latin typeface="Roboto"/>
                <a:ea typeface="Roboto"/>
                <a:cs typeface="Roboto"/>
              </a:rPr>
              <a:t>Solana records the payment. Aperture returns the files.</a:t>
            </a:r>
          </a:p>
        </p:txBody>
      </p:sp>
      <p:sp>
        <p:nvSpPr>
          <p:cNvPr id="3" name="Delegated limits keep the agent within an owner-approved sco">
            <a:extLst>
              <a:ext uri="{FF2B5EF4-FFF2-40B4-BE49-F238E27FC236}">
                <a16:creationId xmlns:a16="http://schemas.microsoft.com/office/drawing/2014/main" id="{D898C1A4-B0F7-42A2-9CBD-1DC89E13A97A}"/>
              </a:ext>
            </a:extLst>
          </p:cNvPr>
          <p:cNvSpPr>
            <a:spLocks noGrp="1"/>
          </p:cNvSpPr>
          <p:nvPr/>
        </p:nvSpPr>
        <p:spPr>
          <a:xfrm>
            <a:off x="685800" y="1438275"/>
            <a:ext cx="10477500" cy="400050"/>
          </a:xfrm>
          <a:prstGeom prst="rect">
            <a:avLst/>
          </a:prstGeom>
          <a:noFill/>
          <a:ln w="0">
            <a:noFill/>
          </a:ln>
        </p:spPr>
        <p:txBody>
          <a:bodyPr lIns="0" tIns="0" rIns="0" bIns="0" anchor="t">
            <a:noAutofit/>
          </a:bodyPr>
          <a:lstStyle/>
          <a:p>
            <a:pPr algn="l">
              <a:defRPr sz="1875" b="0">
                <a:solidFill>
                  <a:srgbClr val="655D6C"/>
                </a:solidFill>
                <a:latin typeface="Roboto"/>
                <a:ea typeface="Roboto"/>
                <a:cs typeface="Roboto"/>
              </a:defRPr>
            </a:pPr>
            <a:r>
              <a:rPr sz="1875" b="0">
                <a:solidFill>
                  <a:srgbClr val="655D6C"/>
                </a:solidFill>
                <a:latin typeface="Roboto"/>
                <a:ea typeface="Roboto"/>
                <a:cs typeface="Roboto"/>
              </a:rPr>
              <a:t>Delegated limits keep the agent within an owner-approved scope.</a:t>
            </a:r>
          </a:p>
        </p:txBody>
      </p:sp>
      <p:sp>
        <p:nvSpPr>
          <p:cNvPr id="4" name="Content panel">
            <a:extLst>
              <a:ext uri="{FF2B5EF4-FFF2-40B4-BE49-F238E27FC236}">
                <a16:creationId xmlns:a16="http://schemas.microsoft.com/office/drawing/2014/main" id="{7CE8AD1F-78CF-4A01-9807-E7EA42291472}"/>
              </a:ext>
            </a:extLst>
          </p:cNvPr>
          <p:cNvSpPr>
            <a:spLocks noGrp="1"/>
          </p:cNvSpPr>
          <p:nvPr/>
        </p:nvSpPr>
        <p:spPr>
          <a:xfrm>
            <a:off x="685800" y="2276475"/>
            <a:ext cx="4419600" cy="3333750"/>
          </a:xfrm>
          <a:prstGeom prst="roundRect">
            <a:avLst>
              <a:gd name="adj" fmla="val 2286"/>
            </a:avLst>
          </a:prstGeom>
          <a:solidFill>
            <a:srgbClr val="EFE7F7"/>
          </a:solidFill>
          <a:ln w="0">
            <a:noFill/>
          </a:ln>
        </p:spPr>
      </p:sp>
      <p:sp>
        <p:nvSpPr>
          <p:cNvPr id="5" name="RETAINED DEVNET RUN">
            <a:extLst>
              <a:ext uri="{FF2B5EF4-FFF2-40B4-BE49-F238E27FC236}">
                <a16:creationId xmlns:a16="http://schemas.microsoft.com/office/drawing/2014/main" id="{F3C927C8-F0F8-40AE-93BB-9D0DBDE8E1C5}"/>
              </a:ext>
            </a:extLst>
          </p:cNvPr>
          <p:cNvSpPr>
            <a:spLocks noGrp="1"/>
          </p:cNvSpPr>
          <p:nvPr/>
        </p:nvSpPr>
        <p:spPr>
          <a:xfrm>
            <a:off x="933450" y="2562225"/>
            <a:ext cx="3905250" cy="333375"/>
          </a:xfrm>
          <a:prstGeom prst="rect">
            <a:avLst/>
          </a:prstGeom>
          <a:noFill/>
          <a:ln w="0">
            <a:noFill/>
          </a:ln>
        </p:spPr>
        <p:txBody>
          <a:bodyPr lIns="0" tIns="0" rIns="0" bIns="0" anchor="t">
            <a:noAutofit/>
          </a:bodyPr>
          <a:lstStyle/>
          <a:p>
            <a:pPr algn="l">
              <a:defRPr sz="1425" b="1">
                <a:solidFill>
                  <a:srgbClr val="7155A7"/>
                </a:solidFill>
                <a:latin typeface="Roboto"/>
                <a:ea typeface="Roboto"/>
                <a:cs typeface="Roboto"/>
              </a:defRPr>
            </a:pPr>
            <a:r>
              <a:rPr sz="1425" b="1">
                <a:solidFill>
                  <a:srgbClr val="7155A7"/>
                </a:solidFill>
                <a:latin typeface="Roboto"/>
                <a:ea typeface="Roboto"/>
                <a:cs typeface="Roboto"/>
              </a:rPr>
              <a:t>RETAINED DEVNET RUN</a:t>
            </a:r>
          </a:p>
        </p:txBody>
      </p:sp>
      <p:sp>
        <p:nvSpPr>
          <p:cNvPr id="6" name="3,200">
            <a:extLst>
              <a:ext uri="{FF2B5EF4-FFF2-40B4-BE49-F238E27FC236}">
                <a16:creationId xmlns:a16="http://schemas.microsoft.com/office/drawing/2014/main" id="{A4FD0A5E-76B2-42AD-8C4A-CF2D69A70172}"/>
              </a:ext>
            </a:extLst>
          </p:cNvPr>
          <p:cNvSpPr>
            <a:spLocks noGrp="1"/>
          </p:cNvSpPr>
          <p:nvPr/>
        </p:nvSpPr>
        <p:spPr>
          <a:xfrm>
            <a:off x="933450" y="3114675"/>
            <a:ext cx="3857625" cy="1066800"/>
          </a:xfrm>
          <a:prstGeom prst="rect">
            <a:avLst/>
          </a:prstGeom>
          <a:noFill/>
          <a:ln w="0">
            <a:noFill/>
          </a:ln>
        </p:spPr>
        <p:txBody>
          <a:bodyPr lIns="0" tIns="0" rIns="0" bIns="0" anchor="t">
            <a:noAutofit/>
          </a:bodyPr>
          <a:lstStyle/>
          <a:p>
            <a:pPr algn="l">
              <a:defRPr sz="6225" b="1">
                <a:solidFill>
                  <a:srgbClr val="241D2C"/>
                </a:solidFill>
                <a:latin typeface="Roboto"/>
                <a:ea typeface="Roboto"/>
                <a:cs typeface="Roboto"/>
              </a:defRPr>
            </a:pPr>
            <a:r>
              <a:rPr sz="6225" b="1">
                <a:solidFill>
                  <a:srgbClr val="241D2C"/>
                </a:solidFill>
                <a:latin typeface="Roboto"/>
                <a:ea typeface="Roboto"/>
                <a:cs typeface="Roboto"/>
              </a:rPr>
              <a:t>3,200</a:t>
            </a:r>
          </a:p>
        </p:txBody>
      </p:sp>
      <p:sp>
        <p:nvSpPr>
          <p:cNvPr id="7" name="lamports settled on-chain">
            <a:extLst>
              <a:ext uri="{FF2B5EF4-FFF2-40B4-BE49-F238E27FC236}">
                <a16:creationId xmlns:a16="http://schemas.microsoft.com/office/drawing/2014/main" id="{0B422A37-1760-4A7C-8B87-A14A2FB839A6}"/>
              </a:ext>
            </a:extLst>
          </p:cNvPr>
          <p:cNvSpPr>
            <a:spLocks noGrp="1"/>
          </p:cNvSpPr>
          <p:nvPr/>
        </p:nvSpPr>
        <p:spPr>
          <a:xfrm>
            <a:off x="952500" y="4181475"/>
            <a:ext cx="3857625" cy="400050"/>
          </a:xfrm>
          <a:prstGeom prst="rect">
            <a:avLst/>
          </a:prstGeom>
          <a:noFill/>
          <a:ln w="0">
            <a:noFill/>
          </a:ln>
        </p:spPr>
        <p:txBody>
          <a:bodyPr lIns="0" tIns="0" rIns="0" bIns="0" anchor="t">
            <a:noAutofit/>
          </a:bodyPr>
          <a:lstStyle/>
          <a:p>
            <a:pPr algn="l">
              <a:defRPr sz="1875" b="0">
                <a:solidFill>
                  <a:srgbClr val="655D6C"/>
                </a:solidFill>
                <a:latin typeface="Roboto"/>
                <a:ea typeface="Roboto"/>
                <a:cs typeface="Roboto"/>
              </a:defRPr>
            </a:pPr>
            <a:r>
              <a:rPr sz="1875" b="0">
                <a:solidFill>
                  <a:srgbClr val="655D6C"/>
                </a:solidFill>
                <a:latin typeface="Roboto"/>
                <a:ea typeface="Roboto"/>
                <a:cs typeface="Roboto"/>
              </a:rPr>
              <a:t>lamports settled on-chain</a:t>
            </a:r>
          </a:p>
        </p:txBody>
      </p:sp>
      <p:sp>
        <p:nvSpPr>
          <p:cNvPr id="8" name="27 Sep 2026">
            <a:extLst>
              <a:ext uri="{FF2B5EF4-FFF2-40B4-BE49-F238E27FC236}">
                <a16:creationId xmlns:a16="http://schemas.microsoft.com/office/drawing/2014/main" id="{92C5F94C-5343-46BF-8D86-5BCF78BC0083}"/>
              </a:ext>
            </a:extLst>
          </p:cNvPr>
          <p:cNvSpPr>
            <a:spLocks noGrp="1"/>
          </p:cNvSpPr>
          <p:nvPr/>
        </p:nvSpPr>
        <p:spPr>
          <a:xfrm>
            <a:off x="952500" y="4905375"/>
            <a:ext cx="3857625" cy="285750"/>
          </a:xfrm>
          <a:prstGeom prst="rect">
            <a:avLst/>
          </a:prstGeom>
          <a:noFill/>
          <a:ln w="0">
            <a:noFill/>
          </a:ln>
        </p:spPr>
        <p:txBody>
          <a:bodyPr lIns="0" tIns="0" rIns="0" bIns="0" anchor="t">
            <a:noAutofit/>
          </a:bodyPr>
          <a:lstStyle/>
          <a:p>
            <a:pPr algn="l">
              <a:defRPr sz="1575" b="1">
                <a:solidFill>
                  <a:srgbClr val="655D6C"/>
                </a:solidFill>
                <a:latin typeface="Roboto"/>
                <a:ea typeface="Roboto"/>
                <a:cs typeface="Roboto"/>
              </a:defRPr>
            </a:pPr>
            <a:r>
              <a:rPr sz="1575" b="1">
                <a:solidFill>
                  <a:srgbClr val="655D6C"/>
                </a:solidFill>
                <a:latin typeface="Roboto"/>
                <a:ea typeface="Roboto"/>
                <a:cs typeface="Roboto"/>
              </a:rPr>
              <a:t>27 Sep 2026</a:t>
            </a:r>
          </a:p>
        </p:txBody>
      </p:sp>
      <p:graphicFrame>
        <p:nvGraphicFramePr>
          <p:cNvPr id="20" name="Table 19"/>
          <p:cNvGraphicFramePr/>
          <p:nvPr>
            <p:extLst>
              <p:ext uri="{D42A27DB-BD31-4B8C-83A1-F6EECF244321}">
                <p14:modId xmlns:p14="http://schemas.microsoft.com/office/powerpoint/2010/main" val="186275472"/>
              </p:ext>
            </p:extLst>
          </p:nvPr>
        </p:nvGraphicFramePr>
        <p:xfrm>
          <a:off x="5429250" y="2276475"/>
          <a:ext cx="6076950" cy="3295650"/>
        </p:xfrm>
        <a:graphic>
          <a:graphicData uri="http://schemas.openxmlformats.org/drawingml/2006/table">
            <a:tbl>
              <a:tblPr/>
              <a:tblGrid>
                <a:gridCol w="2257425">
                  <a:extLst>
                    <a:ext uri="{9D8B030D-6E8A-4147-A177-3AD203B41FA5}">
                      <a16:colId xmlns:a16="http://schemas.microsoft.com/office/drawing/2014/main" val="20000"/>
                    </a:ext>
                  </a:extLst>
                </a:gridCol>
                <a:gridCol w="3819525">
                  <a:extLst>
                    <a:ext uri="{9D8B030D-6E8A-4147-A177-3AD203B41FA5}">
                      <a16:colId xmlns:a16="http://schemas.microsoft.com/office/drawing/2014/main" val="20001"/>
                    </a:ext>
                  </a:extLst>
                </a:gridCol>
              </a:tblGrid>
              <a:tr h="542925">
                <a:tc>
                  <a:txBody>
                    <a:bodyPr/>
                    <a:lstStyle/>
                    <a:p>
                      <a:r>
                        <a:rPr sz="1650" b="1">
                          <a:solidFill>
                            <a:srgbClr val="7155A7"/>
                          </a:solidFill>
                          <a:latin typeface="Roboto"/>
                          <a:ea typeface="Roboto"/>
                          <a:cs typeface="Roboto"/>
                        </a:rPr>
                        <a:t>Protocol layer</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650" b="1">
                          <a:solidFill>
                            <a:srgbClr val="7155A7"/>
                          </a:solidFill>
                          <a:latin typeface="Roboto"/>
                          <a:ea typeface="Roboto"/>
                          <a:cs typeface="Roboto"/>
                        </a:rPr>
                        <a:t>What it contributes</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extLst>
                  <a:ext uri="{0D108BD9-81ED-4DB2-BD59-A6C34878D82A}">
                    <a16:rowId xmlns:a16="http://schemas.microsoft.com/office/drawing/2014/main" val="10000"/>
                  </a:ext>
                </a:extLst>
              </a:tr>
              <a:tr h="917575">
                <a:tc>
                  <a:txBody>
                    <a:bodyPr/>
                    <a:lstStyle/>
                    <a:p>
                      <a:r>
                        <a:rPr sz="1575" b="1">
                          <a:solidFill>
                            <a:srgbClr val="7155A7"/>
                          </a:solidFill>
                          <a:latin typeface="Roboto"/>
                          <a:ea typeface="Roboto"/>
                          <a:cs typeface="Roboto"/>
                        </a:rPr>
                        <a:t>Agent passport</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575">
                          <a:solidFill>
                            <a:srgbClr val="241D2C"/>
                          </a:solidFill>
                          <a:latin typeface="Roboto"/>
                          <a:ea typeface="Roboto"/>
                          <a:cs typeface="Roboto"/>
                        </a:rPr>
                        <a:t>Delegated limits + revocation</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FFFFFF"/>
                    </a:solidFill>
                  </a:tcPr>
                </a:tc>
                <a:extLst>
                  <a:ext uri="{0D108BD9-81ED-4DB2-BD59-A6C34878D82A}">
                    <a16:rowId xmlns:a16="http://schemas.microsoft.com/office/drawing/2014/main" val="10001"/>
                  </a:ext>
                </a:extLst>
              </a:tr>
              <a:tr h="917575">
                <a:tc>
                  <a:txBody>
                    <a:bodyPr/>
                    <a:lstStyle/>
                    <a:p>
                      <a:r>
                        <a:rPr sz="1575" b="1">
                          <a:solidFill>
                            <a:srgbClr val="7155A7"/>
                          </a:solidFill>
                          <a:latin typeface="Roboto"/>
                          <a:ea typeface="Roboto"/>
                          <a:cs typeface="Roboto"/>
                        </a:rPr>
                        <a:t>Payment channel</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575">
                          <a:solidFill>
                            <a:srgbClr val="241D2C"/>
                          </a:solidFill>
                          <a:latin typeface="Roboto"/>
                          <a:ea typeface="Roboto"/>
                          <a:cs typeface="Roboto"/>
                        </a:rPr>
                        <a:t>Task-level settlement</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FFFFFF"/>
                    </a:solidFill>
                  </a:tcPr>
                </a:tc>
                <a:extLst>
                  <a:ext uri="{0D108BD9-81ED-4DB2-BD59-A6C34878D82A}">
                    <a16:rowId xmlns:a16="http://schemas.microsoft.com/office/drawing/2014/main" val="10002"/>
                  </a:ext>
                </a:extLst>
              </a:tr>
              <a:tr h="917575">
                <a:tc>
                  <a:txBody>
                    <a:bodyPr/>
                    <a:lstStyle/>
                    <a:p>
                      <a:r>
                        <a:rPr sz="1575" b="1">
                          <a:solidFill>
                            <a:srgbClr val="7155A7"/>
                          </a:solidFill>
                          <a:latin typeface="Roboto"/>
                          <a:ea typeface="Roboto"/>
                          <a:cs typeface="Roboto"/>
                        </a:rPr>
                        <a:t>Execution receipt</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575">
                          <a:solidFill>
                            <a:srgbClr val="241D2C"/>
                          </a:solidFill>
                          <a:latin typeface="Roboto"/>
                          <a:ea typeface="Roboto"/>
                          <a:cs typeface="Roboto"/>
                        </a:rPr>
                        <a:t>Input/output hash binding</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0" name="RPC observation: 5 Oct 2026.">
            <a:extLst>
              <a:ext uri="{FF2B5EF4-FFF2-40B4-BE49-F238E27FC236}">
                <a16:creationId xmlns:a16="http://schemas.microsoft.com/office/drawing/2014/main" id="{089A6F0F-DF0C-48BF-A14A-F07EF3155E8A}"/>
              </a:ext>
            </a:extLst>
          </p:cNvPr>
          <p:cNvSpPr>
            <a:spLocks noGrp="1"/>
          </p:cNvSpPr>
          <p:nvPr/>
        </p:nvSpPr>
        <p:spPr>
          <a:xfrm>
            <a:off x="5429250" y="5810250"/>
            <a:ext cx="6067425" cy="314325"/>
          </a:xfrm>
          <a:prstGeom prst="rect">
            <a:avLst/>
          </a:prstGeom>
          <a:noFill/>
          <a:ln w="0">
            <a:noFill/>
          </a:ln>
        </p:spPr>
        <p:txBody>
          <a:bodyPr lIns="0" tIns="0" rIns="0" bIns="0" anchor="t">
            <a:noAutofit/>
          </a:bodyPr>
          <a:lstStyle/>
          <a:p>
            <a:pPr algn="l">
              <a:defRPr sz="1500" b="0">
                <a:solidFill>
                  <a:srgbClr val="655D6C"/>
                </a:solidFill>
                <a:latin typeface="Roboto"/>
                <a:ea typeface="Roboto"/>
                <a:cs typeface="Roboto"/>
              </a:defRPr>
            </a:pPr>
            <a:r>
              <a:rPr sz="1500" b="0">
                <a:solidFill>
                  <a:srgbClr val="655D6C"/>
                </a:solidFill>
                <a:latin typeface="Roboto"/>
                <a:ea typeface="Roboto"/>
                <a:cs typeface="Roboto"/>
              </a:rPr>
              <a:t>RPC observation: 5 Oct 2026.</a:t>
            </a:r>
          </a:p>
        </p:txBody>
      </p:sp>
      <p:sp>
        <p:nvSpPr>
          <p:cNvPr id="11" name="Receipts attest integrity, not correctness of remote computa">
            <a:extLst>
              <a:ext uri="{FF2B5EF4-FFF2-40B4-BE49-F238E27FC236}">
                <a16:creationId xmlns:a16="http://schemas.microsoft.com/office/drawing/2014/main" id="{DF72928C-3076-40AE-9095-919B67CE0BBC}"/>
              </a:ext>
            </a:extLst>
          </p:cNvPr>
          <p:cNvSpPr>
            <a:spLocks noGrp="1"/>
          </p:cNvSpPr>
          <p:nvPr/>
        </p:nvSpPr>
        <p:spPr>
          <a:xfrm>
            <a:off x="685800" y="6419850"/>
            <a:ext cx="10668000" cy="285750"/>
          </a:xfrm>
          <a:prstGeom prst="rect">
            <a:avLst/>
          </a:prstGeom>
          <a:noFill/>
          <a:ln w="0">
            <a:noFill/>
          </a:ln>
        </p:spPr>
        <p:txBody>
          <a:bodyPr lIns="0" tIns="0" rIns="0" bIns="0" anchor="t">
            <a:noAutofit/>
          </a:bodyPr>
          <a:lstStyle/>
          <a:p>
            <a:pPr algn="l">
              <a:defRPr sz="1425" b="0">
                <a:solidFill>
                  <a:srgbClr val="655D6C"/>
                </a:solidFill>
                <a:latin typeface="Roboto"/>
                <a:ea typeface="Roboto"/>
                <a:cs typeface="Roboto"/>
              </a:defRPr>
            </a:pPr>
            <a:r>
              <a:rPr sz="1425" b="0">
                <a:solidFill>
                  <a:srgbClr val="655D6C"/>
                </a:solidFill>
                <a:latin typeface="Roboto"/>
                <a:ea typeface="Roboto"/>
                <a:cs typeface="Roboto"/>
              </a:rPr>
              <a:t>Receipts attest integrity, not correctness of remote computation.</a:t>
            </a:r>
          </a:p>
        </p:txBody>
      </p:sp>
    </p:spTree>
    <p:extLst>
      <p:ext uri="{BB962C8B-B14F-4D97-AF65-F5344CB8AC3E}">
        <p14:creationId xmlns:p14="http://schemas.microsoft.com/office/powerpoint/2010/main" val="1377112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C"/>
        </a:solidFill>
        <a:effectLst/>
      </p:bgPr>
    </p:bg>
    <p:spTree>
      <p:nvGrpSpPr>
        <p:cNvPr id="1" name=""/>
        <p:cNvGrpSpPr/>
        <p:nvPr/>
      </p:nvGrpSpPr>
      <p:grpSpPr>
        <a:xfrm>
          <a:off x="0" y="0"/>
          <a:ext cx="0" cy="0"/>
          <a:chOff x="0" y="0"/>
          <a:chExt cx="0" cy="0"/>
        </a:xfrm>
      </p:grpSpPr>
      <p:sp>
        <p:nvSpPr>
          <p:cNvPr id="14" name="06">
            <a:extLst>
              <a:ext uri="{FF2B5EF4-FFF2-40B4-BE49-F238E27FC236}">
                <a16:creationId xmlns:a16="http://schemas.microsoft.com/office/drawing/2014/main" id="{11A65102-0A2F-4584-83EA-1307B9285008}"/>
              </a:ext>
            </a:extLst>
          </p:cNvPr>
          <p:cNvSpPr>
            <a:spLocks noGrp="1"/>
          </p:cNvSpPr>
          <p:nvPr/>
        </p:nvSpPr>
        <p:spPr>
          <a:xfrm>
            <a:off x="11144250" y="447675"/>
            <a:ext cx="409575" cy="285750"/>
          </a:xfrm>
          <a:prstGeom prst="rect">
            <a:avLst/>
          </a:prstGeom>
          <a:noFill/>
          <a:ln w="0">
            <a:noFill/>
          </a:ln>
        </p:spPr>
        <p:txBody>
          <a:bodyPr lIns="0" tIns="0" rIns="0" bIns="0" anchor="t">
            <a:noAutofit/>
          </a:bodyPr>
          <a:lstStyle/>
          <a:p>
            <a:pPr algn="r">
              <a:defRPr sz="1425" b="0">
                <a:solidFill>
                  <a:srgbClr val="655D6C"/>
                </a:solidFill>
                <a:latin typeface="Roboto"/>
                <a:ea typeface="Roboto"/>
                <a:cs typeface="Roboto"/>
              </a:defRPr>
            </a:pPr>
            <a:r>
              <a:rPr sz="1425" b="0">
                <a:solidFill>
                  <a:srgbClr val="655D6C"/>
                </a:solidFill>
                <a:latin typeface="Roboto"/>
                <a:ea typeface="Roboto"/>
                <a:cs typeface="Roboto"/>
              </a:rPr>
              <a:t>06</a:t>
            </a:r>
          </a:p>
        </p:txBody>
      </p:sp>
      <p:sp>
        <p:nvSpPr>
          <p:cNvPr id="2" name="Looking for pilot teams">
            <a:extLst>
              <a:ext uri="{FF2B5EF4-FFF2-40B4-BE49-F238E27FC236}">
                <a16:creationId xmlns:a16="http://schemas.microsoft.com/office/drawing/2014/main" id="{B3F78F12-1D08-49F3-8C57-4482AE801A56}"/>
              </a:ext>
            </a:extLst>
          </p:cNvPr>
          <p:cNvSpPr>
            <a:spLocks noGrp="1"/>
          </p:cNvSpPr>
          <p:nvPr/>
        </p:nvSpPr>
        <p:spPr>
          <a:xfrm>
            <a:off x="685800" y="619125"/>
            <a:ext cx="10458450" cy="695325"/>
          </a:xfrm>
          <a:prstGeom prst="rect">
            <a:avLst/>
          </a:prstGeom>
          <a:noFill/>
          <a:ln w="0">
            <a:noFill/>
          </a:ln>
        </p:spPr>
        <p:txBody>
          <a:bodyPr lIns="0" tIns="0" rIns="0" bIns="0" anchor="t">
            <a:noAutofit/>
          </a:bodyPr>
          <a:lstStyle/>
          <a:p>
            <a:pPr algn="l">
              <a:defRPr sz="3600" b="1">
                <a:solidFill>
                  <a:srgbClr val="241D2C"/>
                </a:solidFill>
                <a:latin typeface="Roboto"/>
                <a:ea typeface="Roboto"/>
                <a:cs typeface="Roboto"/>
              </a:defRPr>
            </a:pPr>
            <a:r>
              <a:rPr sz="3600" b="1">
                <a:solidFill>
                  <a:srgbClr val="241D2C"/>
                </a:solidFill>
                <a:latin typeface="Roboto"/>
                <a:ea typeface="Roboto"/>
                <a:cs typeface="Roboto"/>
              </a:rPr>
              <a:t>Looking for pilot teams</a:t>
            </a:r>
          </a:p>
        </p:txBody>
      </p:sp>
      <p:sp>
        <p:nvSpPr>
          <p:cNvPr id="3" name="Bring us a recurring CSV workflow.">
            <a:extLst>
              <a:ext uri="{FF2B5EF4-FFF2-40B4-BE49-F238E27FC236}">
                <a16:creationId xmlns:a16="http://schemas.microsoft.com/office/drawing/2014/main" id="{F1333E69-9189-4E2D-9CAF-E52D6891874D}"/>
              </a:ext>
            </a:extLst>
          </p:cNvPr>
          <p:cNvSpPr>
            <a:spLocks noGrp="1"/>
          </p:cNvSpPr>
          <p:nvPr/>
        </p:nvSpPr>
        <p:spPr>
          <a:xfrm>
            <a:off x="685800" y="1457325"/>
            <a:ext cx="10829925" cy="685800"/>
          </a:xfrm>
          <a:prstGeom prst="rect">
            <a:avLst/>
          </a:prstGeom>
          <a:noFill/>
          <a:ln w="0">
            <a:noFill/>
          </a:ln>
        </p:spPr>
        <p:txBody>
          <a:bodyPr lIns="0" tIns="0" rIns="0" bIns="0" anchor="t">
            <a:noAutofit/>
          </a:bodyPr>
          <a:lstStyle/>
          <a:p>
            <a:pPr algn="l">
              <a:defRPr sz="3300" b="1">
                <a:solidFill>
                  <a:srgbClr val="241D2C"/>
                </a:solidFill>
                <a:latin typeface="Roboto"/>
                <a:ea typeface="Roboto"/>
                <a:cs typeface="Roboto"/>
              </a:defRPr>
            </a:pPr>
            <a:r>
              <a:rPr sz="3300" b="1">
                <a:solidFill>
                  <a:srgbClr val="241D2C"/>
                </a:solidFill>
                <a:latin typeface="Roboto"/>
                <a:ea typeface="Roboto"/>
                <a:cs typeface="Roboto"/>
              </a:rPr>
              <a:t>Bring us a recurring CSV workflow.</a:t>
            </a:r>
          </a:p>
        </p:txBody>
      </p:sp>
      <p:sp>
        <p:nvSpPr>
          <p:cNvPr id="4" name="Content panel">
            <a:extLst>
              <a:ext uri="{FF2B5EF4-FFF2-40B4-BE49-F238E27FC236}">
                <a16:creationId xmlns:a16="http://schemas.microsoft.com/office/drawing/2014/main" id="{D6087F6F-F360-40F9-981C-9B9F8A16DA48}"/>
              </a:ext>
            </a:extLst>
          </p:cNvPr>
          <p:cNvSpPr>
            <a:spLocks noGrp="1"/>
          </p:cNvSpPr>
          <p:nvPr/>
        </p:nvSpPr>
        <p:spPr>
          <a:xfrm>
            <a:off x="685800" y="2590800"/>
            <a:ext cx="5095875" cy="2476500"/>
          </a:xfrm>
          <a:prstGeom prst="roundRect">
            <a:avLst>
              <a:gd name="adj" fmla="val 3077"/>
            </a:avLst>
          </a:prstGeom>
          <a:solidFill>
            <a:srgbClr val="FFFFFF"/>
          </a:solidFill>
          <a:ln w="0">
            <a:noFill/>
          </a:ln>
        </p:spPr>
      </p:sp>
      <p:sp>
        <p:nvSpPr>
          <p:cNvPr id="5" name="Content panel">
            <a:extLst>
              <a:ext uri="{FF2B5EF4-FFF2-40B4-BE49-F238E27FC236}">
                <a16:creationId xmlns:a16="http://schemas.microsoft.com/office/drawing/2014/main" id="{A098FFB3-004A-4ABF-9680-D865F5EAF05F}"/>
              </a:ext>
            </a:extLst>
          </p:cNvPr>
          <p:cNvSpPr>
            <a:spLocks noGrp="1"/>
          </p:cNvSpPr>
          <p:nvPr/>
        </p:nvSpPr>
        <p:spPr>
          <a:xfrm>
            <a:off x="6191250" y="2590800"/>
            <a:ext cx="5314950" cy="2476500"/>
          </a:xfrm>
          <a:prstGeom prst="roundRect">
            <a:avLst>
              <a:gd name="adj" fmla="val 3077"/>
            </a:avLst>
          </a:prstGeom>
          <a:solidFill>
            <a:srgbClr val="E5DAF1"/>
          </a:solidFill>
          <a:ln w="0">
            <a:noFill/>
          </a:ln>
        </p:spPr>
      </p:sp>
      <p:sp>
        <p:nvSpPr>
          <p:cNvPr id="6" name="AVAILABLE NOW">
            <a:extLst>
              <a:ext uri="{FF2B5EF4-FFF2-40B4-BE49-F238E27FC236}">
                <a16:creationId xmlns:a16="http://schemas.microsoft.com/office/drawing/2014/main" id="{C39DA17B-3B51-406B-A8D0-2F5F17DB4264}"/>
              </a:ext>
            </a:extLst>
          </p:cNvPr>
          <p:cNvSpPr>
            <a:spLocks noGrp="1"/>
          </p:cNvSpPr>
          <p:nvPr/>
        </p:nvSpPr>
        <p:spPr>
          <a:xfrm>
            <a:off x="942975" y="2857500"/>
            <a:ext cx="4514850" cy="333375"/>
          </a:xfrm>
          <a:prstGeom prst="rect">
            <a:avLst/>
          </a:prstGeom>
          <a:noFill/>
          <a:ln w="0">
            <a:noFill/>
          </a:ln>
        </p:spPr>
        <p:txBody>
          <a:bodyPr lIns="0" tIns="0" rIns="0" bIns="0" anchor="t">
            <a:noAutofit/>
          </a:bodyPr>
          <a:lstStyle/>
          <a:p>
            <a:pPr algn="l">
              <a:defRPr sz="1500" b="1">
                <a:solidFill>
                  <a:srgbClr val="7155A7"/>
                </a:solidFill>
                <a:latin typeface="Roboto"/>
                <a:ea typeface="Roboto"/>
                <a:cs typeface="Roboto"/>
              </a:defRPr>
            </a:pPr>
            <a:r>
              <a:rPr sz="1500" b="1">
                <a:solidFill>
                  <a:srgbClr val="7155A7"/>
                </a:solidFill>
                <a:latin typeface="Roboto"/>
                <a:ea typeface="Roboto"/>
                <a:cs typeface="Roboto"/>
              </a:rPr>
              <a:t>AVAILABLE NOW</a:t>
            </a:r>
          </a:p>
        </p:txBody>
      </p:sp>
      <p:sp>
        <p:nvSpPr>
          <p:cNvPr id="7" name="CPU prototype">
            <a:extLst>
              <a:ext uri="{FF2B5EF4-FFF2-40B4-BE49-F238E27FC236}">
                <a16:creationId xmlns:a16="http://schemas.microsoft.com/office/drawing/2014/main" id="{44A84D74-C1D5-4C48-A589-0D920B89E408}"/>
              </a:ext>
            </a:extLst>
          </p:cNvPr>
          <p:cNvSpPr>
            <a:spLocks noGrp="1"/>
          </p:cNvSpPr>
          <p:nvPr/>
        </p:nvSpPr>
        <p:spPr>
          <a:xfrm>
            <a:off x="942975" y="3381375"/>
            <a:ext cx="4514850" cy="371475"/>
          </a:xfrm>
          <a:prstGeom prst="rect">
            <a:avLst/>
          </a:prstGeom>
          <a:noFill/>
          <a:ln w="0">
            <a:noFill/>
          </a:ln>
        </p:spPr>
        <p:txBody>
          <a:bodyPr lIns="0" tIns="0" rIns="0" bIns="0" anchor="t">
            <a:noAutofit/>
          </a:bodyPr>
          <a:lstStyle/>
          <a:p>
            <a:pPr algn="l">
              <a:defRPr sz="2100" b="1">
                <a:solidFill>
                  <a:srgbClr val="241D2C"/>
                </a:solidFill>
                <a:latin typeface="Roboto"/>
                <a:ea typeface="Roboto"/>
                <a:cs typeface="Roboto"/>
              </a:defRPr>
            </a:pPr>
            <a:r>
              <a:rPr sz="2100" b="1">
                <a:solidFill>
                  <a:srgbClr val="241D2C"/>
                </a:solidFill>
                <a:latin typeface="Roboto"/>
                <a:ea typeface="Roboto"/>
                <a:cs typeface="Roboto"/>
              </a:rPr>
              <a:t>CPU prototype</a:t>
            </a:r>
          </a:p>
        </p:txBody>
      </p:sp>
      <p:sp>
        <p:nvSpPr>
          <p:cNvPr id="8" name="MCP tools + Python SDK Recoverable workflows">
            <a:extLst>
              <a:ext uri="{FF2B5EF4-FFF2-40B4-BE49-F238E27FC236}">
                <a16:creationId xmlns:a16="http://schemas.microsoft.com/office/drawing/2014/main" id="{F9BBE4E2-D1FD-4D30-99CE-986F8F3EC00C}"/>
              </a:ext>
            </a:extLst>
          </p:cNvPr>
          <p:cNvSpPr>
            <a:spLocks noGrp="1"/>
          </p:cNvSpPr>
          <p:nvPr/>
        </p:nvSpPr>
        <p:spPr>
          <a:xfrm>
            <a:off x="942975" y="3924300"/>
            <a:ext cx="4514850" cy="704850"/>
          </a:xfrm>
          <a:prstGeom prst="rect">
            <a:avLst/>
          </a:prstGeom>
          <a:noFill/>
          <a:ln w="0">
            <a:noFill/>
          </a:ln>
        </p:spPr>
        <p:txBody>
          <a:bodyPr lIns="0" tIns="0" rIns="0" bIns="0" anchor="t">
            <a:noAutofit/>
          </a:bodyPr>
          <a:lstStyle/>
          <a:p>
            <a:pPr algn="l">
              <a:defRPr sz="1725" b="0">
                <a:solidFill>
                  <a:srgbClr val="655D6C"/>
                </a:solidFill>
                <a:latin typeface="Roboto"/>
                <a:ea typeface="Roboto"/>
                <a:cs typeface="Roboto"/>
              </a:defRPr>
            </a:pPr>
            <a:r>
              <a:rPr sz="1725" b="0">
                <a:solidFill>
                  <a:srgbClr val="655D6C"/>
                </a:solidFill>
                <a:latin typeface="Roboto"/>
                <a:ea typeface="Roboto"/>
                <a:cs typeface="Roboto"/>
              </a:rPr>
              <a:t>MCP tools + Python SDK</a:t>
            </a:r>
          </a:p>
          <a:p>
            <a:pPr algn="l">
              <a:defRPr sz="1725" b="0">
                <a:solidFill>
                  <a:srgbClr val="655D6C"/>
                </a:solidFill>
                <a:latin typeface="Roboto"/>
                <a:ea typeface="Roboto"/>
                <a:cs typeface="Roboto"/>
              </a:defRPr>
            </a:pPr>
            <a:r>
              <a:rPr sz="1725" b="0">
                <a:solidFill>
                  <a:srgbClr val="655D6C"/>
                </a:solidFill>
                <a:latin typeface="Roboto"/>
                <a:ea typeface="Roboto"/>
                <a:cs typeface="Roboto"/>
              </a:rPr>
              <a:t>Recoverable workflows</a:t>
            </a:r>
          </a:p>
        </p:txBody>
      </p:sp>
      <p:sp>
        <p:nvSpPr>
          <p:cNvPr id="9" name="NEXT MILESTONE">
            <a:extLst>
              <a:ext uri="{FF2B5EF4-FFF2-40B4-BE49-F238E27FC236}">
                <a16:creationId xmlns:a16="http://schemas.microsoft.com/office/drawing/2014/main" id="{516E715D-5C4F-423F-BCA9-24E4B29042CE}"/>
              </a:ext>
            </a:extLst>
          </p:cNvPr>
          <p:cNvSpPr>
            <a:spLocks noGrp="1"/>
          </p:cNvSpPr>
          <p:nvPr/>
        </p:nvSpPr>
        <p:spPr>
          <a:xfrm>
            <a:off x="6467475" y="2857500"/>
            <a:ext cx="4533900" cy="333375"/>
          </a:xfrm>
          <a:prstGeom prst="rect">
            <a:avLst/>
          </a:prstGeom>
          <a:noFill/>
          <a:ln w="0">
            <a:noFill/>
          </a:ln>
        </p:spPr>
        <p:txBody>
          <a:bodyPr lIns="0" tIns="0" rIns="0" bIns="0" anchor="t">
            <a:noAutofit/>
          </a:bodyPr>
          <a:lstStyle/>
          <a:p>
            <a:pPr algn="l">
              <a:defRPr sz="1500" b="1">
                <a:solidFill>
                  <a:srgbClr val="7155A7"/>
                </a:solidFill>
                <a:latin typeface="Roboto"/>
                <a:ea typeface="Roboto"/>
                <a:cs typeface="Roboto"/>
              </a:defRPr>
            </a:pPr>
            <a:r>
              <a:rPr sz="1500" b="1">
                <a:solidFill>
                  <a:srgbClr val="7155A7"/>
                </a:solidFill>
                <a:latin typeface="Roboto"/>
                <a:ea typeface="Roboto"/>
                <a:cs typeface="Roboto"/>
              </a:rPr>
              <a:t>NEXT MILESTONE</a:t>
            </a:r>
          </a:p>
        </p:txBody>
      </p:sp>
      <p:sp>
        <p:nvSpPr>
          <p:cNvPr id="10" name="Pilot validation">
            <a:extLst>
              <a:ext uri="{FF2B5EF4-FFF2-40B4-BE49-F238E27FC236}">
                <a16:creationId xmlns:a16="http://schemas.microsoft.com/office/drawing/2014/main" id="{7EDFEE40-0F33-4556-A9C1-52083CCD0532}"/>
              </a:ext>
            </a:extLst>
          </p:cNvPr>
          <p:cNvSpPr>
            <a:spLocks noGrp="1"/>
          </p:cNvSpPr>
          <p:nvPr/>
        </p:nvSpPr>
        <p:spPr>
          <a:xfrm>
            <a:off x="6467475" y="3381375"/>
            <a:ext cx="4533900" cy="371475"/>
          </a:xfrm>
          <a:prstGeom prst="rect">
            <a:avLst/>
          </a:prstGeom>
          <a:noFill/>
          <a:ln w="0">
            <a:noFill/>
          </a:ln>
        </p:spPr>
        <p:txBody>
          <a:bodyPr lIns="0" tIns="0" rIns="0" bIns="0" anchor="t">
            <a:noAutofit/>
          </a:bodyPr>
          <a:lstStyle/>
          <a:p>
            <a:pPr algn="l">
              <a:defRPr sz="2100" b="1">
                <a:solidFill>
                  <a:srgbClr val="241D2C"/>
                </a:solidFill>
                <a:latin typeface="Roboto"/>
                <a:ea typeface="Roboto"/>
                <a:cs typeface="Roboto"/>
              </a:defRPr>
            </a:pPr>
            <a:r>
              <a:rPr sz="2100" b="1">
                <a:solidFill>
                  <a:srgbClr val="241D2C"/>
                </a:solidFill>
                <a:latin typeface="Roboto"/>
                <a:ea typeface="Roboto"/>
                <a:cs typeface="Roboto"/>
              </a:rPr>
              <a:t>Pilot validation</a:t>
            </a:r>
          </a:p>
        </p:txBody>
      </p:sp>
      <p:sp>
        <p:nvSpPr>
          <p:cNvPr id="11" name="Real user workflows Isolation checks + independent review">
            <a:extLst>
              <a:ext uri="{FF2B5EF4-FFF2-40B4-BE49-F238E27FC236}">
                <a16:creationId xmlns:a16="http://schemas.microsoft.com/office/drawing/2014/main" id="{6BDAAE41-10EC-42CE-A01A-4E2783A21DF6}"/>
              </a:ext>
            </a:extLst>
          </p:cNvPr>
          <p:cNvSpPr>
            <a:spLocks noGrp="1"/>
          </p:cNvSpPr>
          <p:nvPr/>
        </p:nvSpPr>
        <p:spPr>
          <a:xfrm>
            <a:off x="6467475" y="3924300"/>
            <a:ext cx="4686300" cy="704850"/>
          </a:xfrm>
          <a:prstGeom prst="rect">
            <a:avLst/>
          </a:prstGeom>
          <a:noFill/>
          <a:ln w="0">
            <a:noFill/>
          </a:ln>
        </p:spPr>
        <p:txBody>
          <a:bodyPr lIns="0" tIns="0" rIns="0" bIns="0" anchor="t">
            <a:noAutofit/>
          </a:bodyPr>
          <a:lstStyle/>
          <a:p>
            <a:pPr algn="l">
              <a:defRPr sz="1650" b="0">
                <a:solidFill>
                  <a:srgbClr val="655D6C"/>
                </a:solidFill>
                <a:latin typeface="Roboto"/>
                <a:ea typeface="Roboto"/>
                <a:cs typeface="Roboto"/>
              </a:defRPr>
            </a:pPr>
            <a:r>
              <a:rPr sz="1650" b="0">
                <a:solidFill>
                  <a:srgbClr val="655D6C"/>
                </a:solidFill>
                <a:latin typeface="Roboto"/>
                <a:ea typeface="Roboto"/>
                <a:cs typeface="Roboto"/>
              </a:rPr>
              <a:t>Real user workflows</a:t>
            </a:r>
          </a:p>
          <a:p>
            <a:pPr algn="l">
              <a:defRPr sz="1650" b="0">
                <a:solidFill>
                  <a:srgbClr val="655D6C"/>
                </a:solidFill>
                <a:latin typeface="Roboto"/>
                <a:ea typeface="Roboto"/>
                <a:cs typeface="Roboto"/>
              </a:defRPr>
            </a:pPr>
            <a:r>
              <a:rPr sz="1650" b="0">
                <a:solidFill>
                  <a:srgbClr val="655D6C"/>
                </a:solidFill>
                <a:latin typeface="Roboto"/>
                <a:ea typeface="Roboto"/>
                <a:cs typeface="Roboto"/>
              </a:rPr>
              <a:t>Isolation checks + independent review</a:t>
            </a:r>
          </a:p>
        </p:txBody>
      </p:sp>
      <p:sp>
        <p:nvSpPr>
          <p:cNvPr id="12" name="Content panel">
            <a:extLst>
              <a:ext uri="{FF2B5EF4-FFF2-40B4-BE49-F238E27FC236}">
                <a16:creationId xmlns:a16="http://schemas.microsoft.com/office/drawing/2014/main" id="{7F102DB9-8B5C-43EE-A4CB-04B6332033AE}"/>
              </a:ext>
            </a:extLst>
          </p:cNvPr>
          <p:cNvSpPr>
            <a:spLocks noGrp="1"/>
          </p:cNvSpPr>
          <p:nvPr/>
        </p:nvSpPr>
        <p:spPr>
          <a:xfrm>
            <a:off x="685800" y="5505450"/>
            <a:ext cx="10820400" cy="666750"/>
          </a:xfrm>
          <a:prstGeom prst="roundRect">
            <a:avLst>
              <a:gd name="adj" fmla="val 11429"/>
            </a:avLst>
          </a:prstGeom>
          <a:solidFill>
            <a:srgbClr val="EFE7F7"/>
          </a:solidFill>
          <a:ln w="0">
            <a:noFill/>
          </a:ln>
        </p:spPr>
      </p:sp>
      <p:sp>
        <p:nvSpPr>
          <p:cNvPr id="13" name="Let’s test it on a task your team already runs.">
            <a:extLst>
              <a:ext uri="{FF2B5EF4-FFF2-40B4-BE49-F238E27FC236}">
                <a16:creationId xmlns:a16="http://schemas.microsoft.com/office/drawing/2014/main" id="{588003AB-0772-4519-ABBA-666D4310C0E4}"/>
              </a:ext>
            </a:extLst>
          </p:cNvPr>
          <p:cNvSpPr>
            <a:spLocks noGrp="1"/>
          </p:cNvSpPr>
          <p:nvPr/>
        </p:nvSpPr>
        <p:spPr>
          <a:xfrm>
            <a:off x="904875" y="5695950"/>
            <a:ext cx="10382250" cy="304800"/>
          </a:xfrm>
          <a:prstGeom prst="rect">
            <a:avLst/>
          </a:prstGeom>
          <a:noFill/>
          <a:ln w="0">
            <a:noFill/>
          </a:ln>
        </p:spPr>
        <p:txBody>
          <a:bodyPr lIns="0" tIns="0" rIns="0" bIns="0" anchor="t">
            <a:noAutofit/>
          </a:bodyPr>
          <a:lstStyle/>
          <a:p>
            <a:pPr algn="ctr">
              <a:defRPr sz="1800" b="1">
                <a:solidFill>
                  <a:srgbClr val="7155A7"/>
                </a:solidFill>
                <a:latin typeface="Roboto"/>
                <a:ea typeface="Roboto"/>
                <a:cs typeface="Roboto"/>
              </a:defRPr>
            </a:pPr>
            <a:r>
              <a:rPr sz="1800" b="1">
                <a:solidFill>
                  <a:srgbClr val="7155A7"/>
                </a:solidFill>
                <a:latin typeface="Roboto"/>
                <a:ea typeface="Roboto"/>
                <a:cs typeface="Roboto"/>
              </a:rPr>
              <a:t>Let’s test it on a task your team already runs.</a:t>
            </a:r>
          </a:p>
        </p:txBody>
      </p:sp>
    </p:spTree>
    <p:extLst>
      <p:ext uri="{BB962C8B-B14F-4D97-AF65-F5344CB8AC3E}">
        <p14:creationId xmlns:p14="http://schemas.microsoft.com/office/powerpoint/2010/main" val="10310963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1114</Words>
  <Application>Microsoft Office PowerPoint</Application>
  <DocSecurity>0</DocSecurity>
  <PresentationFormat>Widescreen</PresentationFormat>
  <Paragraphs>151</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Calibri</vt:lpstr>
      <vt:lpstr>Roboto</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nurym ali</cp:lastModifiedBy>
  <cp:revision>1</cp:revision>
  <dcterms:created xsi:type="dcterms:W3CDTF">2026-10-07T11:10:10Z</dcterms:created>
  <dcterms:modified xsi:type="dcterms:W3CDTF">2026-10-07T11:10:31Z</dcterms:modified>
</cp:coreProperties>
</file>